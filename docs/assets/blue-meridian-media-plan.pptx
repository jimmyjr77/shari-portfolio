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8" r:id="rId5"/>
    <p:sldMasterId id="2147483710" r:id="rId6"/>
  </p:sldMasterIdLst>
  <p:notesMasterIdLst>
    <p:notesMasterId r:id="rId28"/>
  </p:notesMasterIdLst>
  <p:sldIdLst>
    <p:sldId id="2026" r:id="rId7"/>
    <p:sldId id="3227" r:id="rId8"/>
    <p:sldId id="3166" r:id="rId9"/>
    <p:sldId id="3210" r:id="rId10"/>
    <p:sldId id="3208" r:id="rId11"/>
    <p:sldId id="3226" r:id="rId12"/>
    <p:sldId id="3207" r:id="rId13"/>
    <p:sldId id="3225" r:id="rId14"/>
    <p:sldId id="3201" r:id="rId15"/>
    <p:sldId id="3179" r:id="rId16"/>
    <p:sldId id="3183" r:id="rId17"/>
    <p:sldId id="3224" r:id="rId18"/>
    <p:sldId id="3228" r:id="rId19"/>
    <p:sldId id="3221" r:id="rId20"/>
    <p:sldId id="3220" r:id="rId21"/>
    <p:sldId id="3229" r:id="rId22"/>
    <p:sldId id="3219" r:id="rId23"/>
    <p:sldId id="3223" r:id="rId24"/>
    <p:sldId id="3206" r:id="rId25"/>
    <p:sldId id="3150" r:id="rId26"/>
    <p:sldId id="3174" r:id="rId27"/>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lan Summary and Key Points" id="{B19F706A-4FA8-4450-94F0-31A26957A5C1}">
          <p14:sldIdLst>
            <p14:sldId id="2026"/>
            <p14:sldId id="3227"/>
            <p14:sldId id="3166"/>
            <p14:sldId id="3210"/>
            <p14:sldId id="3208"/>
            <p14:sldId id="3226"/>
            <p14:sldId id="3207"/>
            <p14:sldId id="3225"/>
            <p14:sldId id="3201"/>
            <p14:sldId id="3179"/>
            <p14:sldId id="3183"/>
            <p14:sldId id="3224"/>
            <p14:sldId id="3228"/>
            <p14:sldId id="3221"/>
            <p14:sldId id="3220"/>
            <p14:sldId id="3229"/>
            <p14:sldId id="3219"/>
            <p14:sldId id="3223"/>
            <p14:sldId id="3206"/>
            <p14:sldId id="3150"/>
            <p14:sldId id="317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6AEA14-4C4A-B15F-6C4D-3596EC109288}" name="David Smith" initials="DS" userId="S::david@bettyandsmith.com::f0833e8c-d267-459d-8914-a71ff593d9aa" providerId="AD"/>
  <p188:author id="{FAD5FD27-FFBC-1D4B-9C83-51416F392838}" name="Alison Betty" initials="AB" userId="S::alison@bettyandsmith.com::2658da58-c938-49c7-bcf1-b579fd84d8c7" providerId="AD"/>
  <p188:author id="{0F152429-E981-6C5C-17CF-99D529FE5296}" name="Guest User" initials="GU" userId="S::urn:spo:anon#857b9d415c7e3e41ce7819b71eb3be3558bcea899fe5aea5b1ffd214514a44a7::" providerId="AD"/>
  <p188:author id="{72EA0D34-B21A-312B-47EE-C9157CA17FAC}" name="Addy Schneider" initials="AS" userId="S::aschneider@bluemeridian.org::a5b38652-53a4-4bae-bf60-49f840734a62" providerId="AD"/>
  <p188:author id="{522DD338-56B3-5800-9295-AD8AECF371CE}" name="Gina Lindblad (Porter Novelli)" initials="GN" userId="S::gina.lindblad@porternovelli.com::2951ad8f-7606-47bd-b579-053bc5982cbf" providerId="AD"/>
  <p188:author id="{368CC939-6AFC-4B63-3A07-CE69E9AD1D61}" name="Molly Finnegan Ralph" initials="MR" userId="S::mfinneganralph@bluemeridian.org::40b85c53-0487-40f7-a9a6-ea23d12a6d3d" providerId="AD"/>
  <p188:author id="{0F288865-11F4-5C69-9D18-E426F4836A6D}" name="Guest User" initials="GU" userId="S::urn:spo:anon#2a035f117a6ccbd6055f696c087aa7419721edc436a400be33130844fa3e8cc4::" providerId="AD"/>
  <p188:author id="{01753C72-BCD2-B01C-32A5-066C464CC0F8}" name="Jennifer Kerr (Porter Novelli)" initials="JK(N" userId="S::jennifer.kerr@porternovelli.com::9e54f3b2-03e2-4663-ae41-39414c6507c5" providerId="AD"/>
  <p188:author id="{E0D3D379-3022-3320-2C7E-E3CB522B6599}" name="Bill Furmanski" initials="BF" userId="S::bfurmanski@bluemeridian.org::0855eb36-44ba-46ce-a519-b92f96315a1a" providerId="AD"/>
  <p188:author id="{3A44837D-1F4D-84D0-5B0D-95196BB676A0}" name="Caroline Mauldin" initials="CM" userId="S::cmauldin@bluemeridian.org::cbf9d6b5-4729-40c2-ad99-1bc2600cba1a" providerId="AD"/>
  <p188:author id="{E31C197E-03A9-AA5C-91A2-13CAC0D758B1}" name="Molly Finnegan (Porter Novelli)" initials="MN" userId="S::molly.finnegan@porternovelli.com::b0923f39-1fc6-4567-a12b-2c3c263b5672" providerId="AD"/>
  <p188:author id="{DB0A0B90-C1C4-AD69-4F20-A900F60C8E96}" name="Micah Carr" initials="MC" userId="S::mcarr@bluemeridian.org::a8f1e0c3-6a7c-47cd-96e9-e67a539c7eda" providerId="AD"/>
  <p188:author id="{366BC094-C774-12A9-EC1A-9C4984ACF3E9}" name="Micah Carr" initials="MC" userId="Micah Carr" providerId="None"/>
  <p188:author id="{8D58E094-C3CE-05DF-086B-1108F79D20D8}" name="Tiffanie Thomas (Porter Novelli)" initials="TT" userId="S::tiffanie.thomas@porternovelli.com::62847549-c625-4ec4-a79b-accaf8fc21b2" providerId="AD"/>
  <p188:author id="{62F7739E-A47C-B3DB-F28E-9B99C2F5BA12}" name="Allison Betty" initials="AB" userId="S::abetty@bluemeridian.org::6b9716ce-ccf4-4378-a942-80275ee5b82c" providerId="AD"/>
  <p188:author id="{2657A7A8-7E4B-D7DD-ACA7-E24FAC199DD2}" name="Meti Yemane" initials="MY" userId="S::myemane@bluemeridian.org::fe4aa4d9-a8fe-488c-afb5-c3acdc392db6" providerId="AD"/>
  <p188:author id="{5477ABDE-300C-DE73-5AB0-49A14BC8BB0A}" name="Nancy Roob" initials="NR" userId="S::nroob@bluemeridian.org::640ad129-bdbe-486e-b8e9-b7049df3584a" providerId="AD"/>
  <p188:author id="{16C5DCE0-8A94-E1F7-C58D-F9A90D5D4F8F}" name="bluemeridian\myemane" initials="b" userId="bluemeridian\myemane" providerId="None"/>
  <p188:author id="{B0097BE5-27A0-F6AA-9D9C-A633CD5023A5}" name="Cecilia Gutierrez" initials="CG" userId="S::cgutierrez@bluemeridian.org::5d231cc0-8b2c-43ed-9136-180d29b4b4f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hari Arroyo Brown" initials="SAB" lastIdx="10" clrIdx="0">
    <p:extLst>
      <p:ext uri="{19B8F6BF-5375-455C-9EA6-DF929625EA0E}">
        <p15:presenceInfo xmlns:p15="http://schemas.microsoft.com/office/powerpoint/2012/main" userId="S::sbrown@emcf.org::4f97b906-eb2c-4b54-908f-e77994f051e6" providerId="AD"/>
      </p:ext>
    </p:extLst>
  </p:cmAuthor>
  <p:cmAuthor id="2" name="Micah Carr" initials="MC" lastIdx="184" clrIdx="1">
    <p:extLst>
      <p:ext uri="{19B8F6BF-5375-455C-9EA6-DF929625EA0E}">
        <p15:presenceInfo xmlns:p15="http://schemas.microsoft.com/office/powerpoint/2012/main" userId="S::mcarr@bluemeridian.org::a8f1e0c3-6a7c-47cd-96e9-e67a539c7eda" providerId="AD"/>
      </p:ext>
    </p:extLst>
  </p:cmAuthor>
  <p:cmAuthor id="3" name="Meti Yemane" initials="MY" lastIdx="28" clrIdx="2">
    <p:extLst>
      <p:ext uri="{19B8F6BF-5375-455C-9EA6-DF929625EA0E}">
        <p15:presenceInfo xmlns:p15="http://schemas.microsoft.com/office/powerpoint/2012/main" userId="S::myemane@bluemeridian.org::fe4aa4d9-a8fe-488c-afb5-c3acdc392db6" providerId="AD"/>
      </p:ext>
    </p:extLst>
  </p:cmAuthor>
  <p:cmAuthor id="4" name="Clea Bierman" initials="CB" lastIdx="66" clrIdx="3">
    <p:extLst>
      <p:ext uri="{19B8F6BF-5375-455C-9EA6-DF929625EA0E}">
        <p15:presenceInfo xmlns:p15="http://schemas.microsoft.com/office/powerpoint/2012/main" userId="S::cbierman@bluemeridian.org::dd567464-b12b-4224-9850-7e7c158b4643" providerId="AD"/>
      </p:ext>
    </p:extLst>
  </p:cmAuthor>
  <p:cmAuthor id="5" name="Shari Arroyo Brown" initials="SB" lastIdx="37" clrIdx="4">
    <p:extLst>
      <p:ext uri="{19B8F6BF-5375-455C-9EA6-DF929625EA0E}">
        <p15:presenceInfo xmlns:p15="http://schemas.microsoft.com/office/powerpoint/2012/main" userId="S::sbrown@bluemeridian.org::3adb47b2-122e-4c53-95ea-0f102aafdf32" providerId="AD"/>
      </p:ext>
    </p:extLst>
  </p:cmAuthor>
  <p:cmAuthor id="6" name="Guest User" initials="GU" lastIdx="32" clrIdx="5">
    <p:extLst>
      <p:ext uri="{19B8F6BF-5375-455C-9EA6-DF929625EA0E}">
        <p15:presenceInfo xmlns:p15="http://schemas.microsoft.com/office/powerpoint/2012/main" userId="S::urn:spo:anon#8b4696a5e4bba7d4c91455bcf057191bea0da5ba613e4795bf827eeca2a9e2b2::" providerId="AD"/>
      </p:ext>
    </p:extLst>
  </p:cmAuthor>
  <p:cmAuthor id="7" name="Susan Promislo" initials="SP" lastIdx="69" clrIdx="6">
    <p:extLst>
      <p:ext uri="{19B8F6BF-5375-455C-9EA6-DF929625EA0E}">
        <p15:presenceInfo xmlns:p15="http://schemas.microsoft.com/office/powerpoint/2012/main" userId="S::spromislo@bluemeridian.org::c69596e7-9181-41a4-a965-bf6ee4268d35" providerId="AD"/>
      </p:ext>
    </p:extLst>
  </p:cmAuthor>
  <p:cmAuthor id="8" name="Guest User" initials="GU [2]" lastIdx="1" clrIdx="7">
    <p:extLst>
      <p:ext uri="{19B8F6BF-5375-455C-9EA6-DF929625EA0E}">
        <p15:presenceInfo xmlns:p15="http://schemas.microsoft.com/office/powerpoint/2012/main" userId="S::urn:spo:anon#c92de4bea5597c4aacdf3cab86f5600c922229cb375a2a377863c16ab8dccc80::" providerId="AD"/>
      </p:ext>
    </p:extLst>
  </p:cmAuthor>
  <p:cmAuthor id="9" name="Allison Betty" initials="AB" lastIdx="5" clrIdx="8">
    <p:extLst>
      <p:ext uri="{19B8F6BF-5375-455C-9EA6-DF929625EA0E}">
        <p15:presenceInfo xmlns:p15="http://schemas.microsoft.com/office/powerpoint/2012/main" userId="S::abetty@bluemeridian.org::6b9716ce-ccf4-4378-a942-80275ee5b82c" providerId="AD"/>
      </p:ext>
    </p:extLst>
  </p:cmAuthor>
  <p:cmAuthor id="10" name="Micah Carr" initials="MC [2]" lastIdx="61" clrIdx="9">
    <p:extLst>
      <p:ext uri="{19B8F6BF-5375-455C-9EA6-DF929625EA0E}">
        <p15:presenceInfo xmlns:p15="http://schemas.microsoft.com/office/powerpoint/2012/main" userId="Micah Carr" providerId="None"/>
      </p:ext>
    </p:extLst>
  </p:cmAuthor>
  <p:cmAuthor id="11" name="Ariana Nguyen" initials="AN" lastIdx="2" clrIdx="10">
    <p:extLst>
      <p:ext uri="{19B8F6BF-5375-455C-9EA6-DF929625EA0E}">
        <p15:presenceInfo xmlns:p15="http://schemas.microsoft.com/office/powerpoint/2012/main" userId="S::anguyen@bluemeridian.org::3631cb59-ab96-49ed-9d6c-cea9d95e3388" providerId="AD"/>
      </p:ext>
    </p:extLst>
  </p:cmAuthor>
  <p:cmAuthor id="12" name="David Smith" initials="DS" lastIdx="1" clrIdx="11">
    <p:extLst>
      <p:ext uri="{19B8F6BF-5375-455C-9EA6-DF929625EA0E}">
        <p15:presenceInfo xmlns:p15="http://schemas.microsoft.com/office/powerpoint/2012/main" userId="S::dsmith@bluemeridian.org::6e1b3370-4225-4cbd-b5f9-a997602101d1" providerId="AD"/>
      </p:ext>
    </p:extLst>
  </p:cmAuthor>
  <p:cmAuthor id="13" name="Kerry Baumann" initials="KB" lastIdx="3" clrIdx="12">
    <p:extLst>
      <p:ext uri="{19B8F6BF-5375-455C-9EA6-DF929625EA0E}">
        <p15:presenceInfo xmlns:p15="http://schemas.microsoft.com/office/powerpoint/2012/main" userId="S::kbaumann@bluemeridian.org::874e196c-3876-4243-befd-29216d73520a" providerId="AD"/>
      </p:ext>
    </p:extLst>
  </p:cmAuthor>
  <p:cmAuthor id="14" name="Guest User" initials="GU [3]" lastIdx="1" clrIdx="13">
    <p:extLst>
      <p:ext uri="{19B8F6BF-5375-455C-9EA6-DF929625EA0E}">
        <p15:presenceInfo xmlns:p15="http://schemas.microsoft.com/office/powerpoint/2012/main" userId="S::urn:spo:anon#25f61a0d9e655785789087ae0a05f20de85e3c78b26492f5b8d16eeac8ad191d::" providerId="AD"/>
      </p:ext>
    </p:extLst>
  </p:cmAuthor>
  <p:cmAuthor id="15" name="Jim Shelton" initials="JS" lastIdx="1" clrIdx="14">
    <p:extLst>
      <p:ext uri="{19B8F6BF-5375-455C-9EA6-DF929625EA0E}">
        <p15:presenceInfo xmlns:p15="http://schemas.microsoft.com/office/powerpoint/2012/main" userId="Jim Shelton" providerId="None"/>
      </p:ext>
    </p:extLst>
  </p:cmAuthor>
  <p:cmAuthor id="16" name="Cecilia Gutierrez" initials="CG" lastIdx="1" clrIdx="15">
    <p:extLst>
      <p:ext uri="{19B8F6BF-5375-455C-9EA6-DF929625EA0E}">
        <p15:presenceInfo xmlns:p15="http://schemas.microsoft.com/office/powerpoint/2012/main" userId="S::cgutierrez@bluemeridian.org::5d231cc0-8b2c-43ed-9136-180d29b4b4f5" providerId="AD"/>
      </p:ext>
    </p:extLst>
  </p:cmAuthor>
  <p:cmAuthor id="17" name="Nancy Roob" initials="NR" lastIdx="1" clrIdx="16">
    <p:extLst>
      <p:ext uri="{19B8F6BF-5375-455C-9EA6-DF929625EA0E}">
        <p15:presenceInfo xmlns:p15="http://schemas.microsoft.com/office/powerpoint/2012/main" userId="S::nroob@bluemeridian.org::640ad129-bdbe-486e-b8e9-b7049df3584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1C8"/>
    <a:srgbClr val="FFC000"/>
    <a:srgbClr val="1B3169"/>
    <a:srgbClr val="001952"/>
    <a:srgbClr val="0046E2"/>
    <a:srgbClr val="002847"/>
    <a:srgbClr val="B3DEEF"/>
    <a:srgbClr val="80B894"/>
    <a:srgbClr val="E9AC50"/>
    <a:srgbClr val="0071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9BABD0-0046-4729-819E-7BFD7F1D7684}" v="1" dt="2025-05-30T19:30:43.9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966" y="10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0-25T02:32:46.666"/>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DA1F40B-0F8B-489C-8514-0E9E92C6D3F8}" type="datetimeFigureOut">
              <a:rPr lang="en-US" smtClean="0"/>
              <a:t>5/30/2025</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C0429C17-9F4B-4E72-8C00-80C1FEACBEC3}" type="slidenum">
              <a:rPr lang="en-US" smtClean="0"/>
              <a:t>‹#›</a:t>
            </a:fld>
            <a:endParaRPr lang="en-US"/>
          </a:p>
        </p:txBody>
      </p:sp>
    </p:spTree>
    <p:extLst>
      <p:ext uri="{BB962C8B-B14F-4D97-AF65-F5344CB8AC3E}">
        <p14:creationId xmlns:p14="http://schemas.microsoft.com/office/powerpoint/2010/main" val="4262455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29C17-9F4B-4E72-8C00-80C1FEACBEC3}" type="slidenum">
              <a:rPr lang="en-US" smtClean="0"/>
              <a:t>5</a:t>
            </a:fld>
            <a:endParaRPr lang="en-US"/>
          </a:p>
        </p:txBody>
      </p:sp>
    </p:spTree>
    <p:extLst>
      <p:ext uri="{BB962C8B-B14F-4D97-AF65-F5344CB8AC3E}">
        <p14:creationId xmlns:p14="http://schemas.microsoft.com/office/powerpoint/2010/main" val="13574688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0081AC-318D-4D64-B11F-2FE435CD572B}"/>
              </a:ext>
            </a:extLst>
          </p:cNvPr>
          <p:cNvSpPr/>
          <p:nvPr userDrawn="1"/>
        </p:nvSpPr>
        <p:spPr>
          <a:xfrm>
            <a:off x="4572000" y="0"/>
            <a:ext cx="4572000" cy="686407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01168" y="1445345"/>
            <a:ext cx="3429000" cy="3059647"/>
          </a:xfrm>
        </p:spPr>
        <p:txBody>
          <a:bodyPr anchor="t"/>
          <a:lstStyle>
            <a:lvl1pPr algn="l">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a:xfrm>
            <a:off x="5101167" y="5904194"/>
            <a:ext cx="3433231" cy="365125"/>
          </a:xfrm>
          <a:prstGeom prst="rect">
            <a:avLst/>
          </a:prstGeom>
        </p:spPr>
        <p:txBody>
          <a:bodyPr/>
          <a:lstStyle>
            <a:lvl1pPr>
              <a:defRPr sz="1600">
                <a:solidFill>
                  <a:schemeClr val="bg2">
                    <a:lumMod val="60000"/>
                    <a:lumOff val="40000"/>
                  </a:schemeClr>
                </a:solidFill>
              </a:defRPr>
            </a:lvl1pPr>
          </a:lstStyle>
          <a:p>
            <a:endParaRPr lang="en-US"/>
          </a:p>
        </p:txBody>
      </p:sp>
      <p:sp>
        <p:nvSpPr>
          <p:cNvPr id="5" name="Footer Placeholder 4"/>
          <p:cNvSpPr>
            <a:spLocks noGrp="1"/>
          </p:cNvSpPr>
          <p:nvPr>
            <p:ph type="ftr" sz="quarter" idx="11"/>
          </p:nvPr>
        </p:nvSpPr>
        <p:spPr>
          <a:xfrm>
            <a:off x="742950" y="6356351"/>
            <a:ext cx="3086100" cy="365125"/>
          </a:xfrm>
        </p:spPr>
        <p:txBody>
          <a:bodyPr/>
          <a:lstStyle>
            <a:lvl1pPr>
              <a:defRPr>
                <a:solidFill>
                  <a:schemeClr val="tx1"/>
                </a:solidFill>
              </a:defRPr>
            </a:lvl1pPr>
          </a:lstStyle>
          <a:p>
            <a:pPr>
              <a:spcAft>
                <a:spcPts val="300"/>
              </a:spcAft>
            </a:pPr>
            <a:r>
              <a:rPr lang="en-US"/>
              <a:t>CONFIDENTIAL DO NOT DISTRIBUTE</a:t>
            </a:r>
          </a:p>
        </p:txBody>
      </p:sp>
      <p:sp>
        <p:nvSpPr>
          <p:cNvPr id="7" name="Text Placeholder 51">
            <a:extLst>
              <a:ext uri="{FF2B5EF4-FFF2-40B4-BE49-F238E27FC236}">
                <a16:creationId xmlns:a16="http://schemas.microsoft.com/office/drawing/2014/main" id="{A1A21E0E-34CB-46D3-A141-7DEA284EE4A8}"/>
              </a:ext>
            </a:extLst>
          </p:cNvPr>
          <p:cNvSpPr>
            <a:spLocks noGrp="1"/>
          </p:cNvSpPr>
          <p:nvPr>
            <p:ph type="body" sz="quarter" idx="16" hasCustomPrompt="1"/>
          </p:nvPr>
        </p:nvSpPr>
        <p:spPr>
          <a:xfrm>
            <a:off x="5101168" y="5154389"/>
            <a:ext cx="3433232" cy="258266"/>
          </a:xfrm>
        </p:spPr>
        <p:txBody>
          <a:bodyPr>
            <a:noAutofit/>
          </a:bodyPr>
          <a:lstStyle>
            <a:lvl1pPr marL="0" indent="0" algn="l">
              <a:buNone/>
              <a:defRPr sz="1600">
                <a:solidFill>
                  <a:schemeClr val="accent1">
                    <a:lumMod val="60000"/>
                    <a:lumOff val="40000"/>
                  </a:schemeClr>
                </a:solidFill>
              </a:defRPr>
            </a:lvl1pPr>
          </a:lstStyle>
          <a:p>
            <a:pPr lvl="0"/>
            <a:r>
              <a:rPr lang="en-US"/>
              <a:t>Speaker Name</a:t>
            </a:r>
          </a:p>
        </p:txBody>
      </p:sp>
      <p:sp>
        <p:nvSpPr>
          <p:cNvPr id="8" name="Text Placeholder 51">
            <a:extLst>
              <a:ext uri="{FF2B5EF4-FFF2-40B4-BE49-F238E27FC236}">
                <a16:creationId xmlns:a16="http://schemas.microsoft.com/office/drawing/2014/main" id="{2D78E484-5EEE-4DE7-9FD5-EFD3F6A4643B}"/>
              </a:ext>
            </a:extLst>
          </p:cNvPr>
          <p:cNvSpPr>
            <a:spLocks noGrp="1"/>
          </p:cNvSpPr>
          <p:nvPr>
            <p:ph type="body" sz="quarter" idx="17" hasCustomPrompt="1"/>
          </p:nvPr>
        </p:nvSpPr>
        <p:spPr>
          <a:xfrm>
            <a:off x="5101168" y="5434126"/>
            <a:ext cx="3433232" cy="258266"/>
          </a:xfrm>
        </p:spPr>
        <p:txBody>
          <a:bodyPr>
            <a:noAutofit/>
          </a:bodyPr>
          <a:lstStyle>
            <a:lvl1pPr marL="0" indent="0" algn="l">
              <a:buNone/>
              <a:defRPr sz="1600">
                <a:solidFill>
                  <a:schemeClr val="accent1">
                    <a:lumMod val="60000"/>
                    <a:lumOff val="40000"/>
                  </a:schemeClr>
                </a:solidFill>
              </a:defRPr>
            </a:lvl1pPr>
          </a:lstStyle>
          <a:p>
            <a:pPr lvl="0"/>
            <a:r>
              <a:rPr lang="en-US"/>
              <a:t>Speaker Title</a:t>
            </a:r>
          </a:p>
        </p:txBody>
      </p:sp>
      <p:sp>
        <p:nvSpPr>
          <p:cNvPr id="13" name="Freeform: Shape 12">
            <a:extLst>
              <a:ext uri="{FF2B5EF4-FFF2-40B4-BE49-F238E27FC236}">
                <a16:creationId xmlns:a16="http://schemas.microsoft.com/office/drawing/2014/main" id="{8B1EFDB9-3A71-4778-AC61-C6D7860D554B}"/>
              </a:ext>
            </a:extLst>
          </p:cNvPr>
          <p:cNvSpPr>
            <a:spLocks noChangeArrowheads="1"/>
          </p:cNvSpPr>
          <p:nvPr userDrawn="1"/>
        </p:nvSpPr>
        <p:spPr bwMode="auto">
          <a:xfrm>
            <a:off x="0" y="3414293"/>
            <a:ext cx="3840480" cy="36131"/>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a:solidFill>
                <a:schemeClr val="lt1"/>
              </a:solidFill>
            </a:endParaRPr>
          </a:p>
        </p:txBody>
      </p:sp>
      <p:pic>
        <p:nvPicPr>
          <p:cNvPr id="14" name="BMP Logo Extended">
            <a:extLst>
              <a:ext uri="{FF2B5EF4-FFF2-40B4-BE49-F238E27FC236}">
                <a16:creationId xmlns:a16="http://schemas.microsoft.com/office/drawing/2014/main" id="{7337C0E5-B532-4476-B0C7-00FAFE14610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1321"/>
          <a:stretch/>
        </p:blipFill>
        <p:spPr>
          <a:xfrm>
            <a:off x="936790" y="2665898"/>
            <a:ext cx="3469844" cy="1548465"/>
          </a:xfrm>
          <a:prstGeom prst="rect">
            <a:avLst/>
          </a:prstGeom>
        </p:spPr>
      </p:pic>
    </p:spTree>
    <p:extLst>
      <p:ext uri="{BB962C8B-B14F-4D97-AF65-F5344CB8AC3E}">
        <p14:creationId xmlns:p14="http://schemas.microsoft.com/office/powerpoint/2010/main" val="331790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2750" fill="hold"/>
                                        <p:tgtEl>
                                          <p:spTgt spid="13"/>
                                        </p:tgtEl>
                                        <p:attrNameLst>
                                          <p:attrName>ppt_x</p:attrName>
                                        </p:attrNameLst>
                                      </p:cBhvr>
                                      <p:tavLst>
                                        <p:tav tm="0">
                                          <p:val>
                                            <p:strVal val="0-#ppt_w/2"/>
                                          </p:val>
                                        </p:tav>
                                        <p:tav tm="100000">
                                          <p:val>
                                            <p:strVal val="#ppt_x"/>
                                          </p:val>
                                        </p:tav>
                                      </p:tavLst>
                                    </p:anim>
                                    <p:anim calcmode="lin" valueType="num">
                                      <p:cBhvr additive="base">
                                        <p:cTn id="8" dur="2750" fill="hold"/>
                                        <p:tgtEl>
                                          <p:spTgt spid="1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1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1500"/>
                                        <p:tgtEl>
                                          <p:spTgt spid="14"/>
                                        </p:tgtEl>
                                      </p:cBhvr>
                                    </p:animEffect>
                                  </p:childTnLst>
                                </p:cTn>
                              </p:par>
                              <p:par>
                                <p:cTn id="12" presetID="35" presetClass="path" presetSubtype="0" decel="100000" fill="hold" nodeType="withEffect">
                                  <p:stCondLst>
                                    <p:cond delay="1250"/>
                                  </p:stCondLst>
                                  <p:childTnLst>
                                    <p:animMotion origin="layout" path="M 2.5E-6 -3.7037E-7 L -0.02743 -3.7037E-7 " pathEditMode="relative" rAng="0" ptsTypes="AA">
                                      <p:cBhvr>
                                        <p:cTn id="13" dur="1500" spd="-100000" fill="hold"/>
                                        <p:tgtEl>
                                          <p:spTgt spid="14"/>
                                        </p:tgtEl>
                                        <p:attrNameLst>
                                          <p:attrName>ppt_x</p:attrName>
                                          <p:attrName>ppt_y</p:attrName>
                                        </p:attrNameLst>
                                      </p:cBhvr>
                                      <p:rCtr x="-1372" y="0"/>
                                    </p:animMotion>
                                  </p:childTnLst>
                                </p:cTn>
                              </p:par>
                            </p:childTnLst>
                          </p:cTn>
                        </p:par>
                        <p:par>
                          <p:cTn id="14" fill="hold">
                            <p:stCondLst>
                              <p:cond delay="2750"/>
                            </p:stCondLst>
                            <p:childTnLst>
                              <p:par>
                                <p:cTn id="15" presetID="42" presetClass="entr" presetSubtype="0" fill="hold" grpId="0" nodeType="after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1000"/>
                                        <p:tgtEl>
                                          <p:spTgt spid="8">
                                            <p:txEl>
                                              <p:pRg st="0" end="0"/>
                                            </p:txEl>
                                          </p:spTgt>
                                        </p:tgtEl>
                                      </p:cBhvr>
                                    </p:animEffect>
                                    <p:anim calcmode="lin" valueType="num">
                                      <p:cBhvr>
                                        <p:cTn id="2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nodePh="1">
                                  <p:stCondLst>
                                    <p:cond delay="0"/>
                                  </p:stCondLst>
                                  <p:endCondLst>
                                    <p:cond evt="begin" delay="0">
                                      <p:tn val="30"/>
                                    </p:cond>
                                  </p:end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1000"/>
                                        <p:tgtEl>
                                          <p:spTgt spid="4">
                                            <p:txEl>
                                              <p:pRg st="0" end="0"/>
                                            </p:txEl>
                                          </p:spTgt>
                                        </p:tgtEl>
                                      </p:cBhvr>
                                    </p:animEffect>
                                    <p:anim calcmode="lin" valueType="num">
                                      <p:cBhvr>
                                        <p:cTn id="3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7" grpId="0" build="p">
        <p:tmplLst>
          <p:tmpl lvl="1">
            <p:tnLst>
              <p:par>
                <p:cTn presetID="42" presetClass="entr" presetSubtype="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ppt_x</p:attrName>
                        </p:attrNameLst>
                      </p:cBhvr>
                      <p:tavLst>
                        <p:tav tm="0">
                          <p:val>
                            <p:strVal val="#ppt_x"/>
                          </p:val>
                        </p:tav>
                        <p:tav tm="100000">
                          <p:val>
                            <p:strVal val="#ppt_x"/>
                          </p:val>
                        </p:tav>
                      </p:tavLst>
                    </p:anim>
                    <p:anim calcmode="lin" valueType="num">
                      <p:cBhvr>
                        <p:cTn dur="1000" fill="hold"/>
                        <p:tgtEl>
                          <p:spTgt spid="7"/>
                        </p:tgtEl>
                        <p:attrNameLst>
                          <p:attrName>ppt_y</p:attrName>
                        </p:attrNameLst>
                      </p:cBhvr>
                      <p:tavLst>
                        <p:tav tm="0">
                          <p:val>
                            <p:strVal val="#ppt_y+.1"/>
                          </p:val>
                        </p:tav>
                        <p:tav tm="100000">
                          <p:val>
                            <p:strVal val="#ppt_y"/>
                          </p:val>
                        </p:tav>
                      </p:tavLst>
                    </p:anim>
                  </p:childTnLst>
                </p:cTn>
              </p:par>
            </p:tnLst>
          </p:tmpl>
        </p:tmplLst>
      </p:bldP>
      <p:bldP spid="8" grpId="0" build="p">
        <p:tmplLst>
          <p:tmpl lvl="1">
            <p:tnLst>
              <p:par>
                <p:cTn presetID="42"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1000"/>
                        <p:tgtEl>
                          <p:spTgt spid="8"/>
                        </p:tgtEl>
                      </p:cBhvr>
                    </p:animEffect>
                    <p:anim calcmode="lin" valueType="num">
                      <p:cBhvr>
                        <p:cTn dur="1000" fill="hold"/>
                        <p:tgtEl>
                          <p:spTgt spid="8"/>
                        </p:tgtEl>
                        <p:attrNameLst>
                          <p:attrName>ppt_x</p:attrName>
                        </p:attrNameLst>
                      </p:cBhvr>
                      <p:tavLst>
                        <p:tav tm="0">
                          <p:val>
                            <p:strVal val="#ppt_x"/>
                          </p:val>
                        </p:tav>
                        <p:tav tm="100000">
                          <p:val>
                            <p:strVal val="#ppt_x"/>
                          </p:val>
                        </p:tav>
                      </p:tavLst>
                    </p:anim>
                    <p:anim calcmode="lin" valueType="num">
                      <p:cBhvr>
                        <p:cTn dur="1000" fill="hold"/>
                        <p:tgtEl>
                          <p:spTgt spid="8"/>
                        </p:tgtEl>
                        <p:attrNameLst>
                          <p:attrName>ppt_y</p:attrName>
                        </p:attrNameLst>
                      </p:cBhvr>
                      <p:tavLst>
                        <p:tav tm="0">
                          <p:val>
                            <p:strVal val="#ppt_y+.1"/>
                          </p:val>
                        </p:tav>
                        <p:tav tm="100000">
                          <p:val>
                            <p:strVal val="#ppt_y"/>
                          </p:val>
                        </p:tav>
                      </p:tavLst>
                    </p:anim>
                  </p:childTnLst>
                </p:cTn>
              </p:par>
            </p:tnLst>
          </p:tmpl>
        </p:tmplLst>
      </p:bldP>
      <p:bldP spid="13"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2">
            <a:lumMod val="50000"/>
          </a:schemeClr>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lvl1pPr>
              <a:defRPr/>
            </a:lvl1pPr>
          </a:lstStyle>
          <a:p>
            <a:pPr>
              <a:spcAft>
                <a:spcPts val="300"/>
              </a:spcAft>
            </a:pPr>
            <a:r>
              <a:rPr lang="en-US"/>
              <a:t>CONFIDENTIAL DO NOT DISTRIBUTE</a:t>
            </a:r>
          </a:p>
        </p:txBody>
      </p:sp>
      <p:sp>
        <p:nvSpPr>
          <p:cNvPr id="9" name="Freeform: Shape 8">
            <a:extLst>
              <a:ext uri="{FF2B5EF4-FFF2-40B4-BE49-F238E27FC236}">
                <a16:creationId xmlns:a16="http://schemas.microsoft.com/office/drawing/2014/main" id="{E00957E1-7385-4372-958A-08F6E48CF842}"/>
              </a:ext>
            </a:extLst>
          </p:cNvPr>
          <p:cNvSpPr>
            <a:spLocks noChangeArrowheads="1"/>
          </p:cNvSpPr>
          <p:nvPr userDrawn="1"/>
        </p:nvSpPr>
        <p:spPr bwMode="auto">
          <a:xfrm>
            <a:off x="0" y="3823012"/>
            <a:ext cx="8229600" cy="54864"/>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rgbClr val="0091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chemeClr val="lt1"/>
              </a:solidFill>
            </a:endParaRPr>
          </a:p>
        </p:txBody>
      </p:sp>
      <p:sp>
        <p:nvSpPr>
          <p:cNvPr id="3" name="Section Divider Title">
            <a:extLst>
              <a:ext uri="{FF2B5EF4-FFF2-40B4-BE49-F238E27FC236}">
                <a16:creationId xmlns:a16="http://schemas.microsoft.com/office/drawing/2014/main" id="{4E2D8BF0-9312-4079-A0C6-A9039E405EB5}"/>
              </a:ext>
            </a:extLst>
          </p:cNvPr>
          <p:cNvSpPr>
            <a:spLocks noGrp="1"/>
          </p:cNvSpPr>
          <p:nvPr>
            <p:ph type="body" sz="quarter" idx="12" hasCustomPrompt="1"/>
          </p:nvPr>
        </p:nvSpPr>
        <p:spPr>
          <a:xfrm>
            <a:off x="921880" y="1796142"/>
            <a:ext cx="7399343" cy="1959549"/>
          </a:xfrm>
        </p:spPr>
        <p:txBody>
          <a:bodyPr anchor="b">
            <a:normAutofit/>
          </a:bodyPr>
          <a:lstStyle>
            <a:lvl1pPr marL="0" indent="0" algn="r">
              <a:buNone/>
              <a:defRPr sz="4000" baseline="0">
                <a:solidFill>
                  <a:schemeClr val="bg1"/>
                </a:solidFill>
                <a:latin typeface="+mj-lt"/>
              </a:defRPr>
            </a:lvl1pPr>
            <a:lvl2pPr marL="457200" indent="0">
              <a:buNone/>
              <a:defRPr/>
            </a:lvl2pPr>
          </a:lstStyle>
          <a:p>
            <a:pPr lvl="0"/>
            <a:r>
              <a:rPr lang="en-US">
                <a:latin typeface="+mj-lt"/>
              </a:rPr>
              <a:t>Click to edit Master title style</a:t>
            </a:r>
            <a:endParaRPr lang="en-US"/>
          </a:p>
        </p:txBody>
      </p:sp>
      <p:sp>
        <p:nvSpPr>
          <p:cNvPr id="6" name="Subtitle">
            <a:extLst>
              <a:ext uri="{FF2B5EF4-FFF2-40B4-BE49-F238E27FC236}">
                <a16:creationId xmlns:a16="http://schemas.microsoft.com/office/drawing/2014/main" id="{1C918C49-2DED-4376-A852-85D9A03B1807}"/>
              </a:ext>
            </a:extLst>
          </p:cNvPr>
          <p:cNvSpPr>
            <a:spLocks noGrp="1"/>
          </p:cNvSpPr>
          <p:nvPr>
            <p:ph type="body" sz="quarter" idx="13" hasCustomPrompt="1"/>
          </p:nvPr>
        </p:nvSpPr>
        <p:spPr>
          <a:xfrm>
            <a:off x="921880" y="4016103"/>
            <a:ext cx="7399343" cy="1089025"/>
          </a:xfrm>
        </p:spPr>
        <p:txBody>
          <a:bodyPr/>
          <a:lstStyle>
            <a:lvl1pPr marL="0" indent="0" algn="r">
              <a:buNone/>
              <a:defRPr>
                <a:solidFill>
                  <a:schemeClr val="bg1"/>
                </a:solidFill>
              </a:defRPr>
            </a:lvl1pPr>
            <a:lvl2pPr marL="457200" indent="0">
              <a:buNone/>
              <a:defRPr/>
            </a:lvl2pPr>
          </a:lstStyle>
          <a:p>
            <a:pPr lvl="0"/>
            <a:r>
              <a:rPr lang="en-US"/>
              <a:t>Click to edit Master subtitle style</a:t>
            </a:r>
          </a:p>
        </p:txBody>
      </p:sp>
    </p:spTree>
    <p:extLst>
      <p:ext uri="{BB962C8B-B14F-4D97-AF65-F5344CB8AC3E}">
        <p14:creationId xmlns:p14="http://schemas.microsoft.com/office/powerpoint/2010/main" val="321490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35" presetClass="path" presetSubtype="0" decel="100000" fill="hold" grpId="1" nodeType="withEffect">
                                  <p:stCondLst>
                                    <p:cond delay="1250"/>
                                  </p:stCondLst>
                                  <p:childTnLst>
                                    <p:animMotion origin="layout" path="M -1.94444E-6 3.7037E-7 L -0.02482 3.7037E-7 " pathEditMode="relative" rAng="0" ptsTypes="AA">
                                      <p:cBhvr>
                                        <p:cTn id="9" dur="1500" spd="-100000" fill="hold"/>
                                        <p:tgtEl>
                                          <p:spTgt spid="3"/>
                                        </p:tgtEl>
                                        <p:attrNameLst>
                                          <p:attrName>ppt_x</p:attrName>
                                          <p:attrName>ppt_y</p:attrName>
                                        </p:attrNameLst>
                                      </p:cBhvr>
                                      <p:rCtr x="-1250" y="0"/>
                                    </p:animMotion>
                                  </p:childTnLst>
                                </p:cTn>
                              </p:par>
                              <p:par>
                                <p:cTn id="10" presetID="10" presetClass="entr" presetSubtype="0" fill="hold" grpId="0" nodeType="withEffect">
                                  <p:stCondLst>
                                    <p:cond delay="12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500"/>
                                        <p:tgtEl>
                                          <p:spTgt spid="6"/>
                                        </p:tgtEl>
                                      </p:cBhvr>
                                    </p:animEffect>
                                  </p:childTnLst>
                                </p:cTn>
                              </p:par>
                              <p:par>
                                <p:cTn id="13" presetID="35" presetClass="path" presetSubtype="0" decel="100000" fill="hold" grpId="1" nodeType="withEffect">
                                  <p:stCondLst>
                                    <p:cond delay="1250"/>
                                  </p:stCondLst>
                                  <p:childTnLst>
                                    <p:animMotion origin="layout" path="M -1.94444E-6 3.7037E-6 L -0.02482 3.7037E-6 " pathEditMode="relative" rAng="0" ptsTypes="AA">
                                      <p:cBhvr>
                                        <p:cTn id="14" dur="1500" spd="-100000" fill="hold"/>
                                        <p:tgtEl>
                                          <p:spTgt spid="6"/>
                                        </p:tgtEl>
                                        <p:attrNameLst>
                                          <p:attrName>ppt_x</p:attrName>
                                          <p:attrName>ppt_y</p:attrName>
                                        </p:attrNameLst>
                                      </p:cBhvr>
                                      <p:rCtr x="-1250" y="0"/>
                                    </p:animMotion>
                                  </p:childTnLst>
                                </p:cTn>
                              </p:par>
                              <p:par>
                                <p:cTn id="15" presetID="2" presetClass="entr" presetSubtype="8" decel="10000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2750" fill="hold"/>
                                        <p:tgtEl>
                                          <p:spTgt spid="9"/>
                                        </p:tgtEl>
                                        <p:attrNameLst>
                                          <p:attrName>ppt_x</p:attrName>
                                        </p:attrNameLst>
                                      </p:cBhvr>
                                      <p:tavLst>
                                        <p:tav tm="0">
                                          <p:val>
                                            <p:strVal val="0-#ppt_w/2"/>
                                          </p:val>
                                        </p:tav>
                                        <p:tav tm="100000">
                                          <p:val>
                                            <p:strVal val="#ppt_x"/>
                                          </p:val>
                                        </p:tav>
                                      </p:tavLst>
                                    </p:anim>
                                    <p:anim calcmode="lin" valueType="num">
                                      <p:cBhvr additive="base">
                                        <p:cTn id="18" dur="2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p:tmplLst>
          <p:tmpl>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1500"/>
                        <p:tgtEl>
                          <p:spTgt spid="3"/>
                        </p:tgtEl>
                      </p:cBhvr>
                    </p:animEffect>
                  </p:childTnLst>
                </p:cTn>
              </p:par>
            </p:tnLst>
          </p:tmpl>
        </p:tmplLst>
      </p:bldP>
      <p:bldP spid="3" grpId="1">
        <p:tmplLst>
          <p:tmpl>
            <p:tnLst>
              <p:par>
                <p:cTn presetID="35" presetClass="path" presetSubtype="0" decel="100000" fill="hold" nodeType="withEffect">
                  <p:stCondLst>
                    <p:cond delay="1250"/>
                  </p:stCondLst>
                  <p:childTnLst>
                    <p:animMotion origin="layout" path="M -1.94444E-6 3.7037E-7 L -0.02482 3.7037E-7 " pathEditMode="relative" rAng="0" ptsTypes="AA">
                      <p:cBhvr>
                        <p:cTn dur="1500" spd="-100000" fill="hold"/>
                        <p:tgtEl>
                          <p:spTgt spid="3"/>
                        </p:tgtEl>
                        <p:attrNameLst>
                          <p:attrName>ppt_x</p:attrName>
                          <p:attrName>ppt_y</p:attrName>
                        </p:attrNameLst>
                      </p:cBhvr>
                      <p:rCtr x="-1250" y="0"/>
                    </p:animMotion>
                  </p:childTnLst>
                </p:cTn>
              </p:par>
            </p:tnLst>
          </p:tmpl>
        </p:tmplLst>
      </p:bldP>
      <p:bldP spid="6" grpId="0">
        <p:tmplLst>
          <p:tmpl>
            <p:tnLst>
              <p:par>
                <p:cTn presetID="10" presetClass="entr" presetSubtype="0" fill="hold" nodeType="withEffect">
                  <p:stCondLst>
                    <p:cond delay="1250"/>
                  </p:stCondLst>
                  <p:childTnLst>
                    <p:set>
                      <p:cBhvr>
                        <p:cTn dur="1" fill="hold">
                          <p:stCondLst>
                            <p:cond delay="0"/>
                          </p:stCondLst>
                        </p:cTn>
                        <p:tgtEl>
                          <p:spTgt spid="6"/>
                        </p:tgtEl>
                        <p:attrNameLst>
                          <p:attrName>style.visibility</p:attrName>
                        </p:attrNameLst>
                      </p:cBhvr>
                      <p:to>
                        <p:strVal val="visible"/>
                      </p:to>
                    </p:set>
                    <p:animEffect transition="in" filter="fade">
                      <p:cBhvr>
                        <p:cTn dur="1500"/>
                        <p:tgtEl>
                          <p:spTgt spid="6"/>
                        </p:tgtEl>
                      </p:cBhvr>
                    </p:animEffect>
                  </p:childTnLst>
                </p:cTn>
              </p:par>
            </p:tnLst>
          </p:tmpl>
        </p:tmplLst>
      </p:bldP>
      <p:bldP spid="6" grpId="1">
        <p:tmplLst>
          <p:tmpl>
            <p:tnLst>
              <p:par>
                <p:cTn presetID="35" presetClass="path" presetSubtype="0" decel="100000" fill="hold" nodeType="withEffect">
                  <p:stCondLst>
                    <p:cond delay="1250"/>
                  </p:stCondLst>
                  <p:childTnLst>
                    <p:animMotion origin="layout" path="M -1.94444E-6 3.7037E-6 L -0.02482 3.7037E-6 " pathEditMode="relative" rAng="0" ptsTypes="AA">
                      <p:cBhvr>
                        <p:cTn dur="1500" spd="-100000" fill="hold"/>
                        <p:tgtEl>
                          <p:spTgt spid="6"/>
                        </p:tgtEl>
                        <p:attrNameLst>
                          <p:attrName>ppt_x</p:attrName>
                          <p:attrName>ppt_y</p:attrName>
                        </p:attrNameLst>
                      </p:cBhvr>
                      <p:rCtr x="-1250" y="0"/>
                    </p:animMotion>
                  </p:childTnLst>
                </p:cTn>
              </p:par>
            </p:tnLst>
          </p:tmpl>
        </p:tmplLst>
      </p:bldP>
    </p:bld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Placeholder"/>
          <p:cNvSpPr>
            <a:spLocks noGrp="1"/>
          </p:cNvSpPr>
          <p:nvPr>
            <p:ph type="title"/>
          </p:nvPr>
        </p:nvSpPr>
        <p:spPr>
          <a:xfrm>
            <a:off x="521953" y="349430"/>
            <a:ext cx="8088319" cy="396219"/>
          </a:xfrm>
        </p:spPr>
        <p:txBody>
          <a:bodyPr/>
          <a:lstStyle/>
          <a:p>
            <a:r>
              <a:rPr lang="en-US"/>
              <a:t>Click to edit Master title style</a:t>
            </a:r>
          </a:p>
        </p:txBody>
      </p:sp>
      <p:sp>
        <p:nvSpPr>
          <p:cNvPr id="3" name="Content Placeholder"/>
          <p:cNvSpPr>
            <a:spLocks noGrp="1"/>
          </p:cNvSpPr>
          <p:nvPr>
            <p:ph idx="1"/>
          </p:nvPr>
        </p:nvSpPr>
        <p:spPr>
          <a:xfrm>
            <a:off x="521953" y="1383847"/>
            <a:ext cx="8094997" cy="4391456"/>
          </a:xfrm>
        </p:spPr>
        <p:txBody>
          <a:bodyPr/>
          <a:lstStyle>
            <a:lvl2pPr marL="457200">
              <a:defRPr/>
            </a:lvl2pPr>
            <a:lvl3pPr marL="685800">
              <a:defRPr/>
            </a:lvl3pPr>
            <a:lvl4pPr marL="914400">
              <a:defRPr/>
            </a:lvl4pPr>
            <a:lvl5pPr marL="1143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p:cNvSpPr>
            <a:spLocks noGrp="1"/>
          </p:cNvSpPr>
          <p:nvPr>
            <p:ph type="sldNum" sz="quarter" idx="12"/>
          </p:nvPr>
        </p:nvSpPr>
        <p:spPr/>
        <p:txBody>
          <a:bodyPr/>
          <a:lstStyle/>
          <a:p>
            <a:fld id="{D4F07938-7C1D-46C8-9535-2404A951C984}" type="slidenum">
              <a:rPr lang="en-US" smtClean="0"/>
              <a:t>‹#›</a:t>
            </a:fld>
            <a:endParaRPr lang="en-US"/>
          </a:p>
        </p:txBody>
      </p:sp>
      <p:sp>
        <p:nvSpPr>
          <p:cNvPr id="7" name="Subtitle Placeholder">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Autofit/>
          </a:bodyPr>
          <a:lstStyle>
            <a:lvl1pPr marL="0" indent="0">
              <a:buNone/>
              <a:defRPr sz="2000">
                <a:solidFill>
                  <a:schemeClr val="bg2"/>
                </a:solidFill>
              </a:defRPr>
            </a:lvl1pPr>
          </a:lstStyle>
          <a:p>
            <a:pPr lvl="0"/>
            <a:r>
              <a:rPr lang="en-US"/>
              <a:t>Click to edit Master subtitle</a:t>
            </a:r>
          </a:p>
        </p:txBody>
      </p:sp>
      <p:sp>
        <p:nvSpPr>
          <p:cNvPr id="10" name="Footnote Placeholder">
            <a:extLst>
              <a:ext uri="{FF2B5EF4-FFF2-40B4-BE49-F238E27FC236}">
                <a16:creationId xmlns:a16="http://schemas.microsoft.com/office/drawing/2014/main" id="{02A5A177-C406-4C26-AEC6-86866B5E8C37}"/>
              </a:ext>
            </a:extLst>
          </p:cNvPr>
          <p:cNvSpPr>
            <a:spLocks noGrp="1"/>
          </p:cNvSpPr>
          <p:nvPr>
            <p:ph type="body" sz="quarter" idx="14"/>
          </p:nvPr>
        </p:nvSpPr>
        <p:spPr>
          <a:xfrm>
            <a:off x="521953" y="5832453"/>
            <a:ext cx="8087977" cy="282598"/>
          </a:xfrm>
        </p:spPr>
        <p:txBody>
          <a:bodyPr anchor="b">
            <a:noAutofit/>
          </a:bodyPr>
          <a:lstStyle>
            <a:lvl1pPr marL="0" indent="0">
              <a:buNone/>
              <a:defRPr sz="700">
                <a:solidFill>
                  <a:schemeClr val="tx1"/>
                </a:solidFill>
              </a:defRPr>
            </a:lvl1pPr>
          </a:lstStyle>
          <a:p>
            <a:pPr lvl="0"/>
            <a:endParaRPr lang="en-US"/>
          </a:p>
        </p:txBody>
      </p:sp>
      <p:sp>
        <p:nvSpPr>
          <p:cNvPr id="8" name="Footer Placeholder 3">
            <a:extLst>
              <a:ext uri="{FF2B5EF4-FFF2-40B4-BE49-F238E27FC236}">
                <a16:creationId xmlns:a16="http://schemas.microsoft.com/office/drawing/2014/main" id="{FE457AFD-5D39-49CF-B13A-6B917BC6DFDB}"/>
              </a:ext>
            </a:extLst>
          </p:cNvPr>
          <p:cNvSpPr txBox="1">
            <a:spLocks/>
          </p:cNvSpPr>
          <p:nvPr userDrawn="1"/>
        </p:nvSpPr>
        <p:spPr>
          <a:xfrm>
            <a:off x="2404239" y="6418368"/>
            <a:ext cx="5130312"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300"/>
              </a:spcAft>
            </a:pPr>
            <a:r>
              <a:rPr lang="en-US" sz="1000">
                <a:solidFill>
                  <a:schemeClr val="bg1"/>
                </a:solidFill>
              </a:rPr>
              <a:t>	              CONFIDENTIAL DO NOT DISTRIBUTE</a:t>
            </a:r>
          </a:p>
        </p:txBody>
      </p:sp>
    </p:spTree>
    <p:extLst>
      <p:ext uri="{BB962C8B-B14F-4D97-AF65-F5344CB8AC3E}">
        <p14:creationId xmlns:p14="http://schemas.microsoft.com/office/powerpoint/2010/main" val="532337829"/>
      </p:ext>
    </p:extLst>
  </p:cSld>
  <p:clrMapOvr>
    <a:masterClrMapping/>
  </p:clrMapOvr>
  <p:hf hdr="0" dt="0"/>
  <p:extLst>
    <p:ext uri="{DCECCB84-F9BA-43D5-87BE-67443E8EF086}">
      <p15:sldGuideLst xmlns:p15="http://schemas.microsoft.com/office/powerpoint/2012/main">
        <p15:guide id="1" orient="horz" pos="1104" userDrawn="1">
          <p15:clr>
            <a:srgbClr val="9FCC3B"/>
          </p15:clr>
        </p15:guide>
        <p15:guide id="2" orient="horz" pos="936" userDrawn="1">
          <p15:clr>
            <a:srgbClr val="9FCC3B"/>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5" name="Footer Placeholder 4"/>
          <p:cNvSpPr>
            <a:spLocks noGrp="1"/>
          </p:cNvSpPr>
          <p:nvPr>
            <p:ph type="ftr" sz="quarter" idx="11"/>
          </p:nvPr>
        </p:nvSpPr>
        <p:spPr/>
        <p:txBody>
          <a:bodyPr>
            <a:noAutofit/>
          </a:bodyPr>
          <a:lstStyle/>
          <a:p>
            <a:r>
              <a:rPr lang="en-US"/>
              <a:t>CONFIDENTIAL DO NOT DISTRIBUTE</a:t>
            </a:r>
          </a:p>
        </p:txBody>
      </p:sp>
      <p:sp>
        <p:nvSpPr>
          <p:cNvPr id="6" name="Slide Number Placeholder 5"/>
          <p:cNvSpPr>
            <a:spLocks noGrp="1"/>
          </p:cNvSpPr>
          <p:nvPr>
            <p:ph type="sldNum" sz="quarter" idx="12"/>
          </p:nvPr>
        </p:nvSpPr>
        <p:spPr/>
        <p:txBody>
          <a:bodyPr>
            <a:noAutofit/>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3992897"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BA26A43D-97B0-48D8-B343-8F2FB900447B}"/>
              </a:ext>
            </a:extLst>
          </p:cNvPr>
          <p:cNvSpPr>
            <a:spLocks noGrp="1"/>
          </p:cNvSpPr>
          <p:nvPr>
            <p:ph sz="half" idx="2"/>
          </p:nvPr>
        </p:nvSpPr>
        <p:spPr>
          <a:xfrm>
            <a:off x="4629149" y="1383846"/>
            <a:ext cx="3981115"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4572000" y="1485899"/>
            <a:ext cx="0" cy="4297680"/>
          </a:xfrm>
          <a:noFill/>
          <a:ln w="3175">
            <a:solidFill>
              <a:schemeClr val="bg1">
                <a:lumMod val="65000"/>
              </a:schemeClr>
            </a:solidFill>
          </a:ln>
        </p:spPr>
        <p:txBody>
          <a:bodyPr>
            <a:noAutofit/>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1279970961"/>
      </p:ext>
    </p:extLst>
  </p:cSld>
  <p:clrMapOvr>
    <a:masterClrMapping/>
  </p:clrMapOvr>
  <p:extLst>
    <p:ext uri="{DCECCB84-F9BA-43D5-87BE-67443E8EF086}">
      <p15:sldGuideLst xmlns:p15="http://schemas.microsoft.com/office/powerpoint/2012/main">
        <p15:guide id="1" orient="horz" pos="936" userDrawn="1">
          <p15:clr>
            <a:srgbClr val="9FCC3B"/>
          </p15:clr>
        </p15:guide>
        <p15:guide id="2" orient="horz" pos="1104" userDrawn="1">
          <p15:clr>
            <a:srgbClr val="9FCC3B"/>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4572000" y="1375985"/>
            <a:ext cx="0" cy="4572000"/>
          </a:xfrm>
          <a:noFill/>
          <a:ln w="3175">
            <a:solidFill>
              <a:schemeClr val="bg1">
                <a:lumMod val="65000"/>
              </a:schemeClr>
            </a:solidFill>
          </a:ln>
        </p:spPr>
        <p:txBody>
          <a:bodyPr/>
          <a:lstStyle>
            <a:lvl1pPr marL="0" indent="0">
              <a:buNone/>
              <a:defRPr>
                <a:ln>
                  <a:noFill/>
                </a:ln>
                <a:noFill/>
              </a:defRPr>
            </a:lvl1pPr>
          </a:lstStyle>
          <a:p>
            <a:pPr lvl="0"/>
            <a:endParaRPr lang="en-US"/>
          </a:p>
        </p:txBody>
      </p:sp>
      <p:sp>
        <p:nvSpPr>
          <p:cNvPr id="12" name="Content Placeholder 2">
            <a:extLst>
              <a:ext uri="{FF2B5EF4-FFF2-40B4-BE49-F238E27FC236}">
                <a16:creationId xmlns:a16="http://schemas.microsoft.com/office/drawing/2014/main" id="{A7DA370D-E409-442A-BE52-9CD43AE1107C}"/>
              </a:ext>
            </a:extLst>
          </p:cNvPr>
          <p:cNvSpPr>
            <a:spLocks noGrp="1"/>
          </p:cNvSpPr>
          <p:nvPr>
            <p:ph sz="half" idx="21"/>
          </p:nvPr>
        </p:nvSpPr>
        <p:spPr>
          <a:xfrm>
            <a:off x="609431" y="2227563"/>
            <a:ext cx="3886200" cy="3887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A136D031-1688-4D3E-9953-9488DDFF5EC1}"/>
              </a:ext>
            </a:extLst>
          </p:cNvPr>
          <p:cNvSpPr>
            <a:spLocks noGrp="1"/>
          </p:cNvSpPr>
          <p:nvPr>
            <p:ph sz="half" idx="22"/>
          </p:nvPr>
        </p:nvSpPr>
        <p:spPr>
          <a:xfrm>
            <a:off x="4645479" y="2227563"/>
            <a:ext cx="3887391" cy="3887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AF0A6AB6-36B9-4441-B946-8B83F968797E}"/>
              </a:ext>
            </a:extLst>
          </p:cNvPr>
          <p:cNvSpPr>
            <a:spLocks noGrp="1"/>
          </p:cNvSpPr>
          <p:nvPr>
            <p:ph type="body" idx="1" hasCustomPrompt="1"/>
          </p:nvPr>
        </p:nvSpPr>
        <p:spPr>
          <a:xfrm>
            <a:off x="609432" y="1375985"/>
            <a:ext cx="3886200" cy="732999"/>
          </a:xfrm>
          <a:solidFill>
            <a:schemeClr val="bg2"/>
          </a:solidFill>
        </p:spPr>
        <p:txBody>
          <a:bodyPr anchor="ctr">
            <a:noAutofit/>
          </a:bodyPr>
          <a:lstStyle>
            <a:lvl1pPr marL="0" indent="0" algn="ctr">
              <a:spcBef>
                <a:spcPts val="0"/>
              </a:spcBef>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
        <p:nvSpPr>
          <p:cNvPr id="15" name="Text Placeholder 4">
            <a:extLst>
              <a:ext uri="{FF2B5EF4-FFF2-40B4-BE49-F238E27FC236}">
                <a16:creationId xmlns:a16="http://schemas.microsoft.com/office/drawing/2014/main" id="{3D0ACAF1-CE3C-48B5-91CD-AB8AF06B8CF2}"/>
              </a:ext>
            </a:extLst>
          </p:cNvPr>
          <p:cNvSpPr>
            <a:spLocks noGrp="1"/>
          </p:cNvSpPr>
          <p:nvPr>
            <p:ph type="body" sz="quarter" idx="3" hasCustomPrompt="1"/>
          </p:nvPr>
        </p:nvSpPr>
        <p:spPr>
          <a:xfrm>
            <a:off x="4645479" y="1375985"/>
            <a:ext cx="3887391" cy="741489"/>
          </a:xfrm>
          <a:solidFill>
            <a:schemeClr val="tx2"/>
          </a:solidFill>
        </p:spPr>
        <p:txBody>
          <a:bodyPr anchor="ctr"/>
          <a:lstStyle>
            <a:lvl1pPr marL="0" indent="0" algn="ctr">
              <a:spcBef>
                <a:spcPts val="0"/>
              </a:spcBef>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Tree>
    <p:extLst>
      <p:ext uri="{BB962C8B-B14F-4D97-AF65-F5344CB8AC3E}">
        <p14:creationId xmlns:p14="http://schemas.microsoft.com/office/powerpoint/2010/main" val="344291597"/>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CONFIDENTIAL DO NOT DISTRIBUTE</a:t>
            </a:r>
          </a:p>
        </p:txBody>
      </p:sp>
      <p:sp>
        <p:nvSpPr>
          <p:cNvPr id="5" name="Slide Number Placeholder 4"/>
          <p:cNvSpPr>
            <a:spLocks noGrp="1"/>
          </p:cNvSpPr>
          <p:nvPr>
            <p:ph type="sldNum" sz="quarter" idx="12"/>
          </p:nvPr>
        </p:nvSpPr>
        <p:spPr/>
        <p:txBody>
          <a:bodyPr/>
          <a:lstStyle/>
          <a:p>
            <a:fld id="{D4F07938-7C1D-46C8-9535-2404A951C984}" type="slidenum">
              <a:rPr lang="en-US" smtClean="0"/>
              <a:t>‹#›</a:t>
            </a:fld>
            <a:endParaRPr lang="en-US"/>
          </a:p>
        </p:txBody>
      </p:sp>
      <p:sp>
        <p:nvSpPr>
          <p:cNvPr id="14" name="Text Placeholder 13">
            <a:extLst>
              <a:ext uri="{FF2B5EF4-FFF2-40B4-BE49-F238E27FC236}">
                <a16:creationId xmlns:a16="http://schemas.microsoft.com/office/drawing/2014/main" id="{D8BD46AF-A5A5-4B10-814A-2FB521643AF8}"/>
              </a:ext>
            </a:extLst>
          </p:cNvPr>
          <p:cNvSpPr>
            <a:spLocks noGrp="1"/>
          </p:cNvSpPr>
          <p:nvPr>
            <p:ph type="body" sz="quarter" idx="13" hasCustomPrompt="1"/>
          </p:nvPr>
        </p:nvSpPr>
        <p:spPr>
          <a:xfrm>
            <a:off x="522368" y="1682750"/>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lvl2pPr>
          </a:lstStyle>
          <a:p>
            <a:pPr lvl="0"/>
            <a:r>
              <a:rPr lang="en-US"/>
              <a:t>Click to edit text styles</a:t>
            </a:r>
          </a:p>
        </p:txBody>
      </p:sp>
      <p:sp>
        <p:nvSpPr>
          <p:cNvPr id="15" name="Text Placeholder 13">
            <a:extLst>
              <a:ext uri="{FF2B5EF4-FFF2-40B4-BE49-F238E27FC236}">
                <a16:creationId xmlns:a16="http://schemas.microsoft.com/office/drawing/2014/main" id="{B6731277-5F54-4FDD-A117-A6405D49886C}"/>
              </a:ext>
            </a:extLst>
          </p:cNvPr>
          <p:cNvSpPr>
            <a:spLocks noGrp="1"/>
          </p:cNvSpPr>
          <p:nvPr>
            <p:ph type="body" sz="quarter" idx="14" hasCustomPrompt="1"/>
          </p:nvPr>
        </p:nvSpPr>
        <p:spPr>
          <a:xfrm>
            <a:off x="3439830" y="1682749"/>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solidFill>
                  <a:schemeClr val="bg2"/>
                </a:solidFill>
              </a:defRPr>
            </a:lvl2pPr>
          </a:lstStyle>
          <a:p>
            <a:pPr lvl="0"/>
            <a:r>
              <a:rPr lang="en-US"/>
              <a:t>Click to edit text styles</a:t>
            </a:r>
          </a:p>
        </p:txBody>
      </p:sp>
      <p:sp>
        <p:nvSpPr>
          <p:cNvPr id="16" name="Text Placeholder 13">
            <a:extLst>
              <a:ext uri="{FF2B5EF4-FFF2-40B4-BE49-F238E27FC236}">
                <a16:creationId xmlns:a16="http://schemas.microsoft.com/office/drawing/2014/main" id="{62DED061-CB5A-4E72-8682-F6A43103BC46}"/>
              </a:ext>
            </a:extLst>
          </p:cNvPr>
          <p:cNvSpPr>
            <a:spLocks noGrp="1"/>
          </p:cNvSpPr>
          <p:nvPr>
            <p:ph type="body" sz="quarter" idx="15" hasCustomPrompt="1"/>
          </p:nvPr>
        </p:nvSpPr>
        <p:spPr>
          <a:xfrm>
            <a:off x="6369992" y="1682750"/>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lvl2pPr>
          </a:lstStyle>
          <a:p>
            <a:pPr lvl="0"/>
            <a:r>
              <a:rPr lang="en-US"/>
              <a:t>Click to edit text styles</a:t>
            </a:r>
          </a:p>
        </p:txBody>
      </p:sp>
      <p:sp>
        <p:nvSpPr>
          <p:cNvPr id="21" name="Title 20">
            <a:extLst>
              <a:ext uri="{FF2B5EF4-FFF2-40B4-BE49-F238E27FC236}">
                <a16:creationId xmlns:a16="http://schemas.microsoft.com/office/drawing/2014/main" id="{2270ADB5-41F0-48A0-B1CD-13F46FE2BA95}"/>
              </a:ext>
            </a:extLst>
          </p:cNvPr>
          <p:cNvSpPr>
            <a:spLocks noGrp="1"/>
          </p:cNvSpPr>
          <p:nvPr>
            <p:ph type="title"/>
          </p:nvPr>
        </p:nvSpPr>
        <p:spPr/>
        <p:txBody>
          <a:bodyPr/>
          <a:lstStyle/>
          <a:p>
            <a:r>
              <a:rPr lang="en-US"/>
              <a:t>Click to edit Master title style</a:t>
            </a:r>
          </a:p>
        </p:txBody>
      </p:sp>
      <p:sp>
        <p:nvSpPr>
          <p:cNvPr id="23" name="Content Placeholder 22">
            <a:extLst>
              <a:ext uri="{FF2B5EF4-FFF2-40B4-BE49-F238E27FC236}">
                <a16:creationId xmlns:a16="http://schemas.microsoft.com/office/drawing/2014/main" id="{9E51F7F1-6C7D-4A70-91AA-42490A4999C4}"/>
              </a:ext>
            </a:extLst>
          </p:cNvPr>
          <p:cNvSpPr>
            <a:spLocks noGrp="1"/>
          </p:cNvSpPr>
          <p:nvPr>
            <p:ph sz="quarter" idx="19"/>
          </p:nvPr>
        </p:nvSpPr>
        <p:spPr>
          <a:xfrm>
            <a:off x="517926" y="963376"/>
            <a:ext cx="8092440" cy="365760"/>
          </a:xfrm>
        </p:spPr>
        <p:txBody>
          <a:bodyPr/>
          <a:lstStyle>
            <a:lvl1pPr marL="0" indent="0">
              <a:buFontTx/>
              <a:buNone/>
              <a:defRPr>
                <a:solidFill>
                  <a:schemeClr val="bg2"/>
                </a:solidFill>
              </a:defRPr>
            </a:lvl1pPr>
          </a:lstStyle>
          <a:p>
            <a:pPr lvl="0"/>
            <a:r>
              <a:rPr lang="en-US"/>
              <a:t>Click to edit Master text styles</a:t>
            </a:r>
          </a:p>
        </p:txBody>
      </p:sp>
      <p:sp>
        <p:nvSpPr>
          <p:cNvPr id="3" name="Text Placeholder 2">
            <a:extLst>
              <a:ext uri="{FF2B5EF4-FFF2-40B4-BE49-F238E27FC236}">
                <a16:creationId xmlns:a16="http://schemas.microsoft.com/office/drawing/2014/main" id="{756437B4-32EE-462C-A2BA-659C7B55D2E4}"/>
              </a:ext>
            </a:extLst>
          </p:cNvPr>
          <p:cNvSpPr>
            <a:spLocks noGrp="1"/>
          </p:cNvSpPr>
          <p:nvPr>
            <p:ph type="body" sz="quarter" idx="20"/>
          </p:nvPr>
        </p:nvSpPr>
        <p:spPr>
          <a:xfrm flipH="1">
            <a:off x="3086100" y="2252353"/>
            <a:ext cx="0" cy="3468049"/>
          </a:xfrm>
          <a:noFill/>
          <a:ln w="3175">
            <a:solidFill>
              <a:schemeClr val="bg1">
                <a:lumMod val="75000"/>
              </a:schemeClr>
            </a:solidFill>
          </a:ln>
        </p:spPr>
        <p:txBody>
          <a:bodyPr/>
          <a:lstStyle>
            <a:lvl1pPr marL="0" indent="0">
              <a:buNone/>
              <a:defRPr>
                <a:ln>
                  <a:noFill/>
                </a:ln>
                <a:noFill/>
              </a:defRPr>
            </a:lvl1pPr>
          </a:lstStyle>
          <a:p>
            <a:pPr lvl="0"/>
            <a:endParaRPr lang="en-US"/>
          </a:p>
        </p:txBody>
      </p:sp>
      <p:sp>
        <p:nvSpPr>
          <p:cNvPr id="17" name="Text Placeholder 2">
            <a:extLst>
              <a:ext uri="{FF2B5EF4-FFF2-40B4-BE49-F238E27FC236}">
                <a16:creationId xmlns:a16="http://schemas.microsoft.com/office/drawing/2014/main" id="{C1407826-FE85-4277-B5B2-4DF9CAB42B1D}"/>
              </a:ext>
            </a:extLst>
          </p:cNvPr>
          <p:cNvSpPr>
            <a:spLocks noGrp="1"/>
          </p:cNvSpPr>
          <p:nvPr>
            <p:ph type="body" sz="quarter" idx="21"/>
          </p:nvPr>
        </p:nvSpPr>
        <p:spPr>
          <a:xfrm flipH="1">
            <a:off x="6028226" y="2252353"/>
            <a:ext cx="0" cy="3468049"/>
          </a:xfrm>
          <a:noFill/>
          <a:ln w="3175">
            <a:solidFill>
              <a:schemeClr val="bg1">
                <a:lumMod val="75000"/>
              </a:schemeClr>
            </a:solidFill>
          </a:ln>
        </p:spPr>
        <p:txBody>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606489556"/>
      </p:ext>
    </p:extLst>
  </p:cSld>
  <p:clrMapOvr>
    <a:masterClrMapping/>
  </p:clrMapOvr>
  <p:extLst>
    <p:ext uri="{DCECCB84-F9BA-43D5-87BE-67443E8EF086}">
      <p15:sldGuideLst xmlns:p15="http://schemas.microsoft.com/office/powerpoint/2012/main">
        <p15:guide id="1" pos="1944" userDrawn="1">
          <p15:clr>
            <a:srgbClr val="F26B43"/>
          </p15:clr>
        </p15:guide>
        <p15:guide id="2" pos="3792" userDrawn="1">
          <p15:clr>
            <a:srgbClr val="F26B43"/>
          </p15:clr>
        </p15:guide>
        <p15:guide id="3" orient="horz" pos="936" userDrawn="1">
          <p15:clr>
            <a:srgbClr val="9FCC3B"/>
          </p15:clr>
        </p15:guide>
        <p15:guide id="4" orient="horz" pos="1104" userDrawn="1">
          <p15:clr>
            <a:srgbClr val="9FCC3B"/>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2971800" cy="4674054"/>
          </a:xfrm>
        </p:spPr>
        <p:txBody>
          <a:bodyPr>
            <a:normAutofit/>
          </a:bodyPr>
          <a:lstStyle>
            <a:lvl1pPr marL="0" indent="0">
              <a:buNone/>
              <a:defRPr sz="1800"/>
            </a:lvl1pPr>
            <a:lvl2pPr marL="228600" indent="0">
              <a:buNone/>
              <a:defRPr/>
            </a:lvl2pPr>
          </a:lstStyle>
          <a:p>
            <a:pPr lvl="0"/>
            <a:r>
              <a:rPr lang="en-US"/>
              <a:t>Click to edit Master text styles</a:t>
            </a:r>
          </a:p>
        </p:txBody>
      </p:sp>
      <p:sp>
        <p:nvSpPr>
          <p:cNvPr id="9" name="Content Placeholder 3">
            <a:extLst>
              <a:ext uri="{FF2B5EF4-FFF2-40B4-BE49-F238E27FC236}">
                <a16:creationId xmlns:a16="http://schemas.microsoft.com/office/drawing/2014/main" id="{BA26A43D-97B0-48D8-B343-8F2FB900447B}"/>
              </a:ext>
            </a:extLst>
          </p:cNvPr>
          <p:cNvSpPr>
            <a:spLocks noGrp="1"/>
          </p:cNvSpPr>
          <p:nvPr>
            <p:ph sz="half" idx="2"/>
          </p:nvPr>
        </p:nvSpPr>
        <p:spPr>
          <a:xfrm>
            <a:off x="3750733" y="1383846"/>
            <a:ext cx="4859532" cy="46740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3611034" y="1485899"/>
            <a:ext cx="0" cy="4297680"/>
          </a:xfrm>
          <a:noFill/>
          <a:ln w="3175">
            <a:solidFill>
              <a:schemeClr val="bg1">
                <a:lumMod val="65000"/>
              </a:schemeClr>
            </a:solidFill>
          </a:ln>
        </p:spPr>
        <p:txBody>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2347370870"/>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2971800" cy="4674054"/>
          </a:xfrm>
        </p:spPr>
        <p:txBody>
          <a:bodyPr>
            <a:normAutofit/>
          </a:bodyPr>
          <a:lstStyle>
            <a:lvl1pPr marL="0" indent="0">
              <a:buNone/>
              <a:defRPr sz="1800"/>
            </a:lvl1pPr>
            <a:lvl2pPr marL="228600" indent="0">
              <a:buNone/>
              <a:defRPr/>
            </a:lvl2pPr>
          </a:lstStyle>
          <a:p>
            <a:pPr lvl="0"/>
            <a:r>
              <a:rPr lang="en-US"/>
              <a:t>Click to edit Master text styles</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3611034" y="1485899"/>
            <a:ext cx="0" cy="4297680"/>
          </a:xfrm>
          <a:noFill/>
          <a:ln w="3175">
            <a:solidFill>
              <a:schemeClr val="bg1">
                <a:lumMod val="65000"/>
              </a:schemeClr>
            </a:solidFill>
          </a:ln>
        </p:spPr>
        <p:txBody>
          <a:bodyPr/>
          <a:lstStyle>
            <a:lvl1pPr marL="0" indent="0">
              <a:buNone/>
              <a:defRPr>
                <a:ln>
                  <a:noFill/>
                </a:ln>
                <a:noFill/>
              </a:defRPr>
            </a:lvl1pPr>
          </a:lstStyle>
          <a:p>
            <a:pPr lvl="0"/>
            <a:endParaRPr lang="en-US"/>
          </a:p>
        </p:txBody>
      </p:sp>
      <p:sp>
        <p:nvSpPr>
          <p:cNvPr id="12" name="Picture Placeholder 2">
            <a:extLst>
              <a:ext uri="{FF2B5EF4-FFF2-40B4-BE49-F238E27FC236}">
                <a16:creationId xmlns:a16="http://schemas.microsoft.com/office/drawing/2014/main" id="{302EF2E1-7359-4EFE-8794-18338094BC31}"/>
              </a:ext>
            </a:extLst>
          </p:cNvPr>
          <p:cNvSpPr>
            <a:spLocks noGrp="1" noChangeAspect="1"/>
          </p:cNvSpPr>
          <p:nvPr>
            <p:ph type="pic" idx="1"/>
          </p:nvPr>
        </p:nvSpPr>
        <p:spPr>
          <a:xfrm>
            <a:off x="3749481" y="1383846"/>
            <a:ext cx="4859527" cy="467429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2571877516"/>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k Slide w/ Log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B03D99-70B0-48F9-888F-CA1668BD87ED}"/>
              </a:ext>
            </a:extLst>
          </p:cNvPr>
          <p:cNvSpPr/>
          <p:nvPr userDrawn="1"/>
        </p:nvSpPr>
        <p:spPr>
          <a:xfrm>
            <a:off x="0" y="6231792"/>
            <a:ext cx="9144000" cy="6322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B3EED9D3-C385-41F2-8EF2-ACB0C22CB04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3159" t="2718" r="2168" b="12046"/>
          <a:stretch/>
        </p:blipFill>
        <p:spPr>
          <a:xfrm>
            <a:off x="1" y="6223846"/>
            <a:ext cx="1760258" cy="584549"/>
          </a:xfrm>
          <a:prstGeom prst="rect">
            <a:avLst/>
          </a:prstGeom>
        </p:spPr>
      </p:pic>
      <p:sp>
        <p:nvSpPr>
          <p:cNvPr id="14" name="Content Placeholder 13">
            <a:extLst>
              <a:ext uri="{FF2B5EF4-FFF2-40B4-BE49-F238E27FC236}">
                <a16:creationId xmlns:a16="http://schemas.microsoft.com/office/drawing/2014/main" id="{CA490667-927C-4267-ACED-3C560CBFC007}"/>
              </a:ext>
            </a:extLst>
          </p:cNvPr>
          <p:cNvSpPr>
            <a:spLocks noGrp="1"/>
          </p:cNvSpPr>
          <p:nvPr>
            <p:ph sz="quarter" idx="10"/>
          </p:nvPr>
        </p:nvSpPr>
        <p:spPr>
          <a:xfrm>
            <a:off x="609600" y="342900"/>
            <a:ext cx="79248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40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9F6CAE-86BC-4A1E-92A4-8ADB1D3E27CC}"/>
              </a:ext>
            </a:extLst>
          </p:cNvPr>
          <p:cNvSpPr>
            <a:spLocks noGrp="1"/>
          </p:cNvSpPr>
          <p:nvPr>
            <p:ph sz="quarter" idx="10"/>
          </p:nvPr>
        </p:nvSpPr>
        <p:spPr>
          <a:xfrm>
            <a:off x="0" y="0"/>
            <a:ext cx="9144000" cy="685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842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0081AC-318D-4D64-B11F-2FE435CD572B}"/>
              </a:ext>
            </a:extLst>
          </p:cNvPr>
          <p:cNvSpPr/>
          <p:nvPr userDrawn="1"/>
        </p:nvSpPr>
        <p:spPr>
          <a:xfrm>
            <a:off x="0" y="0"/>
            <a:ext cx="4572000" cy="6864077"/>
          </a:xfrm>
          <a:prstGeom prst="rect">
            <a:avLst/>
          </a:prstGeom>
          <a:solidFill>
            <a:srgbClr val="0028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01168" y="1904904"/>
            <a:ext cx="3429000" cy="3059647"/>
          </a:xfrm>
        </p:spPr>
        <p:txBody>
          <a:bodyPr anchor="ctr"/>
          <a:lstStyle>
            <a:lvl1pPr algn="l">
              <a:defRPr sz="4000">
                <a:solidFill>
                  <a:schemeClr val="tx2"/>
                </a:solidFill>
              </a:defRPr>
            </a:lvl1pPr>
          </a:lstStyle>
          <a:p>
            <a:r>
              <a:rPr lang="en-US"/>
              <a:t>Click to edit Master title style</a:t>
            </a:r>
          </a:p>
        </p:txBody>
      </p:sp>
      <p:sp>
        <p:nvSpPr>
          <p:cNvPr id="13" name="Freeform: Shape 12">
            <a:extLst>
              <a:ext uri="{FF2B5EF4-FFF2-40B4-BE49-F238E27FC236}">
                <a16:creationId xmlns:a16="http://schemas.microsoft.com/office/drawing/2014/main" id="{8B1EFDB9-3A71-4778-AC61-C6D7860D554B}"/>
              </a:ext>
            </a:extLst>
          </p:cNvPr>
          <p:cNvSpPr>
            <a:spLocks noChangeArrowheads="1"/>
          </p:cNvSpPr>
          <p:nvPr userDrawn="1"/>
        </p:nvSpPr>
        <p:spPr bwMode="auto">
          <a:xfrm>
            <a:off x="0" y="3414293"/>
            <a:ext cx="3840480" cy="36131"/>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rgbClr val="0091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a:solidFill>
                <a:schemeClr val="lt1"/>
              </a:solidFill>
            </a:endParaRPr>
          </a:p>
        </p:txBody>
      </p:sp>
      <p:pic>
        <p:nvPicPr>
          <p:cNvPr id="14" name="BMP Logo Extended">
            <a:extLst>
              <a:ext uri="{FF2B5EF4-FFF2-40B4-BE49-F238E27FC236}">
                <a16:creationId xmlns:a16="http://schemas.microsoft.com/office/drawing/2014/main" id="{7337C0E5-B532-4476-B0C7-00FAFE14610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334" y="2676128"/>
            <a:ext cx="3469844" cy="1528004"/>
          </a:xfrm>
          <a:prstGeom prst="rect">
            <a:avLst/>
          </a:prstGeom>
        </p:spPr>
      </p:pic>
    </p:spTree>
    <p:extLst>
      <p:ext uri="{BB962C8B-B14F-4D97-AF65-F5344CB8AC3E}">
        <p14:creationId xmlns:p14="http://schemas.microsoft.com/office/powerpoint/2010/main" val="2822621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0081AC-318D-4D64-B11F-2FE435CD572B}"/>
              </a:ext>
            </a:extLst>
          </p:cNvPr>
          <p:cNvSpPr/>
          <p:nvPr userDrawn="1"/>
        </p:nvSpPr>
        <p:spPr>
          <a:xfrm>
            <a:off x="4572000" y="0"/>
            <a:ext cx="4572000" cy="686407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01168" y="1445345"/>
            <a:ext cx="3429000" cy="3059647"/>
          </a:xfrm>
        </p:spPr>
        <p:txBody>
          <a:bodyPr anchor="t"/>
          <a:lstStyle>
            <a:lvl1pPr algn="l">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a:xfrm>
            <a:off x="5101167" y="5904194"/>
            <a:ext cx="3433231" cy="365125"/>
          </a:xfrm>
          <a:prstGeom prst="rect">
            <a:avLst/>
          </a:prstGeom>
        </p:spPr>
        <p:txBody>
          <a:bodyPr/>
          <a:lstStyle>
            <a:lvl1pPr>
              <a:defRPr sz="1600">
                <a:solidFill>
                  <a:schemeClr val="bg2">
                    <a:lumMod val="60000"/>
                    <a:lumOff val="40000"/>
                  </a:schemeClr>
                </a:solidFill>
              </a:defRPr>
            </a:lvl1pPr>
          </a:lstStyle>
          <a:p>
            <a:endParaRPr lang="en-US"/>
          </a:p>
        </p:txBody>
      </p:sp>
      <p:sp>
        <p:nvSpPr>
          <p:cNvPr id="5" name="Footer Placeholder 4"/>
          <p:cNvSpPr>
            <a:spLocks noGrp="1"/>
          </p:cNvSpPr>
          <p:nvPr>
            <p:ph type="ftr" sz="quarter" idx="11"/>
          </p:nvPr>
        </p:nvSpPr>
        <p:spPr>
          <a:xfrm>
            <a:off x="742950" y="6356351"/>
            <a:ext cx="3086100" cy="365125"/>
          </a:xfrm>
        </p:spPr>
        <p:txBody>
          <a:bodyPr/>
          <a:lstStyle>
            <a:lvl1pPr>
              <a:defRPr>
                <a:solidFill>
                  <a:schemeClr val="tx1"/>
                </a:solidFill>
              </a:defRPr>
            </a:lvl1pPr>
          </a:lstStyle>
          <a:p>
            <a:pPr>
              <a:spcAft>
                <a:spcPts val="300"/>
              </a:spcAft>
            </a:pPr>
            <a:r>
              <a:rPr lang="en-US"/>
              <a:t>CONFIDENTIAL DO NOT DISTRIBUTE</a:t>
            </a:r>
          </a:p>
        </p:txBody>
      </p:sp>
      <p:sp>
        <p:nvSpPr>
          <p:cNvPr id="7" name="Text Placeholder 51">
            <a:extLst>
              <a:ext uri="{FF2B5EF4-FFF2-40B4-BE49-F238E27FC236}">
                <a16:creationId xmlns:a16="http://schemas.microsoft.com/office/drawing/2014/main" id="{A1A21E0E-34CB-46D3-A141-7DEA284EE4A8}"/>
              </a:ext>
            </a:extLst>
          </p:cNvPr>
          <p:cNvSpPr>
            <a:spLocks noGrp="1"/>
          </p:cNvSpPr>
          <p:nvPr>
            <p:ph type="body" sz="quarter" idx="16" hasCustomPrompt="1"/>
          </p:nvPr>
        </p:nvSpPr>
        <p:spPr>
          <a:xfrm>
            <a:off x="5101168" y="5154389"/>
            <a:ext cx="3433232" cy="258266"/>
          </a:xfrm>
        </p:spPr>
        <p:txBody>
          <a:bodyPr>
            <a:noAutofit/>
          </a:bodyPr>
          <a:lstStyle>
            <a:lvl1pPr marL="0" indent="0" algn="l">
              <a:buNone/>
              <a:defRPr sz="1600">
                <a:solidFill>
                  <a:schemeClr val="accent1">
                    <a:lumMod val="60000"/>
                    <a:lumOff val="40000"/>
                  </a:schemeClr>
                </a:solidFill>
              </a:defRPr>
            </a:lvl1pPr>
          </a:lstStyle>
          <a:p>
            <a:pPr lvl="0"/>
            <a:r>
              <a:rPr lang="en-US"/>
              <a:t>Speaker Name</a:t>
            </a:r>
          </a:p>
        </p:txBody>
      </p:sp>
      <p:sp>
        <p:nvSpPr>
          <p:cNvPr id="8" name="Text Placeholder 51">
            <a:extLst>
              <a:ext uri="{FF2B5EF4-FFF2-40B4-BE49-F238E27FC236}">
                <a16:creationId xmlns:a16="http://schemas.microsoft.com/office/drawing/2014/main" id="{2D78E484-5EEE-4DE7-9FD5-EFD3F6A4643B}"/>
              </a:ext>
            </a:extLst>
          </p:cNvPr>
          <p:cNvSpPr>
            <a:spLocks noGrp="1"/>
          </p:cNvSpPr>
          <p:nvPr>
            <p:ph type="body" sz="quarter" idx="17" hasCustomPrompt="1"/>
          </p:nvPr>
        </p:nvSpPr>
        <p:spPr>
          <a:xfrm>
            <a:off x="5101168" y="5434126"/>
            <a:ext cx="3433232" cy="258266"/>
          </a:xfrm>
        </p:spPr>
        <p:txBody>
          <a:bodyPr>
            <a:noAutofit/>
          </a:bodyPr>
          <a:lstStyle>
            <a:lvl1pPr marL="0" indent="0" algn="l">
              <a:buNone/>
              <a:defRPr sz="1600">
                <a:solidFill>
                  <a:schemeClr val="accent1">
                    <a:lumMod val="60000"/>
                    <a:lumOff val="40000"/>
                  </a:schemeClr>
                </a:solidFill>
              </a:defRPr>
            </a:lvl1pPr>
          </a:lstStyle>
          <a:p>
            <a:pPr lvl="0"/>
            <a:r>
              <a:rPr lang="en-US"/>
              <a:t>Speaker Title</a:t>
            </a:r>
          </a:p>
        </p:txBody>
      </p:sp>
      <p:sp>
        <p:nvSpPr>
          <p:cNvPr id="13" name="Freeform: Shape 12">
            <a:extLst>
              <a:ext uri="{FF2B5EF4-FFF2-40B4-BE49-F238E27FC236}">
                <a16:creationId xmlns:a16="http://schemas.microsoft.com/office/drawing/2014/main" id="{8B1EFDB9-3A71-4778-AC61-C6D7860D554B}"/>
              </a:ext>
            </a:extLst>
          </p:cNvPr>
          <p:cNvSpPr>
            <a:spLocks noChangeArrowheads="1"/>
          </p:cNvSpPr>
          <p:nvPr userDrawn="1"/>
        </p:nvSpPr>
        <p:spPr bwMode="auto">
          <a:xfrm>
            <a:off x="0" y="3414293"/>
            <a:ext cx="3840480" cy="36131"/>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a:solidFill>
                <a:schemeClr val="lt1"/>
              </a:solidFill>
            </a:endParaRPr>
          </a:p>
        </p:txBody>
      </p:sp>
      <p:pic>
        <p:nvPicPr>
          <p:cNvPr id="14" name="BMP Logo Extended">
            <a:extLst>
              <a:ext uri="{FF2B5EF4-FFF2-40B4-BE49-F238E27FC236}">
                <a16:creationId xmlns:a16="http://schemas.microsoft.com/office/drawing/2014/main" id="{7337C0E5-B532-4476-B0C7-00FAFE14610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1321"/>
          <a:stretch/>
        </p:blipFill>
        <p:spPr>
          <a:xfrm>
            <a:off x="936790" y="2665898"/>
            <a:ext cx="3469844" cy="1548465"/>
          </a:xfrm>
          <a:prstGeom prst="rect">
            <a:avLst/>
          </a:prstGeom>
        </p:spPr>
      </p:pic>
    </p:spTree>
    <p:extLst>
      <p:ext uri="{BB962C8B-B14F-4D97-AF65-F5344CB8AC3E}">
        <p14:creationId xmlns:p14="http://schemas.microsoft.com/office/powerpoint/2010/main" val="331790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2750" fill="hold"/>
                                        <p:tgtEl>
                                          <p:spTgt spid="13"/>
                                        </p:tgtEl>
                                        <p:attrNameLst>
                                          <p:attrName>ppt_x</p:attrName>
                                        </p:attrNameLst>
                                      </p:cBhvr>
                                      <p:tavLst>
                                        <p:tav tm="0">
                                          <p:val>
                                            <p:strVal val="0-#ppt_w/2"/>
                                          </p:val>
                                        </p:tav>
                                        <p:tav tm="100000">
                                          <p:val>
                                            <p:strVal val="#ppt_x"/>
                                          </p:val>
                                        </p:tav>
                                      </p:tavLst>
                                    </p:anim>
                                    <p:anim calcmode="lin" valueType="num">
                                      <p:cBhvr additive="base">
                                        <p:cTn id="8" dur="2750" fill="hold"/>
                                        <p:tgtEl>
                                          <p:spTgt spid="1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1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1500"/>
                                        <p:tgtEl>
                                          <p:spTgt spid="14"/>
                                        </p:tgtEl>
                                      </p:cBhvr>
                                    </p:animEffect>
                                  </p:childTnLst>
                                </p:cTn>
                              </p:par>
                              <p:par>
                                <p:cTn id="12" presetID="35" presetClass="path" presetSubtype="0" decel="100000" fill="hold" nodeType="withEffect">
                                  <p:stCondLst>
                                    <p:cond delay="1250"/>
                                  </p:stCondLst>
                                  <p:childTnLst>
                                    <p:animMotion origin="layout" path="M 2.5E-6 -3.7037E-7 L -0.02743 -3.7037E-7 " pathEditMode="relative" rAng="0" ptsTypes="AA">
                                      <p:cBhvr>
                                        <p:cTn id="13" dur="1500" spd="-100000" fill="hold"/>
                                        <p:tgtEl>
                                          <p:spTgt spid="14"/>
                                        </p:tgtEl>
                                        <p:attrNameLst>
                                          <p:attrName>ppt_x</p:attrName>
                                          <p:attrName>ppt_y</p:attrName>
                                        </p:attrNameLst>
                                      </p:cBhvr>
                                      <p:rCtr x="-1372" y="0"/>
                                    </p:animMotion>
                                  </p:childTnLst>
                                </p:cTn>
                              </p:par>
                            </p:childTnLst>
                          </p:cTn>
                        </p:par>
                        <p:par>
                          <p:cTn id="14" fill="hold">
                            <p:stCondLst>
                              <p:cond delay="2750"/>
                            </p:stCondLst>
                            <p:childTnLst>
                              <p:par>
                                <p:cTn id="15" presetID="42" presetClass="entr" presetSubtype="0" fill="hold" grpId="0" nodeType="after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1000"/>
                                        <p:tgtEl>
                                          <p:spTgt spid="8">
                                            <p:txEl>
                                              <p:pRg st="0" end="0"/>
                                            </p:txEl>
                                          </p:spTgt>
                                        </p:tgtEl>
                                      </p:cBhvr>
                                    </p:animEffect>
                                    <p:anim calcmode="lin" valueType="num">
                                      <p:cBhvr>
                                        <p:cTn id="2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nodePh="1">
                                  <p:stCondLst>
                                    <p:cond delay="0"/>
                                  </p:stCondLst>
                                  <p:endCondLst>
                                    <p:cond evt="begin" delay="0">
                                      <p:tn val="30"/>
                                    </p:cond>
                                  </p:end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1000"/>
                                        <p:tgtEl>
                                          <p:spTgt spid="4">
                                            <p:txEl>
                                              <p:pRg st="0" end="0"/>
                                            </p:txEl>
                                          </p:spTgt>
                                        </p:tgtEl>
                                      </p:cBhvr>
                                    </p:animEffect>
                                    <p:anim calcmode="lin" valueType="num">
                                      <p:cBhvr>
                                        <p:cTn id="3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7" grpId="0" build="p">
        <p:tmplLst>
          <p:tmpl lvl="1">
            <p:tnLst>
              <p:par>
                <p:cTn presetID="42" presetClass="entr" presetSubtype="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ppt_x</p:attrName>
                        </p:attrNameLst>
                      </p:cBhvr>
                      <p:tavLst>
                        <p:tav tm="0">
                          <p:val>
                            <p:strVal val="#ppt_x"/>
                          </p:val>
                        </p:tav>
                        <p:tav tm="100000">
                          <p:val>
                            <p:strVal val="#ppt_x"/>
                          </p:val>
                        </p:tav>
                      </p:tavLst>
                    </p:anim>
                    <p:anim calcmode="lin" valueType="num">
                      <p:cBhvr>
                        <p:cTn dur="1000" fill="hold"/>
                        <p:tgtEl>
                          <p:spTgt spid="7"/>
                        </p:tgtEl>
                        <p:attrNameLst>
                          <p:attrName>ppt_y</p:attrName>
                        </p:attrNameLst>
                      </p:cBhvr>
                      <p:tavLst>
                        <p:tav tm="0">
                          <p:val>
                            <p:strVal val="#ppt_y+.1"/>
                          </p:val>
                        </p:tav>
                        <p:tav tm="100000">
                          <p:val>
                            <p:strVal val="#ppt_y"/>
                          </p:val>
                        </p:tav>
                      </p:tavLst>
                    </p:anim>
                  </p:childTnLst>
                </p:cTn>
              </p:par>
            </p:tnLst>
          </p:tmpl>
        </p:tmplLst>
      </p:bldP>
      <p:bldP spid="8" grpId="0" build="p">
        <p:tmplLst>
          <p:tmpl lvl="1">
            <p:tnLst>
              <p:par>
                <p:cTn presetID="42"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1000"/>
                        <p:tgtEl>
                          <p:spTgt spid="8"/>
                        </p:tgtEl>
                      </p:cBhvr>
                    </p:animEffect>
                    <p:anim calcmode="lin" valueType="num">
                      <p:cBhvr>
                        <p:cTn dur="1000" fill="hold"/>
                        <p:tgtEl>
                          <p:spTgt spid="8"/>
                        </p:tgtEl>
                        <p:attrNameLst>
                          <p:attrName>ppt_x</p:attrName>
                        </p:attrNameLst>
                      </p:cBhvr>
                      <p:tavLst>
                        <p:tav tm="0">
                          <p:val>
                            <p:strVal val="#ppt_x"/>
                          </p:val>
                        </p:tav>
                        <p:tav tm="100000">
                          <p:val>
                            <p:strVal val="#ppt_x"/>
                          </p:val>
                        </p:tav>
                      </p:tavLst>
                    </p:anim>
                    <p:anim calcmode="lin" valueType="num">
                      <p:cBhvr>
                        <p:cTn dur="1000" fill="hold"/>
                        <p:tgtEl>
                          <p:spTgt spid="8"/>
                        </p:tgtEl>
                        <p:attrNameLst>
                          <p:attrName>ppt_y</p:attrName>
                        </p:attrNameLst>
                      </p:cBhvr>
                      <p:tavLst>
                        <p:tav tm="0">
                          <p:val>
                            <p:strVal val="#ppt_y+.1"/>
                          </p:val>
                        </p:tav>
                        <p:tav tm="100000">
                          <p:val>
                            <p:strVal val="#ppt_y"/>
                          </p:val>
                        </p:tav>
                      </p:tavLst>
                    </p:anim>
                  </p:childTnLst>
                </p:cTn>
              </p:par>
            </p:tnLst>
          </p:tmpl>
        </p:tmplLst>
      </p:bldP>
      <p:bldP spid="13"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2">
            <a:lumMod val="50000"/>
          </a:schemeClr>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lvl1pPr>
              <a:defRPr/>
            </a:lvl1pPr>
          </a:lstStyle>
          <a:p>
            <a:pPr>
              <a:spcAft>
                <a:spcPts val="300"/>
              </a:spcAft>
            </a:pPr>
            <a:r>
              <a:rPr lang="en-US"/>
              <a:t>CONFIDENTIAL DO NOT DISTRIBUTE</a:t>
            </a:r>
          </a:p>
        </p:txBody>
      </p:sp>
      <p:sp>
        <p:nvSpPr>
          <p:cNvPr id="9" name="Freeform: Shape 8">
            <a:extLst>
              <a:ext uri="{FF2B5EF4-FFF2-40B4-BE49-F238E27FC236}">
                <a16:creationId xmlns:a16="http://schemas.microsoft.com/office/drawing/2014/main" id="{E00957E1-7385-4372-958A-08F6E48CF842}"/>
              </a:ext>
            </a:extLst>
          </p:cNvPr>
          <p:cNvSpPr>
            <a:spLocks noChangeArrowheads="1"/>
          </p:cNvSpPr>
          <p:nvPr userDrawn="1"/>
        </p:nvSpPr>
        <p:spPr bwMode="auto">
          <a:xfrm>
            <a:off x="0" y="3823012"/>
            <a:ext cx="8229600" cy="54864"/>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rgbClr val="0091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chemeClr val="lt1"/>
              </a:solidFill>
            </a:endParaRPr>
          </a:p>
        </p:txBody>
      </p:sp>
      <p:sp>
        <p:nvSpPr>
          <p:cNvPr id="3" name="Section Divider Title">
            <a:extLst>
              <a:ext uri="{FF2B5EF4-FFF2-40B4-BE49-F238E27FC236}">
                <a16:creationId xmlns:a16="http://schemas.microsoft.com/office/drawing/2014/main" id="{4E2D8BF0-9312-4079-A0C6-A9039E405EB5}"/>
              </a:ext>
            </a:extLst>
          </p:cNvPr>
          <p:cNvSpPr>
            <a:spLocks noGrp="1"/>
          </p:cNvSpPr>
          <p:nvPr>
            <p:ph type="body" sz="quarter" idx="12" hasCustomPrompt="1"/>
          </p:nvPr>
        </p:nvSpPr>
        <p:spPr>
          <a:xfrm>
            <a:off x="921880" y="1796142"/>
            <a:ext cx="7399343" cy="1959549"/>
          </a:xfrm>
        </p:spPr>
        <p:txBody>
          <a:bodyPr anchor="b">
            <a:normAutofit/>
          </a:bodyPr>
          <a:lstStyle>
            <a:lvl1pPr marL="0" indent="0" algn="r">
              <a:buNone/>
              <a:defRPr sz="4000" baseline="0">
                <a:solidFill>
                  <a:schemeClr val="bg1"/>
                </a:solidFill>
                <a:latin typeface="+mj-lt"/>
              </a:defRPr>
            </a:lvl1pPr>
            <a:lvl2pPr marL="457200" indent="0">
              <a:buNone/>
              <a:defRPr/>
            </a:lvl2pPr>
          </a:lstStyle>
          <a:p>
            <a:pPr lvl="0"/>
            <a:r>
              <a:rPr lang="en-US">
                <a:latin typeface="+mj-lt"/>
              </a:rPr>
              <a:t>Click to edit Master title style</a:t>
            </a:r>
            <a:endParaRPr lang="en-US"/>
          </a:p>
        </p:txBody>
      </p:sp>
      <p:sp>
        <p:nvSpPr>
          <p:cNvPr id="6" name="Subtitle">
            <a:extLst>
              <a:ext uri="{FF2B5EF4-FFF2-40B4-BE49-F238E27FC236}">
                <a16:creationId xmlns:a16="http://schemas.microsoft.com/office/drawing/2014/main" id="{1C918C49-2DED-4376-A852-85D9A03B1807}"/>
              </a:ext>
            </a:extLst>
          </p:cNvPr>
          <p:cNvSpPr>
            <a:spLocks noGrp="1"/>
          </p:cNvSpPr>
          <p:nvPr>
            <p:ph type="body" sz="quarter" idx="13" hasCustomPrompt="1"/>
          </p:nvPr>
        </p:nvSpPr>
        <p:spPr>
          <a:xfrm>
            <a:off x="921880" y="4016103"/>
            <a:ext cx="7399343" cy="1089025"/>
          </a:xfrm>
        </p:spPr>
        <p:txBody>
          <a:bodyPr/>
          <a:lstStyle>
            <a:lvl1pPr marL="0" indent="0" algn="r">
              <a:buNone/>
              <a:defRPr>
                <a:solidFill>
                  <a:schemeClr val="bg1"/>
                </a:solidFill>
              </a:defRPr>
            </a:lvl1pPr>
            <a:lvl2pPr marL="457200" indent="0">
              <a:buNone/>
              <a:defRPr/>
            </a:lvl2pPr>
          </a:lstStyle>
          <a:p>
            <a:pPr lvl="0"/>
            <a:r>
              <a:rPr lang="en-US"/>
              <a:t>Click to edit Master subtitle style</a:t>
            </a:r>
          </a:p>
        </p:txBody>
      </p:sp>
    </p:spTree>
    <p:extLst>
      <p:ext uri="{BB962C8B-B14F-4D97-AF65-F5344CB8AC3E}">
        <p14:creationId xmlns:p14="http://schemas.microsoft.com/office/powerpoint/2010/main" val="321490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35" presetClass="path" presetSubtype="0" decel="100000" fill="hold" grpId="1" nodeType="withEffect">
                                  <p:stCondLst>
                                    <p:cond delay="1250"/>
                                  </p:stCondLst>
                                  <p:childTnLst>
                                    <p:animMotion origin="layout" path="M -1.94444E-6 3.7037E-7 L -0.02482 3.7037E-7 " pathEditMode="relative" rAng="0" ptsTypes="AA">
                                      <p:cBhvr>
                                        <p:cTn id="9" dur="1500" spd="-100000" fill="hold"/>
                                        <p:tgtEl>
                                          <p:spTgt spid="3"/>
                                        </p:tgtEl>
                                        <p:attrNameLst>
                                          <p:attrName>ppt_x</p:attrName>
                                          <p:attrName>ppt_y</p:attrName>
                                        </p:attrNameLst>
                                      </p:cBhvr>
                                      <p:rCtr x="-1250" y="0"/>
                                    </p:animMotion>
                                  </p:childTnLst>
                                </p:cTn>
                              </p:par>
                              <p:par>
                                <p:cTn id="10" presetID="10" presetClass="entr" presetSubtype="0" fill="hold" grpId="0" nodeType="withEffect">
                                  <p:stCondLst>
                                    <p:cond delay="12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500"/>
                                        <p:tgtEl>
                                          <p:spTgt spid="6"/>
                                        </p:tgtEl>
                                      </p:cBhvr>
                                    </p:animEffect>
                                  </p:childTnLst>
                                </p:cTn>
                              </p:par>
                              <p:par>
                                <p:cTn id="13" presetID="35" presetClass="path" presetSubtype="0" decel="100000" fill="hold" grpId="1" nodeType="withEffect">
                                  <p:stCondLst>
                                    <p:cond delay="1250"/>
                                  </p:stCondLst>
                                  <p:childTnLst>
                                    <p:animMotion origin="layout" path="M -1.94444E-6 3.7037E-6 L -0.02482 3.7037E-6 " pathEditMode="relative" rAng="0" ptsTypes="AA">
                                      <p:cBhvr>
                                        <p:cTn id="14" dur="1500" spd="-100000" fill="hold"/>
                                        <p:tgtEl>
                                          <p:spTgt spid="6"/>
                                        </p:tgtEl>
                                        <p:attrNameLst>
                                          <p:attrName>ppt_x</p:attrName>
                                          <p:attrName>ppt_y</p:attrName>
                                        </p:attrNameLst>
                                      </p:cBhvr>
                                      <p:rCtr x="-1250" y="0"/>
                                    </p:animMotion>
                                  </p:childTnLst>
                                </p:cTn>
                              </p:par>
                              <p:par>
                                <p:cTn id="15" presetID="2" presetClass="entr" presetSubtype="8" decel="10000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2750" fill="hold"/>
                                        <p:tgtEl>
                                          <p:spTgt spid="9"/>
                                        </p:tgtEl>
                                        <p:attrNameLst>
                                          <p:attrName>ppt_x</p:attrName>
                                        </p:attrNameLst>
                                      </p:cBhvr>
                                      <p:tavLst>
                                        <p:tav tm="0">
                                          <p:val>
                                            <p:strVal val="0-#ppt_w/2"/>
                                          </p:val>
                                        </p:tav>
                                        <p:tav tm="100000">
                                          <p:val>
                                            <p:strVal val="#ppt_x"/>
                                          </p:val>
                                        </p:tav>
                                      </p:tavLst>
                                    </p:anim>
                                    <p:anim calcmode="lin" valueType="num">
                                      <p:cBhvr additive="base">
                                        <p:cTn id="18" dur="2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p:tmplLst>
          <p:tmpl>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1500"/>
                        <p:tgtEl>
                          <p:spTgt spid="3"/>
                        </p:tgtEl>
                      </p:cBhvr>
                    </p:animEffect>
                  </p:childTnLst>
                </p:cTn>
              </p:par>
            </p:tnLst>
          </p:tmpl>
        </p:tmplLst>
      </p:bldP>
      <p:bldP spid="3" grpId="1">
        <p:tmplLst>
          <p:tmpl>
            <p:tnLst>
              <p:par>
                <p:cTn presetID="35" presetClass="path" presetSubtype="0" decel="100000" fill="hold" nodeType="withEffect">
                  <p:stCondLst>
                    <p:cond delay="1250"/>
                  </p:stCondLst>
                  <p:childTnLst>
                    <p:animMotion origin="layout" path="M -1.94444E-6 3.7037E-7 L -0.02482 3.7037E-7 " pathEditMode="relative" rAng="0" ptsTypes="AA">
                      <p:cBhvr>
                        <p:cTn dur="1500" spd="-100000" fill="hold"/>
                        <p:tgtEl>
                          <p:spTgt spid="3"/>
                        </p:tgtEl>
                        <p:attrNameLst>
                          <p:attrName>ppt_x</p:attrName>
                          <p:attrName>ppt_y</p:attrName>
                        </p:attrNameLst>
                      </p:cBhvr>
                      <p:rCtr x="-1250" y="0"/>
                    </p:animMotion>
                  </p:childTnLst>
                </p:cTn>
              </p:par>
            </p:tnLst>
          </p:tmpl>
        </p:tmplLst>
      </p:bldP>
      <p:bldP spid="6" grpId="0">
        <p:tmplLst>
          <p:tmpl>
            <p:tnLst>
              <p:par>
                <p:cTn presetID="10" presetClass="entr" presetSubtype="0" fill="hold" nodeType="withEffect">
                  <p:stCondLst>
                    <p:cond delay="1250"/>
                  </p:stCondLst>
                  <p:childTnLst>
                    <p:set>
                      <p:cBhvr>
                        <p:cTn dur="1" fill="hold">
                          <p:stCondLst>
                            <p:cond delay="0"/>
                          </p:stCondLst>
                        </p:cTn>
                        <p:tgtEl>
                          <p:spTgt spid="6"/>
                        </p:tgtEl>
                        <p:attrNameLst>
                          <p:attrName>style.visibility</p:attrName>
                        </p:attrNameLst>
                      </p:cBhvr>
                      <p:to>
                        <p:strVal val="visible"/>
                      </p:to>
                    </p:set>
                    <p:animEffect transition="in" filter="fade">
                      <p:cBhvr>
                        <p:cTn dur="1500"/>
                        <p:tgtEl>
                          <p:spTgt spid="6"/>
                        </p:tgtEl>
                      </p:cBhvr>
                    </p:animEffect>
                  </p:childTnLst>
                </p:cTn>
              </p:par>
            </p:tnLst>
          </p:tmpl>
        </p:tmplLst>
      </p:bldP>
      <p:bldP spid="6" grpId="1">
        <p:tmplLst>
          <p:tmpl>
            <p:tnLst>
              <p:par>
                <p:cTn presetID="35" presetClass="path" presetSubtype="0" decel="100000" fill="hold" nodeType="withEffect">
                  <p:stCondLst>
                    <p:cond delay="1250"/>
                  </p:stCondLst>
                  <p:childTnLst>
                    <p:animMotion origin="layout" path="M -1.94444E-6 3.7037E-6 L -0.02482 3.7037E-6 " pathEditMode="relative" rAng="0" ptsTypes="AA">
                      <p:cBhvr>
                        <p:cTn dur="1500" spd="-100000" fill="hold"/>
                        <p:tgtEl>
                          <p:spTgt spid="6"/>
                        </p:tgtEl>
                        <p:attrNameLst>
                          <p:attrName>ppt_x</p:attrName>
                          <p:attrName>ppt_y</p:attrName>
                        </p:attrNameLst>
                      </p:cBhvr>
                      <p:rCtr x="-1250" y="0"/>
                    </p:animMotion>
                  </p:childTnLst>
                </p:cTn>
              </p:par>
            </p:tnLst>
          </p:tmpl>
        </p:tmplLst>
      </p:bldP>
    </p:bldLst>
  </p:timing>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Placeholder"/>
          <p:cNvSpPr>
            <a:spLocks noGrp="1"/>
          </p:cNvSpPr>
          <p:nvPr>
            <p:ph type="title"/>
          </p:nvPr>
        </p:nvSpPr>
        <p:spPr>
          <a:xfrm>
            <a:off x="521953" y="349430"/>
            <a:ext cx="8088319" cy="396219"/>
          </a:xfrm>
        </p:spPr>
        <p:txBody>
          <a:bodyPr/>
          <a:lstStyle/>
          <a:p>
            <a:r>
              <a:rPr lang="en-US"/>
              <a:t>Click to edit Master title style</a:t>
            </a:r>
          </a:p>
        </p:txBody>
      </p:sp>
      <p:sp>
        <p:nvSpPr>
          <p:cNvPr id="3" name="Content Placeholder"/>
          <p:cNvSpPr>
            <a:spLocks noGrp="1"/>
          </p:cNvSpPr>
          <p:nvPr>
            <p:ph idx="1"/>
          </p:nvPr>
        </p:nvSpPr>
        <p:spPr>
          <a:xfrm>
            <a:off x="521953" y="1383847"/>
            <a:ext cx="8094997" cy="4391456"/>
          </a:xfrm>
        </p:spPr>
        <p:txBody>
          <a:bodyPr/>
          <a:lstStyle>
            <a:lvl2pPr marL="457200">
              <a:defRPr/>
            </a:lvl2pPr>
            <a:lvl3pPr marL="685800">
              <a:defRPr/>
            </a:lvl3pPr>
            <a:lvl4pPr marL="914400">
              <a:defRPr/>
            </a:lvl4pPr>
            <a:lvl5pPr marL="1143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p:cNvSpPr>
            <a:spLocks noGrp="1"/>
          </p:cNvSpPr>
          <p:nvPr>
            <p:ph type="sldNum" sz="quarter" idx="12"/>
          </p:nvPr>
        </p:nvSpPr>
        <p:spPr/>
        <p:txBody>
          <a:bodyPr/>
          <a:lstStyle/>
          <a:p>
            <a:fld id="{D4F07938-7C1D-46C8-9535-2404A951C984}" type="slidenum">
              <a:rPr lang="en-US" smtClean="0"/>
              <a:t>‹#›</a:t>
            </a:fld>
            <a:endParaRPr lang="en-US"/>
          </a:p>
        </p:txBody>
      </p:sp>
      <p:sp>
        <p:nvSpPr>
          <p:cNvPr id="7" name="Subtitle Placeholder">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Autofit/>
          </a:bodyPr>
          <a:lstStyle>
            <a:lvl1pPr marL="0" indent="0">
              <a:buNone/>
              <a:defRPr sz="2000">
                <a:solidFill>
                  <a:schemeClr val="bg2"/>
                </a:solidFill>
              </a:defRPr>
            </a:lvl1pPr>
          </a:lstStyle>
          <a:p>
            <a:pPr lvl="0"/>
            <a:r>
              <a:rPr lang="en-US"/>
              <a:t>Click to edit Master subtitle</a:t>
            </a:r>
          </a:p>
        </p:txBody>
      </p:sp>
      <p:sp>
        <p:nvSpPr>
          <p:cNvPr id="10" name="Footnote Placeholder">
            <a:extLst>
              <a:ext uri="{FF2B5EF4-FFF2-40B4-BE49-F238E27FC236}">
                <a16:creationId xmlns:a16="http://schemas.microsoft.com/office/drawing/2014/main" id="{02A5A177-C406-4C26-AEC6-86866B5E8C37}"/>
              </a:ext>
            </a:extLst>
          </p:cNvPr>
          <p:cNvSpPr>
            <a:spLocks noGrp="1"/>
          </p:cNvSpPr>
          <p:nvPr>
            <p:ph type="body" sz="quarter" idx="14"/>
          </p:nvPr>
        </p:nvSpPr>
        <p:spPr>
          <a:xfrm>
            <a:off x="521953" y="5832453"/>
            <a:ext cx="8087977" cy="282598"/>
          </a:xfrm>
        </p:spPr>
        <p:txBody>
          <a:bodyPr anchor="b">
            <a:noAutofit/>
          </a:bodyPr>
          <a:lstStyle>
            <a:lvl1pPr marL="0" indent="0">
              <a:buNone/>
              <a:defRPr sz="700">
                <a:solidFill>
                  <a:schemeClr val="tx1"/>
                </a:solidFill>
              </a:defRPr>
            </a:lvl1pPr>
          </a:lstStyle>
          <a:p>
            <a:pPr lvl="0"/>
            <a:endParaRPr lang="en-US"/>
          </a:p>
        </p:txBody>
      </p:sp>
      <p:sp>
        <p:nvSpPr>
          <p:cNvPr id="8" name="Footer Placeholder 3">
            <a:extLst>
              <a:ext uri="{FF2B5EF4-FFF2-40B4-BE49-F238E27FC236}">
                <a16:creationId xmlns:a16="http://schemas.microsoft.com/office/drawing/2014/main" id="{FE457AFD-5D39-49CF-B13A-6B917BC6DFDB}"/>
              </a:ext>
            </a:extLst>
          </p:cNvPr>
          <p:cNvSpPr txBox="1">
            <a:spLocks/>
          </p:cNvSpPr>
          <p:nvPr userDrawn="1"/>
        </p:nvSpPr>
        <p:spPr>
          <a:xfrm>
            <a:off x="2404239" y="6418368"/>
            <a:ext cx="5130312"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300"/>
              </a:spcAft>
            </a:pPr>
            <a:r>
              <a:rPr lang="en-US" sz="1000">
                <a:solidFill>
                  <a:schemeClr val="bg1"/>
                </a:solidFill>
              </a:rPr>
              <a:t>	              CONFIDENTIAL DO NOT DISTRIBUTE</a:t>
            </a:r>
          </a:p>
        </p:txBody>
      </p:sp>
    </p:spTree>
    <p:extLst>
      <p:ext uri="{BB962C8B-B14F-4D97-AF65-F5344CB8AC3E}">
        <p14:creationId xmlns:p14="http://schemas.microsoft.com/office/powerpoint/2010/main" val="532337829"/>
      </p:ext>
    </p:extLst>
  </p:cSld>
  <p:clrMapOvr>
    <a:masterClrMapping/>
  </p:clrMapOvr>
  <p:hf hdr="0" dt="0"/>
  <p:extLst>
    <p:ext uri="{DCECCB84-F9BA-43D5-87BE-67443E8EF086}">
      <p15:sldGuideLst xmlns:p15="http://schemas.microsoft.com/office/powerpoint/2012/main">
        <p15:guide id="1" orient="horz" pos="1104" userDrawn="1">
          <p15:clr>
            <a:srgbClr val="9FCC3B"/>
          </p15:clr>
        </p15:guide>
        <p15:guide id="2" orient="horz" pos="936" userDrawn="1">
          <p15:clr>
            <a:srgbClr val="9FCC3B"/>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5" name="Footer Placeholder 4"/>
          <p:cNvSpPr>
            <a:spLocks noGrp="1"/>
          </p:cNvSpPr>
          <p:nvPr>
            <p:ph type="ftr" sz="quarter" idx="11"/>
          </p:nvPr>
        </p:nvSpPr>
        <p:spPr/>
        <p:txBody>
          <a:bodyPr>
            <a:noAutofit/>
          </a:bodyPr>
          <a:lstStyle/>
          <a:p>
            <a:r>
              <a:rPr lang="en-US"/>
              <a:t>CONFIDENTIAL DO NOT DISTRIBUTE</a:t>
            </a:r>
          </a:p>
        </p:txBody>
      </p:sp>
      <p:sp>
        <p:nvSpPr>
          <p:cNvPr id="6" name="Slide Number Placeholder 5"/>
          <p:cNvSpPr>
            <a:spLocks noGrp="1"/>
          </p:cNvSpPr>
          <p:nvPr>
            <p:ph type="sldNum" sz="quarter" idx="12"/>
          </p:nvPr>
        </p:nvSpPr>
        <p:spPr/>
        <p:txBody>
          <a:bodyPr>
            <a:noAutofit/>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3992897"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BA26A43D-97B0-48D8-B343-8F2FB900447B}"/>
              </a:ext>
            </a:extLst>
          </p:cNvPr>
          <p:cNvSpPr>
            <a:spLocks noGrp="1"/>
          </p:cNvSpPr>
          <p:nvPr>
            <p:ph sz="half" idx="2"/>
          </p:nvPr>
        </p:nvSpPr>
        <p:spPr>
          <a:xfrm>
            <a:off x="4629149" y="1383846"/>
            <a:ext cx="3981115"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4572000" y="1485899"/>
            <a:ext cx="0" cy="4297680"/>
          </a:xfrm>
          <a:noFill/>
          <a:ln w="3175">
            <a:solidFill>
              <a:schemeClr val="bg1">
                <a:lumMod val="65000"/>
              </a:schemeClr>
            </a:solidFill>
          </a:ln>
        </p:spPr>
        <p:txBody>
          <a:bodyPr>
            <a:noAutofit/>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1279970961"/>
      </p:ext>
    </p:extLst>
  </p:cSld>
  <p:clrMapOvr>
    <a:masterClrMapping/>
  </p:clrMapOvr>
  <p:extLst>
    <p:ext uri="{DCECCB84-F9BA-43D5-87BE-67443E8EF086}">
      <p15:sldGuideLst xmlns:p15="http://schemas.microsoft.com/office/powerpoint/2012/main">
        <p15:guide id="1" orient="horz" pos="936" userDrawn="1">
          <p15:clr>
            <a:srgbClr val="9FCC3B"/>
          </p15:clr>
        </p15:guide>
        <p15:guide id="2" orient="horz" pos="1104" userDrawn="1">
          <p15:clr>
            <a:srgbClr val="9FCC3B"/>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4572000" y="1375985"/>
            <a:ext cx="0" cy="4572000"/>
          </a:xfrm>
          <a:noFill/>
          <a:ln w="3175">
            <a:solidFill>
              <a:schemeClr val="bg1">
                <a:lumMod val="65000"/>
              </a:schemeClr>
            </a:solidFill>
          </a:ln>
        </p:spPr>
        <p:txBody>
          <a:bodyPr/>
          <a:lstStyle>
            <a:lvl1pPr marL="0" indent="0">
              <a:buNone/>
              <a:defRPr>
                <a:ln>
                  <a:noFill/>
                </a:ln>
                <a:noFill/>
              </a:defRPr>
            </a:lvl1pPr>
          </a:lstStyle>
          <a:p>
            <a:pPr lvl="0"/>
            <a:endParaRPr lang="en-US"/>
          </a:p>
        </p:txBody>
      </p:sp>
      <p:sp>
        <p:nvSpPr>
          <p:cNvPr id="12" name="Content Placeholder 2">
            <a:extLst>
              <a:ext uri="{FF2B5EF4-FFF2-40B4-BE49-F238E27FC236}">
                <a16:creationId xmlns:a16="http://schemas.microsoft.com/office/drawing/2014/main" id="{A7DA370D-E409-442A-BE52-9CD43AE1107C}"/>
              </a:ext>
            </a:extLst>
          </p:cNvPr>
          <p:cNvSpPr>
            <a:spLocks noGrp="1"/>
          </p:cNvSpPr>
          <p:nvPr>
            <p:ph sz="half" idx="21"/>
          </p:nvPr>
        </p:nvSpPr>
        <p:spPr>
          <a:xfrm>
            <a:off x="609431" y="2227563"/>
            <a:ext cx="3886200" cy="3887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A136D031-1688-4D3E-9953-9488DDFF5EC1}"/>
              </a:ext>
            </a:extLst>
          </p:cNvPr>
          <p:cNvSpPr>
            <a:spLocks noGrp="1"/>
          </p:cNvSpPr>
          <p:nvPr>
            <p:ph sz="half" idx="22"/>
          </p:nvPr>
        </p:nvSpPr>
        <p:spPr>
          <a:xfrm>
            <a:off x="4645479" y="2227563"/>
            <a:ext cx="3887391" cy="3887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AF0A6AB6-36B9-4441-B946-8B83F968797E}"/>
              </a:ext>
            </a:extLst>
          </p:cNvPr>
          <p:cNvSpPr>
            <a:spLocks noGrp="1"/>
          </p:cNvSpPr>
          <p:nvPr>
            <p:ph type="body" idx="1" hasCustomPrompt="1"/>
          </p:nvPr>
        </p:nvSpPr>
        <p:spPr>
          <a:xfrm>
            <a:off x="609432" y="1375985"/>
            <a:ext cx="3886200" cy="732999"/>
          </a:xfrm>
          <a:solidFill>
            <a:schemeClr val="bg2"/>
          </a:solidFill>
        </p:spPr>
        <p:txBody>
          <a:bodyPr anchor="ctr">
            <a:noAutofit/>
          </a:bodyPr>
          <a:lstStyle>
            <a:lvl1pPr marL="0" indent="0" algn="ctr">
              <a:spcBef>
                <a:spcPts val="0"/>
              </a:spcBef>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
        <p:nvSpPr>
          <p:cNvPr id="15" name="Text Placeholder 4">
            <a:extLst>
              <a:ext uri="{FF2B5EF4-FFF2-40B4-BE49-F238E27FC236}">
                <a16:creationId xmlns:a16="http://schemas.microsoft.com/office/drawing/2014/main" id="{3D0ACAF1-CE3C-48B5-91CD-AB8AF06B8CF2}"/>
              </a:ext>
            </a:extLst>
          </p:cNvPr>
          <p:cNvSpPr>
            <a:spLocks noGrp="1"/>
          </p:cNvSpPr>
          <p:nvPr>
            <p:ph type="body" sz="quarter" idx="3" hasCustomPrompt="1"/>
          </p:nvPr>
        </p:nvSpPr>
        <p:spPr>
          <a:xfrm>
            <a:off x="4645479" y="1375985"/>
            <a:ext cx="3887391" cy="741489"/>
          </a:xfrm>
          <a:solidFill>
            <a:schemeClr val="tx2"/>
          </a:solidFill>
        </p:spPr>
        <p:txBody>
          <a:bodyPr anchor="ctr"/>
          <a:lstStyle>
            <a:lvl1pPr marL="0" indent="0" algn="ctr">
              <a:spcBef>
                <a:spcPts val="0"/>
              </a:spcBef>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Tree>
    <p:extLst>
      <p:ext uri="{BB962C8B-B14F-4D97-AF65-F5344CB8AC3E}">
        <p14:creationId xmlns:p14="http://schemas.microsoft.com/office/powerpoint/2010/main" val="344291597"/>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CONFIDENTIAL DO NOT DISTRIBUTE</a:t>
            </a:r>
          </a:p>
        </p:txBody>
      </p:sp>
      <p:sp>
        <p:nvSpPr>
          <p:cNvPr id="5" name="Slide Number Placeholder 4"/>
          <p:cNvSpPr>
            <a:spLocks noGrp="1"/>
          </p:cNvSpPr>
          <p:nvPr>
            <p:ph type="sldNum" sz="quarter" idx="12"/>
          </p:nvPr>
        </p:nvSpPr>
        <p:spPr/>
        <p:txBody>
          <a:bodyPr/>
          <a:lstStyle/>
          <a:p>
            <a:fld id="{D4F07938-7C1D-46C8-9535-2404A951C984}" type="slidenum">
              <a:rPr lang="en-US" smtClean="0"/>
              <a:t>‹#›</a:t>
            </a:fld>
            <a:endParaRPr lang="en-US"/>
          </a:p>
        </p:txBody>
      </p:sp>
      <p:sp>
        <p:nvSpPr>
          <p:cNvPr id="14" name="Text Placeholder 13">
            <a:extLst>
              <a:ext uri="{FF2B5EF4-FFF2-40B4-BE49-F238E27FC236}">
                <a16:creationId xmlns:a16="http://schemas.microsoft.com/office/drawing/2014/main" id="{D8BD46AF-A5A5-4B10-814A-2FB521643AF8}"/>
              </a:ext>
            </a:extLst>
          </p:cNvPr>
          <p:cNvSpPr>
            <a:spLocks noGrp="1"/>
          </p:cNvSpPr>
          <p:nvPr>
            <p:ph type="body" sz="quarter" idx="13" hasCustomPrompt="1"/>
          </p:nvPr>
        </p:nvSpPr>
        <p:spPr>
          <a:xfrm>
            <a:off x="522368" y="1682750"/>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lvl2pPr>
          </a:lstStyle>
          <a:p>
            <a:pPr lvl="0"/>
            <a:r>
              <a:rPr lang="en-US"/>
              <a:t>Click to edit text styles</a:t>
            </a:r>
          </a:p>
        </p:txBody>
      </p:sp>
      <p:sp>
        <p:nvSpPr>
          <p:cNvPr id="15" name="Text Placeholder 13">
            <a:extLst>
              <a:ext uri="{FF2B5EF4-FFF2-40B4-BE49-F238E27FC236}">
                <a16:creationId xmlns:a16="http://schemas.microsoft.com/office/drawing/2014/main" id="{B6731277-5F54-4FDD-A117-A6405D49886C}"/>
              </a:ext>
            </a:extLst>
          </p:cNvPr>
          <p:cNvSpPr>
            <a:spLocks noGrp="1"/>
          </p:cNvSpPr>
          <p:nvPr>
            <p:ph type="body" sz="quarter" idx="14" hasCustomPrompt="1"/>
          </p:nvPr>
        </p:nvSpPr>
        <p:spPr>
          <a:xfrm>
            <a:off x="3439830" y="1682749"/>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solidFill>
                  <a:schemeClr val="bg2"/>
                </a:solidFill>
              </a:defRPr>
            </a:lvl2pPr>
          </a:lstStyle>
          <a:p>
            <a:pPr lvl="0"/>
            <a:r>
              <a:rPr lang="en-US"/>
              <a:t>Click to edit text styles</a:t>
            </a:r>
          </a:p>
        </p:txBody>
      </p:sp>
      <p:sp>
        <p:nvSpPr>
          <p:cNvPr id="16" name="Text Placeholder 13">
            <a:extLst>
              <a:ext uri="{FF2B5EF4-FFF2-40B4-BE49-F238E27FC236}">
                <a16:creationId xmlns:a16="http://schemas.microsoft.com/office/drawing/2014/main" id="{62DED061-CB5A-4E72-8682-F6A43103BC46}"/>
              </a:ext>
            </a:extLst>
          </p:cNvPr>
          <p:cNvSpPr>
            <a:spLocks noGrp="1"/>
          </p:cNvSpPr>
          <p:nvPr>
            <p:ph type="body" sz="quarter" idx="15" hasCustomPrompt="1"/>
          </p:nvPr>
        </p:nvSpPr>
        <p:spPr>
          <a:xfrm>
            <a:off x="6369992" y="1682750"/>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lvl2pPr>
          </a:lstStyle>
          <a:p>
            <a:pPr lvl="0"/>
            <a:r>
              <a:rPr lang="en-US"/>
              <a:t>Click to edit text styles</a:t>
            </a:r>
          </a:p>
        </p:txBody>
      </p:sp>
      <p:sp>
        <p:nvSpPr>
          <p:cNvPr id="21" name="Title 20">
            <a:extLst>
              <a:ext uri="{FF2B5EF4-FFF2-40B4-BE49-F238E27FC236}">
                <a16:creationId xmlns:a16="http://schemas.microsoft.com/office/drawing/2014/main" id="{2270ADB5-41F0-48A0-B1CD-13F46FE2BA95}"/>
              </a:ext>
            </a:extLst>
          </p:cNvPr>
          <p:cNvSpPr>
            <a:spLocks noGrp="1"/>
          </p:cNvSpPr>
          <p:nvPr>
            <p:ph type="title"/>
          </p:nvPr>
        </p:nvSpPr>
        <p:spPr/>
        <p:txBody>
          <a:bodyPr/>
          <a:lstStyle/>
          <a:p>
            <a:r>
              <a:rPr lang="en-US"/>
              <a:t>Click to edit Master title style</a:t>
            </a:r>
          </a:p>
        </p:txBody>
      </p:sp>
      <p:sp>
        <p:nvSpPr>
          <p:cNvPr id="23" name="Content Placeholder 22">
            <a:extLst>
              <a:ext uri="{FF2B5EF4-FFF2-40B4-BE49-F238E27FC236}">
                <a16:creationId xmlns:a16="http://schemas.microsoft.com/office/drawing/2014/main" id="{9E51F7F1-6C7D-4A70-91AA-42490A4999C4}"/>
              </a:ext>
            </a:extLst>
          </p:cNvPr>
          <p:cNvSpPr>
            <a:spLocks noGrp="1"/>
          </p:cNvSpPr>
          <p:nvPr>
            <p:ph sz="quarter" idx="19"/>
          </p:nvPr>
        </p:nvSpPr>
        <p:spPr>
          <a:xfrm>
            <a:off x="517926" y="963376"/>
            <a:ext cx="8092440" cy="365760"/>
          </a:xfrm>
        </p:spPr>
        <p:txBody>
          <a:bodyPr/>
          <a:lstStyle>
            <a:lvl1pPr marL="0" indent="0">
              <a:buFontTx/>
              <a:buNone/>
              <a:defRPr>
                <a:solidFill>
                  <a:schemeClr val="bg2"/>
                </a:solidFill>
              </a:defRPr>
            </a:lvl1pPr>
          </a:lstStyle>
          <a:p>
            <a:pPr lvl="0"/>
            <a:r>
              <a:rPr lang="en-US"/>
              <a:t>Click to edit Master text styles</a:t>
            </a:r>
          </a:p>
        </p:txBody>
      </p:sp>
      <p:sp>
        <p:nvSpPr>
          <p:cNvPr id="3" name="Text Placeholder 2">
            <a:extLst>
              <a:ext uri="{FF2B5EF4-FFF2-40B4-BE49-F238E27FC236}">
                <a16:creationId xmlns:a16="http://schemas.microsoft.com/office/drawing/2014/main" id="{756437B4-32EE-462C-A2BA-659C7B55D2E4}"/>
              </a:ext>
            </a:extLst>
          </p:cNvPr>
          <p:cNvSpPr>
            <a:spLocks noGrp="1"/>
          </p:cNvSpPr>
          <p:nvPr>
            <p:ph type="body" sz="quarter" idx="20"/>
          </p:nvPr>
        </p:nvSpPr>
        <p:spPr>
          <a:xfrm flipH="1">
            <a:off x="3086100" y="2252353"/>
            <a:ext cx="0" cy="3468049"/>
          </a:xfrm>
          <a:noFill/>
          <a:ln w="3175">
            <a:solidFill>
              <a:schemeClr val="bg1">
                <a:lumMod val="75000"/>
              </a:schemeClr>
            </a:solidFill>
          </a:ln>
        </p:spPr>
        <p:txBody>
          <a:bodyPr/>
          <a:lstStyle>
            <a:lvl1pPr marL="0" indent="0">
              <a:buNone/>
              <a:defRPr>
                <a:ln>
                  <a:noFill/>
                </a:ln>
                <a:noFill/>
              </a:defRPr>
            </a:lvl1pPr>
          </a:lstStyle>
          <a:p>
            <a:pPr lvl="0"/>
            <a:endParaRPr lang="en-US"/>
          </a:p>
        </p:txBody>
      </p:sp>
      <p:sp>
        <p:nvSpPr>
          <p:cNvPr id="17" name="Text Placeholder 2">
            <a:extLst>
              <a:ext uri="{FF2B5EF4-FFF2-40B4-BE49-F238E27FC236}">
                <a16:creationId xmlns:a16="http://schemas.microsoft.com/office/drawing/2014/main" id="{C1407826-FE85-4277-B5B2-4DF9CAB42B1D}"/>
              </a:ext>
            </a:extLst>
          </p:cNvPr>
          <p:cNvSpPr>
            <a:spLocks noGrp="1"/>
          </p:cNvSpPr>
          <p:nvPr>
            <p:ph type="body" sz="quarter" idx="21"/>
          </p:nvPr>
        </p:nvSpPr>
        <p:spPr>
          <a:xfrm flipH="1">
            <a:off x="6028226" y="2252353"/>
            <a:ext cx="0" cy="3468049"/>
          </a:xfrm>
          <a:noFill/>
          <a:ln w="3175">
            <a:solidFill>
              <a:schemeClr val="bg1">
                <a:lumMod val="75000"/>
              </a:schemeClr>
            </a:solidFill>
          </a:ln>
        </p:spPr>
        <p:txBody>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606489556"/>
      </p:ext>
    </p:extLst>
  </p:cSld>
  <p:clrMapOvr>
    <a:masterClrMapping/>
  </p:clrMapOvr>
  <p:extLst>
    <p:ext uri="{DCECCB84-F9BA-43D5-87BE-67443E8EF086}">
      <p15:sldGuideLst xmlns:p15="http://schemas.microsoft.com/office/powerpoint/2012/main">
        <p15:guide id="1" pos="1944" userDrawn="1">
          <p15:clr>
            <a:srgbClr val="F26B43"/>
          </p15:clr>
        </p15:guide>
        <p15:guide id="2" pos="3792" userDrawn="1">
          <p15:clr>
            <a:srgbClr val="F26B43"/>
          </p15:clr>
        </p15:guide>
        <p15:guide id="3" orient="horz" pos="936" userDrawn="1">
          <p15:clr>
            <a:srgbClr val="9FCC3B"/>
          </p15:clr>
        </p15:guide>
        <p15:guide id="4" orient="horz" pos="1104" userDrawn="1">
          <p15:clr>
            <a:srgbClr val="9FCC3B"/>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2971800" cy="4674054"/>
          </a:xfrm>
        </p:spPr>
        <p:txBody>
          <a:bodyPr>
            <a:normAutofit/>
          </a:bodyPr>
          <a:lstStyle>
            <a:lvl1pPr marL="0" indent="0">
              <a:buNone/>
              <a:defRPr sz="1800"/>
            </a:lvl1pPr>
            <a:lvl2pPr marL="228600" indent="0">
              <a:buNone/>
              <a:defRPr/>
            </a:lvl2pPr>
          </a:lstStyle>
          <a:p>
            <a:pPr lvl="0"/>
            <a:r>
              <a:rPr lang="en-US"/>
              <a:t>Click to edit Master text styles</a:t>
            </a:r>
          </a:p>
        </p:txBody>
      </p:sp>
      <p:sp>
        <p:nvSpPr>
          <p:cNvPr id="9" name="Content Placeholder 3">
            <a:extLst>
              <a:ext uri="{FF2B5EF4-FFF2-40B4-BE49-F238E27FC236}">
                <a16:creationId xmlns:a16="http://schemas.microsoft.com/office/drawing/2014/main" id="{BA26A43D-97B0-48D8-B343-8F2FB900447B}"/>
              </a:ext>
            </a:extLst>
          </p:cNvPr>
          <p:cNvSpPr>
            <a:spLocks noGrp="1"/>
          </p:cNvSpPr>
          <p:nvPr>
            <p:ph sz="half" idx="2"/>
          </p:nvPr>
        </p:nvSpPr>
        <p:spPr>
          <a:xfrm>
            <a:off x="3750733" y="1383846"/>
            <a:ext cx="4859532" cy="46740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3611034" y="1485899"/>
            <a:ext cx="0" cy="4297680"/>
          </a:xfrm>
          <a:noFill/>
          <a:ln w="3175">
            <a:solidFill>
              <a:schemeClr val="bg1">
                <a:lumMod val="65000"/>
              </a:schemeClr>
            </a:solidFill>
          </a:ln>
        </p:spPr>
        <p:txBody>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2347370870"/>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2971800" cy="4674054"/>
          </a:xfrm>
        </p:spPr>
        <p:txBody>
          <a:bodyPr>
            <a:normAutofit/>
          </a:bodyPr>
          <a:lstStyle>
            <a:lvl1pPr marL="0" indent="0">
              <a:buNone/>
              <a:defRPr sz="1800"/>
            </a:lvl1pPr>
            <a:lvl2pPr marL="228600" indent="0">
              <a:buNone/>
              <a:defRPr/>
            </a:lvl2pPr>
          </a:lstStyle>
          <a:p>
            <a:pPr lvl="0"/>
            <a:r>
              <a:rPr lang="en-US"/>
              <a:t>Click to edit Master text styles</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3611034" y="1485899"/>
            <a:ext cx="0" cy="4297680"/>
          </a:xfrm>
          <a:noFill/>
          <a:ln w="3175">
            <a:solidFill>
              <a:schemeClr val="bg1">
                <a:lumMod val="65000"/>
              </a:schemeClr>
            </a:solidFill>
          </a:ln>
        </p:spPr>
        <p:txBody>
          <a:bodyPr/>
          <a:lstStyle>
            <a:lvl1pPr marL="0" indent="0">
              <a:buNone/>
              <a:defRPr>
                <a:ln>
                  <a:noFill/>
                </a:ln>
                <a:noFill/>
              </a:defRPr>
            </a:lvl1pPr>
          </a:lstStyle>
          <a:p>
            <a:pPr lvl="0"/>
            <a:endParaRPr lang="en-US"/>
          </a:p>
        </p:txBody>
      </p:sp>
      <p:sp>
        <p:nvSpPr>
          <p:cNvPr id="12" name="Picture Placeholder 2">
            <a:extLst>
              <a:ext uri="{FF2B5EF4-FFF2-40B4-BE49-F238E27FC236}">
                <a16:creationId xmlns:a16="http://schemas.microsoft.com/office/drawing/2014/main" id="{302EF2E1-7359-4EFE-8794-18338094BC31}"/>
              </a:ext>
            </a:extLst>
          </p:cNvPr>
          <p:cNvSpPr>
            <a:spLocks noGrp="1" noChangeAspect="1"/>
          </p:cNvSpPr>
          <p:nvPr>
            <p:ph type="pic" idx="1"/>
          </p:nvPr>
        </p:nvSpPr>
        <p:spPr>
          <a:xfrm>
            <a:off x="3749481" y="1383846"/>
            <a:ext cx="4859527" cy="467429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2571877516"/>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lank Slide w/ Log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B03D99-70B0-48F9-888F-CA1668BD87ED}"/>
              </a:ext>
            </a:extLst>
          </p:cNvPr>
          <p:cNvSpPr/>
          <p:nvPr userDrawn="1"/>
        </p:nvSpPr>
        <p:spPr>
          <a:xfrm>
            <a:off x="0" y="6231792"/>
            <a:ext cx="9144000" cy="6322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B3EED9D3-C385-41F2-8EF2-ACB0C22CB04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3159" t="2718" r="2168" b="12046"/>
          <a:stretch/>
        </p:blipFill>
        <p:spPr>
          <a:xfrm>
            <a:off x="1" y="6223846"/>
            <a:ext cx="1760258" cy="584549"/>
          </a:xfrm>
          <a:prstGeom prst="rect">
            <a:avLst/>
          </a:prstGeom>
        </p:spPr>
      </p:pic>
      <p:sp>
        <p:nvSpPr>
          <p:cNvPr id="14" name="Content Placeholder 13">
            <a:extLst>
              <a:ext uri="{FF2B5EF4-FFF2-40B4-BE49-F238E27FC236}">
                <a16:creationId xmlns:a16="http://schemas.microsoft.com/office/drawing/2014/main" id="{CA490667-927C-4267-ACED-3C560CBFC007}"/>
              </a:ext>
            </a:extLst>
          </p:cNvPr>
          <p:cNvSpPr>
            <a:spLocks noGrp="1"/>
          </p:cNvSpPr>
          <p:nvPr>
            <p:ph sz="quarter" idx="10"/>
          </p:nvPr>
        </p:nvSpPr>
        <p:spPr>
          <a:xfrm>
            <a:off x="609600" y="342900"/>
            <a:ext cx="79248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401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9F6CAE-86BC-4A1E-92A4-8ADB1D3E27CC}"/>
              </a:ext>
            </a:extLst>
          </p:cNvPr>
          <p:cNvSpPr>
            <a:spLocks noGrp="1"/>
          </p:cNvSpPr>
          <p:nvPr>
            <p:ph sz="quarter" idx="10"/>
          </p:nvPr>
        </p:nvSpPr>
        <p:spPr>
          <a:xfrm>
            <a:off x="0" y="0"/>
            <a:ext cx="9144000" cy="685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84283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0081AC-318D-4D64-B11F-2FE435CD572B}"/>
              </a:ext>
            </a:extLst>
          </p:cNvPr>
          <p:cNvSpPr/>
          <p:nvPr userDrawn="1"/>
        </p:nvSpPr>
        <p:spPr>
          <a:xfrm>
            <a:off x="0" y="0"/>
            <a:ext cx="4572000" cy="6864077"/>
          </a:xfrm>
          <a:prstGeom prst="rect">
            <a:avLst/>
          </a:prstGeom>
          <a:solidFill>
            <a:srgbClr val="0028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01168" y="1904904"/>
            <a:ext cx="3429000" cy="3059647"/>
          </a:xfrm>
        </p:spPr>
        <p:txBody>
          <a:bodyPr anchor="ctr"/>
          <a:lstStyle>
            <a:lvl1pPr algn="l">
              <a:defRPr sz="4000">
                <a:solidFill>
                  <a:schemeClr val="tx2"/>
                </a:solidFill>
              </a:defRPr>
            </a:lvl1pPr>
          </a:lstStyle>
          <a:p>
            <a:r>
              <a:rPr lang="en-US"/>
              <a:t>Click to edit Master title style</a:t>
            </a:r>
          </a:p>
        </p:txBody>
      </p:sp>
      <p:sp>
        <p:nvSpPr>
          <p:cNvPr id="13" name="Freeform: Shape 12">
            <a:extLst>
              <a:ext uri="{FF2B5EF4-FFF2-40B4-BE49-F238E27FC236}">
                <a16:creationId xmlns:a16="http://schemas.microsoft.com/office/drawing/2014/main" id="{8B1EFDB9-3A71-4778-AC61-C6D7860D554B}"/>
              </a:ext>
            </a:extLst>
          </p:cNvPr>
          <p:cNvSpPr>
            <a:spLocks noChangeArrowheads="1"/>
          </p:cNvSpPr>
          <p:nvPr userDrawn="1"/>
        </p:nvSpPr>
        <p:spPr bwMode="auto">
          <a:xfrm>
            <a:off x="0" y="3414293"/>
            <a:ext cx="3840480" cy="36131"/>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rgbClr val="0091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a:solidFill>
                <a:schemeClr val="lt1"/>
              </a:solidFill>
            </a:endParaRPr>
          </a:p>
        </p:txBody>
      </p:sp>
      <p:pic>
        <p:nvPicPr>
          <p:cNvPr id="14" name="BMP Logo Extended">
            <a:extLst>
              <a:ext uri="{FF2B5EF4-FFF2-40B4-BE49-F238E27FC236}">
                <a16:creationId xmlns:a16="http://schemas.microsoft.com/office/drawing/2014/main" id="{7337C0E5-B532-4476-B0C7-00FAFE14610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334" y="2676128"/>
            <a:ext cx="3469844" cy="1528004"/>
          </a:xfrm>
          <a:prstGeom prst="rect">
            <a:avLst/>
          </a:prstGeom>
        </p:spPr>
      </p:pic>
    </p:spTree>
    <p:extLst>
      <p:ext uri="{BB962C8B-B14F-4D97-AF65-F5344CB8AC3E}">
        <p14:creationId xmlns:p14="http://schemas.microsoft.com/office/powerpoint/2010/main" val="28226210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0081AC-318D-4D64-B11F-2FE435CD572B}"/>
              </a:ext>
            </a:extLst>
          </p:cNvPr>
          <p:cNvSpPr/>
          <p:nvPr userDrawn="1"/>
        </p:nvSpPr>
        <p:spPr>
          <a:xfrm>
            <a:off x="4572000" y="0"/>
            <a:ext cx="4572000" cy="686407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01168" y="1445345"/>
            <a:ext cx="3429000" cy="3059647"/>
          </a:xfrm>
        </p:spPr>
        <p:txBody>
          <a:bodyPr anchor="t"/>
          <a:lstStyle>
            <a:lvl1pPr algn="l">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a:xfrm>
            <a:off x="5101167" y="5904194"/>
            <a:ext cx="3433231" cy="365125"/>
          </a:xfrm>
          <a:prstGeom prst="rect">
            <a:avLst/>
          </a:prstGeom>
        </p:spPr>
        <p:txBody>
          <a:bodyPr/>
          <a:lstStyle>
            <a:lvl1pPr>
              <a:defRPr sz="1600">
                <a:solidFill>
                  <a:schemeClr val="bg2">
                    <a:lumMod val="60000"/>
                    <a:lumOff val="40000"/>
                  </a:schemeClr>
                </a:solidFill>
              </a:defRPr>
            </a:lvl1pPr>
          </a:lstStyle>
          <a:p>
            <a:endParaRPr lang="en-US"/>
          </a:p>
        </p:txBody>
      </p:sp>
      <p:sp>
        <p:nvSpPr>
          <p:cNvPr id="5" name="Footer Placeholder 4"/>
          <p:cNvSpPr>
            <a:spLocks noGrp="1"/>
          </p:cNvSpPr>
          <p:nvPr>
            <p:ph type="ftr" sz="quarter" idx="11"/>
          </p:nvPr>
        </p:nvSpPr>
        <p:spPr>
          <a:xfrm>
            <a:off x="742950" y="6356351"/>
            <a:ext cx="3086100" cy="365125"/>
          </a:xfrm>
        </p:spPr>
        <p:txBody>
          <a:bodyPr/>
          <a:lstStyle>
            <a:lvl1pPr>
              <a:defRPr>
                <a:solidFill>
                  <a:schemeClr val="tx1"/>
                </a:solidFill>
              </a:defRPr>
            </a:lvl1pPr>
          </a:lstStyle>
          <a:p>
            <a:pPr>
              <a:spcAft>
                <a:spcPts val="300"/>
              </a:spcAft>
            </a:pPr>
            <a:r>
              <a:rPr lang="en-US"/>
              <a:t>CONFIDENTIAL DO NOT DISTRIBUTE</a:t>
            </a:r>
          </a:p>
        </p:txBody>
      </p:sp>
      <p:sp>
        <p:nvSpPr>
          <p:cNvPr id="7" name="Text Placeholder 51">
            <a:extLst>
              <a:ext uri="{FF2B5EF4-FFF2-40B4-BE49-F238E27FC236}">
                <a16:creationId xmlns:a16="http://schemas.microsoft.com/office/drawing/2014/main" id="{A1A21E0E-34CB-46D3-A141-7DEA284EE4A8}"/>
              </a:ext>
            </a:extLst>
          </p:cNvPr>
          <p:cNvSpPr>
            <a:spLocks noGrp="1"/>
          </p:cNvSpPr>
          <p:nvPr>
            <p:ph type="body" sz="quarter" idx="16" hasCustomPrompt="1"/>
          </p:nvPr>
        </p:nvSpPr>
        <p:spPr>
          <a:xfrm>
            <a:off x="5101168" y="5154389"/>
            <a:ext cx="3433232" cy="258266"/>
          </a:xfrm>
        </p:spPr>
        <p:txBody>
          <a:bodyPr>
            <a:noAutofit/>
          </a:bodyPr>
          <a:lstStyle>
            <a:lvl1pPr marL="0" indent="0" algn="l">
              <a:buNone/>
              <a:defRPr sz="1600">
                <a:solidFill>
                  <a:schemeClr val="accent1">
                    <a:lumMod val="60000"/>
                    <a:lumOff val="40000"/>
                  </a:schemeClr>
                </a:solidFill>
              </a:defRPr>
            </a:lvl1pPr>
          </a:lstStyle>
          <a:p>
            <a:pPr lvl="0"/>
            <a:r>
              <a:rPr lang="en-US"/>
              <a:t>Speaker Name</a:t>
            </a:r>
          </a:p>
        </p:txBody>
      </p:sp>
      <p:sp>
        <p:nvSpPr>
          <p:cNvPr id="8" name="Text Placeholder 51">
            <a:extLst>
              <a:ext uri="{FF2B5EF4-FFF2-40B4-BE49-F238E27FC236}">
                <a16:creationId xmlns:a16="http://schemas.microsoft.com/office/drawing/2014/main" id="{2D78E484-5EEE-4DE7-9FD5-EFD3F6A4643B}"/>
              </a:ext>
            </a:extLst>
          </p:cNvPr>
          <p:cNvSpPr>
            <a:spLocks noGrp="1"/>
          </p:cNvSpPr>
          <p:nvPr>
            <p:ph type="body" sz="quarter" idx="17" hasCustomPrompt="1"/>
          </p:nvPr>
        </p:nvSpPr>
        <p:spPr>
          <a:xfrm>
            <a:off x="5101168" y="5434126"/>
            <a:ext cx="3433232" cy="258266"/>
          </a:xfrm>
        </p:spPr>
        <p:txBody>
          <a:bodyPr>
            <a:noAutofit/>
          </a:bodyPr>
          <a:lstStyle>
            <a:lvl1pPr marL="0" indent="0" algn="l">
              <a:buNone/>
              <a:defRPr sz="1600">
                <a:solidFill>
                  <a:schemeClr val="accent1">
                    <a:lumMod val="60000"/>
                    <a:lumOff val="40000"/>
                  </a:schemeClr>
                </a:solidFill>
              </a:defRPr>
            </a:lvl1pPr>
          </a:lstStyle>
          <a:p>
            <a:pPr lvl="0"/>
            <a:r>
              <a:rPr lang="en-US"/>
              <a:t>Speaker Title</a:t>
            </a:r>
          </a:p>
        </p:txBody>
      </p:sp>
      <p:sp>
        <p:nvSpPr>
          <p:cNvPr id="13" name="Freeform: Shape 12">
            <a:extLst>
              <a:ext uri="{FF2B5EF4-FFF2-40B4-BE49-F238E27FC236}">
                <a16:creationId xmlns:a16="http://schemas.microsoft.com/office/drawing/2014/main" id="{8B1EFDB9-3A71-4778-AC61-C6D7860D554B}"/>
              </a:ext>
            </a:extLst>
          </p:cNvPr>
          <p:cNvSpPr>
            <a:spLocks noChangeArrowheads="1"/>
          </p:cNvSpPr>
          <p:nvPr userDrawn="1"/>
        </p:nvSpPr>
        <p:spPr bwMode="auto">
          <a:xfrm>
            <a:off x="0" y="3414293"/>
            <a:ext cx="3840480" cy="36131"/>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a:solidFill>
                <a:schemeClr val="lt1"/>
              </a:solidFill>
            </a:endParaRPr>
          </a:p>
        </p:txBody>
      </p:sp>
      <p:pic>
        <p:nvPicPr>
          <p:cNvPr id="14" name="BMP Logo Extended">
            <a:extLst>
              <a:ext uri="{FF2B5EF4-FFF2-40B4-BE49-F238E27FC236}">
                <a16:creationId xmlns:a16="http://schemas.microsoft.com/office/drawing/2014/main" id="{7337C0E5-B532-4476-B0C7-00FAFE14610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1321"/>
          <a:stretch/>
        </p:blipFill>
        <p:spPr>
          <a:xfrm>
            <a:off x="936790" y="2665898"/>
            <a:ext cx="3469844" cy="1548465"/>
          </a:xfrm>
          <a:prstGeom prst="rect">
            <a:avLst/>
          </a:prstGeom>
        </p:spPr>
      </p:pic>
    </p:spTree>
    <p:extLst>
      <p:ext uri="{BB962C8B-B14F-4D97-AF65-F5344CB8AC3E}">
        <p14:creationId xmlns:p14="http://schemas.microsoft.com/office/powerpoint/2010/main" val="331790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2750" fill="hold"/>
                                        <p:tgtEl>
                                          <p:spTgt spid="13"/>
                                        </p:tgtEl>
                                        <p:attrNameLst>
                                          <p:attrName>ppt_x</p:attrName>
                                        </p:attrNameLst>
                                      </p:cBhvr>
                                      <p:tavLst>
                                        <p:tav tm="0">
                                          <p:val>
                                            <p:strVal val="0-#ppt_w/2"/>
                                          </p:val>
                                        </p:tav>
                                        <p:tav tm="100000">
                                          <p:val>
                                            <p:strVal val="#ppt_x"/>
                                          </p:val>
                                        </p:tav>
                                      </p:tavLst>
                                    </p:anim>
                                    <p:anim calcmode="lin" valueType="num">
                                      <p:cBhvr additive="base">
                                        <p:cTn id="8" dur="2750" fill="hold"/>
                                        <p:tgtEl>
                                          <p:spTgt spid="1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12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1500"/>
                                        <p:tgtEl>
                                          <p:spTgt spid="14"/>
                                        </p:tgtEl>
                                      </p:cBhvr>
                                    </p:animEffect>
                                  </p:childTnLst>
                                </p:cTn>
                              </p:par>
                              <p:par>
                                <p:cTn id="12" presetID="35" presetClass="path" presetSubtype="0" decel="100000" fill="hold" nodeType="withEffect">
                                  <p:stCondLst>
                                    <p:cond delay="1250"/>
                                  </p:stCondLst>
                                  <p:childTnLst>
                                    <p:animMotion origin="layout" path="M 2.5E-6 -3.7037E-7 L -0.02743 -3.7037E-7 " pathEditMode="relative" rAng="0" ptsTypes="AA">
                                      <p:cBhvr>
                                        <p:cTn id="13" dur="1500" spd="-100000" fill="hold"/>
                                        <p:tgtEl>
                                          <p:spTgt spid="14"/>
                                        </p:tgtEl>
                                        <p:attrNameLst>
                                          <p:attrName>ppt_x</p:attrName>
                                          <p:attrName>ppt_y</p:attrName>
                                        </p:attrNameLst>
                                      </p:cBhvr>
                                      <p:rCtr x="-1372" y="0"/>
                                    </p:animMotion>
                                  </p:childTnLst>
                                </p:cTn>
                              </p:par>
                            </p:childTnLst>
                          </p:cTn>
                        </p:par>
                        <p:par>
                          <p:cTn id="14" fill="hold">
                            <p:stCondLst>
                              <p:cond delay="2750"/>
                            </p:stCondLst>
                            <p:childTnLst>
                              <p:par>
                                <p:cTn id="15" presetID="42" presetClass="entr" presetSubtype="0" fill="hold" grpId="0" nodeType="after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1000"/>
                                        <p:tgtEl>
                                          <p:spTgt spid="8">
                                            <p:txEl>
                                              <p:pRg st="0" end="0"/>
                                            </p:txEl>
                                          </p:spTgt>
                                        </p:tgtEl>
                                      </p:cBhvr>
                                    </p:animEffect>
                                    <p:anim calcmode="lin" valueType="num">
                                      <p:cBhvr>
                                        <p:cTn id="23"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8">
                                            <p:txEl>
                                              <p:pRg st="0" end="0"/>
                                            </p:txEl>
                                          </p:spTgt>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nodePh="1">
                                  <p:stCondLst>
                                    <p:cond delay="0"/>
                                  </p:stCondLst>
                                  <p:endCondLst>
                                    <p:cond evt="begin" delay="0">
                                      <p:tn val="30"/>
                                    </p:cond>
                                  </p:end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1000"/>
                                        <p:tgtEl>
                                          <p:spTgt spid="4">
                                            <p:txEl>
                                              <p:pRg st="0" end="0"/>
                                            </p:txEl>
                                          </p:spTgt>
                                        </p:tgtEl>
                                      </p:cBhvr>
                                    </p:animEffect>
                                    <p:anim calcmode="lin" valueType="num">
                                      <p:cBhvr>
                                        <p:cTn id="3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7" grpId="0" build="p">
        <p:tmplLst>
          <p:tmpl lvl="1">
            <p:tnLst>
              <p:par>
                <p:cTn presetID="42" presetClass="entr" presetSubtype="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1000"/>
                        <p:tgtEl>
                          <p:spTgt spid="7"/>
                        </p:tgtEl>
                      </p:cBhvr>
                    </p:animEffect>
                    <p:anim calcmode="lin" valueType="num">
                      <p:cBhvr>
                        <p:cTn dur="1000" fill="hold"/>
                        <p:tgtEl>
                          <p:spTgt spid="7"/>
                        </p:tgtEl>
                        <p:attrNameLst>
                          <p:attrName>ppt_x</p:attrName>
                        </p:attrNameLst>
                      </p:cBhvr>
                      <p:tavLst>
                        <p:tav tm="0">
                          <p:val>
                            <p:strVal val="#ppt_x"/>
                          </p:val>
                        </p:tav>
                        <p:tav tm="100000">
                          <p:val>
                            <p:strVal val="#ppt_x"/>
                          </p:val>
                        </p:tav>
                      </p:tavLst>
                    </p:anim>
                    <p:anim calcmode="lin" valueType="num">
                      <p:cBhvr>
                        <p:cTn dur="1000" fill="hold"/>
                        <p:tgtEl>
                          <p:spTgt spid="7"/>
                        </p:tgtEl>
                        <p:attrNameLst>
                          <p:attrName>ppt_y</p:attrName>
                        </p:attrNameLst>
                      </p:cBhvr>
                      <p:tavLst>
                        <p:tav tm="0">
                          <p:val>
                            <p:strVal val="#ppt_y+.1"/>
                          </p:val>
                        </p:tav>
                        <p:tav tm="100000">
                          <p:val>
                            <p:strVal val="#ppt_y"/>
                          </p:val>
                        </p:tav>
                      </p:tavLst>
                    </p:anim>
                  </p:childTnLst>
                </p:cTn>
              </p:par>
            </p:tnLst>
          </p:tmpl>
        </p:tmplLst>
      </p:bldP>
      <p:bldP spid="8" grpId="0" build="p">
        <p:tmplLst>
          <p:tmpl lvl="1">
            <p:tnLst>
              <p:par>
                <p:cTn presetID="42"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1000"/>
                        <p:tgtEl>
                          <p:spTgt spid="8"/>
                        </p:tgtEl>
                      </p:cBhvr>
                    </p:animEffect>
                    <p:anim calcmode="lin" valueType="num">
                      <p:cBhvr>
                        <p:cTn dur="1000" fill="hold"/>
                        <p:tgtEl>
                          <p:spTgt spid="8"/>
                        </p:tgtEl>
                        <p:attrNameLst>
                          <p:attrName>ppt_x</p:attrName>
                        </p:attrNameLst>
                      </p:cBhvr>
                      <p:tavLst>
                        <p:tav tm="0">
                          <p:val>
                            <p:strVal val="#ppt_x"/>
                          </p:val>
                        </p:tav>
                        <p:tav tm="100000">
                          <p:val>
                            <p:strVal val="#ppt_x"/>
                          </p:val>
                        </p:tav>
                      </p:tavLst>
                    </p:anim>
                    <p:anim calcmode="lin" valueType="num">
                      <p:cBhvr>
                        <p:cTn dur="1000" fill="hold"/>
                        <p:tgtEl>
                          <p:spTgt spid="8"/>
                        </p:tgtEl>
                        <p:attrNameLst>
                          <p:attrName>ppt_y</p:attrName>
                        </p:attrNameLst>
                      </p:cBhvr>
                      <p:tavLst>
                        <p:tav tm="0">
                          <p:val>
                            <p:strVal val="#ppt_y+.1"/>
                          </p:val>
                        </p:tav>
                        <p:tav tm="100000">
                          <p:val>
                            <p:strVal val="#ppt_y"/>
                          </p:val>
                        </p:tav>
                      </p:tavLst>
                    </p:anim>
                  </p:childTnLst>
                </p:cTn>
              </p:par>
            </p:tnLst>
          </p:tmpl>
        </p:tmplLst>
      </p:bldP>
      <p:bldP spid="13"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2">
            <a:lumMod val="50000"/>
          </a:schemeClr>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lvl1pPr>
              <a:defRPr/>
            </a:lvl1pPr>
          </a:lstStyle>
          <a:p>
            <a:pPr>
              <a:spcAft>
                <a:spcPts val="300"/>
              </a:spcAft>
            </a:pPr>
            <a:r>
              <a:rPr lang="en-US"/>
              <a:t>CONFIDENTIAL DO NOT DISTRIBUTE</a:t>
            </a:r>
          </a:p>
        </p:txBody>
      </p:sp>
      <p:sp>
        <p:nvSpPr>
          <p:cNvPr id="9" name="Freeform: Shape 8">
            <a:extLst>
              <a:ext uri="{FF2B5EF4-FFF2-40B4-BE49-F238E27FC236}">
                <a16:creationId xmlns:a16="http://schemas.microsoft.com/office/drawing/2014/main" id="{E00957E1-7385-4372-958A-08F6E48CF842}"/>
              </a:ext>
            </a:extLst>
          </p:cNvPr>
          <p:cNvSpPr>
            <a:spLocks noChangeArrowheads="1"/>
          </p:cNvSpPr>
          <p:nvPr userDrawn="1"/>
        </p:nvSpPr>
        <p:spPr bwMode="auto">
          <a:xfrm>
            <a:off x="0" y="3823012"/>
            <a:ext cx="8229600" cy="54864"/>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rgbClr val="0091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solidFill>
                <a:schemeClr val="lt1"/>
              </a:solidFill>
            </a:endParaRPr>
          </a:p>
        </p:txBody>
      </p:sp>
      <p:sp>
        <p:nvSpPr>
          <p:cNvPr id="3" name="Section Divider Title">
            <a:extLst>
              <a:ext uri="{FF2B5EF4-FFF2-40B4-BE49-F238E27FC236}">
                <a16:creationId xmlns:a16="http://schemas.microsoft.com/office/drawing/2014/main" id="{4E2D8BF0-9312-4079-A0C6-A9039E405EB5}"/>
              </a:ext>
            </a:extLst>
          </p:cNvPr>
          <p:cNvSpPr>
            <a:spLocks noGrp="1"/>
          </p:cNvSpPr>
          <p:nvPr>
            <p:ph type="body" sz="quarter" idx="12" hasCustomPrompt="1"/>
          </p:nvPr>
        </p:nvSpPr>
        <p:spPr>
          <a:xfrm>
            <a:off x="921880" y="1796142"/>
            <a:ext cx="7399343" cy="1959549"/>
          </a:xfrm>
        </p:spPr>
        <p:txBody>
          <a:bodyPr anchor="b">
            <a:normAutofit/>
          </a:bodyPr>
          <a:lstStyle>
            <a:lvl1pPr marL="0" indent="0" algn="r">
              <a:buNone/>
              <a:defRPr sz="4000" baseline="0">
                <a:solidFill>
                  <a:schemeClr val="bg1"/>
                </a:solidFill>
                <a:latin typeface="+mj-lt"/>
              </a:defRPr>
            </a:lvl1pPr>
            <a:lvl2pPr marL="457200" indent="0">
              <a:buNone/>
              <a:defRPr/>
            </a:lvl2pPr>
          </a:lstStyle>
          <a:p>
            <a:pPr lvl="0"/>
            <a:r>
              <a:rPr lang="en-US">
                <a:latin typeface="+mj-lt"/>
              </a:rPr>
              <a:t>Click to edit Master title style</a:t>
            </a:r>
            <a:endParaRPr lang="en-US"/>
          </a:p>
        </p:txBody>
      </p:sp>
      <p:sp>
        <p:nvSpPr>
          <p:cNvPr id="6" name="Subtitle">
            <a:extLst>
              <a:ext uri="{FF2B5EF4-FFF2-40B4-BE49-F238E27FC236}">
                <a16:creationId xmlns:a16="http://schemas.microsoft.com/office/drawing/2014/main" id="{1C918C49-2DED-4376-A852-85D9A03B1807}"/>
              </a:ext>
            </a:extLst>
          </p:cNvPr>
          <p:cNvSpPr>
            <a:spLocks noGrp="1"/>
          </p:cNvSpPr>
          <p:nvPr>
            <p:ph type="body" sz="quarter" idx="13" hasCustomPrompt="1"/>
          </p:nvPr>
        </p:nvSpPr>
        <p:spPr>
          <a:xfrm>
            <a:off x="921880" y="4016103"/>
            <a:ext cx="7399343" cy="1089025"/>
          </a:xfrm>
        </p:spPr>
        <p:txBody>
          <a:bodyPr/>
          <a:lstStyle>
            <a:lvl1pPr marL="0" indent="0" algn="r">
              <a:buNone/>
              <a:defRPr>
                <a:solidFill>
                  <a:schemeClr val="bg1"/>
                </a:solidFill>
              </a:defRPr>
            </a:lvl1pPr>
            <a:lvl2pPr marL="457200" indent="0">
              <a:buNone/>
              <a:defRPr/>
            </a:lvl2pPr>
          </a:lstStyle>
          <a:p>
            <a:pPr lvl="0"/>
            <a:r>
              <a:rPr lang="en-US"/>
              <a:t>Click to edit Master subtitle style</a:t>
            </a:r>
          </a:p>
        </p:txBody>
      </p:sp>
    </p:spTree>
    <p:extLst>
      <p:ext uri="{BB962C8B-B14F-4D97-AF65-F5344CB8AC3E}">
        <p14:creationId xmlns:p14="http://schemas.microsoft.com/office/powerpoint/2010/main" val="321490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35" presetClass="path" presetSubtype="0" decel="100000" fill="hold" grpId="1" nodeType="withEffect">
                                  <p:stCondLst>
                                    <p:cond delay="1250"/>
                                  </p:stCondLst>
                                  <p:childTnLst>
                                    <p:animMotion origin="layout" path="M -1.94444E-6 3.7037E-7 L -0.02482 3.7037E-7 " pathEditMode="relative" rAng="0" ptsTypes="AA">
                                      <p:cBhvr>
                                        <p:cTn id="9" dur="1500" spd="-100000" fill="hold"/>
                                        <p:tgtEl>
                                          <p:spTgt spid="3"/>
                                        </p:tgtEl>
                                        <p:attrNameLst>
                                          <p:attrName>ppt_x</p:attrName>
                                          <p:attrName>ppt_y</p:attrName>
                                        </p:attrNameLst>
                                      </p:cBhvr>
                                      <p:rCtr x="-1250" y="0"/>
                                    </p:animMotion>
                                  </p:childTnLst>
                                </p:cTn>
                              </p:par>
                              <p:par>
                                <p:cTn id="10" presetID="10" presetClass="entr" presetSubtype="0" fill="hold" grpId="0" nodeType="withEffect">
                                  <p:stCondLst>
                                    <p:cond delay="125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500"/>
                                        <p:tgtEl>
                                          <p:spTgt spid="6"/>
                                        </p:tgtEl>
                                      </p:cBhvr>
                                    </p:animEffect>
                                  </p:childTnLst>
                                </p:cTn>
                              </p:par>
                              <p:par>
                                <p:cTn id="13" presetID="35" presetClass="path" presetSubtype="0" decel="100000" fill="hold" grpId="1" nodeType="withEffect">
                                  <p:stCondLst>
                                    <p:cond delay="1250"/>
                                  </p:stCondLst>
                                  <p:childTnLst>
                                    <p:animMotion origin="layout" path="M -1.94444E-6 3.7037E-6 L -0.02482 3.7037E-6 " pathEditMode="relative" rAng="0" ptsTypes="AA">
                                      <p:cBhvr>
                                        <p:cTn id="14" dur="1500" spd="-100000" fill="hold"/>
                                        <p:tgtEl>
                                          <p:spTgt spid="6"/>
                                        </p:tgtEl>
                                        <p:attrNameLst>
                                          <p:attrName>ppt_x</p:attrName>
                                          <p:attrName>ppt_y</p:attrName>
                                        </p:attrNameLst>
                                      </p:cBhvr>
                                      <p:rCtr x="-1250" y="0"/>
                                    </p:animMotion>
                                  </p:childTnLst>
                                </p:cTn>
                              </p:par>
                              <p:par>
                                <p:cTn id="15" presetID="2" presetClass="entr" presetSubtype="8" decel="10000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2750" fill="hold"/>
                                        <p:tgtEl>
                                          <p:spTgt spid="9"/>
                                        </p:tgtEl>
                                        <p:attrNameLst>
                                          <p:attrName>ppt_x</p:attrName>
                                        </p:attrNameLst>
                                      </p:cBhvr>
                                      <p:tavLst>
                                        <p:tav tm="0">
                                          <p:val>
                                            <p:strVal val="0-#ppt_w/2"/>
                                          </p:val>
                                        </p:tav>
                                        <p:tav tm="100000">
                                          <p:val>
                                            <p:strVal val="#ppt_x"/>
                                          </p:val>
                                        </p:tav>
                                      </p:tavLst>
                                    </p:anim>
                                    <p:anim calcmode="lin" valueType="num">
                                      <p:cBhvr additive="base">
                                        <p:cTn id="18" dur="2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p:tmplLst>
          <p:tmpl>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1500"/>
                        <p:tgtEl>
                          <p:spTgt spid="3"/>
                        </p:tgtEl>
                      </p:cBhvr>
                    </p:animEffect>
                  </p:childTnLst>
                </p:cTn>
              </p:par>
            </p:tnLst>
          </p:tmpl>
        </p:tmplLst>
      </p:bldP>
      <p:bldP spid="3" grpId="1">
        <p:tmplLst>
          <p:tmpl>
            <p:tnLst>
              <p:par>
                <p:cTn presetID="35" presetClass="path" presetSubtype="0" decel="100000" fill="hold" nodeType="withEffect">
                  <p:stCondLst>
                    <p:cond delay="1250"/>
                  </p:stCondLst>
                  <p:childTnLst>
                    <p:animMotion origin="layout" path="M -1.94444E-6 3.7037E-7 L -0.02482 3.7037E-7 " pathEditMode="relative" rAng="0" ptsTypes="AA">
                      <p:cBhvr>
                        <p:cTn dur="1500" spd="-100000" fill="hold"/>
                        <p:tgtEl>
                          <p:spTgt spid="3"/>
                        </p:tgtEl>
                        <p:attrNameLst>
                          <p:attrName>ppt_x</p:attrName>
                          <p:attrName>ppt_y</p:attrName>
                        </p:attrNameLst>
                      </p:cBhvr>
                      <p:rCtr x="-1250" y="0"/>
                    </p:animMotion>
                  </p:childTnLst>
                </p:cTn>
              </p:par>
            </p:tnLst>
          </p:tmpl>
        </p:tmplLst>
      </p:bldP>
      <p:bldP spid="6" grpId="0">
        <p:tmplLst>
          <p:tmpl>
            <p:tnLst>
              <p:par>
                <p:cTn presetID="10" presetClass="entr" presetSubtype="0" fill="hold" nodeType="withEffect">
                  <p:stCondLst>
                    <p:cond delay="1250"/>
                  </p:stCondLst>
                  <p:childTnLst>
                    <p:set>
                      <p:cBhvr>
                        <p:cTn dur="1" fill="hold">
                          <p:stCondLst>
                            <p:cond delay="0"/>
                          </p:stCondLst>
                        </p:cTn>
                        <p:tgtEl>
                          <p:spTgt spid="6"/>
                        </p:tgtEl>
                        <p:attrNameLst>
                          <p:attrName>style.visibility</p:attrName>
                        </p:attrNameLst>
                      </p:cBhvr>
                      <p:to>
                        <p:strVal val="visible"/>
                      </p:to>
                    </p:set>
                    <p:animEffect transition="in" filter="fade">
                      <p:cBhvr>
                        <p:cTn dur="1500"/>
                        <p:tgtEl>
                          <p:spTgt spid="6"/>
                        </p:tgtEl>
                      </p:cBhvr>
                    </p:animEffect>
                  </p:childTnLst>
                </p:cTn>
              </p:par>
            </p:tnLst>
          </p:tmpl>
        </p:tmplLst>
      </p:bldP>
      <p:bldP spid="6" grpId="1">
        <p:tmplLst>
          <p:tmpl>
            <p:tnLst>
              <p:par>
                <p:cTn presetID="35" presetClass="path" presetSubtype="0" decel="100000" fill="hold" nodeType="withEffect">
                  <p:stCondLst>
                    <p:cond delay="1250"/>
                  </p:stCondLst>
                  <p:childTnLst>
                    <p:animMotion origin="layout" path="M -1.94444E-6 3.7037E-6 L -0.02482 3.7037E-6 " pathEditMode="relative" rAng="0" ptsTypes="AA">
                      <p:cBhvr>
                        <p:cTn dur="1500" spd="-100000" fill="hold"/>
                        <p:tgtEl>
                          <p:spTgt spid="6"/>
                        </p:tgtEl>
                        <p:attrNameLst>
                          <p:attrName>ppt_x</p:attrName>
                          <p:attrName>ppt_y</p:attrName>
                        </p:attrNameLst>
                      </p:cBhvr>
                      <p:rCtr x="-1250" y="0"/>
                    </p:animMotion>
                  </p:childTnLst>
                </p:cTn>
              </p:par>
            </p:tnLst>
          </p:tmpl>
        </p:tmplLst>
      </p:bldP>
    </p:bldLst>
  </p:timing>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Placeholder"/>
          <p:cNvSpPr>
            <a:spLocks noGrp="1"/>
          </p:cNvSpPr>
          <p:nvPr>
            <p:ph type="title"/>
          </p:nvPr>
        </p:nvSpPr>
        <p:spPr>
          <a:xfrm>
            <a:off x="521953" y="349430"/>
            <a:ext cx="8088319" cy="396219"/>
          </a:xfrm>
        </p:spPr>
        <p:txBody>
          <a:bodyPr/>
          <a:lstStyle/>
          <a:p>
            <a:r>
              <a:rPr lang="en-US"/>
              <a:t>Click to edit Master title style</a:t>
            </a:r>
          </a:p>
        </p:txBody>
      </p:sp>
      <p:sp>
        <p:nvSpPr>
          <p:cNvPr id="3" name="Content Placeholder"/>
          <p:cNvSpPr>
            <a:spLocks noGrp="1"/>
          </p:cNvSpPr>
          <p:nvPr>
            <p:ph idx="1"/>
          </p:nvPr>
        </p:nvSpPr>
        <p:spPr>
          <a:xfrm>
            <a:off x="521953" y="1383847"/>
            <a:ext cx="8094997" cy="4391456"/>
          </a:xfrm>
        </p:spPr>
        <p:txBody>
          <a:bodyPr/>
          <a:lstStyle>
            <a:lvl2pPr marL="457200">
              <a:defRPr/>
            </a:lvl2pPr>
            <a:lvl3pPr marL="685800">
              <a:defRPr/>
            </a:lvl3pPr>
            <a:lvl4pPr marL="914400">
              <a:defRPr/>
            </a:lvl4pPr>
            <a:lvl5pPr marL="1143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p:cNvSpPr>
            <a:spLocks noGrp="1"/>
          </p:cNvSpPr>
          <p:nvPr>
            <p:ph type="sldNum" sz="quarter" idx="12"/>
          </p:nvPr>
        </p:nvSpPr>
        <p:spPr/>
        <p:txBody>
          <a:bodyPr/>
          <a:lstStyle/>
          <a:p>
            <a:fld id="{D4F07938-7C1D-46C8-9535-2404A951C984}" type="slidenum">
              <a:rPr lang="en-US" smtClean="0"/>
              <a:t>‹#›</a:t>
            </a:fld>
            <a:endParaRPr lang="en-US"/>
          </a:p>
        </p:txBody>
      </p:sp>
      <p:sp>
        <p:nvSpPr>
          <p:cNvPr id="7" name="Subtitle Placeholder">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Autofit/>
          </a:bodyPr>
          <a:lstStyle>
            <a:lvl1pPr marL="0" indent="0">
              <a:buNone/>
              <a:defRPr sz="2000">
                <a:solidFill>
                  <a:schemeClr val="bg2"/>
                </a:solidFill>
              </a:defRPr>
            </a:lvl1pPr>
          </a:lstStyle>
          <a:p>
            <a:pPr lvl="0"/>
            <a:r>
              <a:rPr lang="en-US"/>
              <a:t>Click to edit Master subtitle</a:t>
            </a:r>
          </a:p>
        </p:txBody>
      </p:sp>
      <p:sp>
        <p:nvSpPr>
          <p:cNvPr id="10" name="Footnote Placeholder">
            <a:extLst>
              <a:ext uri="{FF2B5EF4-FFF2-40B4-BE49-F238E27FC236}">
                <a16:creationId xmlns:a16="http://schemas.microsoft.com/office/drawing/2014/main" id="{02A5A177-C406-4C26-AEC6-86866B5E8C37}"/>
              </a:ext>
            </a:extLst>
          </p:cNvPr>
          <p:cNvSpPr>
            <a:spLocks noGrp="1"/>
          </p:cNvSpPr>
          <p:nvPr>
            <p:ph type="body" sz="quarter" idx="14"/>
          </p:nvPr>
        </p:nvSpPr>
        <p:spPr>
          <a:xfrm>
            <a:off x="521953" y="5832453"/>
            <a:ext cx="8087977" cy="282598"/>
          </a:xfrm>
        </p:spPr>
        <p:txBody>
          <a:bodyPr anchor="b">
            <a:noAutofit/>
          </a:bodyPr>
          <a:lstStyle>
            <a:lvl1pPr marL="0" indent="0">
              <a:buNone/>
              <a:defRPr sz="700">
                <a:solidFill>
                  <a:schemeClr val="tx1"/>
                </a:solidFill>
              </a:defRPr>
            </a:lvl1pPr>
          </a:lstStyle>
          <a:p>
            <a:pPr lvl="0"/>
            <a:endParaRPr lang="en-US"/>
          </a:p>
        </p:txBody>
      </p:sp>
      <p:sp>
        <p:nvSpPr>
          <p:cNvPr id="8" name="Footer Placeholder 3">
            <a:extLst>
              <a:ext uri="{FF2B5EF4-FFF2-40B4-BE49-F238E27FC236}">
                <a16:creationId xmlns:a16="http://schemas.microsoft.com/office/drawing/2014/main" id="{FE457AFD-5D39-49CF-B13A-6B917BC6DFDB}"/>
              </a:ext>
            </a:extLst>
          </p:cNvPr>
          <p:cNvSpPr txBox="1">
            <a:spLocks/>
          </p:cNvSpPr>
          <p:nvPr userDrawn="1"/>
        </p:nvSpPr>
        <p:spPr>
          <a:xfrm>
            <a:off x="2404239" y="6418368"/>
            <a:ext cx="5130312"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300"/>
              </a:spcAft>
            </a:pPr>
            <a:r>
              <a:rPr lang="en-US" sz="1000">
                <a:solidFill>
                  <a:schemeClr val="bg1"/>
                </a:solidFill>
              </a:rPr>
              <a:t>	              CONFIDENTIAL DO NOT DISTRIBUTE</a:t>
            </a:r>
          </a:p>
        </p:txBody>
      </p:sp>
    </p:spTree>
    <p:extLst>
      <p:ext uri="{BB962C8B-B14F-4D97-AF65-F5344CB8AC3E}">
        <p14:creationId xmlns:p14="http://schemas.microsoft.com/office/powerpoint/2010/main" val="532337829"/>
      </p:ext>
    </p:extLst>
  </p:cSld>
  <p:clrMapOvr>
    <a:masterClrMapping/>
  </p:clrMapOvr>
  <p:hf hdr="0" dt="0"/>
  <p:extLst>
    <p:ext uri="{DCECCB84-F9BA-43D5-87BE-67443E8EF086}">
      <p15:sldGuideLst xmlns:p15="http://schemas.microsoft.com/office/powerpoint/2012/main">
        <p15:guide id="1" orient="horz" pos="1104" userDrawn="1">
          <p15:clr>
            <a:srgbClr val="9FCC3B"/>
          </p15:clr>
        </p15:guide>
        <p15:guide id="2" orient="horz" pos="936" userDrawn="1">
          <p15:clr>
            <a:srgbClr val="9FCC3B"/>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5" name="Footer Placeholder 4"/>
          <p:cNvSpPr>
            <a:spLocks noGrp="1"/>
          </p:cNvSpPr>
          <p:nvPr>
            <p:ph type="ftr" sz="quarter" idx="11"/>
          </p:nvPr>
        </p:nvSpPr>
        <p:spPr/>
        <p:txBody>
          <a:bodyPr>
            <a:noAutofit/>
          </a:bodyPr>
          <a:lstStyle/>
          <a:p>
            <a:r>
              <a:rPr lang="en-US"/>
              <a:t>CONFIDENTIAL DO NOT DISTRIBUTE</a:t>
            </a:r>
          </a:p>
        </p:txBody>
      </p:sp>
      <p:sp>
        <p:nvSpPr>
          <p:cNvPr id="6" name="Slide Number Placeholder 5"/>
          <p:cNvSpPr>
            <a:spLocks noGrp="1"/>
          </p:cNvSpPr>
          <p:nvPr>
            <p:ph type="sldNum" sz="quarter" idx="12"/>
          </p:nvPr>
        </p:nvSpPr>
        <p:spPr/>
        <p:txBody>
          <a:bodyPr>
            <a:noAutofit/>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3992897"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BA26A43D-97B0-48D8-B343-8F2FB900447B}"/>
              </a:ext>
            </a:extLst>
          </p:cNvPr>
          <p:cNvSpPr>
            <a:spLocks noGrp="1"/>
          </p:cNvSpPr>
          <p:nvPr>
            <p:ph sz="half" idx="2"/>
          </p:nvPr>
        </p:nvSpPr>
        <p:spPr>
          <a:xfrm>
            <a:off x="4629149" y="1383846"/>
            <a:ext cx="3981115"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4572000" y="1485899"/>
            <a:ext cx="0" cy="4297680"/>
          </a:xfrm>
          <a:noFill/>
          <a:ln w="3175">
            <a:solidFill>
              <a:schemeClr val="bg1">
                <a:lumMod val="65000"/>
              </a:schemeClr>
            </a:solidFill>
          </a:ln>
        </p:spPr>
        <p:txBody>
          <a:bodyPr>
            <a:noAutofit/>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1279970961"/>
      </p:ext>
    </p:extLst>
  </p:cSld>
  <p:clrMapOvr>
    <a:masterClrMapping/>
  </p:clrMapOvr>
  <p:extLst>
    <p:ext uri="{DCECCB84-F9BA-43D5-87BE-67443E8EF086}">
      <p15:sldGuideLst xmlns:p15="http://schemas.microsoft.com/office/powerpoint/2012/main">
        <p15:guide id="1" orient="horz" pos="936" userDrawn="1">
          <p15:clr>
            <a:srgbClr val="9FCC3B"/>
          </p15:clr>
        </p15:guide>
        <p15:guide id="2" orient="horz" pos="1104" userDrawn="1">
          <p15:clr>
            <a:srgbClr val="9FCC3B"/>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4572000" y="1375985"/>
            <a:ext cx="0" cy="4572000"/>
          </a:xfrm>
          <a:noFill/>
          <a:ln w="3175">
            <a:solidFill>
              <a:schemeClr val="bg1">
                <a:lumMod val="65000"/>
              </a:schemeClr>
            </a:solidFill>
          </a:ln>
        </p:spPr>
        <p:txBody>
          <a:bodyPr/>
          <a:lstStyle>
            <a:lvl1pPr marL="0" indent="0">
              <a:buNone/>
              <a:defRPr>
                <a:ln>
                  <a:noFill/>
                </a:ln>
                <a:noFill/>
              </a:defRPr>
            </a:lvl1pPr>
          </a:lstStyle>
          <a:p>
            <a:pPr lvl="0"/>
            <a:endParaRPr lang="en-US"/>
          </a:p>
        </p:txBody>
      </p:sp>
      <p:sp>
        <p:nvSpPr>
          <p:cNvPr id="12" name="Content Placeholder 2">
            <a:extLst>
              <a:ext uri="{FF2B5EF4-FFF2-40B4-BE49-F238E27FC236}">
                <a16:creationId xmlns:a16="http://schemas.microsoft.com/office/drawing/2014/main" id="{A7DA370D-E409-442A-BE52-9CD43AE1107C}"/>
              </a:ext>
            </a:extLst>
          </p:cNvPr>
          <p:cNvSpPr>
            <a:spLocks noGrp="1"/>
          </p:cNvSpPr>
          <p:nvPr>
            <p:ph sz="half" idx="21"/>
          </p:nvPr>
        </p:nvSpPr>
        <p:spPr>
          <a:xfrm>
            <a:off x="609431" y="2227563"/>
            <a:ext cx="3886200" cy="3887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A136D031-1688-4D3E-9953-9488DDFF5EC1}"/>
              </a:ext>
            </a:extLst>
          </p:cNvPr>
          <p:cNvSpPr>
            <a:spLocks noGrp="1"/>
          </p:cNvSpPr>
          <p:nvPr>
            <p:ph sz="half" idx="22"/>
          </p:nvPr>
        </p:nvSpPr>
        <p:spPr>
          <a:xfrm>
            <a:off x="4645479" y="2227563"/>
            <a:ext cx="3887391" cy="38874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AF0A6AB6-36B9-4441-B946-8B83F968797E}"/>
              </a:ext>
            </a:extLst>
          </p:cNvPr>
          <p:cNvSpPr>
            <a:spLocks noGrp="1"/>
          </p:cNvSpPr>
          <p:nvPr>
            <p:ph type="body" idx="1" hasCustomPrompt="1"/>
          </p:nvPr>
        </p:nvSpPr>
        <p:spPr>
          <a:xfrm>
            <a:off x="609432" y="1375985"/>
            <a:ext cx="3886200" cy="732999"/>
          </a:xfrm>
          <a:solidFill>
            <a:schemeClr val="bg2"/>
          </a:solidFill>
        </p:spPr>
        <p:txBody>
          <a:bodyPr anchor="ctr">
            <a:noAutofit/>
          </a:bodyPr>
          <a:lstStyle>
            <a:lvl1pPr marL="0" indent="0" algn="ctr">
              <a:spcBef>
                <a:spcPts val="0"/>
              </a:spcBef>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
        <p:nvSpPr>
          <p:cNvPr id="15" name="Text Placeholder 4">
            <a:extLst>
              <a:ext uri="{FF2B5EF4-FFF2-40B4-BE49-F238E27FC236}">
                <a16:creationId xmlns:a16="http://schemas.microsoft.com/office/drawing/2014/main" id="{3D0ACAF1-CE3C-48B5-91CD-AB8AF06B8CF2}"/>
              </a:ext>
            </a:extLst>
          </p:cNvPr>
          <p:cNvSpPr>
            <a:spLocks noGrp="1"/>
          </p:cNvSpPr>
          <p:nvPr>
            <p:ph type="body" sz="quarter" idx="3" hasCustomPrompt="1"/>
          </p:nvPr>
        </p:nvSpPr>
        <p:spPr>
          <a:xfrm>
            <a:off x="4645479" y="1375985"/>
            <a:ext cx="3887391" cy="741489"/>
          </a:xfrm>
          <a:solidFill>
            <a:schemeClr val="tx2"/>
          </a:solidFill>
        </p:spPr>
        <p:txBody>
          <a:bodyPr anchor="ctr"/>
          <a:lstStyle>
            <a:lvl1pPr marL="0" indent="0" algn="ctr">
              <a:spcBef>
                <a:spcPts val="0"/>
              </a:spcBef>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a:t>
            </a:r>
            <a:br>
              <a:rPr lang="en-US"/>
            </a:br>
            <a:r>
              <a:rPr lang="en-US"/>
              <a:t>Master text styles</a:t>
            </a:r>
          </a:p>
        </p:txBody>
      </p:sp>
    </p:spTree>
    <p:extLst>
      <p:ext uri="{BB962C8B-B14F-4D97-AF65-F5344CB8AC3E}">
        <p14:creationId xmlns:p14="http://schemas.microsoft.com/office/powerpoint/2010/main" val="344291597"/>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CONFIDENTIAL DO NOT DISTRIBUTE</a:t>
            </a:r>
          </a:p>
        </p:txBody>
      </p:sp>
      <p:sp>
        <p:nvSpPr>
          <p:cNvPr id="5" name="Slide Number Placeholder 4"/>
          <p:cNvSpPr>
            <a:spLocks noGrp="1"/>
          </p:cNvSpPr>
          <p:nvPr>
            <p:ph type="sldNum" sz="quarter" idx="12"/>
          </p:nvPr>
        </p:nvSpPr>
        <p:spPr/>
        <p:txBody>
          <a:bodyPr/>
          <a:lstStyle/>
          <a:p>
            <a:fld id="{D4F07938-7C1D-46C8-9535-2404A951C984}" type="slidenum">
              <a:rPr lang="en-US" smtClean="0"/>
              <a:t>‹#›</a:t>
            </a:fld>
            <a:endParaRPr lang="en-US"/>
          </a:p>
        </p:txBody>
      </p:sp>
      <p:sp>
        <p:nvSpPr>
          <p:cNvPr id="14" name="Text Placeholder 13">
            <a:extLst>
              <a:ext uri="{FF2B5EF4-FFF2-40B4-BE49-F238E27FC236}">
                <a16:creationId xmlns:a16="http://schemas.microsoft.com/office/drawing/2014/main" id="{D8BD46AF-A5A5-4B10-814A-2FB521643AF8}"/>
              </a:ext>
            </a:extLst>
          </p:cNvPr>
          <p:cNvSpPr>
            <a:spLocks noGrp="1"/>
          </p:cNvSpPr>
          <p:nvPr>
            <p:ph type="body" sz="quarter" idx="13" hasCustomPrompt="1"/>
          </p:nvPr>
        </p:nvSpPr>
        <p:spPr>
          <a:xfrm>
            <a:off x="522368" y="1682750"/>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lvl2pPr>
          </a:lstStyle>
          <a:p>
            <a:pPr lvl="0"/>
            <a:r>
              <a:rPr lang="en-US"/>
              <a:t>Click to edit text styles</a:t>
            </a:r>
          </a:p>
        </p:txBody>
      </p:sp>
      <p:sp>
        <p:nvSpPr>
          <p:cNvPr id="15" name="Text Placeholder 13">
            <a:extLst>
              <a:ext uri="{FF2B5EF4-FFF2-40B4-BE49-F238E27FC236}">
                <a16:creationId xmlns:a16="http://schemas.microsoft.com/office/drawing/2014/main" id="{B6731277-5F54-4FDD-A117-A6405D49886C}"/>
              </a:ext>
            </a:extLst>
          </p:cNvPr>
          <p:cNvSpPr>
            <a:spLocks noGrp="1"/>
          </p:cNvSpPr>
          <p:nvPr>
            <p:ph type="body" sz="quarter" idx="14" hasCustomPrompt="1"/>
          </p:nvPr>
        </p:nvSpPr>
        <p:spPr>
          <a:xfrm>
            <a:off x="3439830" y="1682749"/>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solidFill>
                  <a:schemeClr val="bg2"/>
                </a:solidFill>
              </a:defRPr>
            </a:lvl2pPr>
          </a:lstStyle>
          <a:p>
            <a:pPr lvl="0"/>
            <a:r>
              <a:rPr lang="en-US"/>
              <a:t>Click to edit text styles</a:t>
            </a:r>
          </a:p>
        </p:txBody>
      </p:sp>
      <p:sp>
        <p:nvSpPr>
          <p:cNvPr id="16" name="Text Placeholder 13">
            <a:extLst>
              <a:ext uri="{FF2B5EF4-FFF2-40B4-BE49-F238E27FC236}">
                <a16:creationId xmlns:a16="http://schemas.microsoft.com/office/drawing/2014/main" id="{62DED061-CB5A-4E72-8682-F6A43103BC46}"/>
              </a:ext>
            </a:extLst>
          </p:cNvPr>
          <p:cNvSpPr>
            <a:spLocks noGrp="1"/>
          </p:cNvSpPr>
          <p:nvPr>
            <p:ph type="body" sz="quarter" idx="15" hasCustomPrompt="1"/>
          </p:nvPr>
        </p:nvSpPr>
        <p:spPr>
          <a:xfrm>
            <a:off x="6369992" y="1682750"/>
            <a:ext cx="2240280" cy="4375149"/>
          </a:xfrm>
        </p:spPr>
        <p:txBody>
          <a:bodyPr>
            <a:normAutofit/>
          </a:bodyPr>
          <a:lstStyle>
            <a:lvl1pPr marL="0" indent="0">
              <a:lnSpc>
                <a:spcPct val="100000"/>
              </a:lnSpc>
              <a:buNone/>
              <a:defRPr sz="1400" b="0">
                <a:solidFill>
                  <a:schemeClr val="tx1"/>
                </a:solidFill>
              </a:defRPr>
            </a:lvl1pPr>
            <a:lvl2pPr marL="0" indent="0">
              <a:lnSpc>
                <a:spcPct val="100000"/>
              </a:lnSpc>
              <a:buNone/>
              <a:defRPr sz="1200"/>
            </a:lvl2pPr>
          </a:lstStyle>
          <a:p>
            <a:pPr lvl="0"/>
            <a:r>
              <a:rPr lang="en-US"/>
              <a:t>Click to edit text styles</a:t>
            </a:r>
          </a:p>
        </p:txBody>
      </p:sp>
      <p:sp>
        <p:nvSpPr>
          <p:cNvPr id="21" name="Title 20">
            <a:extLst>
              <a:ext uri="{FF2B5EF4-FFF2-40B4-BE49-F238E27FC236}">
                <a16:creationId xmlns:a16="http://schemas.microsoft.com/office/drawing/2014/main" id="{2270ADB5-41F0-48A0-B1CD-13F46FE2BA95}"/>
              </a:ext>
            </a:extLst>
          </p:cNvPr>
          <p:cNvSpPr>
            <a:spLocks noGrp="1"/>
          </p:cNvSpPr>
          <p:nvPr>
            <p:ph type="title"/>
          </p:nvPr>
        </p:nvSpPr>
        <p:spPr/>
        <p:txBody>
          <a:bodyPr/>
          <a:lstStyle/>
          <a:p>
            <a:r>
              <a:rPr lang="en-US"/>
              <a:t>Click to edit Master title style</a:t>
            </a:r>
          </a:p>
        </p:txBody>
      </p:sp>
      <p:sp>
        <p:nvSpPr>
          <p:cNvPr id="23" name="Content Placeholder 22">
            <a:extLst>
              <a:ext uri="{FF2B5EF4-FFF2-40B4-BE49-F238E27FC236}">
                <a16:creationId xmlns:a16="http://schemas.microsoft.com/office/drawing/2014/main" id="{9E51F7F1-6C7D-4A70-91AA-42490A4999C4}"/>
              </a:ext>
            </a:extLst>
          </p:cNvPr>
          <p:cNvSpPr>
            <a:spLocks noGrp="1"/>
          </p:cNvSpPr>
          <p:nvPr>
            <p:ph sz="quarter" idx="19"/>
          </p:nvPr>
        </p:nvSpPr>
        <p:spPr>
          <a:xfrm>
            <a:off x="517926" y="963376"/>
            <a:ext cx="8092440" cy="365760"/>
          </a:xfrm>
        </p:spPr>
        <p:txBody>
          <a:bodyPr/>
          <a:lstStyle>
            <a:lvl1pPr marL="0" indent="0">
              <a:buFontTx/>
              <a:buNone/>
              <a:defRPr>
                <a:solidFill>
                  <a:schemeClr val="bg2"/>
                </a:solidFill>
              </a:defRPr>
            </a:lvl1pPr>
          </a:lstStyle>
          <a:p>
            <a:pPr lvl="0"/>
            <a:r>
              <a:rPr lang="en-US"/>
              <a:t>Click to edit Master text styles</a:t>
            </a:r>
          </a:p>
        </p:txBody>
      </p:sp>
      <p:sp>
        <p:nvSpPr>
          <p:cNvPr id="3" name="Text Placeholder 2">
            <a:extLst>
              <a:ext uri="{FF2B5EF4-FFF2-40B4-BE49-F238E27FC236}">
                <a16:creationId xmlns:a16="http://schemas.microsoft.com/office/drawing/2014/main" id="{756437B4-32EE-462C-A2BA-659C7B55D2E4}"/>
              </a:ext>
            </a:extLst>
          </p:cNvPr>
          <p:cNvSpPr>
            <a:spLocks noGrp="1"/>
          </p:cNvSpPr>
          <p:nvPr>
            <p:ph type="body" sz="quarter" idx="20"/>
          </p:nvPr>
        </p:nvSpPr>
        <p:spPr>
          <a:xfrm flipH="1">
            <a:off x="3086100" y="2252353"/>
            <a:ext cx="0" cy="3468049"/>
          </a:xfrm>
          <a:noFill/>
          <a:ln w="3175">
            <a:solidFill>
              <a:schemeClr val="bg1">
                <a:lumMod val="75000"/>
              </a:schemeClr>
            </a:solidFill>
          </a:ln>
        </p:spPr>
        <p:txBody>
          <a:bodyPr/>
          <a:lstStyle>
            <a:lvl1pPr marL="0" indent="0">
              <a:buNone/>
              <a:defRPr>
                <a:ln>
                  <a:noFill/>
                </a:ln>
                <a:noFill/>
              </a:defRPr>
            </a:lvl1pPr>
          </a:lstStyle>
          <a:p>
            <a:pPr lvl="0"/>
            <a:endParaRPr lang="en-US"/>
          </a:p>
        </p:txBody>
      </p:sp>
      <p:sp>
        <p:nvSpPr>
          <p:cNvPr id="17" name="Text Placeholder 2">
            <a:extLst>
              <a:ext uri="{FF2B5EF4-FFF2-40B4-BE49-F238E27FC236}">
                <a16:creationId xmlns:a16="http://schemas.microsoft.com/office/drawing/2014/main" id="{C1407826-FE85-4277-B5B2-4DF9CAB42B1D}"/>
              </a:ext>
            </a:extLst>
          </p:cNvPr>
          <p:cNvSpPr>
            <a:spLocks noGrp="1"/>
          </p:cNvSpPr>
          <p:nvPr>
            <p:ph type="body" sz="quarter" idx="21"/>
          </p:nvPr>
        </p:nvSpPr>
        <p:spPr>
          <a:xfrm flipH="1">
            <a:off x="6028226" y="2252353"/>
            <a:ext cx="0" cy="3468049"/>
          </a:xfrm>
          <a:noFill/>
          <a:ln w="3175">
            <a:solidFill>
              <a:schemeClr val="bg1">
                <a:lumMod val="75000"/>
              </a:schemeClr>
            </a:solidFill>
          </a:ln>
        </p:spPr>
        <p:txBody>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606489556"/>
      </p:ext>
    </p:extLst>
  </p:cSld>
  <p:clrMapOvr>
    <a:masterClrMapping/>
  </p:clrMapOvr>
  <p:extLst>
    <p:ext uri="{DCECCB84-F9BA-43D5-87BE-67443E8EF086}">
      <p15:sldGuideLst xmlns:p15="http://schemas.microsoft.com/office/powerpoint/2012/main">
        <p15:guide id="1" pos="1944" userDrawn="1">
          <p15:clr>
            <a:srgbClr val="F26B43"/>
          </p15:clr>
        </p15:guide>
        <p15:guide id="2" pos="3792" userDrawn="1">
          <p15:clr>
            <a:srgbClr val="F26B43"/>
          </p15:clr>
        </p15:guide>
        <p15:guide id="3" orient="horz" pos="936" userDrawn="1">
          <p15:clr>
            <a:srgbClr val="9FCC3B"/>
          </p15:clr>
        </p15:guide>
        <p15:guide id="4" orient="horz" pos="1104" userDrawn="1">
          <p15:clr>
            <a:srgbClr val="9FCC3B"/>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2971800" cy="4674054"/>
          </a:xfrm>
        </p:spPr>
        <p:txBody>
          <a:bodyPr>
            <a:normAutofit/>
          </a:bodyPr>
          <a:lstStyle>
            <a:lvl1pPr marL="0" indent="0">
              <a:buNone/>
              <a:defRPr sz="1800"/>
            </a:lvl1pPr>
            <a:lvl2pPr marL="228600" indent="0">
              <a:buNone/>
              <a:defRPr/>
            </a:lvl2pPr>
          </a:lstStyle>
          <a:p>
            <a:pPr lvl="0"/>
            <a:r>
              <a:rPr lang="en-US"/>
              <a:t>Click to edit Master text styles</a:t>
            </a:r>
          </a:p>
        </p:txBody>
      </p:sp>
      <p:sp>
        <p:nvSpPr>
          <p:cNvPr id="9" name="Content Placeholder 3">
            <a:extLst>
              <a:ext uri="{FF2B5EF4-FFF2-40B4-BE49-F238E27FC236}">
                <a16:creationId xmlns:a16="http://schemas.microsoft.com/office/drawing/2014/main" id="{BA26A43D-97B0-48D8-B343-8F2FB900447B}"/>
              </a:ext>
            </a:extLst>
          </p:cNvPr>
          <p:cNvSpPr>
            <a:spLocks noGrp="1"/>
          </p:cNvSpPr>
          <p:nvPr>
            <p:ph sz="half" idx="2"/>
          </p:nvPr>
        </p:nvSpPr>
        <p:spPr>
          <a:xfrm>
            <a:off x="3750733" y="1383846"/>
            <a:ext cx="4859532" cy="46740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3611034" y="1485899"/>
            <a:ext cx="0" cy="4297680"/>
          </a:xfrm>
          <a:noFill/>
          <a:ln w="3175">
            <a:solidFill>
              <a:schemeClr val="bg1">
                <a:lumMod val="65000"/>
              </a:schemeClr>
            </a:solidFill>
          </a:ln>
        </p:spPr>
        <p:txBody>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2347370870"/>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521953" y="959305"/>
            <a:ext cx="8088312" cy="367392"/>
          </a:xfrm>
        </p:spPr>
        <p:txBody>
          <a:bodyPr>
            <a:norm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521953" y="1383846"/>
            <a:ext cx="2971800" cy="4674054"/>
          </a:xfrm>
        </p:spPr>
        <p:txBody>
          <a:bodyPr>
            <a:normAutofit/>
          </a:bodyPr>
          <a:lstStyle>
            <a:lvl1pPr marL="0" indent="0">
              <a:buNone/>
              <a:defRPr sz="1800"/>
            </a:lvl1pPr>
            <a:lvl2pPr marL="228600" indent="0">
              <a:buNone/>
              <a:defRPr/>
            </a:lvl2pPr>
          </a:lstStyle>
          <a:p>
            <a:pPr lvl="0"/>
            <a:r>
              <a:rPr lang="en-US"/>
              <a:t>Click to edit Master text styles</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522288" y="5800725"/>
            <a:ext cx="8087977"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3611034" y="1485899"/>
            <a:ext cx="0" cy="4297680"/>
          </a:xfrm>
          <a:noFill/>
          <a:ln w="3175">
            <a:solidFill>
              <a:schemeClr val="bg1">
                <a:lumMod val="65000"/>
              </a:schemeClr>
            </a:solidFill>
          </a:ln>
        </p:spPr>
        <p:txBody>
          <a:bodyPr/>
          <a:lstStyle>
            <a:lvl1pPr marL="0" indent="0">
              <a:buNone/>
              <a:defRPr>
                <a:ln>
                  <a:noFill/>
                </a:ln>
                <a:noFill/>
              </a:defRPr>
            </a:lvl1pPr>
          </a:lstStyle>
          <a:p>
            <a:pPr lvl="0"/>
            <a:endParaRPr lang="en-US"/>
          </a:p>
        </p:txBody>
      </p:sp>
      <p:sp>
        <p:nvSpPr>
          <p:cNvPr id="12" name="Picture Placeholder 2">
            <a:extLst>
              <a:ext uri="{FF2B5EF4-FFF2-40B4-BE49-F238E27FC236}">
                <a16:creationId xmlns:a16="http://schemas.microsoft.com/office/drawing/2014/main" id="{302EF2E1-7359-4EFE-8794-18338094BC31}"/>
              </a:ext>
            </a:extLst>
          </p:cNvPr>
          <p:cNvSpPr>
            <a:spLocks noGrp="1" noChangeAspect="1"/>
          </p:cNvSpPr>
          <p:nvPr>
            <p:ph type="pic" idx="1"/>
          </p:nvPr>
        </p:nvSpPr>
        <p:spPr>
          <a:xfrm>
            <a:off x="3749481" y="1383846"/>
            <a:ext cx="4859527" cy="467429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2571877516"/>
      </p:ext>
    </p:extLst>
  </p:cSld>
  <p:clrMapOvr>
    <a:masterClrMapping/>
  </p:clrMapOvr>
  <p:extLst>
    <p:ext uri="{DCECCB84-F9BA-43D5-87BE-67443E8EF086}">
      <p15:sldGuideLst xmlns:p15="http://schemas.microsoft.com/office/powerpoint/2012/main">
        <p15:guide id="1" orient="horz" pos="936">
          <p15:clr>
            <a:srgbClr val="9FCC3B"/>
          </p15:clr>
        </p15:guide>
        <p15:guide id="2" orient="horz" pos="1104">
          <p15:clr>
            <a:srgbClr val="9FCC3B"/>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Blank Slide w/ Log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B03D99-70B0-48F9-888F-CA1668BD87ED}"/>
              </a:ext>
            </a:extLst>
          </p:cNvPr>
          <p:cNvSpPr/>
          <p:nvPr userDrawn="1"/>
        </p:nvSpPr>
        <p:spPr>
          <a:xfrm>
            <a:off x="0" y="6231792"/>
            <a:ext cx="9144000" cy="6322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B3EED9D3-C385-41F2-8EF2-ACB0C22CB04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3159" t="2718" r="2168" b="12046"/>
          <a:stretch/>
        </p:blipFill>
        <p:spPr>
          <a:xfrm>
            <a:off x="1" y="6223846"/>
            <a:ext cx="1760258" cy="584549"/>
          </a:xfrm>
          <a:prstGeom prst="rect">
            <a:avLst/>
          </a:prstGeom>
        </p:spPr>
      </p:pic>
      <p:sp>
        <p:nvSpPr>
          <p:cNvPr id="14" name="Content Placeholder 13">
            <a:extLst>
              <a:ext uri="{FF2B5EF4-FFF2-40B4-BE49-F238E27FC236}">
                <a16:creationId xmlns:a16="http://schemas.microsoft.com/office/drawing/2014/main" id="{CA490667-927C-4267-ACED-3C560CBFC007}"/>
              </a:ext>
            </a:extLst>
          </p:cNvPr>
          <p:cNvSpPr>
            <a:spLocks noGrp="1"/>
          </p:cNvSpPr>
          <p:nvPr>
            <p:ph sz="quarter" idx="10"/>
          </p:nvPr>
        </p:nvSpPr>
        <p:spPr>
          <a:xfrm>
            <a:off x="609600" y="342900"/>
            <a:ext cx="79248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401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9F6CAE-86BC-4A1E-92A4-8ADB1D3E27CC}"/>
              </a:ext>
            </a:extLst>
          </p:cNvPr>
          <p:cNvSpPr>
            <a:spLocks noGrp="1"/>
          </p:cNvSpPr>
          <p:nvPr>
            <p:ph sz="quarter" idx="10"/>
          </p:nvPr>
        </p:nvSpPr>
        <p:spPr>
          <a:xfrm>
            <a:off x="0" y="0"/>
            <a:ext cx="9144000" cy="685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8428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0081AC-318D-4D64-B11F-2FE435CD572B}"/>
              </a:ext>
            </a:extLst>
          </p:cNvPr>
          <p:cNvSpPr/>
          <p:nvPr userDrawn="1"/>
        </p:nvSpPr>
        <p:spPr>
          <a:xfrm>
            <a:off x="0" y="0"/>
            <a:ext cx="4572000" cy="6864077"/>
          </a:xfrm>
          <a:prstGeom prst="rect">
            <a:avLst/>
          </a:prstGeom>
          <a:solidFill>
            <a:srgbClr val="0028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01168" y="1904904"/>
            <a:ext cx="3429000" cy="3059647"/>
          </a:xfrm>
        </p:spPr>
        <p:txBody>
          <a:bodyPr anchor="ctr"/>
          <a:lstStyle>
            <a:lvl1pPr algn="l">
              <a:defRPr sz="4000">
                <a:solidFill>
                  <a:schemeClr val="tx2"/>
                </a:solidFill>
              </a:defRPr>
            </a:lvl1pPr>
          </a:lstStyle>
          <a:p>
            <a:r>
              <a:rPr lang="en-US"/>
              <a:t>Click to edit Master title style</a:t>
            </a:r>
          </a:p>
        </p:txBody>
      </p:sp>
      <p:sp>
        <p:nvSpPr>
          <p:cNvPr id="13" name="Freeform: Shape 12">
            <a:extLst>
              <a:ext uri="{FF2B5EF4-FFF2-40B4-BE49-F238E27FC236}">
                <a16:creationId xmlns:a16="http://schemas.microsoft.com/office/drawing/2014/main" id="{8B1EFDB9-3A71-4778-AC61-C6D7860D554B}"/>
              </a:ext>
            </a:extLst>
          </p:cNvPr>
          <p:cNvSpPr>
            <a:spLocks noChangeArrowheads="1"/>
          </p:cNvSpPr>
          <p:nvPr userDrawn="1"/>
        </p:nvSpPr>
        <p:spPr bwMode="auto">
          <a:xfrm>
            <a:off x="0" y="3414293"/>
            <a:ext cx="3840480" cy="36131"/>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rgbClr val="0091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a:solidFill>
                <a:schemeClr val="lt1"/>
              </a:solidFill>
            </a:endParaRPr>
          </a:p>
        </p:txBody>
      </p:sp>
      <p:pic>
        <p:nvPicPr>
          <p:cNvPr id="14" name="BMP Logo Extended">
            <a:extLst>
              <a:ext uri="{FF2B5EF4-FFF2-40B4-BE49-F238E27FC236}">
                <a16:creationId xmlns:a16="http://schemas.microsoft.com/office/drawing/2014/main" id="{7337C0E5-B532-4476-B0C7-00FAFE14610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334" y="2676128"/>
            <a:ext cx="3469844" cy="1528004"/>
          </a:xfrm>
          <a:prstGeom prst="rect">
            <a:avLst/>
          </a:prstGeom>
        </p:spPr>
      </p:pic>
    </p:spTree>
    <p:extLst>
      <p:ext uri="{BB962C8B-B14F-4D97-AF65-F5344CB8AC3E}">
        <p14:creationId xmlns:p14="http://schemas.microsoft.com/office/powerpoint/2010/main" val="2822621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BE4C8C-7EA6-4095-99E5-414877032DF4}"/>
              </a:ext>
            </a:extLst>
          </p:cNvPr>
          <p:cNvSpPr/>
          <p:nvPr userDrawn="1"/>
        </p:nvSpPr>
        <p:spPr>
          <a:xfrm>
            <a:off x="0" y="6231792"/>
            <a:ext cx="9144000" cy="63228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pic>
        <p:nvPicPr>
          <p:cNvPr id="8" name="Graphic 7">
            <a:extLst>
              <a:ext uri="{FF2B5EF4-FFF2-40B4-BE49-F238E27FC236}">
                <a16:creationId xmlns:a16="http://schemas.microsoft.com/office/drawing/2014/main" id="{4D6D90C7-D501-4F54-9C82-FA555F25007C}"/>
              </a:ext>
            </a:extLst>
          </p:cNvPr>
          <p:cNvPicPr>
            <a:picLocks noChangeAspect="1"/>
          </p:cNvPicPr>
          <p:nvPr userDrawn="1"/>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73159" t="2718" r="2168" b="12046"/>
          <a:stretch/>
        </p:blipFill>
        <p:spPr>
          <a:xfrm>
            <a:off x="1" y="6223846"/>
            <a:ext cx="1760258" cy="584549"/>
          </a:xfrm>
          <a:prstGeom prst="rect">
            <a:avLst/>
          </a:prstGeom>
        </p:spPr>
      </p:pic>
      <p:sp>
        <p:nvSpPr>
          <p:cNvPr id="2" name="Title Placeholder 1"/>
          <p:cNvSpPr>
            <a:spLocks noGrp="1"/>
          </p:cNvSpPr>
          <p:nvPr>
            <p:ph type="title"/>
          </p:nvPr>
        </p:nvSpPr>
        <p:spPr>
          <a:xfrm>
            <a:off x="521953" y="349430"/>
            <a:ext cx="8088319" cy="396219"/>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530831" y="1602211"/>
            <a:ext cx="8088319" cy="446456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028950" y="6368128"/>
            <a:ext cx="3086100" cy="365125"/>
          </a:xfrm>
          <a:prstGeom prst="rect">
            <a:avLst/>
          </a:prstGeom>
        </p:spPr>
        <p:txBody>
          <a:bodyPr vert="horz" lIns="91440" tIns="45720" rIns="91440" bIns="45720" rtlCol="0" anchor="ctr">
            <a:noAutofit/>
          </a:bodyPr>
          <a:lstStyle>
            <a:lvl1pPr algn="ctr">
              <a:defRPr sz="1000">
                <a:solidFill>
                  <a:schemeClr val="bg1"/>
                </a:solidFill>
              </a:defRPr>
            </a:lvl1pPr>
          </a:lstStyle>
          <a:p>
            <a:pPr>
              <a:spcAft>
                <a:spcPts val="300"/>
              </a:spcAft>
            </a:pPr>
            <a:r>
              <a:rPr lang="en-US"/>
              <a:t>CONFIDENTIAL DO NOT DISTRIBUTE</a:t>
            </a:r>
          </a:p>
        </p:txBody>
      </p:sp>
      <p:sp>
        <p:nvSpPr>
          <p:cNvPr id="6" name="Slide Number Placeholder 5"/>
          <p:cNvSpPr>
            <a:spLocks noGrp="1"/>
          </p:cNvSpPr>
          <p:nvPr>
            <p:ph type="sldNum" sz="quarter" idx="4"/>
          </p:nvPr>
        </p:nvSpPr>
        <p:spPr>
          <a:xfrm>
            <a:off x="7494359" y="6356351"/>
            <a:ext cx="1131609" cy="365125"/>
          </a:xfrm>
          <a:prstGeom prst="rect">
            <a:avLst/>
          </a:prstGeom>
        </p:spPr>
        <p:txBody>
          <a:bodyPr vert="horz" lIns="91440" tIns="45720" rIns="91440" bIns="45720" rtlCol="0" anchor="ctr">
            <a:noAutofit/>
          </a:bodyPr>
          <a:lstStyle>
            <a:lvl1pPr algn="r">
              <a:defRPr sz="1000">
                <a:solidFill>
                  <a:schemeClr val="bg1"/>
                </a:solidFill>
              </a:defRPr>
            </a:lvl1pPr>
          </a:lstStyle>
          <a:p>
            <a:fld id="{D4F07938-7C1D-46C8-9535-2404A951C984}" type="slidenum">
              <a:rPr lang="en-US" smtClean="0"/>
              <a:pPr/>
              <a:t>‹#›</a:t>
            </a:fld>
            <a:endParaRPr lang="en-US"/>
          </a:p>
        </p:txBody>
      </p:sp>
      <p:sp>
        <p:nvSpPr>
          <p:cNvPr id="9" name="Freeform: Shape 8">
            <a:extLst>
              <a:ext uri="{FF2B5EF4-FFF2-40B4-BE49-F238E27FC236}">
                <a16:creationId xmlns:a16="http://schemas.microsoft.com/office/drawing/2014/main" id="{EBB73408-C38F-4695-B306-920DE967E6E4}"/>
              </a:ext>
            </a:extLst>
          </p:cNvPr>
          <p:cNvSpPr>
            <a:spLocks noChangeArrowheads="1"/>
          </p:cNvSpPr>
          <p:nvPr userDrawn="1"/>
        </p:nvSpPr>
        <p:spPr bwMode="auto">
          <a:xfrm>
            <a:off x="609600" y="836955"/>
            <a:ext cx="8530588" cy="45719"/>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741139792"/>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2" r:id="rId3"/>
    <p:sldLayoutId id="2147483673" r:id="rId4"/>
    <p:sldLayoutId id="2147483685" r:id="rId5"/>
    <p:sldLayoutId id="2147483666" r:id="rId6"/>
    <p:sldLayoutId id="2147483682" r:id="rId7"/>
    <p:sldLayoutId id="2147483683" r:id="rId8"/>
    <p:sldLayoutId id="2147483667" r:id="rId9"/>
    <p:sldLayoutId id="2147483676" r:id="rId10"/>
    <p:sldLayoutId id="2147483677" r:id="rId11"/>
  </p:sldLayoutIdLs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bg2"/>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384" userDrawn="1">
          <p15:clr>
            <a:srgbClr val="F26B43"/>
          </p15:clr>
        </p15:guide>
        <p15:guide id="4" pos="5376" userDrawn="1">
          <p15:clr>
            <a:srgbClr val="F26B43"/>
          </p15:clr>
        </p15:guide>
        <p15:guide id="5" orient="horz" pos="216" userDrawn="1">
          <p15:clr>
            <a:srgbClr val="F26B43"/>
          </p15:clr>
        </p15:guide>
        <p15:guide id="6" orient="horz" pos="3816" userDrawn="1">
          <p15:clr>
            <a:srgbClr val="F26B43"/>
          </p15:clr>
        </p15:guide>
        <p15:guide id="7" orient="horz" pos="4176" userDrawn="1">
          <p15:clr>
            <a:srgbClr val="F26B43"/>
          </p15:clr>
        </p15:guide>
        <p15:guide id="8" orient="horz" pos="64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BE4C8C-7EA6-4095-99E5-414877032DF4}"/>
              </a:ext>
            </a:extLst>
          </p:cNvPr>
          <p:cNvSpPr/>
          <p:nvPr userDrawn="1"/>
        </p:nvSpPr>
        <p:spPr>
          <a:xfrm>
            <a:off x="0" y="6231792"/>
            <a:ext cx="9144000" cy="63228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pic>
        <p:nvPicPr>
          <p:cNvPr id="8" name="Graphic 7">
            <a:extLst>
              <a:ext uri="{FF2B5EF4-FFF2-40B4-BE49-F238E27FC236}">
                <a16:creationId xmlns:a16="http://schemas.microsoft.com/office/drawing/2014/main" id="{4D6D90C7-D501-4F54-9C82-FA555F25007C}"/>
              </a:ext>
            </a:extLst>
          </p:cNvPr>
          <p:cNvPicPr>
            <a:picLocks noChangeAspect="1"/>
          </p:cNvPicPr>
          <p:nvPr userDrawn="1"/>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73159" t="2718" r="2168" b="12046"/>
          <a:stretch/>
        </p:blipFill>
        <p:spPr>
          <a:xfrm>
            <a:off x="1" y="6223846"/>
            <a:ext cx="1760258" cy="584549"/>
          </a:xfrm>
          <a:prstGeom prst="rect">
            <a:avLst/>
          </a:prstGeom>
        </p:spPr>
      </p:pic>
      <p:sp>
        <p:nvSpPr>
          <p:cNvPr id="2" name="Title Placeholder 1"/>
          <p:cNvSpPr>
            <a:spLocks noGrp="1"/>
          </p:cNvSpPr>
          <p:nvPr>
            <p:ph type="title"/>
          </p:nvPr>
        </p:nvSpPr>
        <p:spPr>
          <a:xfrm>
            <a:off x="521953" y="349430"/>
            <a:ext cx="8088319" cy="396219"/>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530831" y="1602211"/>
            <a:ext cx="8088319" cy="446456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028950" y="6368128"/>
            <a:ext cx="3086100" cy="365125"/>
          </a:xfrm>
          <a:prstGeom prst="rect">
            <a:avLst/>
          </a:prstGeom>
        </p:spPr>
        <p:txBody>
          <a:bodyPr vert="horz" lIns="91440" tIns="45720" rIns="91440" bIns="45720" rtlCol="0" anchor="ctr">
            <a:noAutofit/>
          </a:bodyPr>
          <a:lstStyle>
            <a:lvl1pPr algn="ctr">
              <a:defRPr sz="1000">
                <a:solidFill>
                  <a:schemeClr val="bg1"/>
                </a:solidFill>
              </a:defRPr>
            </a:lvl1pPr>
          </a:lstStyle>
          <a:p>
            <a:pPr>
              <a:spcAft>
                <a:spcPts val="300"/>
              </a:spcAft>
            </a:pPr>
            <a:r>
              <a:rPr lang="en-US"/>
              <a:t>CONFIDENTIAL DO NOT DISTRIBUTE</a:t>
            </a:r>
          </a:p>
        </p:txBody>
      </p:sp>
      <p:sp>
        <p:nvSpPr>
          <p:cNvPr id="6" name="Slide Number Placeholder 5"/>
          <p:cNvSpPr>
            <a:spLocks noGrp="1"/>
          </p:cNvSpPr>
          <p:nvPr>
            <p:ph type="sldNum" sz="quarter" idx="4"/>
          </p:nvPr>
        </p:nvSpPr>
        <p:spPr>
          <a:xfrm>
            <a:off x="7494359" y="6356351"/>
            <a:ext cx="1131609" cy="365125"/>
          </a:xfrm>
          <a:prstGeom prst="rect">
            <a:avLst/>
          </a:prstGeom>
        </p:spPr>
        <p:txBody>
          <a:bodyPr vert="horz" lIns="91440" tIns="45720" rIns="91440" bIns="45720" rtlCol="0" anchor="ctr">
            <a:noAutofit/>
          </a:bodyPr>
          <a:lstStyle>
            <a:lvl1pPr algn="r">
              <a:defRPr sz="1000">
                <a:solidFill>
                  <a:schemeClr val="bg1"/>
                </a:solidFill>
              </a:defRPr>
            </a:lvl1pPr>
          </a:lstStyle>
          <a:p>
            <a:fld id="{D4F07938-7C1D-46C8-9535-2404A951C984}" type="slidenum">
              <a:rPr lang="en-US" smtClean="0"/>
              <a:pPr/>
              <a:t>‹#›</a:t>
            </a:fld>
            <a:endParaRPr lang="en-US"/>
          </a:p>
        </p:txBody>
      </p:sp>
      <p:sp>
        <p:nvSpPr>
          <p:cNvPr id="9" name="Freeform: Shape 8">
            <a:extLst>
              <a:ext uri="{FF2B5EF4-FFF2-40B4-BE49-F238E27FC236}">
                <a16:creationId xmlns:a16="http://schemas.microsoft.com/office/drawing/2014/main" id="{EBB73408-C38F-4695-B306-920DE967E6E4}"/>
              </a:ext>
            </a:extLst>
          </p:cNvPr>
          <p:cNvSpPr>
            <a:spLocks noChangeArrowheads="1"/>
          </p:cNvSpPr>
          <p:nvPr userDrawn="1"/>
        </p:nvSpPr>
        <p:spPr bwMode="auto">
          <a:xfrm>
            <a:off x="609600" y="836955"/>
            <a:ext cx="8530588" cy="45719"/>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741139792"/>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bg2"/>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384" userDrawn="1">
          <p15:clr>
            <a:srgbClr val="F26B43"/>
          </p15:clr>
        </p15:guide>
        <p15:guide id="4" pos="5376" userDrawn="1">
          <p15:clr>
            <a:srgbClr val="F26B43"/>
          </p15:clr>
        </p15:guide>
        <p15:guide id="5" orient="horz" pos="216" userDrawn="1">
          <p15:clr>
            <a:srgbClr val="F26B43"/>
          </p15:clr>
        </p15:guide>
        <p15:guide id="6" orient="horz" pos="3816" userDrawn="1">
          <p15:clr>
            <a:srgbClr val="F26B43"/>
          </p15:clr>
        </p15:guide>
        <p15:guide id="7" orient="horz" pos="4176" userDrawn="1">
          <p15:clr>
            <a:srgbClr val="F26B43"/>
          </p15:clr>
        </p15:guide>
        <p15:guide id="8" orient="horz" pos="6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BE4C8C-7EA6-4095-99E5-414877032DF4}"/>
              </a:ext>
            </a:extLst>
          </p:cNvPr>
          <p:cNvSpPr/>
          <p:nvPr userDrawn="1"/>
        </p:nvSpPr>
        <p:spPr>
          <a:xfrm>
            <a:off x="0" y="6231792"/>
            <a:ext cx="9144000" cy="63228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pic>
        <p:nvPicPr>
          <p:cNvPr id="8" name="Graphic 7">
            <a:extLst>
              <a:ext uri="{FF2B5EF4-FFF2-40B4-BE49-F238E27FC236}">
                <a16:creationId xmlns:a16="http://schemas.microsoft.com/office/drawing/2014/main" id="{4D6D90C7-D501-4F54-9C82-FA555F25007C}"/>
              </a:ext>
            </a:extLst>
          </p:cNvPr>
          <p:cNvPicPr>
            <a:picLocks noChangeAspect="1"/>
          </p:cNvPicPr>
          <p:nvPr userDrawn="1"/>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73159" t="2718" r="2168" b="12046"/>
          <a:stretch/>
        </p:blipFill>
        <p:spPr>
          <a:xfrm>
            <a:off x="1" y="6223846"/>
            <a:ext cx="1760258" cy="584549"/>
          </a:xfrm>
          <a:prstGeom prst="rect">
            <a:avLst/>
          </a:prstGeom>
        </p:spPr>
      </p:pic>
      <p:sp>
        <p:nvSpPr>
          <p:cNvPr id="2" name="Title Placeholder 1"/>
          <p:cNvSpPr>
            <a:spLocks noGrp="1"/>
          </p:cNvSpPr>
          <p:nvPr>
            <p:ph type="title"/>
          </p:nvPr>
        </p:nvSpPr>
        <p:spPr>
          <a:xfrm>
            <a:off x="521953" y="349430"/>
            <a:ext cx="8088319" cy="396219"/>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530831" y="1602211"/>
            <a:ext cx="8088319" cy="446456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028950" y="6368128"/>
            <a:ext cx="3086100" cy="365125"/>
          </a:xfrm>
          <a:prstGeom prst="rect">
            <a:avLst/>
          </a:prstGeom>
        </p:spPr>
        <p:txBody>
          <a:bodyPr vert="horz" lIns="91440" tIns="45720" rIns="91440" bIns="45720" rtlCol="0" anchor="ctr">
            <a:noAutofit/>
          </a:bodyPr>
          <a:lstStyle>
            <a:lvl1pPr algn="ctr">
              <a:defRPr sz="1000">
                <a:solidFill>
                  <a:schemeClr val="bg1"/>
                </a:solidFill>
              </a:defRPr>
            </a:lvl1pPr>
          </a:lstStyle>
          <a:p>
            <a:pPr>
              <a:spcAft>
                <a:spcPts val="300"/>
              </a:spcAft>
            </a:pPr>
            <a:r>
              <a:rPr lang="en-US"/>
              <a:t>CONFIDENTIAL DO NOT DISTRIBUTE</a:t>
            </a:r>
          </a:p>
        </p:txBody>
      </p:sp>
      <p:sp>
        <p:nvSpPr>
          <p:cNvPr id="6" name="Slide Number Placeholder 5"/>
          <p:cNvSpPr>
            <a:spLocks noGrp="1"/>
          </p:cNvSpPr>
          <p:nvPr>
            <p:ph type="sldNum" sz="quarter" idx="4"/>
          </p:nvPr>
        </p:nvSpPr>
        <p:spPr>
          <a:xfrm>
            <a:off x="7494359" y="6356351"/>
            <a:ext cx="1131609" cy="365125"/>
          </a:xfrm>
          <a:prstGeom prst="rect">
            <a:avLst/>
          </a:prstGeom>
        </p:spPr>
        <p:txBody>
          <a:bodyPr vert="horz" lIns="91440" tIns="45720" rIns="91440" bIns="45720" rtlCol="0" anchor="ctr">
            <a:noAutofit/>
          </a:bodyPr>
          <a:lstStyle>
            <a:lvl1pPr algn="r">
              <a:defRPr sz="1000">
                <a:solidFill>
                  <a:schemeClr val="bg1"/>
                </a:solidFill>
              </a:defRPr>
            </a:lvl1pPr>
          </a:lstStyle>
          <a:p>
            <a:fld id="{D4F07938-7C1D-46C8-9535-2404A951C984}" type="slidenum">
              <a:rPr lang="en-US" smtClean="0"/>
              <a:pPr/>
              <a:t>‹#›</a:t>
            </a:fld>
            <a:endParaRPr lang="en-US"/>
          </a:p>
        </p:txBody>
      </p:sp>
      <p:sp>
        <p:nvSpPr>
          <p:cNvPr id="9" name="Freeform: Shape 8">
            <a:extLst>
              <a:ext uri="{FF2B5EF4-FFF2-40B4-BE49-F238E27FC236}">
                <a16:creationId xmlns:a16="http://schemas.microsoft.com/office/drawing/2014/main" id="{EBB73408-C38F-4695-B306-920DE967E6E4}"/>
              </a:ext>
            </a:extLst>
          </p:cNvPr>
          <p:cNvSpPr>
            <a:spLocks noChangeArrowheads="1"/>
          </p:cNvSpPr>
          <p:nvPr userDrawn="1"/>
        </p:nvSpPr>
        <p:spPr bwMode="auto">
          <a:xfrm>
            <a:off x="609600" y="836955"/>
            <a:ext cx="8530588" cy="45719"/>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74113979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bg2"/>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384" userDrawn="1">
          <p15:clr>
            <a:srgbClr val="F26B43"/>
          </p15:clr>
        </p15:guide>
        <p15:guide id="4" pos="5376" userDrawn="1">
          <p15:clr>
            <a:srgbClr val="F26B43"/>
          </p15:clr>
        </p15:guide>
        <p15:guide id="5" orient="horz" pos="216" userDrawn="1">
          <p15:clr>
            <a:srgbClr val="F26B43"/>
          </p15:clr>
        </p15:guide>
        <p15:guide id="6" orient="horz" pos="3816" userDrawn="1">
          <p15:clr>
            <a:srgbClr val="F26B43"/>
          </p15:clr>
        </p15:guide>
        <p15:guide id="7" orient="horz" pos="4176" userDrawn="1">
          <p15:clr>
            <a:srgbClr val="F26B43"/>
          </p15:clr>
        </p15:guide>
        <p15:guide id="8" orient="horz" pos="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hyperlink" Target="https://www.washingtonpost.com/food/2023/09/22/david-brooks-newark-airport-meal/"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C02B7-C969-48D9-AB50-73F5BB553E0B}"/>
              </a:ext>
            </a:extLst>
          </p:cNvPr>
          <p:cNvSpPr>
            <a:spLocks noGrp="1"/>
          </p:cNvSpPr>
          <p:nvPr>
            <p:ph type="ctrTitle"/>
          </p:nvPr>
        </p:nvSpPr>
        <p:spPr>
          <a:xfrm>
            <a:off x="5032156" y="1683382"/>
            <a:ext cx="3847523" cy="3128553"/>
          </a:xfrm>
        </p:spPr>
        <p:txBody>
          <a:bodyPr/>
          <a:lstStyle/>
          <a:p>
            <a:r>
              <a:rPr lang="en-US" sz="4800" dirty="0"/>
              <a:t>Place Matters </a:t>
            </a:r>
            <a:br>
              <a:rPr lang="en-US" sz="4800" dirty="0"/>
            </a:br>
            <a:r>
              <a:rPr lang="en-US" sz="4800" dirty="0"/>
              <a:t>Comms Fall 2023 </a:t>
            </a:r>
            <a:br>
              <a:rPr lang="en-US" sz="3600" dirty="0"/>
            </a:br>
            <a:br>
              <a:rPr lang="en-US" sz="3600" dirty="0"/>
            </a:br>
            <a:br>
              <a:rPr lang="en-US" sz="3600" dirty="0"/>
            </a:br>
            <a:r>
              <a:rPr lang="en-US" sz="2800" dirty="0"/>
              <a:t>Media Plan &amp; Key Info</a:t>
            </a:r>
            <a:br>
              <a:rPr lang="en-US" sz="3200" dirty="0"/>
            </a:br>
            <a:r>
              <a:rPr lang="en-US" sz="3200" dirty="0"/>
              <a:t> </a:t>
            </a:r>
            <a:endParaRPr lang="en-US" sz="3600" dirty="0"/>
          </a:p>
        </p:txBody>
      </p:sp>
      <p:sp>
        <p:nvSpPr>
          <p:cNvPr id="3" name="Footer Placeholder 2">
            <a:extLst>
              <a:ext uri="{FF2B5EF4-FFF2-40B4-BE49-F238E27FC236}">
                <a16:creationId xmlns:a16="http://schemas.microsoft.com/office/drawing/2014/main" id="{69959786-3DCE-4C81-95BF-DE99324B341E}"/>
              </a:ext>
            </a:extLst>
          </p:cNvPr>
          <p:cNvSpPr>
            <a:spLocks noGrp="1"/>
          </p:cNvSpPr>
          <p:nvPr>
            <p:ph type="ftr" sz="quarter" idx="11"/>
          </p:nvPr>
        </p:nvSpPr>
        <p:spPr/>
        <p:txBody>
          <a:bodyPr/>
          <a:lstStyle/>
          <a:p>
            <a:pPr>
              <a:spcAft>
                <a:spcPts val="300"/>
              </a:spcAft>
            </a:pPr>
            <a:r>
              <a:rPr lang="en-US"/>
              <a:t>CONFIDENTIAL DO NOT DISTRIBUTE</a:t>
            </a:r>
          </a:p>
        </p:txBody>
      </p:sp>
      <p:sp>
        <p:nvSpPr>
          <p:cNvPr id="4" name="Text Placeholder 3">
            <a:extLst>
              <a:ext uri="{FF2B5EF4-FFF2-40B4-BE49-F238E27FC236}">
                <a16:creationId xmlns:a16="http://schemas.microsoft.com/office/drawing/2014/main" id="{2A073F1A-898D-4811-8BE2-A2C7A5928E02}"/>
              </a:ext>
            </a:extLst>
          </p:cNvPr>
          <p:cNvSpPr>
            <a:spLocks noGrp="1"/>
          </p:cNvSpPr>
          <p:nvPr>
            <p:ph type="body" sz="quarter" idx="16"/>
          </p:nvPr>
        </p:nvSpPr>
        <p:spPr>
          <a:xfrm>
            <a:off x="5101168" y="4834792"/>
            <a:ext cx="3433232" cy="258266"/>
          </a:xfrm>
        </p:spPr>
        <p:txBody>
          <a:bodyPr vert="horz" lIns="91440" tIns="45720" rIns="91440" bIns="45720" rtlCol="0" anchor="t">
            <a:noAutofit/>
          </a:bodyPr>
          <a:lstStyle/>
          <a:p>
            <a:endParaRPr lang="en-US" sz="2000" b="1">
              <a:solidFill>
                <a:schemeClr val="bg1"/>
              </a:solidFill>
            </a:endParaRPr>
          </a:p>
          <a:p>
            <a:endParaRPr lang="en-US" sz="1800">
              <a:solidFill>
                <a:schemeClr val="bg1"/>
              </a:solidFill>
            </a:endParaRPr>
          </a:p>
        </p:txBody>
      </p:sp>
      <p:sp>
        <p:nvSpPr>
          <p:cNvPr id="5" name="TextBox 4">
            <a:extLst>
              <a:ext uri="{FF2B5EF4-FFF2-40B4-BE49-F238E27FC236}">
                <a16:creationId xmlns:a16="http://schemas.microsoft.com/office/drawing/2014/main" id="{83A366EA-D9F3-8728-EA6F-C2F591B0A0AD}"/>
              </a:ext>
            </a:extLst>
          </p:cNvPr>
          <p:cNvSpPr txBox="1"/>
          <p:nvPr/>
        </p:nvSpPr>
        <p:spPr>
          <a:xfrm>
            <a:off x="5068732" y="5174618"/>
            <a:ext cx="2081019" cy="369332"/>
          </a:xfrm>
          <a:prstGeom prst="rect">
            <a:avLst/>
          </a:prstGeom>
          <a:noFill/>
        </p:spPr>
        <p:txBody>
          <a:bodyPr wrap="none" rtlCol="0">
            <a:spAutoFit/>
          </a:bodyPr>
          <a:lstStyle/>
          <a:p>
            <a:r>
              <a:rPr lang="en-US">
                <a:solidFill>
                  <a:schemeClr val="bg1"/>
                </a:solidFill>
              </a:rPr>
              <a:t>November 6, 2023</a:t>
            </a:r>
          </a:p>
        </p:txBody>
      </p:sp>
    </p:spTree>
    <p:extLst>
      <p:ext uri="{BB962C8B-B14F-4D97-AF65-F5344CB8AC3E}">
        <p14:creationId xmlns:p14="http://schemas.microsoft.com/office/powerpoint/2010/main" val="1800370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239A-9C96-3C88-4529-8F57751CE9A2}"/>
              </a:ext>
            </a:extLst>
          </p:cNvPr>
          <p:cNvSpPr>
            <a:spLocks noGrp="1"/>
          </p:cNvSpPr>
          <p:nvPr>
            <p:ph type="title"/>
          </p:nvPr>
        </p:nvSpPr>
        <p:spPr/>
        <p:txBody>
          <a:bodyPr/>
          <a:lstStyle/>
          <a:p>
            <a:r>
              <a:rPr lang="en-US"/>
              <a:t>Contents &amp; Review guidance</a:t>
            </a:r>
          </a:p>
        </p:txBody>
      </p:sp>
      <p:sp>
        <p:nvSpPr>
          <p:cNvPr id="3" name="Content Placeholder 2">
            <a:extLst>
              <a:ext uri="{FF2B5EF4-FFF2-40B4-BE49-F238E27FC236}">
                <a16:creationId xmlns:a16="http://schemas.microsoft.com/office/drawing/2014/main" id="{20399F09-113D-5311-92E4-A63923251378}"/>
              </a:ext>
            </a:extLst>
          </p:cNvPr>
          <p:cNvSpPr>
            <a:spLocks noGrp="1"/>
          </p:cNvSpPr>
          <p:nvPr>
            <p:ph idx="1"/>
          </p:nvPr>
        </p:nvSpPr>
        <p:spPr>
          <a:noFill/>
        </p:spPr>
        <p:txBody>
          <a:bodyPr/>
          <a:lstStyle/>
          <a:p>
            <a:r>
              <a:rPr lang="en-US" sz="1400" b="1"/>
              <a:t>Media Planning</a:t>
            </a:r>
          </a:p>
          <a:p>
            <a:pPr lvl="1"/>
            <a:r>
              <a:rPr lang="en-US" sz="1200"/>
              <a:t>Overall Path</a:t>
            </a:r>
          </a:p>
          <a:p>
            <a:pPr lvl="1"/>
            <a:r>
              <a:rPr lang="en-US" sz="1200"/>
              <a:t>Media Approach</a:t>
            </a:r>
          </a:p>
          <a:p>
            <a:pPr lvl="1"/>
            <a:r>
              <a:rPr lang="en-US" sz="1200"/>
              <a:t>National outreach targets &amp; angle</a:t>
            </a:r>
          </a:p>
          <a:p>
            <a:pPr lvl="1"/>
            <a:r>
              <a:rPr lang="en-US" sz="1200"/>
              <a:t>Spokespeople</a:t>
            </a:r>
          </a:p>
          <a:p>
            <a:pPr lvl="1"/>
            <a:r>
              <a:rPr lang="en-US" sz="1200"/>
              <a:t>Risks</a:t>
            </a:r>
          </a:p>
          <a:p>
            <a:pPr lvl="1"/>
            <a:r>
              <a:rPr lang="en-US" sz="1200"/>
              <a:t>Investments Totals</a:t>
            </a:r>
          </a:p>
          <a:p>
            <a:endParaRPr lang="en-US" sz="1400"/>
          </a:p>
          <a:p>
            <a:r>
              <a:rPr lang="en-US" sz="1400" b="1"/>
              <a:t>Timeline</a:t>
            </a:r>
          </a:p>
          <a:p>
            <a:pPr lvl="1"/>
            <a:r>
              <a:rPr lang="en-US" sz="1200"/>
              <a:t>Launch date rationale</a:t>
            </a:r>
          </a:p>
          <a:p>
            <a:pPr lvl="1"/>
            <a:r>
              <a:rPr lang="en-US" sz="1200"/>
              <a:t>Key Milestones</a:t>
            </a:r>
          </a:p>
          <a:p>
            <a:pPr lvl="1"/>
            <a:r>
              <a:rPr lang="en-US" sz="1200"/>
              <a:t>Activities by Week</a:t>
            </a:r>
          </a:p>
          <a:p>
            <a:endParaRPr lang="en-US" sz="1400"/>
          </a:p>
          <a:p>
            <a:r>
              <a:rPr lang="en-US" sz="1400" b="1"/>
              <a:t>Enabling the Work</a:t>
            </a:r>
          </a:p>
          <a:p>
            <a:pPr lvl="1"/>
            <a:r>
              <a:rPr lang="en-US" sz="1200"/>
              <a:t>RAPID</a:t>
            </a:r>
          </a:p>
          <a:p>
            <a:pPr lvl="1"/>
            <a:r>
              <a:rPr lang="en-US" sz="1200"/>
              <a:t>Notes on working with investees</a:t>
            </a:r>
          </a:p>
        </p:txBody>
      </p:sp>
      <p:sp>
        <p:nvSpPr>
          <p:cNvPr id="4" name="Slide Number Placeholder 3">
            <a:extLst>
              <a:ext uri="{FF2B5EF4-FFF2-40B4-BE49-F238E27FC236}">
                <a16:creationId xmlns:a16="http://schemas.microsoft.com/office/drawing/2014/main" id="{53A2A9A9-37A0-1C62-354B-59239ADC8896}"/>
              </a:ext>
            </a:extLst>
          </p:cNvPr>
          <p:cNvSpPr>
            <a:spLocks noGrp="1"/>
          </p:cNvSpPr>
          <p:nvPr>
            <p:ph type="sldNum" sz="quarter" idx="12"/>
          </p:nvPr>
        </p:nvSpPr>
        <p:spPr/>
        <p:txBody>
          <a:bodyPr/>
          <a:lstStyle/>
          <a:p>
            <a:fld id="{D4F07938-7C1D-46C8-9535-2404A951C984}" type="slidenum">
              <a:rPr lang="en-US" smtClean="0"/>
              <a:t>2</a:t>
            </a:fld>
            <a:endParaRPr lang="en-US"/>
          </a:p>
        </p:txBody>
      </p:sp>
      <p:sp>
        <p:nvSpPr>
          <p:cNvPr id="5" name="Text Placeholder 4">
            <a:extLst>
              <a:ext uri="{FF2B5EF4-FFF2-40B4-BE49-F238E27FC236}">
                <a16:creationId xmlns:a16="http://schemas.microsoft.com/office/drawing/2014/main" id="{E41C68D4-86A2-4093-07DE-6C690F0DB2FA}"/>
              </a:ext>
            </a:extLst>
          </p:cNvPr>
          <p:cNvSpPr>
            <a:spLocks noGrp="1"/>
          </p:cNvSpPr>
          <p:nvPr>
            <p:ph type="body" sz="quarter" idx="13"/>
          </p:nvPr>
        </p:nvSpPr>
        <p:spPr/>
        <p:txBody>
          <a:bodyPr/>
          <a:lstStyle/>
          <a:p>
            <a:endParaRPr lang="en-US"/>
          </a:p>
        </p:txBody>
      </p:sp>
      <p:sp>
        <p:nvSpPr>
          <p:cNvPr id="7" name="Star: 5 Points 6">
            <a:extLst>
              <a:ext uri="{FF2B5EF4-FFF2-40B4-BE49-F238E27FC236}">
                <a16:creationId xmlns:a16="http://schemas.microsoft.com/office/drawing/2014/main" id="{923BB8F8-AF4A-95EC-F035-6BE135CE766E}"/>
              </a:ext>
            </a:extLst>
          </p:cNvPr>
          <p:cNvSpPr/>
          <p:nvPr/>
        </p:nvSpPr>
        <p:spPr>
          <a:xfrm>
            <a:off x="8469307" y="94170"/>
            <a:ext cx="454024" cy="396219"/>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9CA2790-4810-8C67-0B10-E2721732829C}"/>
              </a:ext>
            </a:extLst>
          </p:cNvPr>
          <p:cNvSpPr/>
          <p:nvPr/>
        </p:nvSpPr>
        <p:spPr>
          <a:xfrm>
            <a:off x="3803904" y="1904238"/>
            <a:ext cx="2560320" cy="76809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Note for Reviewers – Please prioritize this section in your review</a:t>
            </a:r>
          </a:p>
        </p:txBody>
      </p:sp>
      <p:sp>
        <p:nvSpPr>
          <p:cNvPr id="9" name="Right Brace 8">
            <a:extLst>
              <a:ext uri="{FF2B5EF4-FFF2-40B4-BE49-F238E27FC236}">
                <a16:creationId xmlns:a16="http://schemas.microsoft.com/office/drawing/2014/main" id="{6B83980A-56DD-CDBA-93A0-B14DD100F2CB}"/>
              </a:ext>
            </a:extLst>
          </p:cNvPr>
          <p:cNvSpPr/>
          <p:nvPr/>
        </p:nvSpPr>
        <p:spPr>
          <a:xfrm>
            <a:off x="3538728" y="1449324"/>
            <a:ext cx="246888" cy="1677924"/>
          </a:xfrm>
          <a:prstGeom prst="rightBrace">
            <a:avLst>
              <a:gd name="adj1" fmla="val 8333"/>
              <a:gd name="adj2" fmla="val 4891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3647F953-4CA8-8F46-B2B4-B885B996FF36}"/>
              </a:ext>
            </a:extLst>
          </p:cNvPr>
          <p:cNvSpPr/>
          <p:nvPr/>
        </p:nvSpPr>
        <p:spPr>
          <a:xfrm>
            <a:off x="6345936" y="82296"/>
            <a:ext cx="2029968" cy="58644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Star means the contents of the page needs approval</a:t>
            </a:r>
          </a:p>
        </p:txBody>
      </p:sp>
    </p:spTree>
    <p:extLst>
      <p:ext uri="{BB962C8B-B14F-4D97-AF65-F5344CB8AC3E}">
        <p14:creationId xmlns:p14="http://schemas.microsoft.com/office/powerpoint/2010/main" val="3453570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968DD8-9F49-1019-5104-31A39691728B}"/>
              </a:ext>
            </a:extLst>
          </p:cNvPr>
          <p:cNvSpPr>
            <a:spLocks noGrp="1"/>
          </p:cNvSpPr>
          <p:nvPr>
            <p:ph type="body" sz="quarter" idx="12"/>
          </p:nvPr>
        </p:nvSpPr>
        <p:spPr/>
        <p:txBody>
          <a:bodyPr/>
          <a:lstStyle/>
          <a:p>
            <a:r>
              <a:rPr lang="en-US"/>
              <a:t>Media Planning</a:t>
            </a:r>
          </a:p>
        </p:txBody>
      </p:sp>
      <p:sp>
        <p:nvSpPr>
          <p:cNvPr id="3" name="Text Placeholder 2">
            <a:extLst>
              <a:ext uri="{FF2B5EF4-FFF2-40B4-BE49-F238E27FC236}">
                <a16:creationId xmlns:a16="http://schemas.microsoft.com/office/drawing/2014/main" id="{1D7DE9DE-9FC2-7DC1-05F1-8F89844C6979}"/>
              </a:ext>
            </a:extLst>
          </p:cNvPr>
          <p:cNvSpPr>
            <a:spLocks noGrp="1"/>
          </p:cNvSpPr>
          <p:nvPr>
            <p:ph type="body" sz="quarter" idx="13"/>
          </p:nvPr>
        </p:nvSpPr>
        <p:spPr/>
        <p:txBody>
          <a:bodyPr/>
          <a:lstStyle/>
          <a:p>
            <a:r>
              <a:rPr lang="en-US" dirty="0"/>
              <a:t>Approach, </a:t>
            </a:r>
            <a:r>
              <a:rPr lang="en-US"/>
              <a:t>Target Outlets, </a:t>
            </a:r>
            <a:r>
              <a:rPr lang="en-US" dirty="0"/>
              <a:t>Spokespeople, Risks and </a:t>
            </a:r>
            <a:r>
              <a:rPr lang="en-US"/>
              <a:t>$</a:t>
            </a:r>
            <a:endParaRPr lang="en-US" dirty="0"/>
          </a:p>
        </p:txBody>
      </p:sp>
    </p:spTree>
    <p:extLst>
      <p:ext uri="{BB962C8B-B14F-4D97-AF65-F5344CB8AC3E}">
        <p14:creationId xmlns:p14="http://schemas.microsoft.com/office/powerpoint/2010/main" val="413494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3CA2A-7AFA-018A-23D8-0EA0ADBB2B3B}"/>
              </a:ext>
            </a:extLst>
          </p:cNvPr>
          <p:cNvSpPr>
            <a:spLocks noGrp="1"/>
          </p:cNvSpPr>
          <p:nvPr>
            <p:ph type="title"/>
          </p:nvPr>
        </p:nvSpPr>
        <p:spPr>
          <a:xfrm>
            <a:off x="521953" y="349430"/>
            <a:ext cx="8484887" cy="396219"/>
          </a:xfrm>
        </p:spPr>
        <p:txBody>
          <a:bodyPr/>
          <a:lstStyle/>
          <a:p>
            <a:r>
              <a:rPr lang="en-US"/>
              <a:t>Overall Path from BMP leadership (reminder)</a:t>
            </a:r>
          </a:p>
        </p:txBody>
      </p:sp>
      <p:sp>
        <p:nvSpPr>
          <p:cNvPr id="4" name="Slide Number Placeholder 3">
            <a:extLst>
              <a:ext uri="{FF2B5EF4-FFF2-40B4-BE49-F238E27FC236}">
                <a16:creationId xmlns:a16="http://schemas.microsoft.com/office/drawing/2014/main" id="{166DAAC5-A2B7-7391-F8E3-F5EDFD7FC5DB}"/>
              </a:ext>
            </a:extLst>
          </p:cNvPr>
          <p:cNvSpPr>
            <a:spLocks noGrp="1"/>
          </p:cNvSpPr>
          <p:nvPr>
            <p:ph type="sldNum" sz="quarter" idx="12"/>
          </p:nvPr>
        </p:nvSpPr>
        <p:spPr/>
        <p:txBody>
          <a:bodyPr/>
          <a:lstStyle/>
          <a:p>
            <a:fld id="{D4F07938-7C1D-46C8-9535-2404A951C984}" type="slidenum">
              <a:rPr lang="en-US" smtClean="0"/>
              <a:t>4</a:t>
            </a:fld>
            <a:endParaRPr lang="en-US"/>
          </a:p>
        </p:txBody>
      </p:sp>
      <p:sp>
        <p:nvSpPr>
          <p:cNvPr id="7" name="Rectangle 6">
            <a:extLst>
              <a:ext uri="{FF2B5EF4-FFF2-40B4-BE49-F238E27FC236}">
                <a16:creationId xmlns:a16="http://schemas.microsoft.com/office/drawing/2014/main" id="{30134960-C2CD-CB54-8F17-B652410D83AD}"/>
              </a:ext>
            </a:extLst>
          </p:cNvPr>
          <p:cNvSpPr/>
          <p:nvPr/>
        </p:nvSpPr>
        <p:spPr>
          <a:xfrm>
            <a:off x="805416" y="1383847"/>
            <a:ext cx="1544592" cy="4391456"/>
          </a:xfrm>
          <a:prstGeom prst="rect">
            <a:avLst/>
          </a:prstGeom>
          <a:gradFill>
            <a:gsLst>
              <a:gs pos="0">
                <a:schemeClr val="tx2"/>
              </a:gs>
              <a:gs pos="50000">
                <a:schemeClr val="accent1"/>
              </a:gs>
              <a:gs pos="80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0C3D91E-6EA2-4155-4850-49571BEE9A0E}"/>
              </a:ext>
            </a:extLst>
          </p:cNvPr>
          <p:cNvSpPr txBox="1"/>
          <p:nvPr/>
        </p:nvSpPr>
        <p:spPr>
          <a:xfrm>
            <a:off x="805415" y="1454377"/>
            <a:ext cx="1544593" cy="415498"/>
          </a:xfrm>
          <a:prstGeom prst="rect">
            <a:avLst/>
          </a:prstGeom>
          <a:noFill/>
        </p:spPr>
        <p:txBody>
          <a:bodyPr wrap="square" rtlCol="0">
            <a:spAutoFit/>
          </a:bodyPr>
          <a:lstStyle/>
          <a:p>
            <a:pPr algn="ctr"/>
            <a:r>
              <a:rPr lang="en-US" sz="1050" b="1">
                <a:solidFill>
                  <a:schemeClr val="bg1"/>
                </a:solidFill>
              </a:rPr>
              <a:t>In Foreground </a:t>
            </a:r>
          </a:p>
          <a:p>
            <a:pPr algn="ctr"/>
            <a:r>
              <a:rPr lang="en-US" sz="1050">
                <a:solidFill>
                  <a:schemeClr val="bg1"/>
                </a:solidFill>
              </a:rPr>
              <a:t>(Key to Drive, Focal)</a:t>
            </a:r>
          </a:p>
        </p:txBody>
      </p:sp>
      <p:sp>
        <p:nvSpPr>
          <p:cNvPr id="9" name="TextBox 8">
            <a:extLst>
              <a:ext uri="{FF2B5EF4-FFF2-40B4-BE49-F238E27FC236}">
                <a16:creationId xmlns:a16="http://schemas.microsoft.com/office/drawing/2014/main" id="{81B00B9C-2214-B3F4-2B7B-AF56CF1A5189}"/>
              </a:ext>
            </a:extLst>
          </p:cNvPr>
          <p:cNvSpPr txBox="1"/>
          <p:nvPr/>
        </p:nvSpPr>
        <p:spPr>
          <a:xfrm>
            <a:off x="805414" y="5165820"/>
            <a:ext cx="1544593" cy="577081"/>
          </a:xfrm>
          <a:prstGeom prst="rect">
            <a:avLst/>
          </a:prstGeom>
          <a:noFill/>
        </p:spPr>
        <p:txBody>
          <a:bodyPr wrap="square" rtlCol="0">
            <a:spAutoFit/>
          </a:bodyPr>
          <a:lstStyle/>
          <a:p>
            <a:pPr algn="ctr"/>
            <a:r>
              <a:rPr lang="en-US" sz="1050" b="1"/>
              <a:t>In Background </a:t>
            </a:r>
          </a:p>
          <a:p>
            <a:pPr algn="ctr"/>
            <a:r>
              <a:rPr lang="en-US" sz="1050"/>
              <a:t>(Can include/mention not critical)</a:t>
            </a:r>
          </a:p>
        </p:txBody>
      </p:sp>
      <p:cxnSp>
        <p:nvCxnSpPr>
          <p:cNvPr id="11" name="Straight Arrow Connector 10">
            <a:extLst>
              <a:ext uri="{FF2B5EF4-FFF2-40B4-BE49-F238E27FC236}">
                <a16:creationId xmlns:a16="http://schemas.microsoft.com/office/drawing/2014/main" id="{D533D814-77CD-B77A-02C7-AAB91D33046A}"/>
              </a:ext>
            </a:extLst>
          </p:cNvPr>
          <p:cNvCxnSpPr/>
          <p:nvPr/>
        </p:nvCxnSpPr>
        <p:spPr>
          <a:xfrm flipV="1">
            <a:off x="548640" y="1383847"/>
            <a:ext cx="0" cy="431286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5D4DDCB-7A49-E47F-2183-B9FCC73FA635}"/>
              </a:ext>
            </a:extLst>
          </p:cNvPr>
          <p:cNvSpPr txBox="1"/>
          <p:nvPr/>
        </p:nvSpPr>
        <p:spPr>
          <a:xfrm rot="16200000">
            <a:off x="-1199293" y="3320832"/>
            <a:ext cx="3020379" cy="307777"/>
          </a:xfrm>
          <a:prstGeom prst="rect">
            <a:avLst/>
          </a:prstGeom>
          <a:noFill/>
        </p:spPr>
        <p:txBody>
          <a:bodyPr wrap="none" rtlCol="0">
            <a:spAutoFit/>
          </a:bodyPr>
          <a:lstStyle/>
          <a:p>
            <a:r>
              <a:rPr lang="en-US" sz="1400"/>
              <a:t>Likelihood of being covered/echoed</a:t>
            </a:r>
          </a:p>
        </p:txBody>
      </p:sp>
      <p:sp>
        <p:nvSpPr>
          <p:cNvPr id="13" name="TextBox 12">
            <a:extLst>
              <a:ext uri="{FF2B5EF4-FFF2-40B4-BE49-F238E27FC236}">
                <a16:creationId xmlns:a16="http://schemas.microsoft.com/office/drawing/2014/main" id="{5E07CF36-917D-04B5-9C52-89E5A2185A8D}"/>
              </a:ext>
            </a:extLst>
          </p:cNvPr>
          <p:cNvSpPr txBox="1"/>
          <p:nvPr/>
        </p:nvSpPr>
        <p:spPr>
          <a:xfrm>
            <a:off x="42988" y="1409548"/>
            <a:ext cx="437940" cy="230832"/>
          </a:xfrm>
          <a:prstGeom prst="rect">
            <a:avLst/>
          </a:prstGeom>
          <a:noFill/>
        </p:spPr>
        <p:txBody>
          <a:bodyPr wrap="none" rtlCol="0">
            <a:spAutoFit/>
          </a:bodyPr>
          <a:lstStyle/>
          <a:p>
            <a:r>
              <a:rPr lang="en-US" sz="900" b="1">
                <a:solidFill>
                  <a:schemeClr val="tx2"/>
                </a:solidFill>
              </a:rPr>
              <a:t>High</a:t>
            </a:r>
          </a:p>
        </p:txBody>
      </p:sp>
      <p:sp>
        <p:nvSpPr>
          <p:cNvPr id="14" name="TextBox 13">
            <a:extLst>
              <a:ext uri="{FF2B5EF4-FFF2-40B4-BE49-F238E27FC236}">
                <a16:creationId xmlns:a16="http://schemas.microsoft.com/office/drawing/2014/main" id="{6DE1F42D-4EBF-8CDD-50BC-659E003A830F}"/>
              </a:ext>
            </a:extLst>
          </p:cNvPr>
          <p:cNvSpPr txBox="1"/>
          <p:nvPr/>
        </p:nvSpPr>
        <p:spPr>
          <a:xfrm>
            <a:off x="42988" y="5522015"/>
            <a:ext cx="402674" cy="230832"/>
          </a:xfrm>
          <a:prstGeom prst="rect">
            <a:avLst/>
          </a:prstGeom>
          <a:noFill/>
        </p:spPr>
        <p:txBody>
          <a:bodyPr wrap="none" rtlCol="0">
            <a:spAutoFit/>
          </a:bodyPr>
          <a:lstStyle/>
          <a:p>
            <a:r>
              <a:rPr lang="en-US" sz="900" b="1">
                <a:solidFill>
                  <a:schemeClr val="bg2"/>
                </a:solidFill>
              </a:rPr>
              <a:t>Low</a:t>
            </a:r>
          </a:p>
        </p:txBody>
      </p:sp>
      <p:graphicFrame>
        <p:nvGraphicFramePr>
          <p:cNvPr id="15" name="Table 15">
            <a:extLst>
              <a:ext uri="{FF2B5EF4-FFF2-40B4-BE49-F238E27FC236}">
                <a16:creationId xmlns:a16="http://schemas.microsoft.com/office/drawing/2014/main" id="{72278A09-8E8A-C0E1-0FE2-6DD2706FCD93}"/>
              </a:ext>
            </a:extLst>
          </p:cNvPr>
          <p:cNvGraphicFramePr>
            <a:graphicFrameLocks noGrp="1"/>
          </p:cNvGraphicFramePr>
          <p:nvPr>
            <p:extLst>
              <p:ext uri="{D42A27DB-BD31-4B8C-83A1-F6EECF244321}">
                <p14:modId xmlns:p14="http://schemas.microsoft.com/office/powerpoint/2010/main" val="24197876"/>
              </p:ext>
            </p:extLst>
          </p:nvPr>
        </p:nvGraphicFramePr>
        <p:xfrm>
          <a:off x="2505456" y="986949"/>
          <a:ext cx="2034825" cy="4828635"/>
        </p:xfrm>
        <a:graphic>
          <a:graphicData uri="http://schemas.openxmlformats.org/drawingml/2006/table">
            <a:tbl>
              <a:tblPr firstRow="1" bandRow="1">
                <a:tableStyleId>{93296810-A885-4BE3-A3E7-6D5BEEA58F35}</a:tableStyleId>
              </a:tblPr>
              <a:tblGrid>
                <a:gridCol w="2034825">
                  <a:extLst>
                    <a:ext uri="{9D8B030D-6E8A-4147-A177-3AD203B41FA5}">
                      <a16:colId xmlns:a16="http://schemas.microsoft.com/office/drawing/2014/main" val="2356173488"/>
                    </a:ext>
                  </a:extLst>
                </a:gridCol>
              </a:tblGrid>
              <a:tr h="370840">
                <a:tc>
                  <a:txBody>
                    <a:bodyPr/>
                    <a:lstStyle/>
                    <a:p>
                      <a:r>
                        <a:rPr lang="en-US" sz="1600"/>
                        <a:t>Chosen Path</a:t>
                      </a:r>
                    </a:p>
                  </a:txBody>
                  <a:tcPr/>
                </a:tc>
                <a:extLst>
                  <a:ext uri="{0D108BD9-81ED-4DB2-BD59-A6C34878D82A}">
                    <a16:rowId xmlns:a16="http://schemas.microsoft.com/office/drawing/2014/main" val="1285027"/>
                  </a:ext>
                </a:extLst>
              </a:tr>
              <a:tr h="1440275">
                <a:tc>
                  <a:txBody>
                    <a:bodyPr/>
                    <a:lstStyle/>
                    <a:p>
                      <a:pPr marL="182880" indent="-182880">
                        <a:buFont typeface="Arial" panose="020B0604020202020204" pitchFamily="34" charset="0"/>
                        <a:buChar char="•"/>
                      </a:pPr>
                      <a:r>
                        <a:rPr lang="en-US" sz="1100" dirty="0"/>
                        <a:t>$335M aggregated for 3 places </a:t>
                      </a:r>
                    </a:p>
                    <a:p>
                      <a:pPr marL="182880" indent="-182880">
                        <a:buFont typeface="Arial" panose="020B0604020202020204" pitchFamily="34" charset="0"/>
                        <a:buChar char="•"/>
                      </a:pPr>
                      <a:r>
                        <a:rPr lang="en-US" sz="1100" dirty="0"/>
                        <a:t>Power of place-based partnership and resulting excitement/commitment around them </a:t>
                      </a:r>
                    </a:p>
                  </a:txBody>
                  <a:tcPr/>
                </a:tc>
                <a:extLst>
                  <a:ext uri="{0D108BD9-81ED-4DB2-BD59-A6C34878D82A}">
                    <a16:rowId xmlns:a16="http://schemas.microsoft.com/office/drawing/2014/main" val="3783638245"/>
                  </a:ext>
                </a:extLst>
              </a:tr>
              <a:tr h="1581912">
                <a:tc>
                  <a:txBody>
                    <a:bodyPr/>
                    <a:lstStyle/>
                    <a:p>
                      <a:pPr marL="182880" indent="-182880">
                        <a:buFont typeface="Arial" panose="020B0604020202020204" pitchFamily="34" charset="0"/>
                        <a:buChar char="•"/>
                      </a:pPr>
                      <a:r>
                        <a:rPr lang="en-US" sz="1100" dirty="0"/>
                        <a:t>Breakdown by community - $120/ $114/$100 #</a:t>
                      </a:r>
                    </a:p>
                    <a:p>
                      <a:pPr marL="182880" indent="-182880">
                        <a:buFont typeface="Arial" panose="020B0604020202020204" pitchFamily="34" charset="0"/>
                        <a:buChar char="•"/>
                      </a:pPr>
                      <a:r>
                        <a:rPr lang="en-US" sz="1100" dirty="0"/>
                        <a:t>BMP as catalyst</a:t>
                      </a:r>
                    </a:p>
                  </a:txBody>
                  <a:tcPr/>
                </a:tc>
                <a:extLst>
                  <a:ext uri="{0D108BD9-81ED-4DB2-BD59-A6C34878D82A}">
                    <a16:rowId xmlns:a16="http://schemas.microsoft.com/office/drawing/2014/main" val="3167409836"/>
                  </a:ext>
                </a:extLst>
              </a:tr>
              <a:tr h="1435608">
                <a:tc>
                  <a:txBody>
                    <a:bodyPr/>
                    <a:lstStyle/>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Breakdown by role - $150 Place Matters / $185 catalyzed </a:t>
                      </a:r>
                    </a:p>
                    <a:p>
                      <a:pPr marL="182880" indent="-182880">
                        <a:buFont typeface="Arial" panose="020B0604020202020204" pitchFamily="34" charset="0"/>
                        <a:buChar char="•"/>
                      </a:pPr>
                      <a:r>
                        <a:rPr lang="en-US" sz="1100" dirty="0"/>
                        <a:t>PM overall strategy</a:t>
                      </a:r>
                    </a:p>
                    <a:p>
                      <a:pPr marL="182880" indent="-182880">
                        <a:buFont typeface="Arial" panose="020B0604020202020204" pitchFamily="34" charset="0"/>
                        <a:buChar char="•"/>
                      </a:pPr>
                      <a:r>
                        <a:rPr lang="en-US" sz="1100" dirty="0"/>
                        <a:t>Catalytic Supports</a:t>
                      </a:r>
                    </a:p>
                  </a:txBody>
                  <a:tcPr/>
                </a:tc>
                <a:extLst>
                  <a:ext uri="{0D108BD9-81ED-4DB2-BD59-A6C34878D82A}">
                    <a16:rowId xmlns:a16="http://schemas.microsoft.com/office/drawing/2014/main" val="3018493480"/>
                  </a:ext>
                </a:extLst>
              </a:tr>
            </a:tbl>
          </a:graphicData>
        </a:graphic>
      </p:graphicFrame>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0" name="Ink 9">
                <a:extLst>
                  <a:ext uri="{FF2B5EF4-FFF2-40B4-BE49-F238E27FC236}">
                    <a16:creationId xmlns:a16="http://schemas.microsoft.com/office/drawing/2014/main" id="{0CC35562-87EC-D60B-402C-C5E341E1BF9B}"/>
                  </a:ext>
                </a:extLst>
              </p14:cNvPr>
              <p14:cNvContentPartPr/>
              <p14:nvPr/>
            </p14:nvContentPartPr>
            <p14:xfrm>
              <a:off x="7377875" y="2061600"/>
              <a:ext cx="360" cy="360"/>
            </p14:xfrm>
          </p:contentPart>
        </mc:Choice>
        <mc:Fallback xmlns="">
          <p:pic>
            <p:nvPicPr>
              <p:cNvPr id="10" name="Ink 9">
                <a:extLst>
                  <a:ext uri="{FF2B5EF4-FFF2-40B4-BE49-F238E27FC236}">
                    <a16:creationId xmlns:a16="http://schemas.microsoft.com/office/drawing/2014/main" id="{0CC35562-87EC-D60B-402C-C5E341E1BF9B}"/>
                  </a:ext>
                </a:extLst>
              </p:cNvPr>
              <p:cNvPicPr/>
              <p:nvPr/>
            </p:nvPicPr>
            <p:blipFill>
              <a:blip r:embed="rId3"/>
              <a:stretch>
                <a:fillRect/>
              </a:stretch>
            </p:blipFill>
            <p:spPr>
              <a:xfrm>
                <a:off x="7368875" y="2007600"/>
                <a:ext cx="18000" cy="108000"/>
              </a:xfrm>
              <a:prstGeom prst="rect">
                <a:avLst/>
              </a:prstGeom>
            </p:spPr>
          </p:pic>
        </mc:Fallback>
      </mc:AlternateContent>
    </p:spTree>
    <p:extLst>
      <p:ext uri="{BB962C8B-B14F-4D97-AF65-F5344CB8AC3E}">
        <p14:creationId xmlns:p14="http://schemas.microsoft.com/office/powerpoint/2010/main" val="3139731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A67C8-C12F-9A87-8F7D-C957B508BAA1}"/>
              </a:ext>
            </a:extLst>
          </p:cNvPr>
          <p:cNvSpPr>
            <a:spLocks noGrp="1"/>
          </p:cNvSpPr>
          <p:nvPr>
            <p:ph type="title"/>
          </p:nvPr>
        </p:nvSpPr>
        <p:spPr>
          <a:xfrm>
            <a:off x="521953" y="349430"/>
            <a:ext cx="8219711" cy="396219"/>
          </a:xfrm>
        </p:spPr>
        <p:txBody>
          <a:bodyPr/>
          <a:lstStyle/>
          <a:p>
            <a:r>
              <a:rPr lang="en-US"/>
              <a:t>Top-Tier National – Target Outlets/Reporters</a:t>
            </a:r>
          </a:p>
        </p:txBody>
      </p:sp>
      <p:sp>
        <p:nvSpPr>
          <p:cNvPr id="3" name="Content Placeholder 2">
            <a:extLst>
              <a:ext uri="{FF2B5EF4-FFF2-40B4-BE49-F238E27FC236}">
                <a16:creationId xmlns:a16="http://schemas.microsoft.com/office/drawing/2014/main" id="{F23456BA-4BE6-514D-7261-2F96D26D5AA4}"/>
              </a:ext>
            </a:extLst>
          </p:cNvPr>
          <p:cNvSpPr>
            <a:spLocks noGrp="1"/>
          </p:cNvSpPr>
          <p:nvPr>
            <p:ph idx="1"/>
          </p:nvPr>
        </p:nvSpPr>
        <p:spPr>
          <a:xfrm>
            <a:off x="521953" y="1575871"/>
            <a:ext cx="8094997" cy="4391456"/>
          </a:xfrm>
        </p:spPr>
        <p:txBody>
          <a:bodyPr vert="horz" lIns="91440" tIns="45720" rIns="91440" bIns="45720" rtlCol="0" anchor="t">
            <a:noAutofit/>
          </a:bodyPr>
          <a:lstStyle/>
          <a:p>
            <a:pPr marL="0" indent="0">
              <a:buNone/>
            </a:pPr>
            <a:r>
              <a:rPr lang="en-US" sz="1800">
                <a:solidFill>
                  <a:srgbClr val="0091C8"/>
                </a:solidFill>
                <a:ea typeface="+mn-lt"/>
                <a:cs typeface="+mn-lt"/>
              </a:rPr>
              <a:t>#1: </a:t>
            </a:r>
            <a:r>
              <a:rPr lang="en-US" sz="1800" b="1">
                <a:solidFill>
                  <a:srgbClr val="0091C8"/>
                </a:solidFill>
                <a:ea typeface="+mn-lt"/>
                <a:cs typeface="+mn-lt"/>
              </a:rPr>
              <a:t>Talmon Joseph Smith, </a:t>
            </a:r>
            <a:r>
              <a:rPr lang="en-US" sz="1800" b="1" i="1">
                <a:solidFill>
                  <a:srgbClr val="0091C8"/>
                </a:solidFill>
                <a:ea typeface="+mn-lt"/>
                <a:cs typeface="+mn-lt"/>
              </a:rPr>
              <a:t>The New York Times       </a:t>
            </a:r>
            <a:endParaRPr lang="en-US" sz="1800" b="1" i="1"/>
          </a:p>
          <a:p>
            <a:r>
              <a:rPr lang="en-US" sz="1200">
                <a:ea typeface="+mn-lt"/>
                <a:cs typeface="+mn-lt"/>
              </a:rPr>
              <a:t>Talmon is an economics reporter for the Times who has covered the business of philanthropy and nonprofits. Offering an exclusive to Talmon offers the benefits of highlighting the figures behind the announcement, as well as new place-based approach to philanthropy. </a:t>
            </a:r>
            <a:endParaRPr lang="en-US" sz="1800"/>
          </a:p>
          <a:p>
            <a:pPr marL="0" indent="0">
              <a:buNone/>
            </a:pPr>
            <a:endParaRPr lang="en-US" sz="1800">
              <a:solidFill>
                <a:srgbClr val="0091C8"/>
              </a:solidFill>
              <a:ea typeface="+mn-lt"/>
              <a:cs typeface="+mn-lt"/>
            </a:endParaRPr>
          </a:p>
          <a:p>
            <a:pPr marL="0" indent="0">
              <a:buNone/>
            </a:pPr>
            <a:r>
              <a:rPr lang="en-US" sz="1800">
                <a:solidFill>
                  <a:srgbClr val="0091C8"/>
                </a:solidFill>
                <a:ea typeface="+mn-lt"/>
                <a:cs typeface="+mn-lt"/>
              </a:rPr>
              <a:t>#2: </a:t>
            </a:r>
            <a:r>
              <a:rPr lang="en-US" sz="1800" b="1">
                <a:solidFill>
                  <a:srgbClr val="0091C8"/>
                </a:solidFill>
                <a:ea typeface="+mn-lt"/>
                <a:cs typeface="+mn-lt"/>
              </a:rPr>
              <a:t>Glenn Gamboa, </a:t>
            </a:r>
            <a:r>
              <a:rPr lang="en-US" sz="1800" b="1" i="1">
                <a:solidFill>
                  <a:srgbClr val="0091C8"/>
                </a:solidFill>
                <a:ea typeface="+mn-lt"/>
                <a:cs typeface="+mn-lt"/>
              </a:rPr>
              <a:t>Associated Press </a:t>
            </a:r>
            <a:endParaRPr lang="en-US" sz="1800" b="1" i="1"/>
          </a:p>
          <a:p>
            <a:r>
              <a:rPr lang="en-US" sz="1200">
                <a:ea typeface="+mn-lt"/>
                <a:cs typeface="+mn-lt"/>
              </a:rPr>
              <a:t>With a national reach and frequent coverage of the nation's leading philanthropists and causes, offering an exclusive to Glenn would be a straight-forward endeavor that can drive both regional and national coverage.</a:t>
            </a:r>
          </a:p>
          <a:p>
            <a:pPr marL="0" indent="0">
              <a:buNone/>
            </a:pPr>
            <a:r>
              <a:rPr lang="en-US" sz="1200">
                <a:ea typeface="+mn-lt"/>
                <a:cs typeface="+mn-lt"/>
              </a:rPr>
              <a:t>(+Bonus that he already interviewed Jim in 2021 and has some context on Place Matters)</a:t>
            </a:r>
          </a:p>
          <a:p>
            <a:pPr marL="0" indent="0">
              <a:buNone/>
            </a:pPr>
            <a:endParaRPr lang="en-US" sz="1800">
              <a:solidFill>
                <a:srgbClr val="0091C8"/>
              </a:solidFill>
              <a:ea typeface="+mn-lt"/>
              <a:cs typeface="+mn-lt"/>
            </a:endParaRPr>
          </a:p>
          <a:p>
            <a:pPr marL="0" indent="0">
              <a:buNone/>
            </a:pPr>
            <a:r>
              <a:rPr lang="en-US" sz="1800">
                <a:solidFill>
                  <a:srgbClr val="0091C8"/>
                </a:solidFill>
                <a:ea typeface="+mn-lt"/>
                <a:cs typeface="+mn-lt"/>
              </a:rPr>
              <a:t>#3: </a:t>
            </a:r>
            <a:r>
              <a:rPr lang="en-US" sz="1800" b="1">
                <a:solidFill>
                  <a:srgbClr val="0091C8"/>
                </a:solidFill>
                <a:ea typeface="+mn-lt"/>
                <a:cs typeface="+mn-lt"/>
              </a:rPr>
              <a:t>Amanda Gordon, </a:t>
            </a:r>
            <a:r>
              <a:rPr lang="en-US" sz="1800" b="1" i="1">
                <a:solidFill>
                  <a:srgbClr val="0091C8"/>
                </a:solidFill>
                <a:ea typeface="+mn-lt"/>
                <a:cs typeface="+mn-lt"/>
              </a:rPr>
              <a:t>Bloomberg News </a:t>
            </a:r>
            <a:endParaRPr lang="en-US" sz="1800" b="1" i="1"/>
          </a:p>
          <a:p>
            <a:r>
              <a:rPr lang="en-US" sz="1200">
                <a:ea typeface="+mn-lt"/>
                <a:cs typeface="+mn-lt"/>
              </a:rPr>
              <a:t>As a leading reporter covering the Wealth and Philanthropy beat at Bloomberg, Amanda frequently covers donors who are driving social impact around the country and their vision for the future of philanthropy. </a:t>
            </a:r>
            <a:endParaRPr lang="en-US" sz="1200"/>
          </a:p>
          <a:p>
            <a:endParaRPr lang="en-US" sz="1800"/>
          </a:p>
        </p:txBody>
      </p:sp>
      <p:sp>
        <p:nvSpPr>
          <p:cNvPr id="4" name="Slide Number Placeholder 3">
            <a:extLst>
              <a:ext uri="{FF2B5EF4-FFF2-40B4-BE49-F238E27FC236}">
                <a16:creationId xmlns:a16="http://schemas.microsoft.com/office/drawing/2014/main" id="{D44C42F8-DFBB-36E0-C7C5-4F1301C9D25F}"/>
              </a:ext>
            </a:extLst>
          </p:cNvPr>
          <p:cNvSpPr>
            <a:spLocks noGrp="1"/>
          </p:cNvSpPr>
          <p:nvPr>
            <p:ph type="sldNum" sz="quarter" idx="12"/>
          </p:nvPr>
        </p:nvSpPr>
        <p:spPr/>
        <p:txBody>
          <a:bodyPr/>
          <a:lstStyle/>
          <a:p>
            <a:fld id="{D4F07938-7C1D-46C8-9535-2404A951C984}" type="slidenum">
              <a:rPr lang="en-US" smtClean="0"/>
              <a:t>5</a:t>
            </a:fld>
            <a:endParaRPr lang="en-US"/>
          </a:p>
        </p:txBody>
      </p:sp>
      <p:sp>
        <p:nvSpPr>
          <p:cNvPr id="7" name="Text Placeholder 6">
            <a:extLst>
              <a:ext uri="{FF2B5EF4-FFF2-40B4-BE49-F238E27FC236}">
                <a16:creationId xmlns:a16="http://schemas.microsoft.com/office/drawing/2014/main" id="{C9A103A7-E9B8-FA4F-F2EA-998C054E079D}"/>
              </a:ext>
            </a:extLst>
          </p:cNvPr>
          <p:cNvSpPr>
            <a:spLocks noGrp="1"/>
          </p:cNvSpPr>
          <p:nvPr>
            <p:ph type="body" sz="quarter" idx="13"/>
          </p:nvPr>
        </p:nvSpPr>
        <p:spPr/>
        <p:txBody>
          <a:bodyPr vert="horz" lIns="91440" tIns="45720" rIns="91440" bIns="45720" rtlCol="0" anchor="t">
            <a:noAutofit/>
          </a:bodyPr>
          <a:lstStyle/>
          <a:p>
            <a:r>
              <a:rPr lang="en-US" dirty="0"/>
              <a:t>Recommended reporters &amp; outlets </a:t>
            </a:r>
          </a:p>
        </p:txBody>
      </p:sp>
      <p:sp>
        <p:nvSpPr>
          <p:cNvPr id="6" name="Star: 5 Points 5">
            <a:extLst>
              <a:ext uri="{FF2B5EF4-FFF2-40B4-BE49-F238E27FC236}">
                <a16:creationId xmlns:a16="http://schemas.microsoft.com/office/drawing/2014/main" id="{15FB1962-F4E3-1386-44D3-98CB93AF47C4}"/>
              </a:ext>
            </a:extLst>
          </p:cNvPr>
          <p:cNvSpPr/>
          <p:nvPr/>
        </p:nvSpPr>
        <p:spPr>
          <a:xfrm>
            <a:off x="8625968" y="35518"/>
            <a:ext cx="454024" cy="396219"/>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6985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Google Shape;585;p17">
            <a:extLst>
              <a:ext uri="{FF2B5EF4-FFF2-40B4-BE49-F238E27FC236}">
                <a16:creationId xmlns:a16="http://schemas.microsoft.com/office/drawing/2014/main" id="{582B4DE6-E351-EA0B-E7E5-78BC41DF82FB}"/>
              </a:ext>
            </a:extLst>
          </p:cNvPr>
          <p:cNvSpPr/>
          <p:nvPr/>
        </p:nvSpPr>
        <p:spPr>
          <a:xfrm>
            <a:off x="3454687" y="2088280"/>
            <a:ext cx="2519735" cy="2691105"/>
          </a:xfrm>
          <a:prstGeom prst="rect">
            <a:avLst/>
          </a:prstGeom>
          <a:solidFill>
            <a:schemeClr val="bg2">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1" i="0" u="none" strike="noStrike" cap="none">
              <a:solidFill>
                <a:srgbClr val="000000"/>
              </a:solidFill>
              <a:latin typeface="Arial"/>
              <a:ea typeface="Arial"/>
              <a:cs typeface="Arial"/>
              <a:sym typeface="Arial"/>
            </a:endParaRPr>
          </a:p>
        </p:txBody>
      </p:sp>
      <p:sp>
        <p:nvSpPr>
          <p:cNvPr id="2" name="Title 1">
            <a:extLst>
              <a:ext uri="{FF2B5EF4-FFF2-40B4-BE49-F238E27FC236}">
                <a16:creationId xmlns:a16="http://schemas.microsoft.com/office/drawing/2014/main" id="{2B76BB8B-91DE-A737-775A-CEC7D644CAE7}"/>
              </a:ext>
            </a:extLst>
          </p:cNvPr>
          <p:cNvSpPr>
            <a:spLocks noGrp="1"/>
          </p:cNvSpPr>
          <p:nvPr>
            <p:ph type="title"/>
          </p:nvPr>
        </p:nvSpPr>
        <p:spPr/>
        <p:txBody>
          <a:bodyPr/>
          <a:lstStyle/>
          <a:p>
            <a:r>
              <a:rPr lang="en-US"/>
              <a:t>Media Approach</a:t>
            </a:r>
          </a:p>
        </p:txBody>
      </p:sp>
      <p:sp>
        <p:nvSpPr>
          <p:cNvPr id="4" name="Slide Number Placeholder 3">
            <a:extLst>
              <a:ext uri="{FF2B5EF4-FFF2-40B4-BE49-F238E27FC236}">
                <a16:creationId xmlns:a16="http://schemas.microsoft.com/office/drawing/2014/main" id="{758FDA9E-24B4-8F4B-24A4-999B16503354}"/>
              </a:ext>
            </a:extLst>
          </p:cNvPr>
          <p:cNvSpPr>
            <a:spLocks noGrp="1"/>
          </p:cNvSpPr>
          <p:nvPr>
            <p:ph type="sldNum" sz="quarter" idx="12"/>
          </p:nvPr>
        </p:nvSpPr>
        <p:spPr/>
        <p:txBody>
          <a:bodyPr/>
          <a:lstStyle/>
          <a:p>
            <a:fld id="{D4F07938-7C1D-46C8-9535-2404A951C984}" type="slidenum">
              <a:rPr lang="en-US" smtClean="0"/>
              <a:t>6</a:t>
            </a:fld>
            <a:endParaRPr lang="en-US"/>
          </a:p>
        </p:txBody>
      </p:sp>
      <p:sp>
        <p:nvSpPr>
          <p:cNvPr id="5" name="Google Shape;588;p17">
            <a:extLst>
              <a:ext uri="{FF2B5EF4-FFF2-40B4-BE49-F238E27FC236}">
                <a16:creationId xmlns:a16="http://schemas.microsoft.com/office/drawing/2014/main" id="{83496F44-767E-2445-C052-2B38F12E3291}"/>
              </a:ext>
            </a:extLst>
          </p:cNvPr>
          <p:cNvSpPr/>
          <p:nvPr/>
        </p:nvSpPr>
        <p:spPr>
          <a:xfrm>
            <a:off x="610488" y="1116346"/>
            <a:ext cx="2586769" cy="246113"/>
          </a:xfrm>
          <a:prstGeom prst="rect">
            <a:avLst/>
          </a:prstGeom>
          <a:solidFill>
            <a:schemeClr val="accent6"/>
          </a:solidFill>
          <a:ln>
            <a:noFill/>
          </a:ln>
        </p:spPr>
        <p:txBody>
          <a:bodyPr spcFirstLastPara="1" wrap="square" lIns="72000" tIns="72000" rIns="91425" bIns="45700" anchor="ctr" anchorCtr="0">
            <a:noAutofit/>
          </a:bodyPr>
          <a:lstStyle/>
          <a:p>
            <a:pPr marL="0" marR="0" lvl="0" indent="0" algn="l" rtl="0">
              <a:lnSpc>
                <a:spcPct val="100000"/>
              </a:lnSpc>
              <a:spcBef>
                <a:spcPts val="0"/>
              </a:spcBef>
              <a:spcAft>
                <a:spcPts val="0"/>
              </a:spcAft>
              <a:buClr>
                <a:srgbClr val="FFFFFF"/>
              </a:buClr>
              <a:buSzPts val="800"/>
              <a:buFont typeface="Arial"/>
              <a:buNone/>
            </a:pPr>
            <a:r>
              <a:rPr lang="en-US" sz="1100" b="1" i="0" u="none" strike="noStrike" cap="none">
                <a:solidFill>
                  <a:srgbClr val="FFFFFF"/>
                </a:solidFill>
                <a:latin typeface="Arial"/>
                <a:ea typeface="Arial"/>
                <a:cs typeface="Arial"/>
                <a:sym typeface="Arial"/>
              </a:rPr>
              <a:t>1</a:t>
            </a:r>
            <a:r>
              <a:rPr lang="en-US" sz="1100" b="1" i="0" u="none" strike="noStrike" cap="none" baseline="30000">
                <a:solidFill>
                  <a:srgbClr val="FFFFFF"/>
                </a:solidFill>
                <a:latin typeface="Arial"/>
                <a:ea typeface="Arial"/>
                <a:cs typeface="Arial"/>
                <a:sym typeface="Arial"/>
              </a:rPr>
              <a:t>st</a:t>
            </a:r>
            <a:r>
              <a:rPr lang="en-US" sz="1100" b="1" i="0" u="none" strike="noStrike" cap="none">
                <a:solidFill>
                  <a:srgbClr val="FFFFFF"/>
                </a:solidFill>
                <a:latin typeface="Arial"/>
                <a:ea typeface="Arial"/>
                <a:cs typeface="Arial"/>
                <a:sym typeface="Arial"/>
              </a:rPr>
              <a:t> Step</a:t>
            </a:r>
            <a:endParaRPr lang="en-US" sz="3200"/>
          </a:p>
        </p:txBody>
      </p:sp>
      <p:sp>
        <p:nvSpPr>
          <p:cNvPr id="7" name="Google Shape;589;p17">
            <a:extLst>
              <a:ext uri="{FF2B5EF4-FFF2-40B4-BE49-F238E27FC236}">
                <a16:creationId xmlns:a16="http://schemas.microsoft.com/office/drawing/2014/main" id="{4374824E-B178-02BB-2B18-51ACD6D33F37}"/>
              </a:ext>
            </a:extLst>
          </p:cNvPr>
          <p:cNvSpPr txBox="1"/>
          <p:nvPr/>
        </p:nvSpPr>
        <p:spPr>
          <a:xfrm>
            <a:off x="607604" y="2272480"/>
            <a:ext cx="2598988" cy="330819"/>
          </a:xfrm>
          <a:prstGeom prst="rect">
            <a:avLst/>
          </a:prstGeom>
          <a:noFill/>
          <a:ln>
            <a:noFill/>
          </a:ln>
        </p:spPr>
        <p:txBody>
          <a:bodyPr spcFirstLastPara="1" wrap="square" lIns="72000" tIns="45700" rIns="72000" bIns="45700" anchor="t" anchorCtr="0">
            <a:spAutoFit/>
          </a:bodyPr>
          <a:lstStyle/>
          <a:p>
            <a:pPr marL="171450" marR="0" lvl="0" indent="-96774" algn="l" rtl="0">
              <a:lnSpc>
                <a:spcPct val="100000"/>
              </a:lnSpc>
              <a:spcBef>
                <a:spcPts val="600"/>
              </a:spcBef>
              <a:spcAft>
                <a:spcPts val="0"/>
              </a:spcAft>
              <a:buClr>
                <a:schemeClr val="dk1"/>
              </a:buClr>
              <a:buSzPts val="1176"/>
              <a:buFont typeface="Arial"/>
              <a:buNone/>
            </a:pPr>
            <a:endParaRPr sz="1050" b="0" i="0" u="none" strike="noStrike" cap="none">
              <a:solidFill>
                <a:srgbClr val="000000"/>
              </a:solidFill>
              <a:latin typeface="Arial"/>
              <a:ea typeface="Arial"/>
              <a:cs typeface="Arial"/>
              <a:sym typeface="Arial"/>
            </a:endParaRPr>
          </a:p>
        </p:txBody>
      </p:sp>
      <p:sp>
        <p:nvSpPr>
          <p:cNvPr id="8" name="Google Shape;592;p17">
            <a:extLst>
              <a:ext uri="{FF2B5EF4-FFF2-40B4-BE49-F238E27FC236}">
                <a16:creationId xmlns:a16="http://schemas.microsoft.com/office/drawing/2014/main" id="{8BCFA3AF-BE3B-C9D0-122C-B94F6CD503D7}"/>
              </a:ext>
            </a:extLst>
          </p:cNvPr>
          <p:cNvSpPr/>
          <p:nvPr/>
        </p:nvSpPr>
        <p:spPr>
          <a:xfrm>
            <a:off x="610488" y="1415494"/>
            <a:ext cx="2586769" cy="550413"/>
          </a:xfrm>
          <a:prstGeom prst="rect">
            <a:avLst/>
          </a:prstGeom>
          <a:solidFill>
            <a:srgbClr val="0091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1" i="0" u="none" strike="noStrike" cap="none">
              <a:solidFill>
                <a:srgbClr val="000000"/>
              </a:solidFill>
              <a:latin typeface="Arial"/>
              <a:ea typeface="Arial"/>
              <a:cs typeface="Arial"/>
              <a:sym typeface="Arial"/>
            </a:endParaRPr>
          </a:p>
        </p:txBody>
      </p:sp>
      <p:sp>
        <p:nvSpPr>
          <p:cNvPr id="9" name="Google Shape;595;p17">
            <a:extLst>
              <a:ext uri="{FF2B5EF4-FFF2-40B4-BE49-F238E27FC236}">
                <a16:creationId xmlns:a16="http://schemas.microsoft.com/office/drawing/2014/main" id="{9570175A-81BB-5406-CB2A-82DABCDC19CE}"/>
              </a:ext>
            </a:extLst>
          </p:cNvPr>
          <p:cNvSpPr txBox="1"/>
          <p:nvPr/>
        </p:nvSpPr>
        <p:spPr>
          <a:xfrm>
            <a:off x="761136" y="1409086"/>
            <a:ext cx="2285472" cy="550413"/>
          </a:xfrm>
          <a:prstGeom prst="rect">
            <a:avLst/>
          </a:prstGeom>
          <a:noFill/>
          <a:ln>
            <a:noFill/>
          </a:ln>
        </p:spPr>
        <p:txBody>
          <a:bodyPr spcFirstLastPara="1" wrap="square" lIns="68575" tIns="68575" rIns="68575" bIns="68575" anchor="ctr" anchorCtr="0">
            <a:noAutofit/>
          </a:bodyPr>
          <a:lstStyle/>
          <a:p>
            <a:pPr algn="ctr">
              <a:buClr>
                <a:srgbClr val="000000"/>
              </a:buClr>
              <a:buSzPts val="2100"/>
            </a:pPr>
            <a:r>
              <a:rPr lang="en-US" sz="1200" b="1">
                <a:solidFill>
                  <a:srgbClr val="FFFFFF"/>
                </a:solidFill>
                <a:latin typeface="Arial"/>
                <a:ea typeface="Arial"/>
                <a:cs typeface="Arial"/>
                <a:sym typeface="Arial"/>
              </a:rPr>
              <a:t>Advance Top-Tier Outreach </a:t>
            </a:r>
            <a:endParaRPr lang="en-US" sz="1200" b="1" i="0" u="none" strike="noStrike" cap="none">
              <a:solidFill>
                <a:srgbClr val="FFFFFF"/>
              </a:solidFill>
              <a:latin typeface="Arial"/>
              <a:ea typeface="Arial"/>
              <a:cs typeface="Arial"/>
            </a:endParaRPr>
          </a:p>
        </p:txBody>
      </p:sp>
      <p:sp>
        <p:nvSpPr>
          <p:cNvPr id="11" name="Google Shape;585;p17">
            <a:extLst>
              <a:ext uri="{FF2B5EF4-FFF2-40B4-BE49-F238E27FC236}">
                <a16:creationId xmlns:a16="http://schemas.microsoft.com/office/drawing/2014/main" id="{98670C01-372C-FD43-EFF2-78806CBCEBDB}"/>
              </a:ext>
            </a:extLst>
          </p:cNvPr>
          <p:cNvSpPr/>
          <p:nvPr/>
        </p:nvSpPr>
        <p:spPr>
          <a:xfrm>
            <a:off x="619820" y="2088281"/>
            <a:ext cx="2586771" cy="2691106"/>
          </a:xfrm>
          <a:prstGeom prst="rect">
            <a:avLst/>
          </a:prstGeom>
          <a:solidFill>
            <a:schemeClr val="bg2">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1" i="0" u="none" strike="noStrike" cap="none">
              <a:solidFill>
                <a:srgbClr val="000000"/>
              </a:solidFill>
              <a:latin typeface="Arial"/>
              <a:ea typeface="Arial"/>
              <a:cs typeface="Arial"/>
              <a:sym typeface="Arial"/>
            </a:endParaRPr>
          </a:p>
        </p:txBody>
      </p:sp>
      <p:sp>
        <p:nvSpPr>
          <p:cNvPr id="24" name="TextBox 23">
            <a:extLst>
              <a:ext uri="{FF2B5EF4-FFF2-40B4-BE49-F238E27FC236}">
                <a16:creationId xmlns:a16="http://schemas.microsoft.com/office/drawing/2014/main" id="{B3444B6E-04D6-9F2C-E987-7D8AA4D04F14}"/>
              </a:ext>
            </a:extLst>
          </p:cNvPr>
          <p:cNvSpPr txBox="1"/>
          <p:nvPr/>
        </p:nvSpPr>
        <p:spPr>
          <a:xfrm>
            <a:off x="682551" y="2153120"/>
            <a:ext cx="2506689" cy="2123658"/>
          </a:xfrm>
          <a:prstGeom prst="rect">
            <a:avLst/>
          </a:prstGeom>
          <a:noFill/>
        </p:spPr>
        <p:txBody>
          <a:bodyPr wrap="square" lIns="91440" tIns="45720" rIns="91440" bIns="45720" rtlCol="0" anchor="t">
            <a:spAutoFit/>
          </a:bodyPr>
          <a:lstStyle/>
          <a:p>
            <a:r>
              <a:rPr lang="en-US" sz="1200"/>
              <a:t>Offer a top-tier, national media outlet such as The AP, New York Times or Bloomberg (see next slide) and other top –tier business and philanthropy outlets with advance offer of the story ahead of the release and interview all investees.</a:t>
            </a:r>
            <a:br>
              <a:rPr lang="en-US" sz="1200"/>
            </a:br>
            <a:endParaRPr lang="en-US" sz="1200"/>
          </a:p>
          <a:p>
            <a:r>
              <a:rPr lang="en-US" sz="1200" b="1"/>
              <a:t>Timing: </a:t>
            </a:r>
            <a:r>
              <a:rPr lang="en-US" sz="1200"/>
              <a:t>Outreach to begin November 13. Targeting story to go live at 7 a.m. November 29 (launch day).</a:t>
            </a:r>
          </a:p>
        </p:txBody>
      </p:sp>
      <p:sp>
        <p:nvSpPr>
          <p:cNvPr id="25" name="TextBox 24">
            <a:extLst>
              <a:ext uri="{FF2B5EF4-FFF2-40B4-BE49-F238E27FC236}">
                <a16:creationId xmlns:a16="http://schemas.microsoft.com/office/drawing/2014/main" id="{972482F3-CCD8-896E-50C9-ED4EC374427E}"/>
              </a:ext>
            </a:extLst>
          </p:cNvPr>
          <p:cNvSpPr txBox="1"/>
          <p:nvPr/>
        </p:nvSpPr>
        <p:spPr>
          <a:xfrm>
            <a:off x="3607746" y="2153120"/>
            <a:ext cx="2445929" cy="2492990"/>
          </a:xfrm>
          <a:prstGeom prst="rect">
            <a:avLst/>
          </a:prstGeom>
          <a:noFill/>
        </p:spPr>
        <p:txBody>
          <a:bodyPr wrap="square" lIns="91440" tIns="45720" rIns="91440" bIns="45720" rtlCol="0" anchor="t">
            <a:spAutoFit/>
          </a:bodyPr>
          <a:lstStyle/>
          <a:p>
            <a:r>
              <a:rPr lang="en-US" sz="1200"/>
              <a:t>Leverage relevant news stories and trends to highlight the funding announcement and position BMP as a thought leader on place-based partnerships as a solution to social and economic mobility. Targets include top-tier national publications and podcasts.</a:t>
            </a:r>
          </a:p>
          <a:p>
            <a:endParaRPr lang="en-US" sz="1200"/>
          </a:p>
          <a:p>
            <a:r>
              <a:rPr lang="en-US" sz="1200" b="1"/>
              <a:t>Timing: </a:t>
            </a:r>
            <a:r>
              <a:rPr lang="en-US" sz="1200"/>
              <a:t>Outreach to begin on November 29 and will be ongoing.</a:t>
            </a:r>
          </a:p>
        </p:txBody>
      </p:sp>
      <p:sp>
        <p:nvSpPr>
          <p:cNvPr id="31" name="Google Shape;588;p17">
            <a:extLst>
              <a:ext uri="{FF2B5EF4-FFF2-40B4-BE49-F238E27FC236}">
                <a16:creationId xmlns:a16="http://schemas.microsoft.com/office/drawing/2014/main" id="{680C1CF8-F6A4-DC86-0904-E238BF1436EA}"/>
              </a:ext>
            </a:extLst>
          </p:cNvPr>
          <p:cNvSpPr/>
          <p:nvPr/>
        </p:nvSpPr>
        <p:spPr>
          <a:xfrm>
            <a:off x="3454688" y="1114841"/>
            <a:ext cx="2519734" cy="246113"/>
          </a:xfrm>
          <a:prstGeom prst="rect">
            <a:avLst/>
          </a:prstGeom>
          <a:solidFill>
            <a:schemeClr val="accent6"/>
          </a:solidFill>
          <a:ln>
            <a:noFill/>
          </a:ln>
        </p:spPr>
        <p:txBody>
          <a:bodyPr spcFirstLastPara="1" wrap="square" lIns="72000" tIns="72000" rIns="91425" bIns="45700" anchor="ctr" anchorCtr="0">
            <a:noAutofit/>
          </a:bodyPr>
          <a:lstStyle/>
          <a:p>
            <a:pPr marL="0" marR="0" lvl="0" indent="0" algn="l" rtl="0">
              <a:lnSpc>
                <a:spcPct val="100000"/>
              </a:lnSpc>
              <a:spcBef>
                <a:spcPts val="0"/>
              </a:spcBef>
              <a:spcAft>
                <a:spcPts val="0"/>
              </a:spcAft>
              <a:buClr>
                <a:srgbClr val="FFFFFF"/>
              </a:buClr>
              <a:buSzPts val="800"/>
              <a:buFont typeface="Arial"/>
              <a:buNone/>
            </a:pPr>
            <a:r>
              <a:rPr lang="en-US" sz="1100" b="1" i="0" u="none" strike="noStrike" cap="none">
                <a:solidFill>
                  <a:srgbClr val="FFFFFF"/>
                </a:solidFill>
                <a:latin typeface="Arial"/>
                <a:ea typeface="Arial"/>
                <a:cs typeface="Arial"/>
                <a:sym typeface="Arial"/>
              </a:rPr>
              <a:t>2</a:t>
            </a:r>
            <a:r>
              <a:rPr lang="en-US" sz="1100" b="1" i="0" u="none" strike="noStrike" cap="none" baseline="30000">
                <a:solidFill>
                  <a:srgbClr val="FFFFFF"/>
                </a:solidFill>
                <a:latin typeface="Arial"/>
                <a:ea typeface="Arial"/>
                <a:cs typeface="Arial"/>
                <a:sym typeface="Arial"/>
              </a:rPr>
              <a:t>nd</a:t>
            </a:r>
            <a:r>
              <a:rPr lang="en-US" sz="1100" b="1" i="0" u="none" strike="noStrike" cap="none">
                <a:solidFill>
                  <a:srgbClr val="FFFFFF"/>
                </a:solidFill>
                <a:latin typeface="Arial"/>
                <a:ea typeface="Arial"/>
                <a:cs typeface="Arial"/>
                <a:sym typeface="Arial"/>
              </a:rPr>
              <a:t> Step</a:t>
            </a:r>
            <a:endParaRPr lang="en-US" sz="3200"/>
          </a:p>
        </p:txBody>
      </p:sp>
      <p:sp>
        <p:nvSpPr>
          <p:cNvPr id="35" name="Google Shape;592;p17">
            <a:extLst>
              <a:ext uri="{FF2B5EF4-FFF2-40B4-BE49-F238E27FC236}">
                <a16:creationId xmlns:a16="http://schemas.microsoft.com/office/drawing/2014/main" id="{3E1AED43-C108-998F-4CED-1735384363DD}"/>
              </a:ext>
            </a:extLst>
          </p:cNvPr>
          <p:cNvSpPr/>
          <p:nvPr/>
        </p:nvSpPr>
        <p:spPr>
          <a:xfrm>
            <a:off x="3457433" y="1400162"/>
            <a:ext cx="2519734" cy="550413"/>
          </a:xfrm>
          <a:prstGeom prst="rect">
            <a:avLst/>
          </a:prstGeom>
          <a:solidFill>
            <a:srgbClr val="0091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a:buNone/>
            </a:pPr>
            <a:endParaRPr sz="1200" b="1" i="0" u="none" strike="noStrike" cap="none">
              <a:solidFill>
                <a:srgbClr val="000000"/>
              </a:solidFill>
              <a:latin typeface="Arial"/>
              <a:ea typeface="Arial"/>
              <a:cs typeface="Arial"/>
              <a:sym typeface="Arial"/>
            </a:endParaRPr>
          </a:p>
        </p:txBody>
      </p:sp>
      <p:sp>
        <p:nvSpPr>
          <p:cNvPr id="36" name="Google Shape;595;p17">
            <a:extLst>
              <a:ext uri="{FF2B5EF4-FFF2-40B4-BE49-F238E27FC236}">
                <a16:creationId xmlns:a16="http://schemas.microsoft.com/office/drawing/2014/main" id="{5ABEF99C-3D2C-7BC0-62E2-CADC8D0136A9}"/>
              </a:ext>
            </a:extLst>
          </p:cNvPr>
          <p:cNvSpPr txBox="1"/>
          <p:nvPr/>
        </p:nvSpPr>
        <p:spPr>
          <a:xfrm>
            <a:off x="3491102" y="1393754"/>
            <a:ext cx="2452397" cy="550413"/>
          </a:xfrm>
          <a:prstGeom prst="rect">
            <a:avLst/>
          </a:prstGeom>
          <a:no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2100"/>
              <a:buFont typeface="Arial"/>
              <a:buNone/>
            </a:pPr>
            <a:r>
              <a:rPr lang="en-US" sz="1200" b="1">
                <a:solidFill>
                  <a:srgbClr val="FFFFFF"/>
                </a:solidFill>
                <a:latin typeface="Arial"/>
                <a:ea typeface="Arial"/>
                <a:cs typeface="Arial"/>
                <a:sym typeface="Arial"/>
              </a:rPr>
              <a:t>Launch &amp; Sustained Coverage</a:t>
            </a:r>
            <a:endParaRPr sz="1200" b="1" i="0" u="none" strike="noStrike" cap="none">
              <a:solidFill>
                <a:srgbClr val="FFFFFF"/>
              </a:solidFill>
              <a:latin typeface="Arial"/>
              <a:ea typeface="Arial"/>
              <a:cs typeface="Arial"/>
              <a:sym typeface="Arial"/>
            </a:endParaRPr>
          </a:p>
        </p:txBody>
      </p:sp>
      <p:sp>
        <p:nvSpPr>
          <p:cNvPr id="3" name="TextBox 2">
            <a:extLst>
              <a:ext uri="{FF2B5EF4-FFF2-40B4-BE49-F238E27FC236}">
                <a16:creationId xmlns:a16="http://schemas.microsoft.com/office/drawing/2014/main" id="{7733F5DF-4A91-D2C5-616B-193F2E74A1CE}"/>
              </a:ext>
            </a:extLst>
          </p:cNvPr>
          <p:cNvSpPr txBox="1"/>
          <p:nvPr/>
        </p:nvSpPr>
        <p:spPr>
          <a:xfrm>
            <a:off x="661336" y="5175429"/>
            <a:ext cx="8088319" cy="900246"/>
          </a:xfrm>
          <a:prstGeom prst="rect">
            <a:avLst/>
          </a:prstGeom>
          <a:solidFill>
            <a:schemeClr val="accent6">
              <a:lumMod val="20000"/>
              <a:lumOff val="80000"/>
            </a:schemeClr>
          </a:solidFill>
        </p:spPr>
        <p:txBody>
          <a:bodyPr wrap="square" rtlCol="0">
            <a:spAutoFit/>
          </a:bodyPr>
          <a:lstStyle/>
          <a:p>
            <a:r>
              <a:rPr lang="en-US" sz="1050" b="1" i="1" dirty="0"/>
              <a:t>How does this differ from mid-October plans?</a:t>
            </a:r>
            <a:endParaRPr lang="en-US" sz="1050" i="1"/>
          </a:p>
          <a:p>
            <a:pPr marL="285750" indent="-285750">
              <a:buFont typeface="Arial" panose="020B0604020202020204" pitchFamily="34" charset="0"/>
              <a:buChar char="•"/>
            </a:pPr>
            <a:r>
              <a:rPr lang="en-US" sz="1050" dirty="0"/>
              <a:t>Similar strategy and same outlets but a s</a:t>
            </a:r>
            <a:r>
              <a:rPr lang="en-US" sz="1050" dirty="0">
                <a:effectLst/>
              </a:rPr>
              <a:t>hift away from the "exclusive" outreach maximizes someone picking the story up given the limited exclusive data to be offered</a:t>
            </a:r>
          </a:p>
          <a:p>
            <a:pPr marL="285750" indent="-285750">
              <a:buFont typeface="Arial" panose="020B0604020202020204" pitchFamily="34" charset="0"/>
              <a:buChar char="•"/>
            </a:pPr>
            <a:r>
              <a:rPr lang="en-US" sz="1050" dirty="0"/>
              <a:t>Under this approach,</a:t>
            </a:r>
            <a:r>
              <a:rPr lang="en-US" sz="1050" dirty="0">
                <a:effectLst/>
              </a:rPr>
              <a:t> PN is able to initiate outreach to both the top-tier outlets AND the embargoed outreach at the same time</a:t>
            </a:r>
          </a:p>
          <a:p>
            <a:pPr marL="285750" indent="-285750">
              <a:buFont typeface="Arial" panose="020B0604020202020204" pitchFamily="34" charset="0"/>
              <a:buChar char="•"/>
            </a:pPr>
            <a:r>
              <a:rPr lang="en-US" sz="1050" dirty="0"/>
              <a:t>Our </a:t>
            </a:r>
            <a:r>
              <a:rPr lang="en-US" sz="1050"/>
              <a:t>intention </a:t>
            </a:r>
            <a:r>
              <a:rPr lang="en-US" sz="1050" dirty="0"/>
              <a:t>remains that national stories are timed with our release </a:t>
            </a:r>
            <a:r>
              <a:rPr lang="en-US" sz="1050"/>
              <a:t>on 11/29</a:t>
            </a:r>
            <a:endParaRPr lang="en-US" sz="1050" dirty="0"/>
          </a:p>
        </p:txBody>
      </p:sp>
      <p:sp>
        <p:nvSpPr>
          <p:cNvPr id="6" name="Arrow: Right 5">
            <a:extLst>
              <a:ext uri="{FF2B5EF4-FFF2-40B4-BE49-F238E27FC236}">
                <a16:creationId xmlns:a16="http://schemas.microsoft.com/office/drawing/2014/main" id="{DAE85BAD-A40D-59F2-4DAD-211D426FED39}"/>
              </a:ext>
            </a:extLst>
          </p:cNvPr>
          <p:cNvSpPr/>
          <p:nvPr/>
        </p:nvSpPr>
        <p:spPr>
          <a:xfrm>
            <a:off x="6127615" y="1463100"/>
            <a:ext cx="794393" cy="484632"/>
          </a:xfrm>
          <a:prstGeom prst="rightArrow">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D25D7-ACDD-904B-9744-4AD1EE1207EB}"/>
              </a:ext>
            </a:extLst>
          </p:cNvPr>
          <p:cNvSpPr/>
          <p:nvPr/>
        </p:nvSpPr>
        <p:spPr>
          <a:xfrm>
            <a:off x="7072456" y="1297766"/>
            <a:ext cx="1677199" cy="3465961"/>
          </a:xfrm>
          <a:prstGeom prst="rect">
            <a:avLst/>
          </a:prstGeom>
          <a:no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Overall objective is coverage of our story in multiple top-tier publications </a:t>
            </a:r>
          </a:p>
        </p:txBody>
      </p:sp>
    </p:spTree>
    <p:extLst>
      <p:ext uri="{BB962C8B-B14F-4D97-AF65-F5344CB8AC3E}">
        <p14:creationId xmlns:p14="http://schemas.microsoft.com/office/powerpoint/2010/main" val="1821578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A67C8-C12F-9A87-8F7D-C957B508BAA1}"/>
              </a:ext>
            </a:extLst>
          </p:cNvPr>
          <p:cNvSpPr>
            <a:spLocks noGrp="1"/>
          </p:cNvSpPr>
          <p:nvPr>
            <p:ph type="title"/>
          </p:nvPr>
        </p:nvSpPr>
        <p:spPr>
          <a:xfrm>
            <a:off x="521953" y="349430"/>
            <a:ext cx="8219711" cy="396219"/>
          </a:xfrm>
        </p:spPr>
        <p:txBody>
          <a:bodyPr/>
          <a:lstStyle/>
          <a:p>
            <a:r>
              <a:rPr lang="en-US"/>
              <a:t>Top-Tier National – Others Considered</a:t>
            </a:r>
          </a:p>
        </p:txBody>
      </p:sp>
      <p:sp>
        <p:nvSpPr>
          <p:cNvPr id="4" name="Slide Number Placeholder 3">
            <a:extLst>
              <a:ext uri="{FF2B5EF4-FFF2-40B4-BE49-F238E27FC236}">
                <a16:creationId xmlns:a16="http://schemas.microsoft.com/office/drawing/2014/main" id="{D44C42F8-DFBB-36E0-C7C5-4F1301C9D25F}"/>
              </a:ext>
            </a:extLst>
          </p:cNvPr>
          <p:cNvSpPr>
            <a:spLocks noGrp="1"/>
          </p:cNvSpPr>
          <p:nvPr>
            <p:ph type="sldNum" sz="quarter" idx="12"/>
          </p:nvPr>
        </p:nvSpPr>
        <p:spPr/>
        <p:txBody>
          <a:bodyPr/>
          <a:lstStyle/>
          <a:p>
            <a:fld id="{D4F07938-7C1D-46C8-9535-2404A951C984}" type="slidenum">
              <a:rPr lang="en-US" smtClean="0"/>
              <a:t>7</a:t>
            </a:fld>
            <a:endParaRPr lang="en-US"/>
          </a:p>
        </p:txBody>
      </p:sp>
      <p:sp>
        <p:nvSpPr>
          <p:cNvPr id="9" name="Content Placeholder 8">
            <a:extLst>
              <a:ext uri="{FF2B5EF4-FFF2-40B4-BE49-F238E27FC236}">
                <a16:creationId xmlns:a16="http://schemas.microsoft.com/office/drawing/2014/main" id="{C05688B5-BAE9-3B17-2D8D-C42B329A64E6}"/>
              </a:ext>
            </a:extLst>
          </p:cNvPr>
          <p:cNvSpPr>
            <a:spLocks noGrp="1"/>
          </p:cNvSpPr>
          <p:nvPr>
            <p:ph idx="1"/>
          </p:nvPr>
        </p:nvSpPr>
        <p:spPr>
          <a:xfrm>
            <a:off x="597212" y="1115446"/>
            <a:ext cx="8332798" cy="4322286"/>
          </a:xfrm>
        </p:spPr>
        <p:txBody>
          <a:bodyPr vert="horz" lIns="91440" tIns="45720" rIns="91440" bIns="45720" rtlCol="0" anchor="t">
            <a:noAutofit/>
          </a:bodyPr>
          <a:lstStyle/>
          <a:p>
            <a:r>
              <a:rPr lang="en-US" sz="1400" b="1" dirty="0">
                <a:solidFill>
                  <a:schemeClr val="bg2"/>
                </a:solidFill>
              </a:rPr>
              <a:t>David Brooks, NYT</a:t>
            </a:r>
          </a:p>
          <a:p>
            <a:pPr lvl="1"/>
            <a:r>
              <a:rPr lang="en-US" sz="1200" dirty="0">
                <a:solidFill>
                  <a:srgbClr val="000000"/>
                </a:solidFill>
              </a:rPr>
              <a:t>Pro: Renowned columnist who has covered innovation in philanthropy and thoughtful theories of changemaking</a:t>
            </a:r>
          </a:p>
          <a:p>
            <a:pPr lvl="1"/>
            <a:r>
              <a:rPr lang="en-US" sz="1200" dirty="0">
                <a:solidFill>
                  <a:srgbClr val="000000"/>
                </a:solidFill>
              </a:rPr>
              <a:t>Con: Recent </a:t>
            </a:r>
            <a:r>
              <a:rPr lang="en-US" sz="1200" dirty="0">
                <a:solidFill>
                  <a:srgbClr val="000000"/>
                </a:solidFill>
                <a:hlinkClick r:id="rId2"/>
              </a:rPr>
              <a:t>reputational damage</a:t>
            </a:r>
            <a:r>
              <a:rPr lang="en-US" sz="1200" dirty="0">
                <a:solidFill>
                  <a:srgbClr val="000000"/>
                </a:solidFill>
              </a:rPr>
              <a:t> surrounding posting misleading information</a:t>
            </a:r>
          </a:p>
          <a:p>
            <a:pPr>
              <a:buFont typeface="Arial" panose="02070309020205020404" pitchFamily="49" charset="0"/>
              <a:buChar char="•"/>
            </a:pPr>
            <a:r>
              <a:rPr lang="en-US" sz="1400" b="1" dirty="0">
                <a:solidFill>
                  <a:schemeClr val="bg2"/>
                </a:solidFill>
              </a:rPr>
              <a:t>Paul Tough, NYT Magazine </a:t>
            </a:r>
          </a:p>
          <a:p>
            <a:pPr lvl="1"/>
            <a:r>
              <a:rPr lang="en-US" sz="1200" dirty="0">
                <a:solidFill>
                  <a:srgbClr val="000000"/>
                </a:solidFill>
              </a:rPr>
              <a:t>Pro: Paul has spoken with Blue Meridian in the past and is a notable writer covering philanthropy as a catalyst for taking on inequality</a:t>
            </a:r>
          </a:p>
          <a:p>
            <a:pPr lvl="1"/>
            <a:r>
              <a:rPr lang="en-US" sz="1200" dirty="0">
                <a:solidFill>
                  <a:srgbClr val="000000"/>
                </a:solidFill>
              </a:rPr>
              <a:t>Con: As a narrative long-form writer, Paul's coverage is not news-centric and it is unlikely a feature from Paul would convert on our desired timeframe or key messages without potentially critical analysis</a:t>
            </a:r>
          </a:p>
          <a:p>
            <a:pPr>
              <a:buFont typeface="Arial" panose="02070309020205020404" pitchFamily="49" charset="0"/>
              <a:buChar char="•"/>
            </a:pPr>
            <a:r>
              <a:rPr lang="en-US" sz="1400" b="1" dirty="0">
                <a:solidFill>
                  <a:schemeClr val="bg2"/>
                </a:solidFill>
              </a:rPr>
              <a:t>Kurtis Lee, NYT</a:t>
            </a:r>
          </a:p>
          <a:p>
            <a:pPr lvl="1"/>
            <a:r>
              <a:rPr lang="en-US" sz="1200" dirty="0">
                <a:solidFill>
                  <a:srgbClr val="000000"/>
                </a:solidFill>
              </a:rPr>
              <a:t>Pro: Kurtis has covered impact-driven through a philanthropy lens in the past </a:t>
            </a:r>
          </a:p>
          <a:p>
            <a:pPr lvl="1"/>
            <a:r>
              <a:rPr lang="en-US" sz="1200" dirty="0">
                <a:solidFill>
                  <a:srgbClr val="000000"/>
                </a:solidFill>
              </a:rPr>
              <a:t>Con: Due to his extensive economic lens, Kurtis' recent coverage focuses too heavily on individual billionaires and labor conflicts.</a:t>
            </a:r>
          </a:p>
          <a:p>
            <a:pPr>
              <a:buFont typeface="Arial" panose="02070309020205020404" pitchFamily="49" charset="0"/>
              <a:buChar char="•"/>
            </a:pPr>
            <a:r>
              <a:rPr lang="en-US" sz="1400" b="1" dirty="0">
                <a:solidFill>
                  <a:schemeClr val="bg2"/>
                </a:solidFill>
              </a:rPr>
              <a:t>Talib Visram, Fast Company</a:t>
            </a:r>
          </a:p>
          <a:p>
            <a:pPr lvl="1"/>
            <a:r>
              <a:rPr lang="en-US" sz="1200" dirty="0">
                <a:solidFill>
                  <a:srgbClr val="000000"/>
                </a:solidFill>
              </a:rPr>
              <a:t>Pro: Talib writes long-form articles as part of Fast Company's notable "World Changing Ideas" section</a:t>
            </a:r>
          </a:p>
          <a:p>
            <a:pPr lvl="1"/>
            <a:r>
              <a:rPr lang="en-US" sz="1200" dirty="0">
                <a:solidFill>
                  <a:srgbClr val="000000"/>
                </a:solidFill>
              </a:rPr>
              <a:t>Con: Coverage can be considered too business-centric</a:t>
            </a:r>
          </a:p>
          <a:p>
            <a:pPr>
              <a:buFont typeface="Arial" panose="02070309020205020404" pitchFamily="49" charset="0"/>
              <a:buChar char="•"/>
            </a:pPr>
            <a:r>
              <a:rPr lang="en-US" sz="1400" b="1" dirty="0">
                <a:solidFill>
                  <a:schemeClr val="bg2"/>
                </a:solidFill>
              </a:rPr>
              <a:t>Gigi Zamora, Forbes</a:t>
            </a:r>
          </a:p>
          <a:p>
            <a:pPr lvl="1"/>
            <a:r>
              <a:rPr lang="en-US" sz="1200" dirty="0">
                <a:solidFill>
                  <a:srgbClr val="000000"/>
                </a:solidFill>
              </a:rPr>
              <a:t>Pro: Covers philanthropy funding news </a:t>
            </a:r>
          </a:p>
          <a:p>
            <a:pPr lvl="1"/>
            <a:r>
              <a:rPr lang="en-US" sz="1200" dirty="0">
                <a:solidFill>
                  <a:srgbClr val="000000"/>
                </a:solidFill>
              </a:rPr>
              <a:t>Con: Too focused on the wealth of private individuals rather than organizations</a:t>
            </a:r>
          </a:p>
        </p:txBody>
      </p:sp>
    </p:spTree>
    <p:extLst>
      <p:ext uri="{BB962C8B-B14F-4D97-AF65-F5344CB8AC3E}">
        <p14:creationId xmlns:p14="http://schemas.microsoft.com/office/powerpoint/2010/main" val="2382901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10CB0-8148-BEA3-AA80-B0085286CDB7}"/>
              </a:ext>
            </a:extLst>
          </p:cNvPr>
          <p:cNvSpPr>
            <a:spLocks noGrp="1"/>
          </p:cNvSpPr>
          <p:nvPr>
            <p:ph type="title"/>
          </p:nvPr>
        </p:nvSpPr>
        <p:spPr/>
        <p:txBody>
          <a:bodyPr/>
          <a:lstStyle/>
          <a:p>
            <a:r>
              <a:rPr lang="en-US"/>
              <a:t>National Outreach – Revised Angle</a:t>
            </a:r>
          </a:p>
        </p:txBody>
      </p:sp>
      <p:sp>
        <p:nvSpPr>
          <p:cNvPr id="3" name="Content Placeholder 2">
            <a:extLst>
              <a:ext uri="{FF2B5EF4-FFF2-40B4-BE49-F238E27FC236}">
                <a16:creationId xmlns:a16="http://schemas.microsoft.com/office/drawing/2014/main" id="{EB821FC1-D5D1-9998-5B6D-9305008DE9C6}"/>
              </a:ext>
            </a:extLst>
          </p:cNvPr>
          <p:cNvSpPr>
            <a:spLocks noGrp="1"/>
          </p:cNvSpPr>
          <p:nvPr>
            <p:ph idx="1"/>
          </p:nvPr>
        </p:nvSpPr>
        <p:spPr>
          <a:xfrm>
            <a:off x="530971" y="1041360"/>
            <a:ext cx="8094997" cy="4391456"/>
          </a:xfrm>
        </p:spPr>
        <p:txBody>
          <a:bodyPr vert="horz" lIns="91440" tIns="45720" rIns="91440" bIns="45720" rtlCol="0" anchor="t">
            <a:noAutofit/>
          </a:bodyPr>
          <a:lstStyle/>
          <a:p>
            <a:pPr marL="0" indent="0">
              <a:buNone/>
            </a:pPr>
            <a:r>
              <a:rPr lang="en-US" sz="1200" b="1" u="sng" dirty="0"/>
              <a:t>Pitch</a:t>
            </a:r>
            <a:r>
              <a:rPr lang="en-US" sz="1200" b="1" u="sng" dirty="0">
                <a:ea typeface="+mn-lt"/>
                <a:cs typeface="+mn-lt"/>
              </a:rPr>
              <a:t> Angle: </a:t>
            </a:r>
            <a:r>
              <a:rPr lang="en-US" sz="1200" b="1" dirty="0">
                <a:solidFill>
                  <a:schemeClr val="bg2"/>
                </a:solidFill>
                <a:ea typeface="+mn-lt"/>
                <a:cs typeface="+mn-lt"/>
              </a:rPr>
              <a:t>The power and potential of place-based partnerships; how BMP’s recent catalytic philanthropic investment alongside three U.S. communities can galvanize efforts to break cycles of poverty at the local level. </a:t>
            </a:r>
            <a:endParaRPr lang="en-US" sz="1200" dirty="0">
              <a:solidFill>
                <a:schemeClr val="bg2"/>
              </a:solidFill>
            </a:endParaRPr>
          </a:p>
          <a:p>
            <a:r>
              <a:rPr lang="en-US" sz="1200" b="1" dirty="0">
                <a:ea typeface="+mn-lt"/>
                <a:cs typeface="+mn-lt"/>
              </a:rPr>
              <a:t>Key pitch elements: </a:t>
            </a:r>
            <a:endParaRPr lang="en-US" sz="2400" dirty="0"/>
          </a:p>
          <a:p>
            <a:pPr marL="742950" lvl="1" indent="-285750">
              <a:buFont typeface="Courier New" panose="020B0604020202020204" pitchFamily="34" charset="0"/>
              <a:buChar char="o"/>
            </a:pPr>
            <a:r>
              <a:rPr lang="en-US" sz="1200" b="1" dirty="0">
                <a:ea typeface="+mn-lt"/>
                <a:cs typeface="+mn-lt"/>
              </a:rPr>
              <a:t>The news/timeliness:</a:t>
            </a:r>
            <a:r>
              <a:rPr lang="en-US" sz="1200" dirty="0">
                <a:ea typeface="+mn-lt"/>
                <a:cs typeface="+mn-lt"/>
              </a:rPr>
              <a:t> Sharing the news of the three communities—alongside BMP—raising such impressive/unprecedented amounts of funding </a:t>
            </a:r>
            <a:endParaRPr lang="en-US" sz="2000" dirty="0"/>
          </a:p>
          <a:p>
            <a:pPr marL="742950" lvl="1" indent="-285750">
              <a:buFont typeface="Courier New" panose="020B0604020202020204" pitchFamily="34" charset="0"/>
            </a:pPr>
            <a:r>
              <a:rPr lang="en-US" sz="1200" b="1" dirty="0">
                <a:ea typeface="+mn-lt"/>
                <a:cs typeface="+mn-lt"/>
              </a:rPr>
              <a:t>The communities as proof points of the power and potential of place-based giving:</a:t>
            </a:r>
            <a:r>
              <a:rPr lang="en-US" sz="1200" dirty="0">
                <a:ea typeface="+mn-lt"/>
                <a:cs typeface="+mn-lt"/>
              </a:rPr>
              <a:t> What the investment means for the investees in order to execute their multi-year plans and bring together the right organizations on the ground to truly create impact</a:t>
            </a:r>
            <a:endParaRPr lang="en-US" sz="1200" dirty="0"/>
          </a:p>
          <a:p>
            <a:pPr marL="742950" lvl="1" indent="-285750">
              <a:buFont typeface="Courier New" panose="020B0604020202020204" pitchFamily="34" charset="0"/>
            </a:pPr>
            <a:r>
              <a:rPr lang="en-US" sz="1200" b="1" dirty="0">
                <a:ea typeface="+mn-lt"/>
                <a:cs typeface="+mn-lt"/>
              </a:rPr>
              <a:t>BMP’s role/POV:</a:t>
            </a:r>
            <a:r>
              <a:rPr lang="en-US" sz="1200" dirty="0">
                <a:ea typeface="+mn-lt"/>
                <a:cs typeface="+mn-lt"/>
              </a:rPr>
              <a:t> </a:t>
            </a:r>
            <a:endParaRPr lang="en-US" sz="1200" dirty="0"/>
          </a:p>
          <a:p>
            <a:pPr marL="971550" lvl="2" indent="-285750">
              <a:buFont typeface="Wingdings" panose="020B0604020202020204" pitchFamily="34" charset="0"/>
              <a:buChar char="§"/>
            </a:pPr>
            <a:r>
              <a:rPr lang="en-US" sz="1200" dirty="0">
                <a:ea typeface="+mn-lt"/>
                <a:cs typeface="+mn-lt"/>
              </a:rPr>
              <a:t>The traits these three specific communities share that explain why BMP invested in them; their potential to address social and economic inequities</a:t>
            </a:r>
            <a:endParaRPr lang="en-US" sz="1200" dirty="0"/>
          </a:p>
          <a:p>
            <a:pPr marL="971550" lvl="2" indent="-285750">
              <a:buFont typeface="Wingdings" panose="020B0604020202020204" pitchFamily="34" charset="0"/>
              <a:buChar char="§"/>
            </a:pPr>
            <a:r>
              <a:rPr lang="en-US" sz="1200" dirty="0">
                <a:ea typeface="+mn-lt"/>
                <a:cs typeface="+mn-lt"/>
              </a:rPr>
              <a:t>BMP’s belief in this approach and what they’ve learned through the Place Matters portfolio</a:t>
            </a:r>
            <a:endParaRPr lang="en-US" sz="1200" dirty="0"/>
          </a:p>
          <a:p>
            <a:pPr marL="971550" lvl="2" indent="-285750">
              <a:buFont typeface="Wingdings" panose="020B0604020202020204" pitchFamily="34" charset="0"/>
              <a:buChar char="§"/>
            </a:pPr>
            <a:r>
              <a:rPr lang="en-US" sz="1200" dirty="0">
                <a:ea typeface="+mn-lt"/>
                <a:cs typeface="+mn-lt"/>
              </a:rPr>
              <a:t>How investments like this can break down systemic barriers to addressing seemingly intractable problems that plague so many communities across the U.S. </a:t>
            </a:r>
            <a:endParaRPr lang="en-US" sz="1800" dirty="0"/>
          </a:p>
          <a:p>
            <a:pPr marL="971550" lvl="2" indent="-285750">
              <a:buFont typeface="Wingdings" panose="020B0604020202020204" pitchFamily="34" charset="0"/>
              <a:buChar char="§"/>
            </a:pPr>
            <a:r>
              <a:rPr lang="en-US" sz="1200" dirty="0">
                <a:ea typeface="+mn-lt"/>
                <a:cs typeface="+mn-lt"/>
              </a:rPr>
              <a:t>Teasing out plans to continue this work through the PM portfolio </a:t>
            </a:r>
            <a:endParaRPr lang="en-US" sz="1800" dirty="0"/>
          </a:p>
          <a:p>
            <a:pPr marL="742950" lvl="1" indent="-285750">
              <a:buFont typeface="Courier New" panose="020B0604020202020204" pitchFamily="34" charset="0"/>
            </a:pPr>
            <a:r>
              <a:rPr lang="en-US" sz="1200" b="1" dirty="0">
                <a:ea typeface="+mn-lt"/>
                <a:cs typeface="+mn-lt"/>
              </a:rPr>
              <a:t>Call to action:</a:t>
            </a:r>
            <a:r>
              <a:rPr lang="en-US" sz="1200" dirty="0">
                <a:ea typeface="+mn-lt"/>
                <a:cs typeface="+mn-lt"/>
              </a:rPr>
              <a:t> Why this catalytic investment in these communities can be a model for others to follow; clarifying that while this money is catalytic, there is more to be done to unlock billions </a:t>
            </a:r>
            <a:endParaRPr lang="en-US" dirty="0"/>
          </a:p>
          <a:p>
            <a:pPr lvl="1" indent="0">
              <a:buNone/>
            </a:pPr>
            <a:endParaRPr lang="en-US" dirty="0"/>
          </a:p>
          <a:p>
            <a:pPr marL="0" indent="0">
              <a:buNone/>
            </a:pPr>
            <a:endParaRPr lang="en-US" sz="1600" b="1" dirty="0"/>
          </a:p>
          <a:p>
            <a:endParaRPr lang="en-US" dirty="0"/>
          </a:p>
        </p:txBody>
      </p:sp>
      <p:sp>
        <p:nvSpPr>
          <p:cNvPr id="4" name="Slide Number Placeholder 3">
            <a:extLst>
              <a:ext uri="{FF2B5EF4-FFF2-40B4-BE49-F238E27FC236}">
                <a16:creationId xmlns:a16="http://schemas.microsoft.com/office/drawing/2014/main" id="{A2A9589F-16E7-AC08-FB7F-37F0271B01F1}"/>
              </a:ext>
            </a:extLst>
          </p:cNvPr>
          <p:cNvSpPr>
            <a:spLocks noGrp="1"/>
          </p:cNvSpPr>
          <p:nvPr>
            <p:ph type="sldNum" sz="quarter" idx="12"/>
          </p:nvPr>
        </p:nvSpPr>
        <p:spPr/>
        <p:txBody>
          <a:bodyPr/>
          <a:lstStyle/>
          <a:p>
            <a:fld id="{D4F07938-7C1D-46C8-9535-2404A951C984}" type="slidenum">
              <a:rPr lang="en-US" smtClean="0"/>
              <a:t>8</a:t>
            </a:fld>
            <a:endParaRPr lang="en-US"/>
          </a:p>
        </p:txBody>
      </p:sp>
      <p:sp>
        <p:nvSpPr>
          <p:cNvPr id="11" name="Star: 5 Points 10">
            <a:extLst>
              <a:ext uri="{FF2B5EF4-FFF2-40B4-BE49-F238E27FC236}">
                <a16:creationId xmlns:a16="http://schemas.microsoft.com/office/drawing/2014/main" id="{819A002A-DBF3-E163-361D-AB3D143A1190}"/>
              </a:ext>
            </a:extLst>
          </p:cNvPr>
          <p:cNvSpPr/>
          <p:nvPr/>
        </p:nvSpPr>
        <p:spPr>
          <a:xfrm>
            <a:off x="8625968" y="35518"/>
            <a:ext cx="454024" cy="396219"/>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3400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B142-8734-B3EB-DE6E-8E0C87CDF15A}"/>
              </a:ext>
            </a:extLst>
          </p:cNvPr>
          <p:cNvSpPr>
            <a:spLocks noGrp="1"/>
          </p:cNvSpPr>
          <p:nvPr>
            <p:ph type="title"/>
          </p:nvPr>
        </p:nvSpPr>
        <p:spPr/>
        <p:txBody>
          <a:bodyPr/>
          <a:lstStyle/>
          <a:p>
            <a:r>
              <a:rPr lang="en-US"/>
              <a:t>Elements of Media Approach</a:t>
            </a:r>
          </a:p>
        </p:txBody>
      </p:sp>
      <p:sp>
        <p:nvSpPr>
          <p:cNvPr id="3" name="Content Placeholder 2">
            <a:extLst>
              <a:ext uri="{FF2B5EF4-FFF2-40B4-BE49-F238E27FC236}">
                <a16:creationId xmlns:a16="http://schemas.microsoft.com/office/drawing/2014/main" id="{B41A71E3-2822-B157-F118-BDD15DED972D}"/>
              </a:ext>
            </a:extLst>
          </p:cNvPr>
          <p:cNvSpPr>
            <a:spLocks noGrp="1"/>
          </p:cNvSpPr>
          <p:nvPr>
            <p:ph idx="1"/>
          </p:nvPr>
        </p:nvSpPr>
        <p:spPr/>
        <p:txBody>
          <a:bodyPr vert="horz" lIns="91440" tIns="45720" rIns="91440" bIns="45720" rtlCol="0" anchor="t">
            <a:noAutofit/>
          </a:bodyPr>
          <a:lstStyle/>
          <a:p>
            <a:r>
              <a:rPr lang="en-US" sz="1400" b="1" dirty="0"/>
              <a:t>Role of BMP release: </a:t>
            </a:r>
            <a:r>
              <a:rPr lang="en-US" sz="1400" dirty="0"/>
              <a:t>To share the news of the nearly $335M aggregated by the 3 Places in our voice, note Place Matters’ role in catalyzing additional funding for the investees, light recap overall PM strategy, and show the promise of this philanthropic approach</a:t>
            </a:r>
          </a:p>
          <a:p>
            <a:r>
              <a:rPr lang="en-US" sz="1400" b="1" dirty="0"/>
              <a:t>Role of top-tier national: </a:t>
            </a:r>
            <a:r>
              <a:rPr lang="en-US" sz="1400" dirty="0"/>
              <a:t> To articulate and demonstrate via insider insights how philanthropy can meet the current moment and support long-term impact through place-based partnerships, how these partnerships have the power to catalyze change</a:t>
            </a:r>
            <a:endParaRPr lang="en-US" sz="1400" dirty="0">
              <a:ea typeface="+mn-lt"/>
              <a:cs typeface="+mn-lt"/>
            </a:endParaRPr>
          </a:p>
          <a:p>
            <a:r>
              <a:rPr lang="en-US" sz="1400" b="1" dirty="0"/>
              <a:t>Role of local stories: </a:t>
            </a:r>
            <a:r>
              <a:rPr lang="en-US" sz="1400" dirty="0"/>
              <a:t>To more clearly articulate what this funding will support specific to those communities the investees serve; provide added attention to the investees and platform to thank/lift up local funders as desired, generate local buzz which can fuel more funding inquiries and overall support for the work</a:t>
            </a:r>
          </a:p>
          <a:p>
            <a:r>
              <a:rPr lang="en-US" sz="1400" b="1" dirty="0">
                <a:solidFill>
                  <a:srgbClr val="00B050"/>
                </a:solidFill>
              </a:rPr>
              <a:t>Pros</a:t>
            </a:r>
            <a:r>
              <a:rPr lang="en-US" sz="1400" dirty="0">
                <a:solidFill>
                  <a:srgbClr val="00B050"/>
                </a:solidFill>
              </a:rPr>
              <a:t>: </a:t>
            </a:r>
            <a:endParaRPr lang="en-US" sz="1200" dirty="0">
              <a:solidFill>
                <a:srgbClr val="00B050"/>
              </a:solidFill>
            </a:endParaRPr>
          </a:p>
          <a:p>
            <a:pPr lvl="1"/>
            <a:r>
              <a:rPr lang="en-US" sz="1050" dirty="0"/>
              <a:t>Adds dimension to the overall narrative around place-based partnerships and BMP's commitment via Place Matters – local benefit, opportunity for philanthropy to create impact, call to action for other investors </a:t>
            </a:r>
          </a:p>
          <a:p>
            <a:pPr lvl="1"/>
            <a:r>
              <a:rPr lang="en-US" sz="1050" dirty="0"/>
              <a:t>Sets up the 2024 follow-up PM announcement to showcase additional investees and total $$ commitment milestone </a:t>
            </a:r>
          </a:p>
          <a:p>
            <a:pPr marL="228600"/>
            <a:r>
              <a:rPr lang="en-US" sz="1200" b="1" dirty="0">
                <a:solidFill>
                  <a:srgbClr val="C00000"/>
                </a:solidFill>
              </a:rPr>
              <a:t>Cons:</a:t>
            </a:r>
            <a:endParaRPr lang="en-US" b="1" dirty="0">
              <a:solidFill>
                <a:srgbClr val="C00000"/>
              </a:solidFill>
            </a:endParaRPr>
          </a:p>
          <a:p>
            <a:pPr lvl="1"/>
            <a:r>
              <a:rPr lang="en-US" sz="1050" dirty="0"/>
              <a:t>This approach requires very careful coordination with investees to ensure ideal cadence of stories and messages shared </a:t>
            </a:r>
          </a:p>
          <a:p>
            <a:pPr lvl="1"/>
            <a:r>
              <a:rPr lang="en-US" sz="1050" dirty="0">
                <a:effectLst/>
                <a:latin typeface="Segoe UI" panose="020B0502040204020203" pitchFamily="34" charset="0"/>
              </a:rPr>
              <a:t>A real risk is that we are unable to get all 3 places covered (at all or equally) in the national pitching.</a:t>
            </a:r>
            <a:endParaRPr lang="en-US" sz="1050" dirty="0"/>
          </a:p>
          <a:p>
            <a:pPr lvl="1"/>
            <a:endParaRPr lang="en-US" sz="1000" dirty="0"/>
          </a:p>
          <a:p>
            <a:pPr marL="228600" lvl="1" indent="0">
              <a:buNone/>
            </a:pPr>
            <a:endParaRPr lang="en-US" sz="1000" dirty="0"/>
          </a:p>
          <a:p>
            <a:pPr lvl="1"/>
            <a:endParaRPr lang="en-US" sz="1200" dirty="0"/>
          </a:p>
          <a:p>
            <a:endParaRPr lang="en-US" sz="1400" dirty="0"/>
          </a:p>
        </p:txBody>
      </p:sp>
      <p:sp>
        <p:nvSpPr>
          <p:cNvPr id="4" name="Slide Number Placeholder 3">
            <a:extLst>
              <a:ext uri="{FF2B5EF4-FFF2-40B4-BE49-F238E27FC236}">
                <a16:creationId xmlns:a16="http://schemas.microsoft.com/office/drawing/2014/main" id="{C605D102-1E0C-2FA0-765A-59143EF4D68C}"/>
              </a:ext>
            </a:extLst>
          </p:cNvPr>
          <p:cNvSpPr>
            <a:spLocks noGrp="1"/>
          </p:cNvSpPr>
          <p:nvPr>
            <p:ph type="sldNum" sz="quarter" idx="12"/>
          </p:nvPr>
        </p:nvSpPr>
        <p:spPr/>
        <p:txBody>
          <a:bodyPr/>
          <a:lstStyle/>
          <a:p>
            <a:fld id="{D4F07938-7C1D-46C8-9535-2404A951C984}" type="slidenum">
              <a:rPr lang="en-US" smtClean="0"/>
              <a:t>9</a:t>
            </a:fld>
            <a:endParaRPr lang="en-US"/>
          </a:p>
        </p:txBody>
      </p:sp>
      <p:sp>
        <p:nvSpPr>
          <p:cNvPr id="5" name="Text Placeholder 4">
            <a:extLst>
              <a:ext uri="{FF2B5EF4-FFF2-40B4-BE49-F238E27FC236}">
                <a16:creationId xmlns:a16="http://schemas.microsoft.com/office/drawing/2014/main" id="{575B8204-52B7-98DF-C975-30C00E5B8287}"/>
              </a:ext>
            </a:extLst>
          </p:cNvPr>
          <p:cNvSpPr>
            <a:spLocks noGrp="1"/>
          </p:cNvSpPr>
          <p:nvPr>
            <p:ph type="body" sz="quarter" idx="13"/>
          </p:nvPr>
        </p:nvSpPr>
        <p:spPr/>
        <p:txBody>
          <a:bodyPr/>
          <a:lstStyle/>
          <a:p>
            <a:r>
              <a:rPr lang="en-US"/>
              <a:t>Each element has a role to play</a:t>
            </a:r>
          </a:p>
        </p:txBody>
      </p:sp>
    </p:spTree>
    <p:extLst>
      <p:ext uri="{BB962C8B-B14F-4D97-AF65-F5344CB8AC3E}">
        <p14:creationId xmlns:p14="http://schemas.microsoft.com/office/powerpoint/2010/main" val="341861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4518F-448D-ABCB-114C-9C9967C66D7D}"/>
              </a:ext>
            </a:extLst>
          </p:cNvPr>
          <p:cNvSpPr>
            <a:spLocks noGrp="1"/>
          </p:cNvSpPr>
          <p:nvPr>
            <p:ph type="title"/>
          </p:nvPr>
        </p:nvSpPr>
        <p:spPr/>
        <p:txBody>
          <a:bodyPr/>
          <a:lstStyle/>
          <a:p>
            <a:r>
              <a:rPr lang="en-US"/>
              <a:t>Media Spokespeople </a:t>
            </a:r>
          </a:p>
        </p:txBody>
      </p:sp>
      <p:graphicFrame>
        <p:nvGraphicFramePr>
          <p:cNvPr id="9" name="Table 9">
            <a:extLst>
              <a:ext uri="{FF2B5EF4-FFF2-40B4-BE49-F238E27FC236}">
                <a16:creationId xmlns:a16="http://schemas.microsoft.com/office/drawing/2014/main" id="{14C6324D-BA2A-9DAA-33CE-76521181A908}"/>
              </a:ext>
            </a:extLst>
          </p:cNvPr>
          <p:cNvGraphicFramePr>
            <a:graphicFrameLocks noGrp="1"/>
          </p:cNvGraphicFramePr>
          <p:nvPr>
            <p:ph idx="1"/>
            <p:extLst>
              <p:ext uri="{D42A27DB-BD31-4B8C-83A1-F6EECF244321}">
                <p14:modId xmlns:p14="http://schemas.microsoft.com/office/powerpoint/2010/main" val="4007849300"/>
              </p:ext>
            </p:extLst>
          </p:nvPr>
        </p:nvGraphicFramePr>
        <p:xfrm>
          <a:off x="521953" y="971630"/>
          <a:ext cx="8256287" cy="4630217"/>
        </p:xfrm>
        <a:graphic>
          <a:graphicData uri="http://schemas.openxmlformats.org/drawingml/2006/table">
            <a:tbl>
              <a:tblPr firstRow="1" bandRow="1">
                <a:tableStyleId>{5C22544A-7EE6-4342-B048-85BDC9FD1C3A}</a:tableStyleId>
              </a:tblPr>
              <a:tblGrid>
                <a:gridCol w="1322840">
                  <a:extLst>
                    <a:ext uri="{9D8B030D-6E8A-4147-A177-3AD203B41FA5}">
                      <a16:colId xmlns:a16="http://schemas.microsoft.com/office/drawing/2014/main" val="1078466459"/>
                    </a:ext>
                  </a:extLst>
                </a:gridCol>
                <a:gridCol w="1983916">
                  <a:extLst>
                    <a:ext uri="{9D8B030D-6E8A-4147-A177-3AD203B41FA5}">
                      <a16:colId xmlns:a16="http://schemas.microsoft.com/office/drawing/2014/main" val="4033984187"/>
                    </a:ext>
                  </a:extLst>
                </a:gridCol>
                <a:gridCol w="889595">
                  <a:extLst>
                    <a:ext uri="{9D8B030D-6E8A-4147-A177-3AD203B41FA5}">
                      <a16:colId xmlns:a16="http://schemas.microsoft.com/office/drawing/2014/main" val="643414518"/>
                    </a:ext>
                  </a:extLst>
                </a:gridCol>
                <a:gridCol w="1252728">
                  <a:extLst>
                    <a:ext uri="{9D8B030D-6E8A-4147-A177-3AD203B41FA5}">
                      <a16:colId xmlns:a16="http://schemas.microsoft.com/office/drawing/2014/main" val="4274947975"/>
                    </a:ext>
                  </a:extLst>
                </a:gridCol>
                <a:gridCol w="2807208">
                  <a:extLst>
                    <a:ext uri="{9D8B030D-6E8A-4147-A177-3AD203B41FA5}">
                      <a16:colId xmlns:a16="http://schemas.microsoft.com/office/drawing/2014/main" val="1606962788"/>
                    </a:ext>
                  </a:extLst>
                </a:gridCol>
              </a:tblGrid>
              <a:tr h="531691">
                <a:tc>
                  <a:txBody>
                    <a:bodyPr/>
                    <a:lstStyle/>
                    <a:p>
                      <a:r>
                        <a:rPr lang="en-US" sz="1050"/>
                        <a:t>Organization</a:t>
                      </a:r>
                    </a:p>
                  </a:txBody>
                  <a:tcPr>
                    <a:solidFill>
                      <a:srgbClr val="1B3169"/>
                    </a:solidFill>
                  </a:tcPr>
                </a:tc>
                <a:tc>
                  <a:txBody>
                    <a:bodyPr/>
                    <a:lstStyle/>
                    <a:p>
                      <a:r>
                        <a:rPr lang="en-US" sz="1050" dirty="0"/>
                        <a:t>Primary Spokesperson(s)</a:t>
                      </a:r>
                    </a:p>
                  </a:txBody>
                  <a:tcPr>
                    <a:solidFill>
                      <a:srgbClr val="1B3169"/>
                    </a:solidFill>
                  </a:tcPr>
                </a:tc>
                <a:tc>
                  <a:txBody>
                    <a:bodyPr/>
                    <a:lstStyle/>
                    <a:p>
                      <a:r>
                        <a:rPr lang="en-US" sz="1050"/>
                        <a:t>Quote in Press Release</a:t>
                      </a:r>
                    </a:p>
                  </a:txBody>
                  <a:tcPr>
                    <a:solidFill>
                      <a:srgbClr val="1B3169"/>
                    </a:solidFill>
                  </a:tcPr>
                </a:tc>
                <a:tc>
                  <a:txBody>
                    <a:bodyPr/>
                    <a:lstStyle/>
                    <a:p>
                      <a:r>
                        <a:rPr lang="en-US" sz="1000"/>
                        <a:t>Media (type)</a:t>
                      </a:r>
                    </a:p>
                  </a:txBody>
                  <a:tcPr>
                    <a:solidFill>
                      <a:srgbClr val="1B3169"/>
                    </a:solidFill>
                  </a:tcPr>
                </a:tc>
                <a:tc>
                  <a:txBody>
                    <a:bodyPr/>
                    <a:lstStyle/>
                    <a:p>
                      <a:r>
                        <a:rPr lang="en-US" sz="1050"/>
                        <a:t>Secondary Spokespersons </a:t>
                      </a:r>
                    </a:p>
                  </a:txBody>
                  <a:tcPr>
                    <a:solidFill>
                      <a:srgbClr val="1B3169"/>
                    </a:solidFill>
                  </a:tcPr>
                </a:tc>
                <a:extLst>
                  <a:ext uri="{0D108BD9-81ED-4DB2-BD59-A6C34878D82A}">
                    <a16:rowId xmlns:a16="http://schemas.microsoft.com/office/drawing/2014/main" val="3583565940"/>
                  </a:ext>
                </a:extLst>
              </a:tr>
              <a:tr h="531691">
                <a:tc>
                  <a:txBody>
                    <a:bodyPr/>
                    <a:lstStyle/>
                    <a:p>
                      <a:r>
                        <a:rPr lang="en-US" sz="1050" b="0"/>
                        <a:t>Blue Meridian</a:t>
                      </a:r>
                    </a:p>
                  </a:txBody>
                  <a:tcPr/>
                </a:tc>
                <a:tc>
                  <a:txBody>
                    <a:bodyPr/>
                    <a:lstStyle/>
                    <a:p>
                      <a:r>
                        <a:rPr lang="en-US" sz="1050" b="1"/>
                        <a:t>Jim Shelton, </a:t>
                      </a:r>
                      <a:r>
                        <a:rPr lang="en-US" sz="1050" b="1" i="1"/>
                        <a:t>CIIO and President</a:t>
                      </a:r>
                    </a:p>
                  </a:txBody>
                  <a:tcPr/>
                </a:tc>
                <a:tc>
                  <a:txBody>
                    <a:bodyPr/>
                    <a:lstStyle/>
                    <a:p>
                      <a:pPr marL="0" indent="0">
                        <a:buFont typeface="Arial" panose="020B0604020202020204" pitchFamily="34" charset="0"/>
                        <a:buNone/>
                      </a:pPr>
                      <a:r>
                        <a:rPr lang="en-US" sz="1050">
                          <a:solidFill>
                            <a:schemeClr val="tx1"/>
                          </a:solidFill>
                        </a:rPr>
                        <a:t>Yes</a:t>
                      </a:r>
                    </a:p>
                  </a:txBody>
                  <a:tcPr/>
                </a:tc>
                <a:tc>
                  <a:txBody>
                    <a:bodyPr/>
                    <a:lstStyle/>
                    <a:p>
                      <a:pPr marL="0" indent="0">
                        <a:buFont typeface="Arial"/>
                        <a:buNone/>
                      </a:pPr>
                      <a:r>
                        <a:rPr lang="en-US" sz="1050">
                          <a:solidFill>
                            <a:schemeClr val="tx1"/>
                          </a:solidFill>
                        </a:rPr>
                        <a:t>National media</a:t>
                      </a:r>
                    </a:p>
                  </a:txBody>
                  <a:tcPr/>
                </a:tc>
                <a:tc>
                  <a:txBody>
                    <a:bodyPr/>
                    <a:lstStyle/>
                    <a:p>
                      <a:r>
                        <a:rPr lang="en-US" sz="1050" dirty="0"/>
                        <a:t>Cecilia Gutierrez, </a:t>
                      </a:r>
                      <a:r>
                        <a:rPr lang="en-US" sz="1050" i="0" dirty="0"/>
                        <a:t>Managing Director and Place Matters Fund Lead</a:t>
                      </a:r>
                    </a:p>
                  </a:txBody>
                  <a:tcPr/>
                </a:tc>
                <a:extLst>
                  <a:ext uri="{0D108BD9-81ED-4DB2-BD59-A6C34878D82A}">
                    <a16:rowId xmlns:a16="http://schemas.microsoft.com/office/drawing/2014/main" val="2642973874"/>
                  </a:ext>
                </a:extLst>
              </a:tr>
              <a:tr h="531691">
                <a:tc>
                  <a:txBody>
                    <a:bodyPr/>
                    <a:lstStyle/>
                    <a:p>
                      <a:r>
                        <a:rPr lang="en-US" sz="1050" b="0"/>
                        <a:t>Ballmer Group</a:t>
                      </a:r>
                    </a:p>
                  </a:txBody>
                  <a:tcPr/>
                </a:tc>
                <a:tc>
                  <a:txBody>
                    <a:bodyPr/>
                    <a:lstStyle/>
                    <a:p>
                      <a:r>
                        <a:rPr lang="en-US" sz="1050" b="1"/>
                        <a:t>Terri Ludwig, </a:t>
                      </a:r>
                      <a:r>
                        <a:rPr lang="en-US" sz="1050" b="1" i="1"/>
                        <a:t>President</a:t>
                      </a:r>
                    </a:p>
                  </a:txBody>
                  <a:tcPr/>
                </a:tc>
                <a:tc>
                  <a:txBody>
                    <a:bodyPr/>
                    <a:lstStyle/>
                    <a:p>
                      <a:r>
                        <a:rPr lang="en-US" sz="1050" dirty="0">
                          <a:solidFill>
                            <a:schemeClr val="tx1"/>
                          </a:solidFill>
                        </a:rPr>
                        <a:t>Yes</a:t>
                      </a:r>
                    </a:p>
                  </a:txBody>
                  <a:tcPr/>
                </a:tc>
                <a:tc>
                  <a:txBody>
                    <a:bodyPr/>
                    <a:lstStyle/>
                    <a:p>
                      <a:pPr marL="0" indent="0">
                        <a:buFont typeface="Arial"/>
                        <a:buNone/>
                      </a:pPr>
                      <a:r>
                        <a:rPr lang="en-US" sz="1050">
                          <a:solidFill>
                            <a:schemeClr val="tx1"/>
                          </a:solidFill>
                        </a:rPr>
                        <a:t>National media</a:t>
                      </a:r>
                    </a:p>
                  </a:txBody>
                  <a:tcPr/>
                </a:tc>
                <a:tc>
                  <a:txBody>
                    <a:bodyPr/>
                    <a:lstStyle/>
                    <a:p>
                      <a:r>
                        <a:rPr lang="en-US" sz="1050" i="0"/>
                        <a:t>N/A</a:t>
                      </a:r>
                    </a:p>
                  </a:txBody>
                  <a:tcPr/>
                </a:tc>
                <a:extLst>
                  <a:ext uri="{0D108BD9-81ED-4DB2-BD59-A6C34878D82A}">
                    <a16:rowId xmlns:a16="http://schemas.microsoft.com/office/drawing/2014/main" val="4111545015"/>
                  </a:ext>
                </a:extLst>
              </a:tr>
              <a:tr h="680564">
                <a:tc>
                  <a:txBody>
                    <a:bodyPr/>
                    <a:lstStyle/>
                    <a:p>
                      <a:r>
                        <a:rPr lang="en-US" sz="1050" b="0"/>
                        <a:t>DALLAS - Commit/CPAL</a:t>
                      </a:r>
                    </a:p>
                  </a:txBody>
                  <a:tcPr/>
                </a:tc>
                <a:tc>
                  <a:txBody>
                    <a:bodyPr/>
                    <a:lstStyle/>
                    <a:p>
                      <a:r>
                        <a:rPr lang="en-US" sz="1050" b="1"/>
                        <a:t>John McPherson,</a:t>
                      </a:r>
                    </a:p>
                    <a:p>
                      <a:r>
                        <a:rPr lang="en-US" sz="1050" b="1" i="1"/>
                        <a:t>President,  Opportunity 20240</a:t>
                      </a:r>
                    </a:p>
                  </a:txBody>
                  <a:tcPr/>
                </a:tc>
                <a:tc>
                  <a:txBody>
                    <a:bodyPr/>
                    <a:lstStyle/>
                    <a:p>
                      <a:r>
                        <a:rPr lang="en-US" sz="1050">
                          <a:solidFill>
                            <a:schemeClr val="tx1"/>
                          </a:solidFill>
                        </a:rPr>
                        <a:t>Yes</a:t>
                      </a:r>
                    </a:p>
                  </a:txBody>
                  <a:tcPr/>
                </a:tc>
                <a:tc>
                  <a:txBody>
                    <a:bodyPr/>
                    <a:lstStyle/>
                    <a:p>
                      <a:r>
                        <a:rPr lang="en-US" sz="1050">
                          <a:solidFill>
                            <a:schemeClr val="tx1"/>
                          </a:solidFill>
                        </a:rPr>
                        <a:t>National and local media</a:t>
                      </a:r>
                    </a:p>
                  </a:txBody>
                  <a:tcPr/>
                </a:tc>
                <a:tc>
                  <a:txBody>
                    <a:bodyPr/>
                    <a:lstStyle/>
                    <a:p>
                      <a:r>
                        <a:rPr lang="en-US" sz="1050">
                          <a:solidFill>
                            <a:srgbClr val="FF0000"/>
                          </a:solidFill>
                        </a:rPr>
                        <a:t>TBC</a:t>
                      </a:r>
                    </a:p>
                    <a:p>
                      <a:pPr marL="171450" indent="-171450">
                        <a:buFont typeface="Arial" panose="020B0604020202020204" pitchFamily="34" charset="0"/>
                        <a:buChar char="•"/>
                      </a:pPr>
                      <a:r>
                        <a:rPr lang="en-US" sz="1050" b="0" i="0" u="none" strike="noStrike" noProof="0">
                          <a:solidFill>
                            <a:srgbClr val="000000"/>
                          </a:solidFill>
                          <a:latin typeface="Camphor Std"/>
                        </a:rPr>
                        <a:t>Todd Williams, CEO and Chairman, Commit</a:t>
                      </a:r>
                    </a:p>
                    <a:p>
                      <a:pPr marL="171450" indent="-171450">
                        <a:buFont typeface="Arial" panose="020B0604020202020204" pitchFamily="34" charset="0"/>
                        <a:buChar char="•"/>
                      </a:pPr>
                      <a:r>
                        <a:rPr lang="en-US" sz="1050" b="0" i="0" u="none" strike="noStrike" noProof="0">
                          <a:solidFill>
                            <a:srgbClr val="000000"/>
                          </a:solidFill>
                          <a:latin typeface="Camphor Std"/>
                        </a:rPr>
                        <a:t>Alan Cohen, Founder &amp; CEO,  CPAL</a:t>
                      </a:r>
                    </a:p>
                  </a:txBody>
                  <a:tcPr/>
                </a:tc>
                <a:extLst>
                  <a:ext uri="{0D108BD9-81ED-4DB2-BD59-A6C34878D82A}">
                    <a16:rowId xmlns:a16="http://schemas.microsoft.com/office/drawing/2014/main" val="336328712"/>
                  </a:ext>
                </a:extLst>
              </a:tr>
              <a:tr h="531691">
                <a:tc>
                  <a:txBody>
                    <a:bodyPr/>
                    <a:lstStyle/>
                    <a:p>
                      <a:r>
                        <a:rPr lang="en-US" sz="1050" b="0"/>
                        <a:t>SPARTANBURG - Spartanburg Academic Movement</a:t>
                      </a:r>
                    </a:p>
                  </a:txBody>
                  <a:tcPr/>
                </a:tc>
                <a:tc>
                  <a:txBody>
                    <a:bodyPr/>
                    <a:lstStyle/>
                    <a:p>
                      <a:r>
                        <a:rPr lang="en-US" sz="1050" b="1"/>
                        <a:t>Russell Booker, </a:t>
                      </a:r>
                      <a:r>
                        <a:rPr lang="en-US" sz="1050" b="1" i="1"/>
                        <a:t>CEO</a:t>
                      </a:r>
                    </a:p>
                  </a:txBody>
                  <a:tcPr/>
                </a:tc>
                <a:tc>
                  <a:txBody>
                    <a:bodyPr/>
                    <a:lstStyle/>
                    <a:p>
                      <a:r>
                        <a:rPr lang="en-US" sz="1050">
                          <a:solidFill>
                            <a:schemeClr val="tx1"/>
                          </a:solidFill>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Camphor Std"/>
                          <a:ea typeface="+mn-ea"/>
                          <a:cs typeface="+mn-cs"/>
                        </a:rPr>
                        <a:t>National and local media</a:t>
                      </a:r>
                    </a:p>
                  </a:txBody>
                  <a:tcPr/>
                </a:tc>
                <a:tc>
                  <a:txBody>
                    <a:bodyPr/>
                    <a:lstStyle/>
                    <a:p>
                      <a:pPr marL="0" marR="0" lvl="0" indent="0" algn="l">
                        <a:lnSpc>
                          <a:spcPct val="100000"/>
                        </a:lnSpc>
                        <a:spcBef>
                          <a:spcPts val="0"/>
                        </a:spcBef>
                        <a:spcAft>
                          <a:spcPts val="0"/>
                        </a:spcAft>
                        <a:buNone/>
                      </a:pPr>
                      <a:r>
                        <a:rPr lang="en-US" sz="1100" b="0" i="0" u="none" strike="noStrike" noProof="0">
                          <a:solidFill>
                            <a:srgbClr val="FF0000"/>
                          </a:solidFill>
                          <a:latin typeface="Camphor Std"/>
                        </a:rPr>
                        <a:t>TBC - to come from investee (+1 to 3 ppl)</a:t>
                      </a:r>
                    </a:p>
                  </a:txBody>
                  <a:tcPr/>
                </a:tc>
                <a:extLst>
                  <a:ext uri="{0D108BD9-81ED-4DB2-BD59-A6C34878D82A}">
                    <a16:rowId xmlns:a16="http://schemas.microsoft.com/office/drawing/2014/main" val="4076581726"/>
                  </a:ext>
                </a:extLst>
              </a:tr>
              <a:tr h="531691">
                <a:tc>
                  <a:txBody>
                    <a:bodyPr/>
                    <a:lstStyle/>
                    <a:p>
                      <a:r>
                        <a:rPr lang="en-US" sz="1050" b="0"/>
                        <a:t>SAN ANTONIO - UP Partnership</a:t>
                      </a:r>
                    </a:p>
                  </a:txBody>
                  <a:tcPr/>
                </a:tc>
                <a:tc>
                  <a:txBody>
                    <a:bodyPr/>
                    <a:lstStyle/>
                    <a:p>
                      <a:r>
                        <a:rPr lang="en-US" sz="1050" b="1"/>
                        <a:t>Ryan Lugalia-Hollon, </a:t>
                      </a:r>
                      <a:r>
                        <a:rPr lang="en-US" sz="1050" b="1" i="1"/>
                        <a:t>CEO</a:t>
                      </a:r>
                    </a:p>
                  </a:txBody>
                  <a:tcPr/>
                </a:tc>
                <a:tc>
                  <a:txBody>
                    <a:bodyPr/>
                    <a:lstStyle/>
                    <a:p>
                      <a:r>
                        <a:rPr lang="en-US" sz="1050" dirty="0">
                          <a:solidFill>
                            <a:schemeClr val="tx1"/>
                          </a:solidFill>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Camphor Std"/>
                          <a:ea typeface="+mn-ea"/>
                          <a:cs typeface="+mn-cs"/>
                        </a:rPr>
                        <a:t>National and local media</a:t>
                      </a:r>
                    </a:p>
                  </a:txBody>
                  <a:tcPr/>
                </a:tc>
                <a:tc>
                  <a:txBody>
                    <a:bodyPr/>
                    <a:lstStyle/>
                    <a:p>
                      <a:pPr marL="0" marR="0" lvl="0" indent="0" algn="l">
                        <a:lnSpc>
                          <a:spcPct val="100000"/>
                        </a:lnSpc>
                        <a:spcBef>
                          <a:spcPts val="0"/>
                        </a:spcBef>
                        <a:spcAft>
                          <a:spcPts val="0"/>
                        </a:spcAft>
                        <a:buNone/>
                      </a:pPr>
                      <a:r>
                        <a:rPr lang="en-US" sz="1100" b="0" i="0" u="none" strike="noStrike" noProof="0">
                          <a:solidFill>
                            <a:srgbClr val="FF0000"/>
                          </a:solidFill>
                          <a:latin typeface="Camphor Std"/>
                        </a:rPr>
                        <a:t>TBC - to come from investee</a:t>
                      </a:r>
                      <a:r>
                        <a:rPr lang="en-US" sz="1100" b="0" i="0" u="none" strike="noStrike" noProof="0">
                          <a:solidFill>
                            <a:srgbClr val="FF0000"/>
                          </a:solidFill>
                          <a:latin typeface="+mn-lt"/>
                        </a:rPr>
                        <a:t> (+1 to 3 ppl)</a:t>
                      </a:r>
                      <a:endParaRPr lang="en-US" sz="1100" b="0" i="0" u="none" strike="noStrike" noProof="0">
                        <a:solidFill>
                          <a:srgbClr val="FF0000"/>
                        </a:solidFill>
                        <a:latin typeface="Camphor Std"/>
                      </a:endParaRPr>
                    </a:p>
                  </a:txBody>
                  <a:tcPr/>
                </a:tc>
                <a:extLst>
                  <a:ext uri="{0D108BD9-81ED-4DB2-BD59-A6C34878D82A}">
                    <a16:rowId xmlns:a16="http://schemas.microsoft.com/office/drawing/2014/main" val="892794547"/>
                  </a:ext>
                </a:extLst>
              </a:tr>
              <a:tr h="978311">
                <a:tc>
                  <a:txBody>
                    <a:bodyPr/>
                    <a:lstStyle/>
                    <a:p>
                      <a:r>
                        <a:rPr lang="en-US" sz="1050" b="0" i="0"/>
                        <a:t>Special Role – Sector leader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i="0"/>
                        <a:t>Geoff Canada (WJW)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b="1" i="0"/>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a:t>Note – he is also a BMP board member but that would not be lead hat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b="1" i="0"/>
                    </a:p>
                  </a:txBody>
                  <a:tcPr/>
                </a:tc>
                <a:tc>
                  <a:txBody>
                    <a:bodyPr/>
                    <a:lstStyle/>
                    <a:p>
                      <a:r>
                        <a:rPr lang="en-US" sz="1050" dirty="0"/>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National media</a:t>
                      </a:r>
                    </a:p>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dirty="0"/>
                        <a:t>N/A</a:t>
                      </a:r>
                    </a:p>
                    <a:p>
                      <a:endParaRPr lang="en-US" sz="1000" dirty="0"/>
                    </a:p>
                  </a:txBody>
                  <a:tcPr/>
                </a:tc>
                <a:extLst>
                  <a:ext uri="{0D108BD9-81ED-4DB2-BD59-A6C34878D82A}">
                    <a16:rowId xmlns:a16="http://schemas.microsoft.com/office/drawing/2014/main" val="319538235"/>
                  </a:ext>
                </a:extLst>
              </a:tr>
            </a:tbl>
          </a:graphicData>
        </a:graphic>
      </p:graphicFrame>
      <p:sp>
        <p:nvSpPr>
          <p:cNvPr id="4" name="Slide Number Placeholder 3">
            <a:extLst>
              <a:ext uri="{FF2B5EF4-FFF2-40B4-BE49-F238E27FC236}">
                <a16:creationId xmlns:a16="http://schemas.microsoft.com/office/drawing/2014/main" id="{7528B567-AE86-6654-C8F8-CF0A25871DD4}"/>
              </a:ext>
            </a:extLst>
          </p:cNvPr>
          <p:cNvSpPr>
            <a:spLocks noGrp="1"/>
          </p:cNvSpPr>
          <p:nvPr>
            <p:ph type="sldNum" sz="quarter" idx="12"/>
          </p:nvPr>
        </p:nvSpPr>
        <p:spPr/>
        <p:txBody>
          <a:bodyPr/>
          <a:lstStyle/>
          <a:p>
            <a:fld id="{D4F07938-7C1D-46C8-9535-2404A951C984}" type="slidenum">
              <a:rPr lang="en-US" smtClean="0"/>
              <a:t>10</a:t>
            </a:fld>
            <a:endParaRPr lang="en-US"/>
          </a:p>
        </p:txBody>
      </p:sp>
      <p:sp>
        <p:nvSpPr>
          <p:cNvPr id="5" name="Star: 5 Points 4">
            <a:extLst>
              <a:ext uri="{FF2B5EF4-FFF2-40B4-BE49-F238E27FC236}">
                <a16:creationId xmlns:a16="http://schemas.microsoft.com/office/drawing/2014/main" id="{466EC187-C63B-C604-56E3-E947C082278F}"/>
              </a:ext>
            </a:extLst>
          </p:cNvPr>
          <p:cNvSpPr/>
          <p:nvPr/>
        </p:nvSpPr>
        <p:spPr>
          <a:xfrm>
            <a:off x="8625968" y="35518"/>
            <a:ext cx="454024" cy="396219"/>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7761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6BB8B-91DE-A737-775A-CEC7D644CAE7}"/>
              </a:ext>
            </a:extLst>
          </p:cNvPr>
          <p:cNvSpPr>
            <a:spLocks noGrp="1"/>
          </p:cNvSpPr>
          <p:nvPr>
            <p:ph type="title"/>
          </p:nvPr>
        </p:nvSpPr>
        <p:spPr/>
        <p:txBody>
          <a:bodyPr/>
          <a:lstStyle/>
          <a:p>
            <a:r>
              <a:rPr lang="en-US"/>
              <a:t>Media Key Risks</a:t>
            </a:r>
          </a:p>
        </p:txBody>
      </p:sp>
      <p:sp>
        <p:nvSpPr>
          <p:cNvPr id="3" name="Content Placeholder 2">
            <a:extLst>
              <a:ext uri="{FF2B5EF4-FFF2-40B4-BE49-F238E27FC236}">
                <a16:creationId xmlns:a16="http://schemas.microsoft.com/office/drawing/2014/main" id="{E0C5D80E-E2BE-D71F-2CA5-90722002E670}"/>
              </a:ext>
            </a:extLst>
          </p:cNvPr>
          <p:cNvSpPr>
            <a:spLocks noGrp="1"/>
          </p:cNvSpPr>
          <p:nvPr>
            <p:ph idx="1"/>
          </p:nvPr>
        </p:nvSpPr>
        <p:spPr>
          <a:xfrm>
            <a:off x="521953" y="1077281"/>
            <a:ext cx="8094997" cy="5017098"/>
          </a:xfrm>
        </p:spPr>
        <p:txBody>
          <a:bodyPr vert="horz" lIns="91440" tIns="45720" rIns="91440" bIns="45720" rtlCol="0" anchor="t">
            <a:noAutofit/>
          </a:bodyPr>
          <a:lstStyle/>
          <a:p>
            <a:pPr marL="0" indent="0">
              <a:buNone/>
            </a:pPr>
            <a:r>
              <a:rPr lang="en-US" sz="1400" b="1"/>
              <a:t>Risk 1: </a:t>
            </a:r>
            <a:r>
              <a:rPr lang="en-US" sz="1400">
                <a:solidFill>
                  <a:schemeClr val="bg2"/>
                </a:solidFill>
              </a:rPr>
              <a:t>Skepticism or misinterpretations of the $50M “match” requirement; accusations towards BMP of burdening the investees </a:t>
            </a:r>
          </a:p>
          <a:p>
            <a:pPr marL="285750" indent="-285750"/>
            <a:r>
              <a:rPr lang="en-US" sz="1200"/>
              <a:t>While we do not believe the details of capital aggregation is currently referenced in proactive materials, we recommend preparing a response in advance.</a:t>
            </a:r>
            <a:endParaRPr lang="en-US" sz="1200" b="1"/>
          </a:p>
          <a:p>
            <a:pPr marL="285750" indent="-285750"/>
            <a:r>
              <a:rPr lang="en-US" sz="1200" b="1"/>
              <a:t>Mitigation: </a:t>
            </a:r>
            <a:r>
              <a:rPr lang="en-US" sz="1200"/>
              <a:t>Guide investees to avoid use of the term “match” and offer other language; Clarify the purpose behind the fundraising requirement in messaging and FAQ; highlight that this is a key part of the partnership and joint commitment from BMP and the investees to show what's possible; highlight BMPs support to investees beyond the dollars (i.e. technical assistance and strategic counsel). </a:t>
            </a:r>
          </a:p>
          <a:p>
            <a:pPr marL="0" indent="0">
              <a:buNone/>
            </a:pPr>
            <a:r>
              <a:rPr lang="en-US" sz="1400" b="1"/>
              <a:t>Risk 2:</a:t>
            </a:r>
            <a:r>
              <a:rPr lang="en-US" sz="1400"/>
              <a:t> </a:t>
            </a:r>
            <a:r>
              <a:rPr lang="en-US" sz="1400">
                <a:solidFill>
                  <a:schemeClr val="bg2"/>
                </a:solidFill>
              </a:rPr>
              <a:t>Questions around the grant process; potential for reporters to get caught up in the details of how money is distributed and how quickly it will get to the intended recipients; BMP put in the position to defend the idea of place-based partnerships and giving.</a:t>
            </a:r>
            <a:endParaRPr lang="en-US">
              <a:solidFill>
                <a:schemeClr val="bg2"/>
              </a:solidFill>
            </a:endParaRPr>
          </a:p>
          <a:p>
            <a:pPr marL="285750" indent="-285750"/>
            <a:r>
              <a:rPr lang="en-US" sz="1200" b="1"/>
              <a:t>Mitigation:</a:t>
            </a:r>
            <a:r>
              <a:rPr lang="en-US" sz="1200"/>
              <a:t> Pivot back </a:t>
            </a:r>
            <a:r>
              <a:rPr lang="en-US" sz="1200">
                <a:ea typeface="+mn-lt"/>
                <a:cs typeface="+mn-lt"/>
              </a:rPr>
              <a:t>to the reason why BMP feels place-based philanthropy is an effective model; reiterate investees taking the lead in understanding what the community needs to thrive, while investors like BMP and other potential investors are enabling rather than directing. </a:t>
            </a:r>
          </a:p>
          <a:p>
            <a:pPr marL="0" indent="0">
              <a:buNone/>
            </a:pPr>
            <a:r>
              <a:rPr lang="en-US" sz="1400" b="1"/>
              <a:t>Risk 3: </a:t>
            </a:r>
            <a:r>
              <a:rPr lang="en-US" sz="1400">
                <a:solidFill>
                  <a:schemeClr val="bg2"/>
                </a:solidFill>
              </a:rPr>
              <a:t>Reporters may try to tie announcement to current politically-charged topics/events or make assumptions about BMP (and BG) political intentions or affiliations.</a:t>
            </a:r>
          </a:p>
          <a:p>
            <a:pPr marL="285750" indent="-285750"/>
            <a:r>
              <a:rPr lang="en-US" sz="1200" b="1"/>
              <a:t>Mitigation: </a:t>
            </a:r>
            <a:r>
              <a:rPr lang="en-US" sz="1200"/>
              <a:t>Reiterate the purpose of this approach and why BMP feels it can be catalytic.</a:t>
            </a:r>
          </a:p>
          <a:p>
            <a:pPr marL="0" indent="0">
              <a:buNone/>
            </a:pPr>
            <a:endParaRPr lang="en-US" sz="1400"/>
          </a:p>
          <a:p>
            <a:pPr marL="0">
              <a:buNone/>
            </a:pPr>
            <a:endParaRPr lang="en-US" sz="1800"/>
          </a:p>
          <a:p>
            <a:pPr marL="0">
              <a:buNone/>
            </a:pPr>
            <a:endParaRPr lang="en-US" sz="1800"/>
          </a:p>
        </p:txBody>
      </p:sp>
      <p:sp>
        <p:nvSpPr>
          <p:cNvPr id="4" name="Slide Number Placeholder 3">
            <a:extLst>
              <a:ext uri="{FF2B5EF4-FFF2-40B4-BE49-F238E27FC236}">
                <a16:creationId xmlns:a16="http://schemas.microsoft.com/office/drawing/2014/main" id="{758FDA9E-24B4-8F4B-24A4-999B16503354}"/>
              </a:ext>
            </a:extLst>
          </p:cNvPr>
          <p:cNvSpPr>
            <a:spLocks noGrp="1"/>
          </p:cNvSpPr>
          <p:nvPr>
            <p:ph type="sldNum" sz="quarter" idx="12"/>
          </p:nvPr>
        </p:nvSpPr>
        <p:spPr/>
        <p:txBody>
          <a:bodyPr/>
          <a:lstStyle/>
          <a:p>
            <a:fld id="{D4F07938-7C1D-46C8-9535-2404A951C984}" type="slidenum">
              <a:rPr lang="en-US" smtClean="0"/>
              <a:t>11</a:t>
            </a:fld>
            <a:endParaRPr lang="en-US"/>
          </a:p>
        </p:txBody>
      </p:sp>
    </p:spTree>
    <p:extLst>
      <p:ext uri="{BB962C8B-B14F-4D97-AF65-F5344CB8AC3E}">
        <p14:creationId xmlns:p14="http://schemas.microsoft.com/office/powerpoint/2010/main" val="2590244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10CB0-8148-BEA3-AA80-B0085286CDB7}"/>
              </a:ext>
            </a:extLst>
          </p:cNvPr>
          <p:cNvSpPr>
            <a:spLocks noGrp="1"/>
          </p:cNvSpPr>
          <p:nvPr>
            <p:ph type="title"/>
          </p:nvPr>
        </p:nvSpPr>
        <p:spPr/>
        <p:txBody>
          <a:bodyPr/>
          <a:lstStyle/>
          <a:p>
            <a:r>
              <a:rPr lang="en-US" dirty="0"/>
              <a:t>Investment Totals</a:t>
            </a:r>
          </a:p>
        </p:txBody>
      </p:sp>
      <p:sp>
        <p:nvSpPr>
          <p:cNvPr id="3" name="Content Placeholder 2">
            <a:extLst>
              <a:ext uri="{FF2B5EF4-FFF2-40B4-BE49-F238E27FC236}">
                <a16:creationId xmlns:a16="http://schemas.microsoft.com/office/drawing/2014/main" id="{EB821FC1-D5D1-9998-5B6D-9305008DE9C6}"/>
              </a:ext>
            </a:extLst>
          </p:cNvPr>
          <p:cNvSpPr>
            <a:spLocks noGrp="1"/>
          </p:cNvSpPr>
          <p:nvPr>
            <p:ph idx="1"/>
          </p:nvPr>
        </p:nvSpPr>
        <p:spPr>
          <a:xfrm>
            <a:off x="484631" y="1782332"/>
            <a:ext cx="8094997" cy="4391456"/>
          </a:xfrm>
        </p:spPr>
        <p:txBody>
          <a:bodyPr vert="horz" lIns="91440" tIns="45720" rIns="91440" bIns="45720" rtlCol="0" anchor="t">
            <a:noAutofit/>
          </a:bodyPr>
          <a:lstStyle/>
          <a:p>
            <a:pPr marL="0" indent="0">
              <a:buNone/>
            </a:pPr>
            <a:r>
              <a:rPr lang="en-US" sz="1400" b="1" dirty="0">
                <a:effectLst/>
                <a:latin typeface="Segoe UI" panose="020B0502040204020203" pitchFamily="34" charset="0"/>
              </a:rPr>
              <a:t>NOTE – B&amp;C has double-checked the accuracy of the respective funds raised </a:t>
            </a:r>
            <a:r>
              <a:rPr lang="en-US" sz="1400" b="1" dirty="0">
                <a:latin typeface="Segoe UI" panose="020B0502040204020203" pitchFamily="34" charset="0"/>
              </a:rPr>
              <a:t>with the Places (all funds raised as of 10/31) </a:t>
            </a:r>
            <a:endParaRPr lang="en-US" sz="1400" dirty="0">
              <a:effectLst/>
              <a:latin typeface="Segoe UI" panose="020B0502040204020203" pitchFamily="34" charset="0"/>
            </a:endParaRPr>
          </a:p>
          <a:p>
            <a:r>
              <a:rPr lang="en-US" sz="1400" b="1" dirty="0">
                <a:effectLst/>
                <a:latin typeface="Segoe UI"/>
                <a:cs typeface="Segoe UI"/>
              </a:rPr>
              <a:t>Dallas</a:t>
            </a:r>
            <a:r>
              <a:rPr lang="en-US" sz="1400" dirty="0">
                <a:effectLst/>
                <a:latin typeface="Segoe UI"/>
                <a:cs typeface="Segoe UI"/>
              </a:rPr>
              <a:t>: </a:t>
            </a:r>
            <a:r>
              <a:rPr lang="en-US" sz="1400" b="1" dirty="0">
                <a:solidFill>
                  <a:schemeClr val="accent4"/>
                </a:solidFill>
                <a:effectLst/>
                <a:latin typeface="Segoe UI"/>
                <a:cs typeface="Segoe UI"/>
              </a:rPr>
              <a:t>$</a:t>
            </a:r>
            <a:r>
              <a:rPr lang="en-US" sz="1400" b="1" dirty="0">
                <a:solidFill>
                  <a:schemeClr val="accent4"/>
                </a:solidFill>
                <a:latin typeface="Segoe UI"/>
                <a:cs typeface="Segoe UI"/>
              </a:rPr>
              <a:t>70M </a:t>
            </a:r>
            <a:r>
              <a:rPr lang="en-US" sz="1400" dirty="0">
                <a:latin typeface="Segoe UI"/>
                <a:cs typeface="Segoe UI"/>
              </a:rPr>
              <a:t>raised </a:t>
            </a:r>
            <a:r>
              <a:rPr lang="en-US" sz="1400" dirty="0">
                <a:effectLst/>
                <a:latin typeface="Segoe UI"/>
                <a:cs typeface="Segoe UI"/>
              </a:rPr>
              <a:t> + BMP $50M =</a:t>
            </a:r>
            <a:r>
              <a:rPr lang="en-US" sz="1400" b="1" dirty="0">
                <a:solidFill>
                  <a:srgbClr val="0091C8"/>
                </a:solidFill>
                <a:effectLst/>
                <a:latin typeface="Segoe UI"/>
                <a:cs typeface="Segoe UI"/>
              </a:rPr>
              <a:t>$</a:t>
            </a:r>
            <a:r>
              <a:rPr lang="en-US" sz="1400" b="1" dirty="0">
                <a:solidFill>
                  <a:srgbClr val="0091C8"/>
                </a:solidFill>
                <a:latin typeface="Segoe UI"/>
                <a:cs typeface="Segoe UI"/>
              </a:rPr>
              <a:t>120M</a:t>
            </a:r>
            <a:endParaRPr lang="en-US" sz="1400" dirty="0">
              <a:effectLst/>
              <a:latin typeface="Segoe UI" panose="020B0502040204020203" pitchFamily="34" charset="0"/>
            </a:endParaRPr>
          </a:p>
          <a:p>
            <a:r>
              <a:rPr lang="en-US" sz="1400" b="1" dirty="0">
                <a:effectLst/>
                <a:latin typeface="Segoe UI"/>
                <a:cs typeface="Segoe UI"/>
              </a:rPr>
              <a:t>Spartanburg</a:t>
            </a:r>
            <a:r>
              <a:rPr lang="en-US" sz="1400" dirty="0">
                <a:effectLst/>
                <a:latin typeface="Segoe UI"/>
                <a:cs typeface="Segoe UI"/>
              </a:rPr>
              <a:t>: </a:t>
            </a:r>
            <a:r>
              <a:rPr lang="en-US" sz="1400" b="1" dirty="0">
                <a:solidFill>
                  <a:schemeClr val="accent4"/>
                </a:solidFill>
                <a:effectLst/>
                <a:latin typeface="Segoe UI"/>
                <a:cs typeface="Segoe UI"/>
              </a:rPr>
              <a:t>$</a:t>
            </a:r>
            <a:r>
              <a:rPr lang="en-US" sz="1400" b="1" dirty="0">
                <a:solidFill>
                  <a:schemeClr val="accent4"/>
                </a:solidFill>
                <a:latin typeface="Segoe UI"/>
                <a:cs typeface="Segoe UI"/>
              </a:rPr>
              <a:t>25.25M </a:t>
            </a:r>
            <a:r>
              <a:rPr lang="en-US" sz="1400" dirty="0">
                <a:latin typeface="Segoe UI"/>
                <a:cs typeface="Segoe UI"/>
              </a:rPr>
              <a:t>raised</a:t>
            </a:r>
            <a:r>
              <a:rPr lang="en-US" sz="1400" dirty="0">
                <a:effectLst/>
                <a:latin typeface="Segoe UI"/>
                <a:cs typeface="Segoe UI"/>
              </a:rPr>
              <a:t> + The Duke Endowment/BMP $</a:t>
            </a:r>
            <a:r>
              <a:rPr lang="en-US" sz="1400" dirty="0">
                <a:latin typeface="Segoe UI"/>
                <a:cs typeface="Segoe UI"/>
              </a:rPr>
              <a:t>25M</a:t>
            </a:r>
            <a:r>
              <a:rPr lang="en-US" sz="1400" dirty="0">
                <a:effectLst/>
                <a:latin typeface="Segoe UI"/>
                <a:cs typeface="Segoe UI"/>
              </a:rPr>
              <a:t> + BMP $50M = </a:t>
            </a:r>
            <a:r>
              <a:rPr lang="en-US" sz="1400" b="1" dirty="0">
                <a:solidFill>
                  <a:srgbClr val="0091C8"/>
                </a:solidFill>
                <a:effectLst/>
                <a:latin typeface="Segoe UI"/>
                <a:cs typeface="Segoe UI"/>
              </a:rPr>
              <a:t>$100.25M</a:t>
            </a:r>
            <a:endParaRPr lang="en-US" sz="1400" dirty="0">
              <a:effectLst/>
              <a:latin typeface="Segoe UI" panose="020B0502040204020203" pitchFamily="34" charset="0"/>
            </a:endParaRPr>
          </a:p>
          <a:p>
            <a:r>
              <a:rPr lang="en-US" sz="1400" b="1" dirty="0">
                <a:effectLst/>
                <a:latin typeface="Segoe UI"/>
                <a:cs typeface="Segoe UI"/>
              </a:rPr>
              <a:t>San Antonio</a:t>
            </a:r>
            <a:r>
              <a:rPr lang="en-US" sz="1400" dirty="0">
                <a:effectLst/>
                <a:latin typeface="Segoe UI"/>
                <a:cs typeface="Segoe UI"/>
              </a:rPr>
              <a:t>: </a:t>
            </a:r>
            <a:r>
              <a:rPr lang="en-US" sz="1400" b="1" dirty="0">
                <a:solidFill>
                  <a:schemeClr val="accent4"/>
                </a:solidFill>
                <a:effectLst/>
                <a:latin typeface="Segoe UI"/>
                <a:cs typeface="Segoe UI"/>
              </a:rPr>
              <a:t>$</a:t>
            </a:r>
            <a:r>
              <a:rPr lang="en-US" sz="1400" b="1" dirty="0">
                <a:solidFill>
                  <a:schemeClr val="accent4"/>
                </a:solidFill>
                <a:latin typeface="Segoe UI"/>
                <a:cs typeface="Segoe UI"/>
              </a:rPr>
              <a:t>64M </a:t>
            </a:r>
            <a:r>
              <a:rPr lang="en-US" sz="1400" dirty="0">
                <a:latin typeface="Segoe UI"/>
                <a:cs typeface="Segoe UI"/>
              </a:rPr>
              <a:t>raised</a:t>
            </a:r>
            <a:r>
              <a:rPr lang="en-US" sz="1400" dirty="0">
                <a:effectLst/>
                <a:latin typeface="Segoe UI"/>
                <a:cs typeface="Segoe UI"/>
              </a:rPr>
              <a:t> + BMP $50M </a:t>
            </a:r>
            <a:r>
              <a:rPr lang="en-US" sz="1400" dirty="0">
                <a:solidFill>
                  <a:srgbClr val="0091C8"/>
                </a:solidFill>
                <a:effectLst/>
                <a:latin typeface="Segoe UI"/>
                <a:cs typeface="Segoe UI"/>
              </a:rPr>
              <a:t>= </a:t>
            </a:r>
            <a:r>
              <a:rPr lang="en-US" sz="1400" b="1" dirty="0">
                <a:solidFill>
                  <a:srgbClr val="0091C8"/>
                </a:solidFill>
                <a:effectLst/>
                <a:latin typeface="Segoe UI"/>
                <a:cs typeface="Segoe UI"/>
              </a:rPr>
              <a:t>$114M</a:t>
            </a:r>
            <a:endParaRPr lang="en-US" sz="1200" b="1" dirty="0">
              <a:effectLst/>
              <a:latin typeface="Segoe UI"/>
              <a:cs typeface="Segoe UI"/>
            </a:endParaRPr>
          </a:p>
          <a:p>
            <a:r>
              <a:rPr lang="en-US" sz="1400" b="1" dirty="0">
                <a:effectLst/>
                <a:latin typeface="Segoe UI"/>
                <a:cs typeface="Segoe UI"/>
              </a:rPr>
              <a:t>OVERALL TOTAL</a:t>
            </a:r>
            <a:r>
              <a:rPr lang="en-US" sz="1400" b="1" dirty="0">
                <a:latin typeface="Segoe UI"/>
                <a:cs typeface="Segoe UI"/>
              </a:rPr>
              <a:t> </a:t>
            </a:r>
            <a:r>
              <a:rPr lang="en-US" sz="1400" b="1" dirty="0">
                <a:effectLst/>
                <a:latin typeface="Segoe UI"/>
                <a:cs typeface="Segoe UI"/>
              </a:rPr>
              <a:t> CATALYZED BY PLACES (w/</a:t>
            </a:r>
            <a:r>
              <a:rPr lang="en-US" sz="1400" b="1" dirty="0">
                <a:latin typeface="Segoe UI"/>
                <a:cs typeface="Segoe UI"/>
              </a:rPr>
              <a:t>out BMP)</a:t>
            </a:r>
            <a:r>
              <a:rPr lang="en-US" sz="1400" b="1" dirty="0">
                <a:effectLst/>
                <a:latin typeface="Segoe UI"/>
                <a:cs typeface="Segoe UI"/>
              </a:rPr>
              <a:t>= </a:t>
            </a:r>
            <a:r>
              <a:rPr lang="en-US" sz="1400" b="1" dirty="0">
                <a:solidFill>
                  <a:schemeClr val="accent4"/>
                </a:solidFill>
                <a:effectLst/>
                <a:latin typeface="Segoe UI"/>
                <a:cs typeface="Segoe UI"/>
              </a:rPr>
              <a:t>$184.2M </a:t>
            </a:r>
            <a:endParaRPr lang="en-US" sz="1400" b="1" i="1" dirty="0">
              <a:solidFill>
                <a:schemeClr val="accent4"/>
              </a:solidFill>
              <a:latin typeface="Segoe UI"/>
              <a:cs typeface="Segoe UI"/>
            </a:endParaRPr>
          </a:p>
          <a:p>
            <a:pPr lvl="1">
              <a:buFont typeface="Wingdings" panose="05000000000000000000" pitchFamily="2" charset="2"/>
              <a:buChar char="Ø"/>
            </a:pPr>
            <a:r>
              <a:rPr lang="en-US" sz="1200" i="1" dirty="0">
                <a:effectLst/>
                <a:latin typeface="Segoe UI"/>
                <a:cs typeface="Segoe UI"/>
              </a:rPr>
              <a:t>for external use = </a:t>
            </a:r>
            <a:r>
              <a:rPr lang="en-US" sz="1200" b="1" i="1" dirty="0">
                <a:solidFill>
                  <a:schemeClr val="accent4"/>
                </a:solidFill>
                <a:effectLst/>
                <a:latin typeface="Segoe UI"/>
                <a:cs typeface="Segoe UI"/>
              </a:rPr>
              <a:t>“</a:t>
            </a:r>
            <a:r>
              <a:rPr lang="en-US" sz="1200" b="1" i="1" dirty="0">
                <a:solidFill>
                  <a:schemeClr val="accent4"/>
                </a:solidFill>
                <a:latin typeface="Segoe UI"/>
                <a:cs typeface="Segoe UI"/>
              </a:rPr>
              <a:t>nearly</a:t>
            </a:r>
            <a:r>
              <a:rPr lang="en-US" sz="1200" b="1" i="1" dirty="0">
                <a:solidFill>
                  <a:schemeClr val="accent4"/>
                </a:solidFill>
                <a:effectLst/>
                <a:latin typeface="Segoe UI"/>
                <a:cs typeface="Segoe UI"/>
              </a:rPr>
              <a:t> $185M”</a:t>
            </a:r>
            <a:endParaRPr lang="en-US" sz="1400" i="1" dirty="0">
              <a:solidFill>
                <a:schemeClr val="accent4"/>
              </a:solidFill>
              <a:latin typeface="Segoe UI" panose="020B0502040204020203" pitchFamily="34" charset="0"/>
            </a:endParaRPr>
          </a:p>
          <a:p>
            <a:endParaRPr lang="en-US" sz="1600" b="1" dirty="0">
              <a:effectLst/>
              <a:latin typeface="Segoe UI"/>
              <a:cs typeface="Segoe UI"/>
            </a:endParaRPr>
          </a:p>
          <a:p>
            <a:r>
              <a:rPr lang="en-US" sz="1600" b="1" dirty="0">
                <a:effectLst/>
                <a:latin typeface="Segoe UI"/>
                <a:cs typeface="Segoe UI"/>
              </a:rPr>
              <a:t>OVERALL TOTAL CATALYZED INCLUDING BMP INVESTMENTS = </a:t>
            </a:r>
            <a:r>
              <a:rPr lang="en-US" sz="1600" b="1" dirty="0">
                <a:solidFill>
                  <a:srgbClr val="0091C8"/>
                </a:solidFill>
                <a:effectLst/>
                <a:latin typeface="Segoe UI"/>
                <a:cs typeface="Segoe UI"/>
              </a:rPr>
              <a:t>$334.</a:t>
            </a:r>
            <a:r>
              <a:rPr lang="en-US" sz="1600" b="1" dirty="0">
                <a:solidFill>
                  <a:srgbClr val="0091C8"/>
                </a:solidFill>
                <a:latin typeface="Segoe UI"/>
                <a:cs typeface="Segoe UI"/>
              </a:rPr>
              <a:t>2</a:t>
            </a:r>
            <a:r>
              <a:rPr lang="en-US" sz="1600" b="1" dirty="0">
                <a:solidFill>
                  <a:srgbClr val="0091C8"/>
                </a:solidFill>
                <a:effectLst/>
                <a:latin typeface="Segoe UI"/>
                <a:cs typeface="Segoe UI"/>
              </a:rPr>
              <a:t>M</a:t>
            </a:r>
            <a:r>
              <a:rPr lang="en-US" sz="1600" b="1" dirty="0">
                <a:solidFill>
                  <a:srgbClr val="0091C8"/>
                </a:solidFill>
                <a:latin typeface="Segoe UI"/>
                <a:cs typeface="Segoe UI"/>
              </a:rPr>
              <a:t>  </a:t>
            </a:r>
          </a:p>
          <a:p>
            <a:pPr lvl="1">
              <a:buFont typeface="Wingdings" panose="05000000000000000000" pitchFamily="2" charset="2"/>
              <a:buChar char="Ø"/>
            </a:pPr>
            <a:r>
              <a:rPr lang="en-US" sz="1200" i="1" dirty="0">
                <a:effectLst/>
                <a:latin typeface="Segoe UI"/>
                <a:cs typeface="Segoe UI"/>
              </a:rPr>
              <a:t>for external use = </a:t>
            </a:r>
            <a:r>
              <a:rPr lang="en-US" sz="1200" b="1" i="1" dirty="0">
                <a:solidFill>
                  <a:schemeClr val="bg2"/>
                </a:solidFill>
                <a:effectLst/>
                <a:latin typeface="Segoe UI"/>
                <a:cs typeface="Segoe UI"/>
              </a:rPr>
              <a:t>“nearly $33</a:t>
            </a:r>
            <a:r>
              <a:rPr lang="en-US" sz="1200" b="1" i="1" dirty="0">
                <a:solidFill>
                  <a:schemeClr val="bg2"/>
                </a:solidFill>
                <a:latin typeface="Segoe UI"/>
                <a:cs typeface="Segoe UI"/>
              </a:rPr>
              <a:t>5</a:t>
            </a:r>
            <a:r>
              <a:rPr lang="en-US" sz="1200" b="1" i="1" dirty="0">
                <a:solidFill>
                  <a:schemeClr val="bg2"/>
                </a:solidFill>
                <a:effectLst/>
                <a:latin typeface="Segoe UI"/>
                <a:cs typeface="Segoe UI"/>
              </a:rPr>
              <a:t>M”</a:t>
            </a:r>
            <a:endParaRPr lang="en-US" sz="1200" i="1" dirty="0">
              <a:latin typeface="Segoe UI"/>
              <a:cs typeface="Segoe UI"/>
            </a:endParaRPr>
          </a:p>
        </p:txBody>
      </p:sp>
      <p:sp>
        <p:nvSpPr>
          <p:cNvPr id="4" name="Slide Number Placeholder 3">
            <a:extLst>
              <a:ext uri="{FF2B5EF4-FFF2-40B4-BE49-F238E27FC236}">
                <a16:creationId xmlns:a16="http://schemas.microsoft.com/office/drawing/2014/main" id="{A2A9589F-16E7-AC08-FB7F-37F0271B01F1}"/>
              </a:ext>
            </a:extLst>
          </p:cNvPr>
          <p:cNvSpPr>
            <a:spLocks noGrp="1"/>
          </p:cNvSpPr>
          <p:nvPr>
            <p:ph type="sldNum" sz="quarter" idx="12"/>
          </p:nvPr>
        </p:nvSpPr>
        <p:spPr/>
        <p:txBody>
          <a:bodyPr/>
          <a:lstStyle/>
          <a:p>
            <a:fld id="{D4F07938-7C1D-46C8-9535-2404A951C984}" type="slidenum">
              <a:rPr lang="en-US" smtClean="0"/>
              <a:t>12</a:t>
            </a:fld>
            <a:endParaRPr lang="en-US"/>
          </a:p>
        </p:txBody>
      </p:sp>
      <p:sp>
        <p:nvSpPr>
          <p:cNvPr id="5" name="Text Placeholder 4">
            <a:extLst>
              <a:ext uri="{FF2B5EF4-FFF2-40B4-BE49-F238E27FC236}">
                <a16:creationId xmlns:a16="http://schemas.microsoft.com/office/drawing/2014/main" id="{E2FB2A0C-E1F7-99D0-7FF2-66606B146A3F}"/>
              </a:ext>
            </a:extLst>
          </p:cNvPr>
          <p:cNvSpPr>
            <a:spLocks noGrp="1"/>
          </p:cNvSpPr>
          <p:nvPr>
            <p:ph type="body" sz="quarter" idx="13"/>
          </p:nvPr>
        </p:nvSpPr>
        <p:spPr>
          <a:xfrm>
            <a:off x="521954" y="959305"/>
            <a:ext cx="8020352" cy="640465"/>
          </a:xfrm>
        </p:spPr>
        <p:txBody>
          <a:bodyPr vert="horz" lIns="91440" tIns="45720" rIns="91440" bIns="45720" rtlCol="0" anchor="t">
            <a:noAutofit/>
          </a:bodyPr>
          <a:lstStyle/>
          <a:p>
            <a:r>
              <a:rPr lang="en-US" sz="1600" dirty="0">
                <a:effectLst/>
                <a:latin typeface="Segoe UI"/>
                <a:cs typeface="Segoe UI"/>
              </a:rPr>
              <a:t>For collective awareness and to ensure </a:t>
            </a:r>
            <a:r>
              <a:rPr lang="en-US" sz="1600" dirty="0">
                <a:latin typeface="Segoe UI"/>
                <a:cs typeface="Segoe UI"/>
              </a:rPr>
              <a:t>consistency in the numbers we all use, </a:t>
            </a:r>
            <a:r>
              <a:rPr lang="en-US" sz="1600" dirty="0">
                <a:effectLst/>
                <a:latin typeface="Segoe UI"/>
                <a:cs typeface="Segoe UI"/>
              </a:rPr>
              <a:t>the totals catalyzed by the three Places</a:t>
            </a:r>
            <a:r>
              <a:rPr lang="en-US" sz="1600" dirty="0">
                <a:latin typeface="Segoe UI"/>
                <a:cs typeface="Segoe UI"/>
              </a:rPr>
              <a:t> </a:t>
            </a:r>
            <a:r>
              <a:rPr lang="en-US" sz="1600" dirty="0">
                <a:effectLst/>
                <a:latin typeface="Segoe UI"/>
                <a:cs typeface="Segoe UI"/>
              </a:rPr>
              <a:t>+ BMPs</a:t>
            </a:r>
            <a:r>
              <a:rPr lang="en-US" sz="1600" dirty="0">
                <a:latin typeface="Segoe UI"/>
                <a:cs typeface="Segoe UI"/>
              </a:rPr>
              <a:t> </a:t>
            </a:r>
            <a:r>
              <a:rPr lang="en-US" sz="1600" dirty="0">
                <a:effectLst/>
                <a:latin typeface="Segoe UI"/>
                <a:cs typeface="Segoe UI"/>
              </a:rPr>
              <a:t>investment are below (</a:t>
            </a:r>
            <a:r>
              <a:rPr lang="en-US" sz="1600" i="1" dirty="0">
                <a:effectLst/>
                <a:latin typeface="Segoe UI"/>
                <a:cs typeface="Segoe UI"/>
              </a:rPr>
              <a:t>input as of 11/3/23</a:t>
            </a:r>
            <a:r>
              <a:rPr lang="en-US" sz="1600" dirty="0">
                <a:effectLst/>
                <a:latin typeface="Segoe UI"/>
                <a:cs typeface="Segoe UI"/>
              </a:rPr>
              <a:t>).</a:t>
            </a:r>
            <a:r>
              <a:rPr lang="en-US" sz="1600" dirty="0">
                <a:latin typeface="Segoe UI"/>
                <a:cs typeface="Segoe UI"/>
              </a:rPr>
              <a:t> </a:t>
            </a:r>
            <a:endParaRPr lang="en-US" sz="1600" dirty="0"/>
          </a:p>
        </p:txBody>
      </p:sp>
    </p:spTree>
    <p:extLst>
      <p:ext uri="{BB962C8B-B14F-4D97-AF65-F5344CB8AC3E}">
        <p14:creationId xmlns:p14="http://schemas.microsoft.com/office/powerpoint/2010/main" val="1271045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968DD8-9F49-1019-5104-31A39691728B}"/>
              </a:ext>
            </a:extLst>
          </p:cNvPr>
          <p:cNvSpPr>
            <a:spLocks noGrp="1"/>
          </p:cNvSpPr>
          <p:nvPr>
            <p:ph type="body" sz="quarter" idx="12"/>
          </p:nvPr>
        </p:nvSpPr>
        <p:spPr/>
        <p:txBody>
          <a:bodyPr/>
          <a:lstStyle/>
          <a:p>
            <a:r>
              <a:rPr lang="en-US"/>
              <a:t>Timeline</a:t>
            </a:r>
          </a:p>
        </p:txBody>
      </p:sp>
      <p:sp>
        <p:nvSpPr>
          <p:cNvPr id="5" name="Text Placeholder 4">
            <a:extLst>
              <a:ext uri="{FF2B5EF4-FFF2-40B4-BE49-F238E27FC236}">
                <a16:creationId xmlns:a16="http://schemas.microsoft.com/office/drawing/2014/main" id="{AF73869E-684F-91FD-E30F-154BDCCD6D66}"/>
              </a:ext>
            </a:extLst>
          </p:cNvPr>
          <p:cNvSpPr>
            <a:spLocks noGrp="1"/>
          </p:cNvSpPr>
          <p:nvPr>
            <p:ph type="body" sz="quarter" idx="13"/>
          </p:nvPr>
        </p:nvSpPr>
        <p:spPr/>
        <p:txBody>
          <a:bodyPr/>
          <a:lstStyle/>
          <a:p>
            <a:r>
              <a:rPr lang="en-US"/>
              <a:t>Nov 29</a:t>
            </a:r>
            <a:r>
              <a:rPr lang="en-US" baseline="30000"/>
              <a:t>th</a:t>
            </a:r>
            <a:r>
              <a:rPr lang="en-US"/>
              <a:t> launch date and key dates along on this path </a:t>
            </a:r>
          </a:p>
        </p:txBody>
      </p:sp>
    </p:spTree>
    <p:extLst>
      <p:ext uri="{BB962C8B-B14F-4D97-AF65-F5344CB8AC3E}">
        <p14:creationId xmlns:p14="http://schemas.microsoft.com/office/powerpoint/2010/main" val="3197500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F343B-938F-E829-6B03-A3BDFA21EB85}"/>
              </a:ext>
            </a:extLst>
          </p:cNvPr>
          <p:cNvSpPr>
            <a:spLocks noGrp="1"/>
          </p:cNvSpPr>
          <p:nvPr>
            <p:ph type="title"/>
          </p:nvPr>
        </p:nvSpPr>
        <p:spPr/>
        <p:txBody>
          <a:bodyPr/>
          <a:lstStyle/>
          <a:p>
            <a:r>
              <a:rPr lang="en-US"/>
              <a:t>Nov 29 Launch Date Background</a:t>
            </a:r>
          </a:p>
        </p:txBody>
      </p:sp>
      <p:sp>
        <p:nvSpPr>
          <p:cNvPr id="3" name="Content Placeholder 2">
            <a:extLst>
              <a:ext uri="{FF2B5EF4-FFF2-40B4-BE49-F238E27FC236}">
                <a16:creationId xmlns:a16="http://schemas.microsoft.com/office/drawing/2014/main" id="{970B39D5-A4F6-6757-AA94-C41DF1F55255}"/>
              </a:ext>
            </a:extLst>
          </p:cNvPr>
          <p:cNvSpPr>
            <a:spLocks noGrp="1"/>
          </p:cNvSpPr>
          <p:nvPr>
            <p:ph idx="1"/>
          </p:nvPr>
        </p:nvSpPr>
        <p:spPr>
          <a:xfrm>
            <a:off x="521953" y="1233271"/>
            <a:ext cx="8332798" cy="4962255"/>
          </a:xfrm>
        </p:spPr>
        <p:txBody>
          <a:bodyPr vert="horz" lIns="91440" tIns="45720" rIns="91440" bIns="45720" rtlCol="0" anchor="t">
            <a:noAutofit/>
          </a:bodyPr>
          <a:lstStyle/>
          <a:p>
            <a:endParaRPr lang="en-US" b="1" dirty="0"/>
          </a:p>
          <a:p>
            <a:r>
              <a:rPr lang="en-US" b="1" dirty="0">
                <a:solidFill>
                  <a:schemeClr val="accent4"/>
                </a:solidFill>
              </a:rPr>
              <a:t>Pros</a:t>
            </a:r>
            <a:endParaRPr lang="en-US" dirty="0">
              <a:solidFill>
                <a:schemeClr val="accent4"/>
              </a:solidFill>
            </a:endParaRPr>
          </a:p>
          <a:p>
            <a:pPr lvl="1"/>
            <a:r>
              <a:rPr lang="en-US" sz="1600" dirty="0">
                <a:solidFill>
                  <a:srgbClr val="000000"/>
                </a:solidFill>
              </a:rPr>
              <a:t>Gets as close to the San Antonio announcement date as possible which is ideal for setting broader context around our announcement </a:t>
            </a:r>
          </a:p>
          <a:p>
            <a:pPr lvl="1"/>
            <a:r>
              <a:rPr lang="en-US" sz="1600" dirty="0">
                <a:solidFill>
                  <a:srgbClr val="000000"/>
                </a:solidFill>
              </a:rPr>
              <a:t>The date takes into account the upcoming Thanksgiving holiday outages for both media and BMP/partner spokespersons for interview coordination as well as general media activity around Giving Tuesday  </a:t>
            </a:r>
          </a:p>
          <a:p>
            <a:pPr lvl="2"/>
            <a:r>
              <a:rPr lang="en-US" sz="1400" dirty="0">
                <a:solidFill>
                  <a:srgbClr val="000000"/>
                </a:solidFill>
              </a:rPr>
              <a:t>The Wednesday selection takes into account both weekend and holiday outages, giving us an opportunity to touch base with media after the holidays </a:t>
            </a:r>
          </a:p>
          <a:p>
            <a:r>
              <a:rPr lang="en-US" b="1" dirty="0">
                <a:solidFill>
                  <a:srgbClr val="FF0000"/>
                </a:solidFill>
              </a:rPr>
              <a:t>Cons</a:t>
            </a:r>
          </a:p>
          <a:p>
            <a:pPr lvl="1"/>
            <a:r>
              <a:rPr lang="en-US" sz="1600" dirty="0"/>
              <a:t>Tight time frame, but maximized per partner timelines </a:t>
            </a:r>
          </a:p>
          <a:p>
            <a:pPr lvl="1"/>
            <a:r>
              <a:rPr lang="en-US" sz="1600" dirty="0"/>
              <a:t>Timeframe unrealistic for op-ed development and placement; thus our recommendation is to </a:t>
            </a:r>
            <a:r>
              <a:rPr lang="en-US" sz="1600" b="1" dirty="0"/>
              <a:t>postpone that particular effort and weave into 2024 strategy, </a:t>
            </a:r>
            <a:r>
              <a:rPr lang="en-US" sz="1600" dirty="0"/>
              <a:t>which is likely to also have a bigger impact story</a:t>
            </a:r>
          </a:p>
          <a:p>
            <a:pPr lvl="1"/>
            <a:endParaRPr lang="en-US" dirty="0"/>
          </a:p>
        </p:txBody>
      </p:sp>
      <p:sp>
        <p:nvSpPr>
          <p:cNvPr id="4" name="Slide Number Placeholder 3">
            <a:extLst>
              <a:ext uri="{FF2B5EF4-FFF2-40B4-BE49-F238E27FC236}">
                <a16:creationId xmlns:a16="http://schemas.microsoft.com/office/drawing/2014/main" id="{4F41C8FF-EAB6-6C44-D3FD-F5259D364C75}"/>
              </a:ext>
            </a:extLst>
          </p:cNvPr>
          <p:cNvSpPr>
            <a:spLocks noGrp="1"/>
          </p:cNvSpPr>
          <p:nvPr>
            <p:ph type="sldNum" sz="quarter" idx="12"/>
          </p:nvPr>
        </p:nvSpPr>
        <p:spPr/>
        <p:txBody>
          <a:bodyPr/>
          <a:lstStyle/>
          <a:p>
            <a:fld id="{D4F07938-7C1D-46C8-9535-2404A951C984}" type="slidenum">
              <a:rPr lang="en-US" smtClean="0"/>
              <a:t>14</a:t>
            </a:fld>
            <a:endParaRPr lang="en-US"/>
          </a:p>
        </p:txBody>
      </p:sp>
      <p:sp>
        <p:nvSpPr>
          <p:cNvPr id="5" name="Text Placeholder 4">
            <a:extLst>
              <a:ext uri="{FF2B5EF4-FFF2-40B4-BE49-F238E27FC236}">
                <a16:creationId xmlns:a16="http://schemas.microsoft.com/office/drawing/2014/main" id="{DB4A9653-A2DB-054C-82D1-8ED826003278}"/>
              </a:ext>
            </a:extLst>
          </p:cNvPr>
          <p:cNvSpPr>
            <a:spLocks noGrp="1"/>
          </p:cNvSpPr>
          <p:nvPr>
            <p:ph type="body" sz="quarter" idx="13"/>
          </p:nvPr>
        </p:nvSpPr>
        <p:spPr/>
        <p:txBody>
          <a:bodyPr vert="horz" lIns="91440" tIns="45720" rIns="91440" bIns="45720" rtlCol="0" anchor="t">
            <a:noAutofit/>
          </a:bodyPr>
          <a:lstStyle/>
          <a:p>
            <a:r>
              <a:rPr lang="en-US" dirty="0"/>
              <a:t>We recommend debuting our national and regional announcements on Wednesday, November 29th at 7am ET</a:t>
            </a:r>
          </a:p>
          <a:p>
            <a:endParaRPr lang="en-US" dirty="0"/>
          </a:p>
        </p:txBody>
      </p:sp>
    </p:spTree>
    <p:extLst>
      <p:ext uri="{BB962C8B-B14F-4D97-AF65-F5344CB8AC3E}">
        <p14:creationId xmlns:p14="http://schemas.microsoft.com/office/powerpoint/2010/main" val="1652722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04383-07E7-F6EC-6CD5-B8ED2D8C3E90}"/>
              </a:ext>
            </a:extLst>
          </p:cNvPr>
          <p:cNvSpPr>
            <a:spLocks noGrp="1"/>
          </p:cNvSpPr>
          <p:nvPr>
            <p:ph type="title"/>
          </p:nvPr>
        </p:nvSpPr>
        <p:spPr/>
        <p:txBody>
          <a:bodyPr/>
          <a:lstStyle/>
          <a:p>
            <a:r>
              <a:rPr lang="en-US"/>
              <a:t>Timeline – Key</a:t>
            </a:r>
            <a:r>
              <a:rPr lang="en-US" dirty="0"/>
              <a:t> Milestone Dates</a:t>
            </a:r>
          </a:p>
        </p:txBody>
      </p:sp>
      <p:sp>
        <p:nvSpPr>
          <p:cNvPr id="3" name="Content Placeholder 2">
            <a:extLst>
              <a:ext uri="{FF2B5EF4-FFF2-40B4-BE49-F238E27FC236}">
                <a16:creationId xmlns:a16="http://schemas.microsoft.com/office/drawing/2014/main" id="{2CFEEAB1-6F45-3ACF-4133-69DBD4A07DEB}"/>
              </a:ext>
            </a:extLst>
          </p:cNvPr>
          <p:cNvSpPr>
            <a:spLocks noGrp="1"/>
          </p:cNvSpPr>
          <p:nvPr>
            <p:ph idx="1"/>
          </p:nvPr>
        </p:nvSpPr>
        <p:spPr/>
        <p:txBody>
          <a:bodyPr vert="horz" lIns="91440" tIns="45720" rIns="91440" bIns="45720" rtlCol="0" anchor="t">
            <a:noAutofit/>
          </a:bodyPr>
          <a:lstStyle/>
          <a:p>
            <a:pPr marL="457200" indent="-457200">
              <a:buFont typeface="+mj-lt"/>
              <a:buAutoNum type="arabicPeriod"/>
            </a:pPr>
            <a:r>
              <a:rPr lang="en-US" dirty="0"/>
              <a:t>Media approach and launch date locked between BMP and investees – </a:t>
            </a:r>
            <a:r>
              <a:rPr lang="en-US" b="1" dirty="0">
                <a:solidFill>
                  <a:schemeClr val="accent3"/>
                </a:solidFill>
              </a:rPr>
              <a:t>11/2</a:t>
            </a:r>
            <a:endParaRPr lang="en-US" dirty="0">
              <a:solidFill>
                <a:schemeClr val="accent3"/>
              </a:solidFill>
            </a:endParaRPr>
          </a:p>
          <a:p>
            <a:pPr marL="457200" indent="-457200">
              <a:buFont typeface="+mj-lt"/>
              <a:buAutoNum type="arabicPeriod"/>
            </a:pPr>
            <a:r>
              <a:rPr lang="en-US" dirty="0"/>
              <a:t>Lead angle &amp; Press release finalized – </a:t>
            </a:r>
            <a:r>
              <a:rPr lang="en-US" b="1" dirty="0">
                <a:solidFill>
                  <a:schemeClr val="accent3"/>
                </a:solidFill>
              </a:rPr>
              <a:t>11/8</a:t>
            </a:r>
          </a:p>
          <a:p>
            <a:pPr marL="457200" indent="-457200">
              <a:buFont typeface="+mj-lt"/>
              <a:buAutoNum type="arabicPeriod"/>
            </a:pPr>
            <a:r>
              <a:rPr lang="en-US" dirty="0"/>
              <a:t>PM Media Playbook finalized – </a:t>
            </a:r>
            <a:r>
              <a:rPr lang="en-US" b="1" dirty="0">
                <a:solidFill>
                  <a:schemeClr val="accent3"/>
                </a:solidFill>
              </a:rPr>
              <a:t>11/9</a:t>
            </a:r>
            <a:endParaRPr lang="en-US" dirty="0">
              <a:solidFill>
                <a:schemeClr val="accent3"/>
              </a:solidFill>
            </a:endParaRPr>
          </a:p>
          <a:p>
            <a:pPr marL="457200" indent="-457200">
              <a:buFont typeface="+mj-lt"/>
              <a:buAutoNum type="arabicPeriod"/>
            </a:pPr>
            <a:r>
              <a:rPr lang="en-US" dirty="0"/>
              <a:t>Embargoed media outreach begins – </a:t>
            </a:r>
            <a:r>
              <a:rPr lang="en-US" b="1" dirty="0">
                <a:solidFill>
                  <a:schemeClr val="accent3"/>
                </a:solidFill>
              </a:rPr>
              <a:t>11/13</a:t>
            </a:r>
            <a:endParaRPr lang="en-US" dirty="0">
              <a:solidFill>
                <a:schemeClr val="accent3"/>
              </a:solidFill>
            </a:endParaRPr>
          </a:p>
          <a:p>
            <a:pPr marL="457200" indent="-457200">
              <a:buFont typeface="+mj-lt"/>
              <a:buAutoNum type="arabicPeriod"/>
            </a:pPr>
            <a:r>
              <a:rPr lang="en-US" b="1" dirty="0">
                <a:solidFill>
                  <a:schemeClr val="bg2"/>
                </a:solidFill>
              </a:rPr>
              <a:t>Launch: </a:t>
            </a:r>
            <a:r>
              <a:rPr lang="en-US" dirty="0"/>
              <a:t>PM release live &amp; pitched stories released – </a:t>
            </a:r>
            <a:r>
              <a:rPr lang="en-US" b="1" dirty="0">
                <a:solidFill>
                  <a:schemeClr val="bg2"/>
                </a:solidFill>
              </a:rPr>
              <a:t>11/29</a:t>
            </a:r>
          </a:p>
          <a:p>
            <a:pPr marL="457200" indent="-457200">
              <a:buFont typeface="+mj-lt"/>
              <a:buAutoNum type="arabicPeriod"/>
            </a:pPr>
            <a:r>
              <a:rPr lang="en-US" dirty="0"/>
              <a:t>PM-focused newsletter sent –</a:t>
            </a:r>
            <a:r>
              <a:rPr lang="en-US" dirty="0">
                <a:solidFill>
                  <a:schemeClr val="bg2"/>
                </a:solidFill>
              </a:rPr>
              <a:t> </a:t>
            </a:r>
            <a:r>
              <a:rPr lang="en-US" b="1" dirty="0">
                <a:solidFill>
                  <a:schemeClr val="bg2"/>
                </a:solidFill>
              </a:rPr>
              <a:t>12/7</a:t>
            </a:r>
          </a:p>
          <a:p>
            <a:pPr marL="457200" indent="-457200">
              <a:buFont typeface="+mj-lt"/>
              <a:buAutoNum type="arabicPeriod"/>
            </a:pPr>
            <a:endParaRPr lang="en-US" b="1" dirty="0">
              <a:solidFill>
                <a:srgbClr val="FF0000"/>
              </a:solidFill>
            </a:endParaRP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p:txBody>
      </p:sp>
      <p:sp>
        <p:nvSpPr>
          <p:cNvPr id="4" name="Slide Number Placeholder 3">
            <a:extLst>
              <a:ext uri="{FF2B5EF4-FFF2-40B4-BE49-F238E27FC236}">
                <a16:creationId xmlns:a16="http://schemas.microsoft.com/office/drawing/2014/main" id="{82C43718-D1D0-FBB9-5B57-1CC98F7C2018}"/>
              </a:ext>
            </a:extLst>
          </p:cNvPr>
          <p:cNvSpPr>
            <a:spLocks noGrp="1"/>
          </p:cNvSpPr>
          <p:nvPr>
            <p:ph type="sldNum" sz="quarter" idx="12"/>
          </p:nvPr>
        </p:nvSpPr>
        <p:spPr/>
        <p:txBody>
          <a:bodyPr/>
          <a:lstStyle/>
          <a:p>
            <a:fld id="{D4F07938-7C1D-46C8-9535-2404A951C984}" type="slidenum">
              <a:rPr lang="en-US" smtClean="0"/>
              <a:t>15</a:t>
            </a:fld>
            <a:endParaRPr lang="en-US"/>
          </a:p>
        </p:txBody>
      </p:sp>
      <p:sp>
        <p:nvSpPr>
          <p:cNvPr id="5" name="Text Placeholder 4">
            <a:extLst>
              <a:ext uri="{FF2B5EF4-FFF2-40B4-BE49-F238E27FC236}">
                <a16:creationId xmlns:a16="http://schemas.microsoft.com/office/drawing/2014/main" id="{7FC276DE-5818-1367-A704-9291FCB8CC00}"/>
              </a:ext>
            </a:extLst>
          </p:cNvPr>
          <p:cNvSpPr>
            <a:spLocks noGrp="1"/>
          </p:cNvSpPr>
          <p:nvPr>
            <p:ph type="body" sz="quarter" idx="13"/>
          </p:nvPr>
        </p:nvSpPr>
        <p:spPr/>
        <p:txBody>
          <a:bodyPr/>
          <a:lstStyle/>
          <a:p>
            <a:endParaRPr lang="en-US"/>
          </a:p>
        </p:txBody>
      </p:sp>
      <p:sp>
        <p:nvSpPr>
          <p:cNvPr id="6" name="Text Placeholder 5">
            <a:extLst>
              <a:ext uri="{FF2B5EF4-FFF2-40B4-BE49-F238E27FC236}">
                <a16:creationId xmlns:a16="http://schemas.microsoft.com/office/drawing/2014/main" id="{E76B44C9-86DA-B536-17F3-CC61D65A5D6A}"/>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710173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04383-07E7-F6EC-6CD5-B8ED2D8C3E90}"/>
              </a:ext>
            </a:extLst>
          </p:cNvPr>
          <p:cNvSpPr>
            <a:spLocks noGrp="1"/>
          </p:cNvSpPr>
          <p:nvPr>
            <p:ph type="title"/>
          </p:nvPr>
        </p:nvSpPr>
        <p:spPr/>
        <p:txBody>
          <a:bodyPr/>
          <a:lstStyle/>
          <a:p>
            <a:r>
              <a:rPr lang="en-US" dirty="0"/>
              <a:t>BMP Newsletter – PM focus</a:t>
            </a:r>
          </a:p>
        </p:txBody>
      </p:sp>
      <p:sp>
        <p:nvSpPr>
          <p:cNvPr id="3" name="Content Placeholder 2">
            <a:extLst>
              <a:ext uri="{FF2B5EF4-FFF2-40B4-BE49-F238E27FC236}">
                <a16:creationId xmlns:a16="http://schemas.microsoft.com/office/drawing/2014/main" id="{2CFEEAB1-6F45-3ACF-4133-69DBD4A07DEB}"/>
              </a:ext>
            </a:extLst>
          </p:cNvPr>
          <p:cNvSpPr>
            <a:spLocks noGrp="1"/>
          </p:cNvSpPr>
          <p:nvPr>
            <p:ph idx="1"/>
          </p:nvPr>
        </p:nvSpPr>
        <p:spPr>
          <a:xfrm>
            <a:off x="534070" y="1548644"/>
            <a:ext cx="8094997" cy="4391456"/>
          </a:xfrm>
        </p:spPr>
        <p:txBody>
          <a:bodyPr vert="horz" lIns="91440" tIns="45720" rIns="91440" bIns="45720" rtlCol="0" anchor="t">
            <a:noAutofit/>
          </a:bodyPr>
          <a:lstStyle/>
          <a:p>
            <a:pPr marL="0" marR="0" indent="0">
              <a:lnSpc>
                <a:spcPct val="107000"/>
              </a:lnSpc>
              <a:spcBef>
                <a:spcPts val="0"/>
              </a:spcBef>
              <a:spcAft>
                <a:spcPts val="0"/>
              </a:spcAft>
              <a:buNone/>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Planned Send Date:</a:t>
            </a: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800" b="1" dirty="0">
                <a:solidFill>
                  <a:srgbClr val="0091C8"/>
                </a:solidFill>
                <a:effectLst/>
                <a:latin typeface="Calibri" panose="020F0502020204030204" pitchFamily="34" charset="0"/>
                <a:ea typeface="Calibri" panose="020F0502020204030204" pitchFamily="34" charset="0"/>
                <a:cs typeface="Calibri" panose="020F0502020204030204" pitchFamily="34" charset="0"/>
              </a:rPr>
              <a:t>Thurs, Dec 7</a:t>
            </a:r>
          </a:p>
          <a:p>
            <a:pPr marL="0" marR="0" indent="0">
              <a:lnSpc>
                <a:spcPct val="107000"/>
              </a:lnSpc>
              <a:spcBef>
                <a:spcPts val="0"/>
              </a:spcBef>
              <a:spcAft>
                <a:spcPts val="0"/>
              </a:spcAft>
              <a:buNone/>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Goals: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Amplify the November announcement, supporting the Dallas, San Antonio, and Spartanburg partnerships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Remind readers of PM’s multi-pronged strategy</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Highlight any media coverage of the Nov announcement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Drive website traffic to BMP’s Place Matters page</a:t>
            </a:r>
          </a:p>
          <a:p>
            <a:pPr marL="342900" marR="0" lvl="0" indent="-342900">
              <a:lnSpc>
                <a:spcPct val="107000"/>
              </a:lnSpc>
              <a:spcBef>
                <a:spcPts val="0"/>
              </a:spcBef>
              <a:spcAft>
                <a:spcPts val="0"/>
              </a:spcAft>
              <a:buFont typeface="Symbol" panose="05050102010706020507" pitchFamily="18" charset="2"/>
              <a:buChar cha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indent="0" fontAlgn="base">
              <a:spcBef>
                <a:spcPts val="0"/>
              </a:spcBef>
              <a:spcAft>
                <a:spcPts val="0"/>
              </a:spcAft>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accompanying Voices piece </a:t>
            </a:r>
            <a:r>
              <a:rPr lang="en-US" sz="1800" b="1" dirty="0">
                <a:effectLst/>
                <a:latin typeface="Calibri" panose="020F0502020204030204" pitchFamily="34" charset="0"/>
                <a:ea typeface="Calibri" panose="020F0502020204030204" pitchFamily="34" charset="0"/>
                <a:cs typeface="Calibri" panose="020F0502020204030204" pitchFamily="34" charset="0"/>
              </a:rPr>
              <a:t>will be a Q&amp;A between Micah and Cecilia. </a:t>
            </a:r>
            <a:br>
              <a:rPr lang="en-US" sz="1800" b="1" dirty="0">
                <a:effectLst/>
                <a:latin typeface="Calibri" panose="020F0502020204030204" pitchFamily="34" charset="0"/>
                <a:ea typeface="Calibri" panose="020F0502020204030204" pitchFamily="34" charset="0"/>
                <a:cs typeface="Calibri" panose="020F0502020204030204" pitchFamily="34" charset="0"/>
              </a:rPr>
            </a:br>
            <a:r>
              <a:rPr lang="en-US" sz="1800" b="1" dirty="0">
                <a:effectLst/>
                <a:latin typeface="Calibri" panose="020F0502020204030204" pitchFamily="34" charset="0"/>
                <a:ea typeface="Calibri" panose="020F0502020204030204" pitchFamily="34" charset="0"/>
                <a:cs typeface="Calibri" panose="020F0502020204030204" pitchFamily="34" charset="0"/>
              </a:rPr>
              <a:t>Goals:</a:t>
            </a: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fontAlgn="base">
              <a:spcBef>
                <a:spcPts val="0"/>
              </a:spcBef>
              <a:spcAft>
                <a:spcPts val="0"/>
              </a:spcAft>
              <a:buFont typeface="Symbol" panose="05050102010706020507" pitchFamily="18" charset="2"/>
              <a:buChar char=""/>
            </a:pPr>
            <a:r>
              <a:rPr lang="en-US" sz="1600" dirty="0">
                <a:effectLst/>
                <a:latin typeface="Calibri" panose="020F0502020204030204" pitchFamily="34" charset="0"/>
                <a:ea typeface="Times New Roman" panose="02020603050405020304" pitchFamily="18" charset="0"/>
              </a:rPr>
              <a:t>Share the origin story of Place Matters and Cecilia’s own journey/what brought her to this work</a:t>
            </a:r>
            <a:endParaRPr lang="en-US" sz="1600" dirty="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600" dirty="0">
                <a:effectLst/>
                <a:latin typeface="Calibri" panose="020F0502020204030204" pitchFamily="34" charset="0"/>
                <a:ea typeface="Times New Roman" panose="02020603050405020304" pitchFamily="18" charset="0"/>
              </a:rPr>
              <a:t>Highlight the importance of investing in place</a:t>
            </a:r>
            <a:endParaRPr lang="en-US" sz="1600" dirty="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600" dirty="0">
                <a:effectLst/>
                <a:latin typeface="Calibri" panose="020F0502020204030204" pitchFamily="34" charset="0"/>
                <a:ea typeface="Times New Roman" panose="02020603050405020304" pitchFamily="18" charset="0"/>
              </a:rPr>
              <a:t>Discuss PM’s learnings via our investments thus far, </a:t>
            </a:r>
            <a:r>
              <a:rPr lang="en-US" sz="1600" dirty="0">
                <a:effectLst/>
                <a:latin typeface="Calibri" panose="020F0502020204030204" pitchFamily="34" charset="0"/>
                <a:ea typeface="Times New Roman" panose="02020603050405020304" pitchFamily="18" charset="0"/>
                <a:cs typeface="Arial" panose="020B0604020202020204" pitchFamily="34" charset="0"/>
              </a:rPr>
              <a:t>and set the stage for the others to come next year</a:t>
            </a:r>
            <a:endParaRPr lang="en-US" sz="1600" dirty="0">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Symbol" panose="05050102010706020507" pitchFamily="18" charset="2"/>
              <a:buChar char=""/>
            </a:pPr>
            <a:r>
              <a:rPr lang="en-US" sz="1600" dirty="0">
                <a:effectLst/>
                <a:latin typeface="Calibri" panose="020F0502020204030204" pitchFamily="34" charset="0"/>
                <a:ea typeface="Calibri" panose="020F0502020204030204" pitchFamily="34" charset="0"/>
                <a:cs typeface="Arial" panose="020B0604020202020204" pitchFamily="34" charset="0"/>
              </a:rPr>
              <a:t>End with the vision for the future of the portfolio</a:t>
            </a:r>
          </a:p>
          <a:p>
            <a:pPr marL="457200" indent="-457200">
              <a:buFont typeface="+mj-lt"/>
              <a:buAutoNum type="arabicPeriod"/>
            </a:pPr>
            <a:endParaRPr lang="en-US" b="1" dirty="0">
              <a:solidFill>
                <a:srgbClr val="FF0000"/>
              </a:solidFill>
            </a:endParaRP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p:txBody>
      </p:sp>
      <p:sp>
        <p:nvSpPr>
          <p:cNvPr id="4" name="Slide Number Placeholder 3">
            <a:extLst>
              <a:ext uri="{FF2B5EF4-FFF2-40B4-BE49-F238E27FC236}">
                <a16:creationId xmlns:a16="http://schemas.microsoft.com/office/drawing/2014/main" id="{82C43718-D1D0-FBB9-5B57-1CC98F7C2018}"/>
              </a:ext>
            </a:extLst>
          </p:cNvPr>
          <p:cNvSpPr>
            <a:spLocks noGrp="1"/>
          </p:cNvSpPr>
          <p:nvPr>
            <p:ph type="sldNum" sz="quarter" idx="12"/>
          </p:nvPr>
        </p:nvSpPr>
        <p:spPr/>
        <p:txBody>
          <a:bodyPr/>
          <a:lstStyle/>
          <a:p>
            <a:fld id="{D4F07938-7C1D-46C8-9535-2404A951C984}" type="slidenum">
              <a:rPr lang="en-US" smtClean="0"/>
              <a:t>16</a:t>
            </a:fld>
            <a:endParaRPr lang="en-US"/>
          </a:p>
        </p:txBody>
      </p:sp>
      <p:sp>
        <p:nvSpPr>
          <p:cNvPr id="5" name="Text Placeholder 4">
            <a:extLst>
              <a:ext uri="{FF2B5EF4-FFF2-40B4-BE49-F238E27FC236}">
                <a16:creationId xmlns:a16="http://schemas.microsoft.com/office/drawing/2014/main" id="{7FC276DE-5818-1367-A704-9291FCB8CC00}"/>
              </a:ext>
            </a:extLst>
          </p:cNvPr>
          <p:cNvSpPr>
            <a:spLocks noGrp="1"/>
          </p:cNvSpPr>
          <p:nvPr>
            <p:ph type="body" sz="quarter" idx="13"/>
          </p:nvPr>
        </p:nvSpPr>
        <p:spPr>
          <a:xfrm>
            <a:off x="534070" y="878373"/>
            <a:ext cx="8444765" cy="481692"/>
          </a:xfrm>
        </p:spPr>
        <p:txBody>
          <a:bodyPr/>
          <a:lstStyle/>
          <a:p>
            <a:r>
              <a:rPr lang="en-US" dirty="0"/>
              <a:t>High-level outline of our PM-focused newsletter’s topic, goals, and timeline</a:t>
            </a:r>
          </a:p>
        </p:txBody>
      </p:sp>
    </p:spTree>
    <p:extLst>
      <p:ext uri="{BB962C8B-B14F-4D97-AF65-F5344CB8AC3E}">
        <p14:creationId xmlns:p14="http://schemas.microsoft.com/office/powerpoint/2010/main" val="2461837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0C06D-5A21-4153-BCF7-1BF9A9E859EC}"/>
              </a:ext>
            </a:extLst>
          </p:cNvPr>
          <p:cNvSpPr>
            <a:spLocks noGrp="1"/>
          </p:cNvSpPr>
          <p:nvPr>
            <p:ph type="title"/>
          </p:nvPr>
        </p:nvSpPr>
        <p:spPr/>
        <p:txBody>
          <a:bodyPr/>
          <a:lstStyle/>
          <a:p>
            <a:r>
              <a:rPr lang="en-US"/>
              <a:t>Timeline – Key Activities Weekly</a:t>
            </a:r>
          </a:p>
        </p:txBody>
      </p:sp>
      <p:sp>
        <p:nvSpPr>
          <p:cNvPr id="3" name="Content Placeholder 2">
            <a:extLst>
              <a:ext uri="{FF2B5EF4-FFF2-40B4-BE49-F238E27FC236}">
                <a16:creationId xmlns:a16="http://schemas.microsoft.com/office/drawing/2014/main" id="{8C9806B5-8518-4E23-889D-79DC57E26F25}"/>
              </a:ext>
            </a:extLst>
          </p:cNvPr>
          <p:cNvSpPr>
            <a:spLocks noGrp="1"/>
          </p:cNvSpPr>
          <p:nvPr>
            <p:ph idx="1"/>
          </p:nvPr>
        </p:nvSpPr>
        <p:spPr>
          <a:xfrm>
            <a:off x="337535" y="885419"/>
            <a:ext cx="4087112" cy="4971916"/>
          </a:xfrm>
        </p:spPr>
        <p:txBody>
          <a:bodyPr vert="horz" lIns="91440" tIns="45720" rIns="91440" bIns="45720" rtlCol="0" anchor="t">
            <a:noAutofit/>
          </a:bodyPr>
          <a:lstStyle/>
          <a:p>
            <a:pPr marL="457200" lvl="2" indent="-457200">
              <a:buClr>
                <a:srgbClr val="0091C8"/>
              </a:buClr>
              <a:buNone/>
              <a:defRPr/>
            </a:pPr>
            <a:r>
              <a:rPr lang="en-US" sz="1400" b="1" dirty="0"/>
              <a:t>October </a:t>
            </a:r>
            <a:r>
              <a:rPr lang="en-US" sz="1000" b="1" dirty="0"/>
              <a:t> </a:t>
            </a:r>
            <a:endParaRPr lang="en-US" sz="950" b="1" dirty="0"/>
          </a:p>
          <a:p>
            <a:pPr lvl="1">
              <a:buClr>
                <a:srgbClr val="0091C8"/>
              </a:buClr>
              <a:defRPr/>
            </a:pPr>
            <a:r>
              <a:rPr lang="en-US" sz="950" b="1" dirty="0"/>
              <a:t>Week of 10/23</a:t>
            </a:r>
            <a:endParaRPr lang="en-US" sz="950" dirty="0"/>
          </a:p>
          <a:p>
            <a:pPr lvl="2">
              <a:buClr>
                <a:srgbClr val="0091C8"/>
              </a:buClr>
              <a:defRPr/>
            </a:pPr>
            <a:r>
              <a:rPr lang="en-US" sz="950" dirty="0"/>
              <a:t>PN and BMP to update timing, local outreach plans and partner engagement opportunities in plan</a:t>
            </a:r>
          </a:p>
          <a:p>
            <a:pPr lvl="2">
              <a:buClr>
                <a:srgbClr val="0091C8"/>
              </a:buClr>
              <a:defRPr/>
            </a:pPr>
            <a:r>
              <a:rPr lang="en-US" sz="950" dirty="0"/>
              <a:t>PN revises press release based on media approach and lead angle</a:t>
            </a:r>
          </a:p>
          <a:p>
            <a:pPr marL="457200" lvl="2" indent="0">
              <a:buClr>
                <a:srgbClr val="0091C8"/>
              </a:buClr>
              <a:buNone/>
              <a:defRPr/>
            </a:pPr>
            <a:endParaRPr lang="en-US" sz="1000" dirty="0"/>
          </a:p>
          <a:p>
            <a:pPr marL="457200" lvl="2" indent="-457200">
              <a:buClr>
                <a:srgbClr val="0091C8"/>
              </a:buClr>
              <a:buNone/>
              <a:defRPr/>
            </a:pPr>
            <a:r>
              <a:rPr lang="en-US" sz="1400" b="1" dirty="0"/>
              <a:t>November</a:t>
            </a:r>
          </a:p>
          <a:p>
            <a:pPr lvl="1">
              <a:buClr>
                <a:srgbClr val="0091C8"/>
              </a:buClr>
              <a:defRPr/>
            </a:pPr>
            <a:r>
              <a:rPr lang="en-US" sz="950" b="1" dirty="0"/>
              <a:t>Week of 10/30</a:t>
            </a:r>
          </a:p>
          <a:p>
            <a:pPr lvl="2">
              <a:buClr>
                <a:srgbClr val="0091C8"/>
              </a:buClr>
              <a:defRPr/>
            </a:pPr>
            <a:r>
              <a:rPr lang="en-US" sz="950" dirty="0"/>
              <a:t>BMP to revise press release</a:t>
            </a:r>
          </a:p>
          <a:p>
            <a:pPr lvl="2">
              <a:buClr>
                <a:srgbClr val="0091C8"/>
              </a:buClr>
              <a:defRPr/>
            </a:pPr>
            <a:r>
              <a:rPr lang="en-US" sz="950" dirty="0"/>
              <a:t>PN to begin developing PM Playbook </a:t>
            </a:r>
          </a:p>
          <a:p>
            <a:pPr lvl="2">
              <a:buClr>
                <a:srgbClr val="0091C8"/>
              </a:buClr>
              <a:defRPr/>
            </a:pPr>
            <a:r>
              <a:rPr lang="en-US" sz="950" dirty="0"/>
              <a:t>Media approach and lead angle refined</a:t>
            </a:r>
          </a:p>
          <a:p>
            <a:pPr lvl="2">
              <a:buClr>
                <a:srgbClr val="0091C8"/>
              </a:buClr>
              <a:defRPr/>
            </a:pPr>
            <a:r>
              <a:rPr lang="en-US" sz="950" dirty="0"/>
              <a:t>Release date finalized by partners</a:t>
            </a:r>
          </a:p>
          <a:p>
            <a:pPr marL="457200" lvl="2" indent="0">
              <a:buClr>
                <a:srgbClr val="0091C8"/>
              </a:buClr>
              <a:buNone/>
              <a:defRPr/>
            </a:pPr>
            <a:endParaRPr lang="en-US" sz="950" dirty="0">
              <a:highlight>
                <a:srgbClr val="FFFF00"/>
              </a:highlight>
            </a:endParaRPr>
          </a:p>
          <a:p>
            <a:pPr marL="457200" marR="0" lvl="1" indent="-228600" algn="l" defTabSz="914400" rtl="0" eaLnBrk="1" fontAlgn="auto" latinLnBrk="0" hangingPunct="1">
              <a:lnSpc>
                <a:spcPct val="100000"/>
              </a:lnSpc>
              <a:spcBef>
                <a:spcPts val="500"/>
              </a:spcBef>
              <a:spcAft>
                <a:spcPts val="0"/>
              </a:spcAft>
              <a:buClr>
                <a:srgbClr val="0091C8"/>
              </a:buClr>
              <a:buSzTx/>
              <a:buFont typeface="Courier New" panose="02070309020205020404" pitchFamily="49" charset="0"/>
              <a:buChar char="o"/>
              <a:tabLst/>
              <a:defRPr/>
            </a:pPr>
            <a:r>
              <a:rPr kumimoji="0" lang="en-US" sz="950" b="1" i="0" u="none" strike="noStrike" kern="1200" cap="none" spc="0" normalizeH="0" baseline="0" noProof="0" dirty="0">
                <a:ln>
                  <a:noFill/>
                </a:ln>
                <a:solidFill>
                  <a:srgbClr val="000000"/>
                </a:solidFill>
                <a:effectLst/>
                <a:uLnTx/>
                <a:uFillTx/>
                <a:latin typeface="Camphor Std"/>
                <a:ea typeface="+mn-ea"/>
                <a:cs typeface="+mn-cs"/>
              </a:rPr>
              <a:t>Week of 11/6</a:t>
            </a:r>
            <a:endParaRPr lang="en-US" sz="950" b="1" i="0" u="none" strike="noStrike" kern="1200" cap="none" spc="0" normalizeH="0" baseline="0" noProof="0" dirty="0">
              <a:ln>
                <a:noFill/>
              </a:ln>
              <a:solidFill>
                <a:srgbClr val="000000"/>
              </a:solidFill>
              <a:effectLst/>
              <a:uLnTx/>
              <a:uFillTx/>
              <a:latin typeface="Camphor Std"/>
            </a:endParaRPr>
          </a:p>
          <a:p>
            <a:pPr marL="742950" marR="0" lvl="3" indent="-28575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Press release finalized by 11/8</a:t>
            </a:r>
            <a:endParaRPr lang="en-US" sz="950" b="0" i="0" u="none" strike="noStrike" kern="1200" cap="none" spc="0" normalizeH="0" baseline="0" noProof="0" dirty="0">
              <a:ln>
                <a:noFill/>
              </a:ln>
              <a:solidFill>
                <a:srgbClr val="000000"/>
              </a:solidFill>
              <a:effectLst/>
              <a:uLnTx/>
              <a:uFillTx/>
              <a:latin typeface="Camphor Std"/>
            </a:endParaRPr>
          </a:p>
          <a:p>
            <a:pPr marL="742950" lvl="3" indent="-285750">
              <a:buClr>
                <a:srgbClr val="0091C8"/>
              </a:buClr>
              <a:buFont typeface="Wingdings" panose="05000000000000000000" pitchFamily="2" charset="2"/>
              <a:buChar char="§"/>
              <a:defRPr/>
            </a:pPr>
            <a:r>
              <a:rPr kumimoji="0" lang="en-US" sz="950" b="0" i="0" u="none" strike="noStrike" kern="1200" cap="none" spc="0" normalizeH="0" baseline="0" noProof="0" dirty="0">
                <a:ln>
                  <a:noFill/>
                </a:ln>
                <a:effectLst/>
                <a:uLnTx/>
                <a:uFillTx/>
                <a:latin typeface="Camphor Std"/>
                <a:ea typeface="+mn-ea"/>
                <a:cs typeface="+mn-cs"/>
              </a:rPr>
              <a:t>PM Playbook shared w/investees for input by 11/9</a:t>
            </a:r>
            <a:endParaRPr lang="en-US" sz="950" b="0" i="0" u="none" strike="noStrike" kern="1200" cap="none" spc="0" normalizeH="0" baseline="0" noProof="0" dirty="0">
              <a:ln>
                <a:noFill/>
              </a:ln>
              <a:effectLst/>
              <a:uLnTx/>
              <a:uFillTx/>
              <a:latin typeface="Camphor Std"/>
            </a:endParaRPr>
          </a:p>
          <a:p>
            <a:pPr marL="457200" lvl="3" indent="0">
              <a:buClr>
                <a:srgbClr val="0091C8"/>
              </a:buClr>
              <a:buNone/>
              <a:defRPr/>
            </a:pPr>
            <a:endParaRPr lang="en-US" sz="950" dirty="0">
              <a:solidFill>
                <a:srgbClr val="000000"/>
              </a:solidFill>
              <a:latin typeface="Camphor Std"/>
            </a:endParaRPr>
          </a:p>
          <a:p>
            <a:pPr marL="457200" marR="0" lvl="1" indent="-228600" algn="l" defTabSz="914400" rtl="0" eaLnBrk="1" fontAlgn="auto" latinLnBrk="0" hangingPunct="1">
              <a:lnSpc>
                <a:spcPct val="100000"/>
              </a:lnSpc>
              <a:spcBef>
                <a:spcPts val="500"/>
              </a:spcBef>
              <a:spcAft>
                <a:spcPts val="0"/>
              </a:spcAft>
              <a:buClr>
                <a:srgbClr val="0091C8"/>
              </a:buClr>
              <a:buSzTx/>
              <a:buFont typeface="Courier New" panose="02070309020205020404" pitchFamily="49" charset="0"/>
              <a:buChar char="o"/>
              <a:tabLst/>
              <a:defRPr/>
            </a:pPr>
            <a:r>
              <a:rPr kumimoji="0" lang="en-US" sz="950" b="1" i="0" u="none" strike="noStrike" kern="1200" cap="none" spc="0" normalizeH="0" baseline="0" noProof="0" dirty="0">
                <a:ln>
                  <a:noFill/>
                </a:ln>
                <a:solidFill>
                  <a:srgbClr val="000000"/>
                </a:solidFill>
                <a:effectLst/>
                <a:uLnTx/>
                <a:uFillTx/>
                <a:latin typeface="Camphor Std"/>
                <a:ea typeface="+mn-ea"/>
                <a:cs typeface="+mn-cs"/>
              </a:rPr>
              <a:t>Week of 11/13</a:t>
            </a:r>
            <a:endParaRPr lang="en-US" sz="950" dirty="0">
              <a:solidFill>
                <a:srgbClr val="FF0000"/>
              </a:solidFill>
            </a:endParaRPr>
          </a:p>
          <a:p>
            <a:pPr marL="742950" lvl="3" indent="-285750">
              <a:buClr>
                <a:srgbClr val="0091C8"/>
              </a:buClr>
              <a:buFont typeface="Wingdings" panose="05000000000000000000" pitchFamily="2" charset="2"/>
              <a:buChar char="§"/>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Embargoed </a:t>
            </a:r>
            <a:r>
              <a:rPr lang="en-US" sz="950" dirty="0">
                <a:solidFill>
                  <a:srgbClr val="000000"/>
                </a:solidFill>
                <a:latin typeface="Camphor Std"/>
              </a:rPr>
              <a:t>outreach</a:t>
            </a:r>
            <a:r>
              <a:rPr kumimoji="0" lang="en-US" sz="950" b="0" i="0" u="none" strike="noStrike" kern="1200" cap="none" spc="0" normalizeH="0" baseline="0" noProof="0" dirty="0">
                <a:ln>
                  <a:noFill/>
                </a:ln>
                <a:solidFill>
                  <a:srgbClr val="000000"/>
                </a:solidFill>
                <a:effectLst/>
                <a:uLnTx/>
                <a:uFillTx/>
                <a:latin typeface="Camphor Std"/>
                <a:ea typeface="+mn-ea"/>
                <a:cs typeface="+mn-cs"/>
              </a:rPr>
              <a:t> begins 11/13 (24 hour right of refusal per outlet pitched)</a:t>
            </a:r>
            <a:endParaRPr lang="en-US" sz="950" b="0" i="0" u="none" strike="noStrike" kern="1200" cap="none" spc="0" normalizeH="0" baseline="0" noProof="0" dirty="0">
              <a:ln>
                <a:noFill/>
              </a:ln>
              <a:solidFill>
                <a:srgbClr val="000000"/>
              </a:solidFill>
              <a:effectLst/>
              <a:uLnTx/>
              <a:uFillTx/>
              <a:latin typeface="Camphor Std"/>
            </a:endParaRPr>
          </a:p>
          <a:p>
            <a:pPr marL="742950" lvl="3" indent="-285750">
              <a:buClr>
                <a:srgbClr val="0091C8"/>
              </a:buClr>
              <a:buFont typeface="Wingdings" panose="05000000000000000000" pitchFamily="2" charset="2"/>
              <a:buChar char="§"/>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PN to deliver report on agreed embargoes EOW</a:t>
            </a:r>
          </a:p>
          <a:p>
            <a:pPr marL="742950" lvl="3" indent="-285750">
              <a:buClr>
                <a:srgbClr val="0091C8"/>
              </a:buClr>
              <a:buFont typeface="Wingdings" panose="05000000000000000000" pitchFamily="2" charset="2"/>
              <a:buChar char="§"/>
              <a:defRPr/>
            </a:pPr>
            <a:r>
              <a:rPr lang="en-US" sz="950" b="0" i="0" u="none" strike="noStrike" kern="1200" cap="none" spc="0" normalizeH="0" baseline="0" noProof="0" dirty="0">
                <a:ln>
                  <a:noFill/>
                </a:ln>
                <a:solidFill>
                  <a:srgbClr val="000000"/>
                </a:solidFill>
                <a:effectLst/>
                <a:uLnTx/>
                <a:uFillTx/>
                <a:latin typeface="Camphor Std"/>
              </a:rPr>
              <a:t>P</a:t>
            </a:r>
            <a:r>
              <a:rPr lang="en-US" sz="950" dirty="0">
                <a:solidFill>
                  <a:srgbClr val="000000"/>
                </a:solidFill>
                <a:latin typeface="Camphor Std"/>
              </a:rPr>
              <a:t>M Newsletter draft shared for review 11/14</a:t>
            </a:r>
            <a:endParaRPr lang="en-US" sz="950" b="0" i="0" u="none" strike="noStrike" kern="1200" cap="none" spc="0" normalizeH="0" baseline="0" noProof="0" dirty="0">
              <a:ln>
                <a:noFill/>
              </a:ln>
              <a:solidFill>
                <a:srgbClr val="000000"/>
              </a:solidFill>
              <a:effectLst/>
              <a:uLnTx/>
              <a:uFillTx/>
              <a:latin typeface="Camphor Std"/>
            </a:endParaRPr>
          </a:p>
          <a:p>
            <a:pPr marL="457200" lvl="3" indent="0">
              <a:buClr>
                <a:srgbClr val="0091C8"/>
              </a:buClr>
              <a:buNone/>
              <a:defRPr/>
            </a:pPr>
            <a:endParaRPr kumimoji="0" lang="en-US" sz="950" b="0" i="0" u="none" strike="noStrike" kern="1200" cap="none" spc="0" normalizeH="0" baseline="0" noProof="0" dirty="0">
              <a:ln>
                <a:noFill/>
              </a:ln>
              <a:solidFill>
                <a:srgbClr val="000000"/>
              </a:solidFill>
              <a:effectLst/>
              <a:uLnTx/>
              <a:uFillTx/>
              <a:latin typeface="Camphor Std"/>
              <a:ea typeface="+mn-ea"/>
              <a:cs typeface="+mn-cs"/>
            </a:endParaRPr>
          </a:p>
          <a:p>
            <a:pPr marL="742950" lvl="3" indent="-285750" defTabSz="914400">
              <a:spcBef>
                <a:spcPts val="500"/>
              </a:spcBef>
              <a:buClr>
                <a:srgbClr val="0091C8"/>
              </a:buClr>
              <a:buFont typeface="Wingdings" panose="05000000000000000000" pitchFamily="2" charset="2"/>
              <a:buChar char="§"/>
              <a:defRPr/>
            </a:pPr>
            <a:endParaRPr lang="en-US" sz="950" dirty="0"/>
          </a:p>
          <a:p>
            <a:pPr marL="457200" lvl="2" indent="0">
              <a:buClr>
                <a:srgbClr val="0091C8"/>
              </a:buClr>
              <a:buNone/>
              <a:defRPr/>
            </a:pPr>
            <a:endParaRPr lang="en-US" sz="1000" dirty="0"/>
          </a:p>
          <a:p>
            <a:pPr marL="457200" lvl="3" indent="0">
              <a:buNone/>
            </a:pPr>
            <a:endParaRPr lang="en-US" sz="1000" dirty="0"/>
          </a:p>
          <a:p>
            <a:pPr marL="742950" lvl="3" indent="-285750">
              <a:buFont typeface="Wingdings" panose="05000000000000000000" pitchFamily="2" charset="2"/>
              <a:buChar char="§"/>
            </a:pPr>
            <a:endParaRPr lang="en-US" sz="1000" dirty="0"/>
          </a:p>
          <a:p>
            <a:pPr lvl="1">
              <a:buClr>
                <a:srgbClr val="0091C8"/>
              </a:buClr>
              <a:defRPr/>
            </a:pPr>
            <a:endParaRPr lang="en-US" sz="1100" dirty="0"/>
          </a:p>
        </p:txBody>
      </p:sp>
      <p:sp>
        <p:nvSpPr>
          <p:cNvPr id="5" name="Slide Number Placeholder 4">
            <a:extLst>
              <a:ext uri="{FF2B5EF4-FFF2-40B4-BE49-F238E27FC236}">
                <a16:creationId xmlns:a16="http://schemas.microsoft.com/office/drawing/2014/main" id="{FEA05AE0-5350-47E2-8F23-EF9280CA4EC1}"/>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4F07938-7C1D-46C8-9535-2404A951C984}" type="slidenum">
              <a:rPr kumimoji="0" lang="en-US" sz="1000" b="0" i="0" u="none" strike="noStrike" kern="1200" cap="none" spc="0" normalizeH="0" baseline="0" noProof="0" smtClean="0">
                <a:ln>
                  <a:noFill/>
                </a:ln>
                <a:solidFill>
                  <a:srgbClr val="FFFFFF"/>
                </a:solidFill>
                <a:effectLst/>
                <a:uLnTx/>
                <a:uFillTx/>
                <a:latin typeface="Camphor Std"/>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a:ln>
                <a:noFill/>
              </a:ln>
              <a:solidFill>
                <a:srgbClr val="FFFFFF"/>
              </a:solidFill>
              <a:effectLst/>
              <a:uLnTx/>
              <a:uFillTx/>
              <a:latin typeface="Camphor Std"/>
              <a:ea typeface="+mn-ea"/>
              <a:cs typeface="+mn-cs"/>
            </a:endParaRPr>
          </a:p>
        </p:txBody>
      </p:sp>
      <p:sp>
        <p:nvSpPr>
          <p:cNvPr id="4" name="Content Placeholder 2">
            <a:extLst>
              <a:ext uri="{FF2B5EF4-FFF2-40B4-BE49-F238E27FC236}">
                <a16:creationId xmlns:a16="http://schemas.microsoft.com/office/drawing/2014/main" id="{D7F71F9F-2ED9-373E-4FE5-7EB20218246A}"/>
              </a:ext>
            </a:extLst>
          </p:cNvPr>
          <p:cNvSpPr txBox="1">
            <a:spLocks/>
          </p:cNvSpPr>
          <p:nvPr/>
        </p:nvSpPr>
        <p:spPr>
          <a:xfrm>
            <a:off x="4572001" y="1280839"/>
            <a:ext cx="4490386" cy="4971916"/>
          </a:xfrm>
          <a:prstGeom prst="rect">
            <a:avLst/>
          </a:prstGeom>
        </p:spPr>
        <p:txBody>
          <a:bodyPr vert="horz" lIns="91440" tIns="45720" rIns="91440" bIns="45720" rtlCol="0" anchor="t">
            <a:noAutofit/>
          </a:bodyPr>
          <a:lstStyle>
            <a:lvl1pPr marL="228600" indent="-228600" algn="l" defTabSz="914400" rtl="0" eaLnBrk="1" latinLnBrk="0" hangingPunct="1">
              <a:lnSpc>
                <a:spcPct val="100000"/>
              </a:lnSpc>
              <a:spcBef>
                <a:spcPts val="1000"/>
              </a:spcBef>
              <a:buClr>
                <a:schemeClr val="bg2"/>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bg2"/>
              </a:buClr>
              <a:buFont typeface="Wingdings" panose="05000000000000000000" pitchFamily="2" charset="2"/>
              <a:buChar char="§"/>
              <a:defRPr sz="16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Clr>
                <a:schemeClr val="bg2"/>
              </a:buClr>
              <a:buFont typeface="Camphor Std" panose="020B0504030404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Clr>
                <a:schemeClr val="bg2"/>
              </a:buClr>
              <a:buFont typeface="Camphor Std" panose="020B0504030404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marR="0" lvl="3" indent="-28575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Char char="§"/>
              <a:tabLst/>
              <a:defRPr/>
            </a:pPr>
            <a:endParaRPr kumimoji="0" lang="en-US" sz="1050" b="0" i="0" u="none" strike="noStrike" kern="1200" cap="none" spc="0" normalizeH="0" baseline="0" noProof="0">
              <a:ln>
                <a:noFill/>
              </a:ln>
              <a:solidFill>
                <a:srgbClr val="000000"/>
              </a:solidFill>
              <a:effectLst/>
              <a:uLnTx/>
              <a:uFillTx/>
              <a:latin typeface="Camphor Std"/>
              <a:ea typeface="+mn-ea"/>
              <a:cs typeface="+mn-cs"/>
            </a:endParaRPr>
          </a:p>
        </p:txBody>
      </p:sp>
      <p:cxnSp>
        <p:nvCxnSpPr>
          <p:cNvPr id="10" name="Straight Connector 9">
            <a:extLst>
              <a:ext uri="{FF2B5EF4-FFF2-40B4-BE49-F238E27FC236}">
                <a16:creationId xmlns:a16="http://schemas.microsoft.com/office/drawing/2014/main" id="{03BF67B6-D0FE-C9CA-EB0C-91A370A98CB5}"/>
              </a:ext>
            </a:extLst>
          </p:cNvPr>
          <p:cNvCxnSpPr/>
          <p:nvPr/>
        </p:nvCxnSpPr>
        <p:spPr>
          <a:xfrm>
            <a:off x="4528867" y="1306717"/>
            <a:ext cx="0" cy="455061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2910D79-922C-E4A2-D766-0BCD96D32F1E}"/>
              </a:ext>
            </a:extLst>
          </p:cNvPr>
          <p:cNvSpPr txBox="1"/>
          <p:nvPr/>
        </p:nvSpPr>
        <p:spPr>
          <a:xfrm>
            <a:off x="4528867" y="964643"/>
            <a:ext cx="3931892" cy="5391219"/>
          </a:xfrm>
          <a:prstGeom prst="rect">
            <a:avLst/>
          </a:prstGeom>
          <a:noFill/>
        </p:spPr>
        <p:txBody>
          <a:bodyPr wrap="square" lIns="91440" tIns="45720" rIns="91440" bIns="45720" anchor="t">
            <a:spAutoFit/>
          </a:bodyPr>
          <a:lstStyle/>
          <a:p>
            <a:pPr marL="226695" marR="0" lvl="3" indent="0" algn="l" defTabSz="457200" rtl="0" eaLnBrk="1" fontAlgn="auto" latinLnBrk="0" hangingPunct="1">
              <a:lnSpc>
                <a:spcPct val="100000"/>
              </a:lnSpc>
              <a:spcBef>
                <a:spcPts val="500"/>
              </a:spcBef>
              <a:spcAft>
                <a:spcPts val="0"/>
              </a:spcAft>
              <a:buClr>
                <a:srgbClr val="0091C8"/>
              </a:buClr>
              <a:buSzTx/>
              <a:buFontTx/>
              <a:buNone/>
              <a:tabLst/>
              <a:defRPr/>
            </a:pPr>
            <a:endParaRPr kumimoji="0" lang="en-US" sz="950" b="1" i="0" u="none" strike="noStrike" kern="1200" cap="none" spc="0" normalizeH="0" baseline="0" noProof="0" dirty="0">
              <a:ln>
                <a:noFill/>
              </a:ln>
              <a:solidFill>
                <a:srgbClr val="000000"/>
              </a:solidFill>
              <a:effectLst/>
              <a:uLnTx/>
              <a:uFillTx/>
              <a:latin typeface="Camphor Std"/>
              <a:ea typeface="+mn-ea"/>
              <a:cs typeface="+mn-cs"/>
            </a:endParaRPr>
          </a:p>
          <a:p>
            <a:pPr marL="515620" marR="0" lvl="3" indent="-288925" algn="l" defTabSz="457200" rtl="0" eaLnBrk="1" fontAlgn="auto" latinLnBrk="0" hangingPunct="1">
              <a:lnSpc>
                <a:spcPct val="100000"/>
              </a:lnSpc>
              <a:spcBef>
                <a:spcPts val="500"/>
              </a:spcBef>
              <a:spcAft>
                <a:spcPts val="0"/>
              </a:spcAft>
              <a:buClr>
                <a:srgbClr val="0091C8"/>
              </a:buClr>
              <a:buSzTx/>
              <a:buFont typeface="Courier New" panose="02070309020205020404" pitchFamily="49" charset="0"/>
              <a:buChar char="o"/>
              <a:tabLst/>
              <a:defRPr/>
            </a:pPr>
            <a:r>
              <a:rPr kumimoji="0" lang="en-US" sz="950" b="1" i="0" u="none" strike="noStrike" kern="1200" cap="none" spc="0" normalizeH="0" baseline="0" noProof="0" dirty="0">
                <a:ln>
                  <a:noFill/>
                </a:ln>
                <a:solidFill>
                  <a:srgbClr val="000000"/>
                </a:solidFill>
                <a:effectLst/>
                <a:uLnTx/>
                <a:uFillTx/>
                <a:latin typeface="Camphor Std"/>
                <a:ea typeface="+mn-ea"/>
                <a:cs typeface="+mn-cs"/>
              </a:rPr>
              <a:t>Week of 11/20</a:t>
            </a:r>
            <a:endParaRPr lang="en-US" sz="950" b="1" i="0" u="none" strike="noStrike" kern="1200" cap="none" spc="0" normalizeH="0" baseline="0" noProof="0" dirty="0">
              <a:ln>
                <a:noFill/>
              </a:ln>
              <a:solidFill>
                <a:srgbClr val="000000"/>
              </a:solidFill>
              <a:effectLst/>
              <a:uLnTx/>
              <a:uFillTx/>
              <a:latin typeface="Camphor Std"/>
            </a:endParaRPr>
          </a:p>
          <a:p>
            <a:pPr marL="742950" marR="0" lvl="3" indent="-28575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Feedback on PM newsletter draft due 11/20</a:t>
            </a:r>
          </a:p>
          <a:p>
            <a:pPr marL="742950" marR="0" lvl="3" indent="-28575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Embargoed </a:t>
            </a:r>
            <a:r>
              <a:rPr lang="en-US" sz="950" dirty="0">
                <a:solidFill>
                  <a:srgbClr val="000000"/>
                </a:solidFill>
                <a:latin typeface="Camphor Std"/>
              </a:rPr>
              <a:t>outreach</a:t>
            </a:r>
            <a:r>
              <a:rPr kumimoji="0" lang="en-US" sz="950" b="0" i="0" u="none" strike="noStrike" kern="1200" cap="none" spc="0" normalizeH="0" baseline="0" noProof="0" dirty="0">
                <a:ln>
                  <a:noFill/>
                </a:ln>
                <a:solidFill>
                  <a:srgbClr val="000000"/>
                </a:solidFill>
                <a:effectLst/>
                <a:uLnTx/>
                <a:uFillTx/>
                <a:latin typeface="Camphor Std"/>
                <a:ea typeface="+mn-ea"/>
                <a:cs typeface="+mn-cs"/>
              </a:rPr>
              <a:t> continues as needed</a:t>
            </a:r>
            <a:endParaRPr lang="en-US" sz="950" b="0" i="0" u="none" strike="noStrike" kern="1200" cap="none" spc="0" normalizeH="0" baseline="0" noProof="0" dirty="0">
              <a:ln>
                <a:noFill/>
              </a:ln>
              <a:solidFill>
                <a:srgbClr val="000000"/>
              </a:solidFill>
              <a:effectLst/>
              <a:uLnTx/>
              <a:uFillTx/>
              <a:latin typeface="Camphor Std"/>
            </a:endParaRPr>
          </a:p>
          <a:p>
            <a:pPr marL="742950" marR="0" lvl="3" indent="-28575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PN to deliver report on agreed embargoes </a:t>
            </a:r>
            <a:r>
              <a:rPr kumimoji="0" lang="en-US" sz="950" b="0" i="0" u="none" strike="noStrike" kern="1200" cap="none" spc="0" normalizeH="0" baseline="0" noProof="0" dirty="0">
                <a:ln>
                  <a:noFill/>
                </a:ln>
                <a:effectLst/>
                <a:uLnTx/>
                <a:uFillTx/>
                <a:latin typeface="Camphor Std"/>
                <a:ea typeface="+mn-ea"/>
                <a:cs typeface="+mn-cs"/>
              </a:rPr>
              <a:t>11/22</a:t>
            </a:r>
            <a:endParaRPr lang="en-US" sz="950" b="0" i="0" u="none" strike="noStrike" kern="1200" cap="none" spc="0" normalizeH="0" baseline="0" noProof="0" dirty="0">
              <a:ln>
                <a:noFill/>
              </a:ln>
              <a:effectLst/>
              <a:uLnTx/>
              <a:uFillTx/>
              <a:latin typeface="Camphor Std"/>
            </a:endParaRPr>
          </a:p>
          <a:p>
            <a:pPr marL="457200" marR="0" lvl="3" algn="l" defTabSz="914400" rtl="0" eaLnBrk="1" fontAlgn="auto" latinLnBrk="0" hangingPunct="1">
              <a:lnSpc>
                <a:spcPct val="100000"/>
              </a:lnSpc>
              <a:spcBef>
                <a:spcPts val="500"/>
              </a:spcBef>
              <a:spcAft>
                <a:spcPts val="0"/>
              </a:spcAft>
              <a:buClr>
                <a:srgbClr val="0091C8"/>
              </a:buClr>
              <a:buSzTx/>
              <a:tabLst/>
              <a:defRPr/>
            </a:pPr>
            <a:endParaRPr kumimoji="0" lang="en-US" sz="950" b="1" i="0" u="none" strike="noStrike" kern="1200" cap="none" spc="0" normalizeH="0" baseline="0" noProof="0" dirty="0">
              <a:ln>
                <a:noFill/>
              </a:ln>
              <a:solidFill>
                <a:srgbClr val="000000"/>
              </a:solidFill>
              <a:effectLst/>
              <a:uLnTx/>
              <a:uFillTx/>
              <a:latin typeface="Camphor Std"/>
              <a:ea typeface="+mn-ea"/>
              <a:cs typeface="+mn-cs"/>
            </a:endParaRPr>
          </a:p>
          <a:p>
            <a:pPr marL="515620" lvl="3" indent="-288925">
              <a:spcBef>
                <a:spcPts val="500"/>
              </a:spcBef>
              <a:buClr>
                <a:srgbClr val="0091C8"/>
              </a:buClr>
              <a:buFont typeface="Courier New" panose="02070309020205020404" pitchFamily="49" charset="0"/>
              <a:buChar char="o"/>
              <a:defRPr/>
            </a:pPr>
            <a:r>
              <a:rPr kumimoji="0" lang="en-US" sz="950" b="1" i="0" u="none" strike="noStrike" kern="1200" cap="none" spc="0" normalizeH="0" baseline="0" noProof="0" dirty="0">
                <a:ln>
                  <a:noFill/>
                </a:ln>
                <a:solidFill>
                  <a:srgbClr val="000000"/>
                </a:solidFill>
                <a:effectLst/>
                <a:uLnTx/>
                <a:uFillTx/>
                <a:latin typeface="Camphor Std"/>
                <a:ea typeface="+mn-ea"/>
                <a:cs typeface="+mn-cs"/>
              </a:rPr>
              <a:t>Week of 11/27</a:t>
            </a:r>
            <a:r>
              <a:rPr kumimoji="0" lang="en-US" sz="950" b="1" u="none" strike="noStrike" kern="1200" cap="none" spc="0" normalizeH="0" baseline="0" noProof="0" dirty="0">
                <a:ln>
                  <a:noFill/>
                </a:ln>
                <a:solidFill>
                  <a:srgbClr val="000000"/>
                </a:solidFill>
                <a:effectLst/>
                <a:uLnTx/>
                <a:uFillTx/>
                <a:latin typeface="Camphor Std"/>
                <a:ea typeface="+mn-ea"/>
                <a:cs typeface="+mn-cs"/>
              </a:rPr>
              <a:t> </a:t>
            </a:r>
            <a:r>
              <a:rPr kumimoji="0" lang="en-US" sz="950" b="1" u="none" strike="noStrike" kern="1200" cap="none" spc="0" normalizeH="0" baseline="0" noProof="0" dirty="0">
                <a:ln>
                  <a:noFill/>
                </a:ln>
                <a:solidFill>
                  <a:srgbClr val="0091C8"/>
                </a:solidFill>
                <a:effectLst/>
                <a:uLnTx/>
                <a:uFillTx/>
                <a:latin typeface="Camphor Std"/>
                <a:ea typeface="+mn-ea"/>
                <a:cs typeface="+mn-cs"/>
              </a:rPr>
              <a:t>(Launch</a:t>
            </a:r>
            <a:r>
              <a:rPr lang="en-US" sz="950" b="1" dirty="0">
                <a:solidFill>
                  <a:srgbClr val="0091C8"/>
                </a:solidFill>
                <a:latin typeface="Camphor Std"/>
              </a:rPr>
              <a:t> Week!)</a:t>
            </a:r>
            <a:endParaRPr lang="en-US" sz="950" b="1" u="none" strike="noStrike" kern="1200" cap="none" spc="0" normalizeH="0" baseline="0" noProof="0" dirty="0">
              <a:ln>
                <a:noFill/>
              </a:ln>
              <a:solidFill>
                <a:srgbClr val="0091C8"/>
              </a:solidFill>
              <a:effectLst/>
              <a:uLnTx/>
              <a:uFillTx/>
              <a:latin typeface="Camphor Std"/>
            </a:endParaRPr>
          </a:p>
          <a:p>
            <a:pPr marL="742950" lvl="3" indent="-285750" defTabSz="914400">
              <a:spcBef>
                <a:spcPts val="500"/>
              </a:spcBef>
              <a:buClr>
                <a:srgbClr val="0091C8"/>
              </a:buClr>
              <a:buFont typeface="Wingdings" panose="05000000000000000000" pitchFamily="2" charset="2"/>
              <a:buChar char="§"/>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Received updated PM newsletter as FYI on 11/27</a:t>
            </a:r>
          </a:p>
          <a:p>
            <a:pPr marL="742950" lvl="3" indent="-285750" defTabSz="914400">
              <a:spcBef>
                <a:spcPts val="500"/>
              </a:spcBef>
              <a:buClr>
                <a:srgbClr val="0091C8"/>
              </a:buClr>
              <a:buFont typeface="Wingdings" panose="05000000000000000000" pitchFamily="2" charset="2"/>
              <a:buChar char="§"/>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San Antonio announcement event on 11/28</a:t>
            </a:r>
            <a:r>
              <a:rPr lang="en-US" sz="950" dirty="0">
                <a:solidFill>
                  <a:srgbClr val="000000"/>
                </a:solidFill>
                <a:latin typeface="Camphor Std"/>
              </a:rPr>
              <a:t> PM</a:t>
            </a:r>
            <a:endParaRPr lang="en-US" sz="950" b="0" i="0" u="none" strike="noStrike" kern="1200" cap="none" spc="0" normalizeH="0" baseline="0" noProof="0" dirty="0">
              <a:ln>
                <a:noFill/>
              </a:ln>
              <a:solidFill>
                <a:srgbClr val="000000"/>
              </a:solidFill>
              <a:effectLst/>
              <a:uLnTx/>
              <a:uFillTx/>
              <a:latin typeface="Camphor Std"/>
            </a:endParaRPr>
          </a:p>
          <a:p>
            <a:pPr marL="742950" lvl="3" indent="-285750" defTabSz="914400">
              <a:spcBef>
                <a:spcPts val="500"/>
              </a:spcBef>
              <a:buClr>
                <a:srgbClr val="0091C8"/>
              </a:buClr>
              <a:buFont typeface="Wingdings" panose="05000000000000000000" pitchFamily="2" charset="2"/>
              <a:buChar char="§"/>
              <a:defRPr/>
            </a:pPr>
            <a:r>
              <a:rPr lang="en-US" sz="950" dirty="0">
                <a:solidFill>
                  <a:srgbClr val="000000"/>
                </a:solidFill>
                <a:latin typeface="Camphor Std"/>
              </a:rPr>
              <a:t>BMP-led</a:t>
            </a:r>
            <a:r>
              <a:rPr kumimoji="0" lang="en-US" sz="950" b="0" i="0" u="none" strike="noStrike" kern="1200" cap="none" spc="0" normalizeH="0" baseline="0" noProof="0" dirty="0">
                <a:ln>
                  <a:noFill/>
                </a:ln>
                <a:solidFill>
                  <a:srgbClr val="000000"/>
                </a:solidFill>
                <a:effectLst/>
                <a:uLnTx/>
                <a:uFillTx/>
                <a:latin typeface="Camphor Std"/>
                <a:ea typeface="+mn-ea"/>
                <a:cs typeface="+mn-cs"/>
              </a:rPr>
              <a:t> joint press release published on 11/</a:t>
            </a:r>
            <a:r>
              <a:rPr lang="en-US" sz="950" dirty="0">
                <a:solidFill>
                  <a:srgbClr val="000000"/>
                </a:solidFill>
                <a:latin typeface="Camphor Std"/>
              </a:rPr>
              <a:t>29 AM</a:t>
            </a:r>
            <a:endParaRPr lang="en-US" sz="950" b="0" i="0" u="none" strike="noStrike" kern="1200" cap="none" spc="0" normalizeH="0" baseline="0" noProof="0" dirty="0">
              <a:ln>
                <a:noFill/>
              </a:ln>
              <a:solidFill>
                <a:srgbClr val="000000"/>
              </a:solidFill>
              <a:effectLst/>
              <a:uLnTx/>
              <a:uFillTx/>
              <a:latin typeface="Camphor Std"/>
            </a:endParaRPr>
          </a:p>
          <a:p>
            <a:pPr marL="742950" lvl="3" indent="-285750" defTabSz="914400">
              <a:spcBef>
                <a:spcPts val="500"/>
              </a:spcBef>
              <a:buClr>
                <a:srgbClr val="0091C8"/>
              </a:buClr>
              <a:buFont typeface="Wingdings" panose="05000000000000000000" pitchFamily="2" charset="2"/>
              <a:buChar char="§"/>
              <a:defRPr/>
            </a:pPr>
            <a:r>
              <a:rPr lang="en-US" sz="950" dirty="0">
                <a:solidFill>
                  <a:srgbClr val="000000"/>
                </a:solidFill>
                <a:latin typeface="Camphor Std"/>
              </a:rPr>
              <a:t>TBD – Investee press releases published on TBC</a:t>
            </a:r>
          </a:p>
          <a:p>
            <a:pPr marL="742950" lvl="3" indent="-285750" defTabSz="914400">
              <a:spcBef>
                <a:spcPts val="500"/>
              </a:spcBef>
              <a:buClr>
                <a:srgbClr val="0091C8"/>
              </a:buClr>
              <a:buFont typeface="Wingdings" panose="05000000000000000000" pitchFamily="2" charset="2"/>
              <a:buChar char="§"/>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PN to conduct outreach to non-embargoed media including top-tier media, trade outlets, local media, and podcasts</a:t>
            </a:r>
            <a:r>
              <a:rPr lang="en-US" sz="950" dirty="0">
                <a:solidFill>
                  <a:srgbClr val="000000"/>
                </a:solidFill>
                <a:latin typeface="Camphor Std"/>
              </a:rPr>
              <a:t> </a:t>
            </a:r>
            <a:endParaRPr lang="en-US" sz="950" b="0" i="0" u="none" strike="noStrike" kern="1200" cap="none" spc="0" normalizeH="0" baseline="0" noProof="0" dirty="0">
              <a:ln>
                <a:noFill/>
              </a:ln>
              <a:solidFill>
                <a:srgbClr val="000000"/>
              </a:solidFill>
              <a:effectLst/>
              <a:uLnTx/>
              <a:uFillTx/>
              <a:latin typeface="Camphor Std"/>
            </a:endParaRPr>
          </a:p>
          <a:p>
            <a:pPr marL="742950" marR="0" lvl="3" indent="-28575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PN to deliver real-time media updates and EOW recap</a:t>
            </a:r>
            <a:endParaRPr lang="en-US" sz="950" b="0" i="0" u="none" strike="noStrike" kern="1200" cap="none" spc="0" normalizeH="0" baseline="0" noProof="0" dirty="0">
              <a:ln>
                <a:noFill/>
              </a:ln>
              <a:solidFill>
                <a:srgbClr val="000000"/>
              </a:solidFill>
              <a:effectLst/>
              <a:uLnTx/>
              <a:uFillTx/>
              <a:latin typeface="Camphor Std"/>
            </a:endParaRPr>
          </a:p>
          <a:p>
            <a:pPr marL="457200" marR="0" lvl="3" algn="l" defTabSz="914400" rtl="0" eaLnBrk="1" fontAlgn="auto" latinLnBrk="0" hangingPunct="1">
              <a:lnSpc>
                <a:spcPct val="100000"/>
              </a:lnSpc>
              <a:spcBef>
                <a:spcPts val="500"/>
              </a:spcBef>
              <a:spcAft>
                <a:spcPts val="0"/>
              </a:spcAft>
              <a:buClr>
                <a:srgbClr val="0091C8"/>
              </a:buClr>
              <a:buSzTx/>
              <a:tabLst/>
              <a:defRPr/>
            </a:pPr>
            <a:endParaRPr kumimoji="0" lang="en-US" sz="950" b="0" i="0" u="none" strike="noStrike" kern="1200" cap="none" spc="0" normalizeH="0" baseline="0" noProof="0" dirty="0">
              <a:ln>
                <a:noFill/>
              </a:ln>
              <a:solidFill>
                <a:srgbClr val="000000"/>
              </a:solidFill>
              <a:effectLst/>
              <a:uLnTx/>
              <a:uFillTx/>
              <a:latin typeface="Camphor Std"/>
              <a:ea typeface="+mn-ea"/>
              <a:cs typeface="+mn-cs"/>
            </a:endParaRPr>
          </a:p>
          <a:p>
            <a:pPr marL="457200" marR="0" lvl="2" indent="-45720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None/>
              <a:tabLst/>
              <a:defRPr/>
            </a:pPr>
            <a:r>
              <a:rPr lang="en-US" sz="1400" b="1" dirty="0">
                <a:solidFill>
                  <a:srgbClr val="000000"/>
                </a:solidFill>
                <a:latin typeface="Camphor Std"/>
              </a:rPr>
              <a:t>December</a:t>
            </a:r>
            <a:endParaRPr kumimoji="0" lang="en-US" sz="950" b="0" i="0" u="none" strike="noStrike" kern="1200" cap="none" spc="0" normalizeH="0" baseline="0" noProof="0" dirty="0">
              <a:ln>
                <a:noFill/>
              </a:ln>
              <a:solidFill>
                <a:srgbClr val="000000"/>
              </a:solidFill>
              <a:effectLst/>
              <a:uLnTx/>
              <a:uFillTx/>
              <a:latin typeface="Camphor Std"/>
              <a:ea typeface="+mn-ea"/>
              <a:cs typeface="+mn-cs"/>
            </a:endParaRPr>
          </a:p>
          <a:p>
            <a:pPr marL="515620" marR="0" lvl="3" indent="-288925" algn="l" defTabSz="457200" rtl="0" eaLnBrk="1" fontAlgn="auto" latinLnBrk="0" hangingPunct="1">
              <a:lnSpc>
                <a:spcPct val="100000"/>
              </a:lnSpc>
              <a:spcBef>
                <a:spcPts val="500"/>
              </a:spcBef>
              <a:spcAft>
                <a:spcPts val="0"/>
              </a:spcAft>
              <a:buClr>
                <a:srgbClr val="0091C8"/>
              </a:buClr>
              <a:buSzTx/>
              <a:buFont typeface="Courier New" panose="02070309020205020404" pitchFamily="49" charset="0"/>
              <a:buChar char="o"/>
              <a:tabLst/>
              <a:defRPr/>
            </a:pPr>
            <a:r>
              <a:rPr kumimoji="0" lang="en-US" sz="950" b="1" i="0" u="none" strike="noStrike" kern="1200" cap="none" spc="0" normalizeH="0" baseline="0" noProof="0" dirty="0">
                <a:ln>
                  <a:noFill/>
                </a:ln>
                <a:solidFill>
                  <a:srgbClr val="000000"/>
                </a:solidFill>
                <a:effectLst/>
                <a:uLnTx/>
                <a:uFillTx/>
                <a:latin typeface="Camphor Std"/>
                <a:ea typeface="+mn-ea"/>
                <a:cs typeface="+mn-cs"/>
              </a:rPr>
              <a:t>Week of 12/4</a:t>
            </a:r>
            <a:endParaRPr lang="en-US" sz="950" b="1" i="0" u="none" strike="noStrike" kern="1200" cap="none" spc="0" normalizeH="0" baseline="0" noProof="0" dirty="0">
              <a:ln>
                <a:noFill/>
              </a:ln>
              <a:solidFill>
                <a:srgbClr val="000000"/>
              </a:solidFill>
              <a:effectLst/>
              <a:uLnTx/>
              <a:uFillTx/>
              <a:latin typeface="Camphor Std"/>
            </a:endParaRPr>
          </a:p>
          <a:p>
            <a:pPr marL="742950" marR="0" lvl="3" indent="-28575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BMP newsletter sent out with accompanying Voices piece on 12/7</a:t>
            </a:r>
            <a:endParaRPr lang="en-US" sz="950" b="0" i="0" u="none" strike="noStrike" kern="1200" cap="none" spc="0" normalizeH="0" baseline="0" noProof="0" dirty="0">
              <a:ln>
                <a:noFill/>
              </a:ln>
              <a:solidFill>
                <a:srgbClr val="000000"/>
              </a:solidFill>
              <a:effectLst/>
              <a:uLnTx/>
              <a:uFillTx/>
              <a:latin typeface="Camphor Std"/>
            </a:endParaRPr>
          </a:p>
          <a:p>
            <a:pPr marL="742950" marR="0" lvl="3" indent="-28575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PN to deliver comprehensive launch media coverage report/analysis</a:t>
            </a:r>
            <a:endParaRPr lang="en-US" sz="950" b="0" i="0" u="none" strike="noStrike" kern="1200" cap="none" spc="0" normalizeH="0" baseline="0" noProof="0" dirty="0">
              <a:ln>
                <a:noFill/>
              </a:ln>
              <a:solidFill>
                <a:srgbClr val="000000"/>
              </a:solidFill>
              <a:effectLst/>
              <a:uLnTx/>
              <a:uFillTx/>
              <a:latin typeface="Camphor Std"/>
            </a:endParaRPr>
          </a:p>
          <a:p>
            <a:pPr marL="457200" lvl="3">
              <a:spcBef>
                <a:spcPts val="500"/>
              </a:spcBef>
              <a:buClr>
                <a:srgbClr val="0091C8"/>
              </a:buClr>
              <a:defRPr/>
            </a:pPr>
            <a:endParaRPr lang="en-US" sz="950" dirty="0">
              <a:solidFill>
                <a:srgbClr val="000000"/>
              </a:solidFill>
              <a:latin typeface="Camphor Std"/>
            </a:endParaRPr>
          </a:p>
          <a:p>
            <a:pPr marL="515620" marR="0" lvl="3" indent="-288925" algn="l" defTabSz="457200" rtl="0" eaLnBrk="1" fontAlgn="auto" latinLnBrk="0" hangingPunct="1">
              <a:lnSpc>
                <a:spcPct val="100000"/>
              </a:lnSpc>
              <a:spcBef>
                <a:spcPts val="500"/>
              </a:spcBef>
              <a:spcAft>
                <a:spcPts val="0"/>
              </a:spcAft>
              <a:buClr>
                <a:srgbClr val="0091C8"/>
              </a:buClr>
              <a:buSzTx/>
              <a:buFont typeface="Courier New" panose="02070309020205020404" pitchFamily="49" charset="0"/>
              <a:buChar char="o"/>
              <a:tabLst/>
              <a:defRPr/>
            </a:pPr>
            <a:r>
              <a:rPr kumimoji="0" lang="en-US" sz="950" b="1" i="0" u="none" strike="noStrike" kern="1200" cap="none" spc="0" normalizeH="0" baseline="0" noProof="0" dirty="0">
                <a:ln>
                  <a:noFill/>
                </a:ln>
                <a:solidFill>
                  <a:srgbClr val="000000"/>
                </a:solidFill>
                <a:effectLst/>
                <a:uLnTx/>
                <a:uFillTx/>
                <a:latin typeface="Camphor Std"/>
                <a:ea typeface="+mn-ea"/>
                <a:cs typeface="+mn-cs"/>
              </a:rPr>
              <a:t>Ongoing</a:t>
            </a:r>
            <a:endParaRPr lang="en-US" sz="950" b="1" i="0" u="none" strike="noStrike" kern="1200" cap="none" spc="0" normalizeH="0" baseline="0" noProof="0" dirty="0">
              <a:ln>
                <a:noFill/>
              </a:ln>
              <a:solidFill>
                <a:srgbClr val="000000"/>
              </a:solidFill>
              <a:effectLst/>
              <a:uLnTx/>
              <a:uFillTx/>
              <a:latin typeface="Camphor Std"/>
            </a:endParaRPr>
          </a:p>
          <a:p>
            <a:pPr marL="742950" marR="0" lvl="3" indent="-285750" algn="l" defTabSz="914400" rtl="0" eaLnBrk="1" fontAlgn="auto" latinLnBrk="0" hangingPunct="1">
              <a:lnSpc>
                <a:spcPct val="100000"/>
              </a:lnSpc>
              <a:spcBef>
                <a:spcPts val="500"/>
              </a:spcBef>
              <a:spcAft>
                <a:spcPts val="0"/>
              </a:spcAft>
              <a:buClr>
                <a:srgbClr val="0091C8"/>
              </a:buClr>
              <a:buSzTx/>
              <a:buFont typeface="Wingdings" panose="05000000000000000000" pitchFamily="2" charset="2"/>
              <a:buChar char="§"/>
              <a:tabLst/>
              <a:defRPr/>
            </a:pPr>
            <a:r>
              <a:rPr kumimoji="0" lang="en-US" sz="950" b="0" i="0" u="none" strike="noStrike" kern="1200" cap="none" spc="0" normalizeH="0" baseline="0" noProof="0" dirty="0">
                <a:ln>
                  <a:noFill/>
                </a:ln>
                <a:solidFill>
                  <a:srgbClr val="000000"/>
                </a:solidFill>
                <a:effectLst/>
                <a:uLnTx/>
                <a:uFillTx/>
                <a:latin typeface="Camphor Std"/>
                <a:ea typeface="+mn-ea"/>
                <a:cs typeface="+mn-cs"/>
              </a:rPr>
              <a:t>PN to continue media trends outreach based on relevant moments in the news cycle</a:t>
            </a:r>
            <a:endParaRPr lang="en-US" sz="950" b="0" i="0" u="none" strike="noStrike" kern="1200" cap="none" spc="0" normalizeH="0" baseline="0" noProof="0" dirty="0">
              <a:ln>
                <a:noFill/>
              </a:ln>
              <a:solidFill>
                <a:srgbClr val="000000"/>
              </a:solidFill>
              <a:effectLst/>
              <a:uLnTx/>
              <a:uFillTx/>
              <a:latin typeface="Camphor Std"/>
            </a:endParaRPr>
          </a:p>
          <a:p>
            <a:pPr marL="226695" marR="0" lvl="3" indent="0" algn="l" defTabSz="457200" rtl="0" eaLnBrk="1" fontAlgn="auto" latinLnBrk="0" hangingPunct="1">
              <a:lnSpc>
                <a:spcPct val="100000"/>
              </a:lnSpc>
              <a:spcBef>
                <a:spcPts val="0"/>
              </a:spcBef>
              <a:spcAft>
                <a:spcPts val="0"/>
              </a:spcAft>
              <a:buClrTx/>
              <a:buSzTx/>
              <a:buFontTx/>
              <a:buNone/>
              <a:tabLst/>
              <a:defRPr/>
            </a:pPr>
            <a:endParaRPr kumimoji="0" lang="en-US" sz="950" b="1" i="0" u="none" strike="noStrike" kern="1200" cap="none" spc="0" normalizeH="0" baseline="0" noProof="0" dirty="0">
              <a:ln>
                <a:noFill/>
              </a:ln>
              <a:solidFill>
                <a:srgbClr val="000000"/>
              </a:solidFill>
              <a:effectLst/>
              <a:uLnTx/>
              <a:uFillTx/>
              <a:latin typeface="Camphor Std"/>
              <a:ea typeface="+mn-ea"/>
              <a:cs typeface="+mn-cs"/>
            </a:endParaRPr>
          </a:p>
        </p:txBody>
      </p:sp>
      <p:sp>
        <p:nvSpPr>
          <p:cNvPr id="7" name="TextBox 6">
            <a:extLst>
              <a:ext uri="{FF2B5EF4-FFF2-40B4-BE49-F238E27FC236}">
                <a16:creationId xmlns:a16="http://schemas.microsoft.com/office/drawing/2014/main" id="{ED13F88C-F116-A786-7EB7-EF78803A72E3}"/>
              </a:ext>
            </a:extLst>
          </p:cNvPr>
          <p:cNvSpPr txBox="1"/>
          <p:nvPr/>
        </p:nvSpPr>
        <p:spPr>
          <a:xfrm>
            <a:off x="666719" y="6000970"/>
            <a:ext cx="4007828" cy="230832"/>
          </a:xfrm>
          <a:prstGeom prst="rect">
            <a:avLst/>
          </a:prstGeom>
          <a:noFill/>
        </p:spPr>
        <p:txBody>
          <a:bodyPr wrap="none" rtlCol="0">
            <a:spAutoFit/>
          </a:bodyPr>
          <a:lstStyle/>
          <a:p>
            <a:r>
              <a:rPr lang="en-US" sz="900"/>
              <a:t>Note: The full workplan with all activities is housed and managed in </a:t>
            </a:r>
            <a:r>
              <a:rPr lang="en-US" sz="900">
                <a:solidFill>
                  <a:schemeClr val="bg2"/>
                </a:solidFill>
              </a:rPr>
              <a:t>Asana</a:t>
            </a:r>
            <a:r>
              <a:rPr lang="en-US" sz="900"/>
              <a:t>. </a:t>
            </a:r>
          </a:p>
        </p:txBody>
      </p:sp>
    </p:spTree>
    <p:extLst>
      <p:ext uri="{BB962C8B-B14F-4D97-AF65-F5344CB8AC3E}">
        <p14:creationId xmlns:p14="http://schemas.microsoft.com/office/powerpoint/2010/main" val="1765063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389F0A-4D0D-4551-BAE3-7CA9C547AC4A}"/>
              </a:ext>
            </a:extLst>
          </p:cNvPr>
          <p:cNvSpPr>
            <a:spLocks noGrp="1"/>
          </p:cNvSpPr>
          <p:nvPr>
            <p:ph type="body" sz="quarter" idx="12"/>
          </p:nvPr>
        </p:nvSpPr>
        <p:spPr>
          <a:xfrm>
            <a:off x="451414" y="1796143"/>
            <a:ext cx="7869810" cy="2009504"/>
          </a:xfrm>
        </p:spPr>
        <p:txBody>
          <a:bodyPr>
            <a:normAutofit/>
          </a:bodyPr>
          <a:lstStyle/>
          <a:p>
            <a:r>
              <a:rPr lang="en-US"/>
              <a:t>Enabling the Work</a:t>
            </a:r>
            <a:endParaRPr lang="en-US" dirty="0"/>
          </a:p>
        </p:txBody>
      </p:sp>
    </p:spTree>
    <p:extLst>
      <p:ext uri="{BB962C8B-B14F-4D97-AF65-F5344CB8AC3E}">
        <p14:creationId xmlns:p14="http://schemas.microsoft.com/office/powerpoint/2010/main" val="1827197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0C44-EB4C-4952-B6DA-E09BEA2B83D0}"/>
              </a:ext>
            </a:extLst>
          </p:cNvPr>
          <p:cNvSpPr>
            <a:spLocks noGrp="1"/>
          </p:cNvSpPr>
          <p:nvPr>
            <p:ph type="title"/>
          </p:nvPr>
        </p:nvSpPr>
        <p:spPr/>
        <p:txBody>
          <a:bodyPr/>
          <a:lstStyle/>
          <a:p>
            <a:r>
              <a:rPr lang="en-US" sz="2800"/>
              <a:t>RAPIDs for PM Comms Work</a:t>
            </a:r>
          </a:p>
        </p:txBody>
      </p:sp>
      <p:sp>
        <p:nvSpPr>
          <p:cNvPr id="5" name="Slide Number Placeholder 4">
            <a:extLst>
              <a:ext uri="{FF2B5EF4-FFF2-40B4-BE49-F238E27FC236}">
                <a16:creationId xmlns:a16="http://schemas.microsoft.com/office/drawing/2014/main" id="{73E744DE-047A-4A0C-8D24-1EF76468B85C}"/>
              </a:ext>
            </a:extLst>
          </p:cNvPr>
          <p:cNvSpPr>
            <a:spLocks noGrp="1"/>
          </p:cNvSpPr>
          <p:nvPr>
            <p:ph type="sldNum" sz="quarter" idx="12"/>
          </p:nvPr>
        </p:nvSpPr>
        <p:spPr/>
        <p:txBody>
          <a:bodyPr/>
          <a:lstStyle/>
          <a:p>
            <a:fld id="{D4F07938-7C1D-46C8-9535-2404A951C984}" type="slidenum">
              <a:rPr lang="en-US" smtClean="0"/>
              <a:t>19</a:t>
            </a:fld>
            <a:endParaRPr lang="en-US"/>
          </a:p>
        </p:txBody>
      </p:sp>
      <p:graphicFrame>
        <p:nvGraphicFramePr>
          <p:cNvPr id="8" name="Table 7">
            <a:extLst>
              <a:ext uri="{FF2B5EF4-FFF2-40B4-BE49-F238E27FC236}">
                <a16:creationId xmlns:a16="http://schemas.microsoft.com/office/drawing/2014/main" id="{5CB5FC62-C1D7-4FBC-9D3F-6BF6D275DF83}"/>
              </a:ext>
            </a:extLst>
          </p:cNvPr>
          <p:cNvGraphicFramePr>
            <a:graphicFrameLocks noGrp="1"/>
          </p:cNvGraphicFramePr>
          <p:nvPr>
            <p:extLst>
              <p:ext uri="{D42A27DB-BD31-4B8C-83A1-F6EECF244321}">
                <p14:modId xmlns:p14="http://schemas.microsoft.com/office/powerpoint/2010/main" val="2800592357"/>
              </p:ext>
            </p:extLst>
          </p:nvPr>
        </p:nvGraphicFramePr>
        <p:xfrm>
          <a:off x="613098" y="2625249"/>
          <a:ext cx="8088321" cy="3225165"/>
        </p:xfrm>
        <a:graphic>
          <a:graphicData uri="http://schemas.openxmlformats.org/drawingml/2006/table">
            <a:tbl>
              <a:tblPr/>
              <a:tblGrid>
                <a:gridCol w="2045853">
                  <a:extLst>
                    <a:ext uri="{9D8B030D-6E8A-4147-A177-3AD203B41FA5}">
                      <a16:colId xmlns:a16="http://schemas.microsoft.com/office/drawing/2014/main" val="4256769381"/>
                    </a:ext>
                  </a:extLst>
                </a:gridCol>
                <a:gridCol w="1025960">
                  <a:extLst>
                    <a:ext uri="{9D8B030D-6E8A-4147-A177-3AD203B41FA5}">
                      <a16:colId xmlns:a16="http://schemas.microsoft.com/office/drawing/2014/main" val="2873901626"/>
                    </a:ext>
                  </a:extLst>
                </a:gridCol>
                <a:gridCol w="1254127">
                  <a:extLst>
                    <a:ext uri="{9D8B030D-6E8A-4147-A177-3AD203B41FA5}">
                      <a16:colId xmlns:a16="http://schemas.microsoft.com/office/drawing/2014/main" val="2776162117"/>
                    </a:ext>
                  </a:extLst>
                </a:gridCol>
                <a:gridCol w="1254127">
                  <a:extLst>
                    <a:ext uri="{9D8B030D-6E8A-4147-A177-3AD203B41FA5}">
                      <a16:colId xmlns:a16="http://schemas.microsoft.com/office/drawing/2014/main" val="1290120381"/>
                    </a:ext>
                  </a:extLst>
                </a:gridCol>
                <a:gridCol w="1254127">
                  <a:extLst>
                    <a:ext uri="{9D8B030D-6E8A-4147-A177-3AD203B41FA5}">
                      <a16:colId xmlns:a16="http://schemas.microsoft.com/office/drawing/2014/main" val="97449749"/>
                    </a:ext>
                  </a:extLst>
                </a:gridCol>
                <a:gridCol w="1254127">
                  <a:extLst>
                    <a:ext uri="{9D8B030D-6E8A-4147-A177-3AD203B41FA5}">
                      <a16:colId xmlns:a16="http://schemas.microsoft.com/office/drawing/2014/main" val="3215802938"/>
                    </a:ext>
                  </a:extLst>
                </a:gridCol>
              </a:tblGrid>
              <a:tr h="469487">
                <a:tc>
                  <a:txBody>
                    <a:bodyPr/>
                    <a:lstStyle/>
                    <a:p>
                      <a:pPr algn="ctr" rtl="0" fontAlgn="base"/>
                      <a:endParaRPr lang="en-US" sz="1000" b="1" i="0">
                        <a:effectLst/>
                        <a:latin typeface="Calibri"/>
                      </a:endParaRPr>
                    </a:p>
                  </a:txBody>
                  <a:tcPr marL="11845" marR="11845" marT="5923" marB="5923" anchor="ctr">
                    <a:lnL w="12700" cap="flat" cmpd="sng" algn="ctr">
                      <a:solidFill>
                        <a:schemeClr val="bg1"/>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rtl="0" fontAlgn="base"/>
                      <a:r>
                        <a:rPr lang="en-US" sz="1400" b="1" i="0">
                          <a:effectLst/>
                          <a:latin typeface="Calibri"/>
                        </a:rPr>
                        <a:t>R</a:t>
                      </a:r>
                      <a:endParaRPr lang="en-US" sz="1600" b="1" i="0">
                        <a:effectLst/>
                        <a:latin typeface="Calibri"/>
                      </a:endParaRP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EAF6"/>
                    </a:solidFill>
                  </a:tcPr>
                </a:tc>
                <a:tc>
                  <a:txBody>
                    <a:bodyPr/>
                    <a:lstStyle/>
                    <a:p>
                      <a:pPr algn="ctr" rtl="0" fontAlgn="base"/>
                      <a:r>
                        <a:rPr lang="en-US" sz="1400" b="1" i="0">
                          <a:effectLst/>
                          <a:latin typeface="Calibri"/>
                        </a:rPr>
                        <a:t>A</a:t>
                      </a:r>
                      <a:endParaRPr lang="en-US" sz="1600" b="0" i="0">
                        <a:effectLst/>
                        <a:latin typeface="Calibri"/>
                      </a:endParaRP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6E7"/>
                    </a:solidFill>
                  </a:tcPr>
                </a:tc>
                <a:tc>
                  <a:txBody>
                    <a:bodyPr/>
                    <a:lstStyle/>
                    <a:p>
                      <a:pPr algn="ctr" rtl="0" fontAlgn="base"/>
                      <a:r>
                        <a:rPr lang="en-US" sz="1400" b="1" i="0">
                          <a:effectLst/>
                          <a:latin typeface="Calibri"/>
                        </a:rPr>
                        <a:t>P</a:t>
                      </a:r>
                      <a:endParaRPr lang="en-US" sz="1600" b="0" i="0">
                        <a:effectLst/>
                        <a:latin typeface="Calibri"/>
                      </a:endParaRP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rtl="0" fontAlgn="base"/>
                      <a:r>
                        <a:rPr lang="en-US" sz="1400" b="1" i="0">
                          <a:effectLst/>
                          <a:latin typeface="Calibri"/>
                        </a:rPr>
                        <a:t>I</a:t>
                      </a:r>
                      <a:endParaRPr lang="en-US" sz="1600" b="0" i="0">
                        <a:effectLst/>
                        <a:latin typeface="Calibri"/>
                      </a:endParaRP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8BCD"/>
                    </a:solidFill>
                  </a:tcPr>
                </a:tc>
                <a:tc>
                  <a:txBody>
                    <a:bodyPr/>
                    <a:lstStyle/>
                    <a:p>
                      <a:pPr algn="ctr" rtl="0" fontAlgn="base"/>
                      <a:r>
                        <a:rPr lang="en-US" sz="1400" b="1" i="0">
                          <a:effectLst/>
                          <a:latin typeface="Calibri"/>
                        </a:rPr>
                        <a:t>D</a:t>
                      </a:r>
                      <a:endParaRPr lang="en-US" sz="1600" b="1" i="0">
                        <a:effectLst/>
                        <a:latin typeface="Calibri"/>
                      </a:endParaRP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860017522"/>
                  </a:ext>
                </a:extLst>
              </a:tr>
              <a:tr h="342404">
                <a:tc>
                  <a:txBody>
                    <a:bodyPr/>
                    <a:lstStyle/>
                    <a:p>
                      <a:pPr algn="r" rtl="0" fontAlgn="base"/>
                      <a:endParaRPr lang="en-US" sz="1000" b="0" i="0">
                        <a:effectLst/>
                        <a:latin typeface="Calibri"/>
                      </a:endParaRPr>
                    </a:p>
                  </a:txBody>
                  <a:tcPr marL="11845" marR="11845" marT="5923" marB="5923" anchor="ctr">
                    <a:lnL w="1270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chemeClr val="bg1">
                        <a:lumMod val="85000"/>
                      </a:schemeClr>
                    </a:solidFill>
                  </a:tcPr>
                </a:tc>
                <a:tc gridSpan="5">
                  <a:txBody>
                    <a:bodyPr/>
                    <a:lstStyle/>
                    <a:p>
                      <a:pPr algn="ctr" rtl="0" fontAlgn="base"/>
                      <a:endParaRPr lang="en-US" sz="900" b="0" i="0">
                        <a:effectLst/>
                        <a:latin typeface="Calibri" panose="020F0502020204030204" pitchFamily="34" charset="0"/>
                      </a:endParaRPr>
                    </a:p>
                  </a:txBody>
                  <a:tcPr marL="11845" marR="11845" marT="5923" marB="5923" anchor="ctr">
                    <a:lnL w="12700" cap="flat" cmpd="sng" algn="ctr">
                      <a:solidFill>
                        <a:schemeClr val="bg1">
                          <a:lumMod val="85000"/>
                        </a:schemeClr>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algn="ctr" rtl="0" fontAlgn="base"/>
                      <a:r>
                        <a:rPr lang="en-US" sz="900" b="0" i="0">
                          <a:effectLst/>
                          <a:latin typeface="Calibri" panose="020F0502020204030204" pitchFamily="34" charset="0"/>
                        </a:rPr>
                        <a:t> </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algn="ctr" rtl="0" fontAlgn="base"/>
                      <a:r>
                        <a:rPr lang="en-US" sz="900" b="0" i="0">
                          <a:effectLst/>
                          <a:latin typeface="Calibri" panose="020F0502020204030204" pitchFamily="34" charset="0"/>
                        </a:rPr>
                        <a:t> </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algn="ctr" rtl="0" fontAlgn="base"/>
                      <a:r>
                        <a:rPr lang="en-US" sz="900" b="0" i="0">
                          <a:effectLst/>
                          <a:latin typeface="Calibri" panose="020F0502020204030204" pitchFamily="34" charset="0"/>
                        </a:rPr>
                        <a:t> </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algn="ctr" rtl="0" fontAlgn="base"/>
                      <a:r>
                        <a:rPr lang="en-US" sz="900" b="0" i="0">
                          <a:effectLst/>
                          <a:latin typeface="Calibri" panose="020F0502020204030204" pitchFamily="34" charset="0"/>
                        </a:rPr>
                        <a:t> </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05898623"/>
                  </a:ext>
                </a:extLst>
              </a:tr>
              <a:tr h="571876">
                <a:tc>
                  <a:txBody>
                    <a:bodyPr/>
                    <a:lstStyle/>
                    <a:p>
                      <a:pPr algn="r" rtl="0" fontAlgn="base"/>
                      <a:r>
                        <a:rPr lang="en-US" sz="1050" b="1" i="0">
                          <a:effectLst/>
                          <a:latin typeface="+mn-lt"/>
                        </a:rPr>
                        <a:t>Activation Deck</a:t>
                      </a:r>
                    </a:p>
                  </a:txBody>
                  <a:tcPr marL="11845" marR="11845" marT="5923" marB="5923" anchor="ctr">
                    <a:lnL w="12700" cap="flat" cmpd="sng" algn="ctr">
                      <a:solidFill>
                        <a:schemeClr val="bg1"/>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ctr" rtl="0" fontAlgn="base"/>
                      <a:r>
                        <a:rPr lang="en-US" sz="900" b="0" i="0" dirty="0">
                          <a:effectLst/>
                          <a:latin typeface="+mn-lt"/>
                        </a:rPr>
                        <a:t>B&amp;C (Meti, Caroline, Micah, Porter N)</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en-US" sz="900" b="0" i="0">
                        <a:effectLst/>
                        <a:latin typeface="+mn-lt"/>
                      </a:endParaRPr>
                    </a:p>
                    <a:p>
                      <a:pPr marL="0" marR="0" lvl="0" indent="0" algn="ctr" defTabSz="914400" rtl="0" eaLnBrk="1" fontAlgn="base" latinLnBrk="0" hangingPunct="1">
                        <a:lnSpc>
                          <a:spcPct val="100000"/>
                        </a:lnSpc>
                        <a:spcBef>
                          <a:spcPts val="0"/>
                        </a:spcBef>
                        <a:spcAft>
                          <a:spcPts val="0"/>
                        </a:spcAft>
                        <a:buClrTx/>
                        <a:buSzTx/>
                        <a:buFontTx/>
                        <a:buNone/>
                        <a:tabLst/>
                        <a:defRPr/>
                      </a:pPr>
                      <a:r>
                        <a:rPr lang="en-US" sz="900" b="0" i="0">
                          <a:effectLst/>
                          <a:latin typeface="+mn-lt"/>
                        </a:rPr>
                        <a:t>Cecilia </a:t>
                      </a:r>
                    </a:p>
                    <a:p>
                      <a:pPr marL="0" marR="0" lvl="0" indent="0" algn="ctr" defTabSz="914400" rtl="0" eaLnBrk="1" fontAlgn="base" latinLnBrk="0" hangingPunct="1">
                        <a:lnSpc>
                          <a:spcPct val="100000"/>
                        </a:lnSpc>
                        <a:spcBef>
                          <a:spcPts val="0"/>
                        </a:spcBef>
                        <a:spcAft>
                          <a:spcPts val="0"/>
                        </a:spcAft>
                        <a:buClrTx/>
                        <a:buSzTx/>
                        <a:buFontTx/>
                        <a:buNone/>
                        <a:tabLst/>
                        <a:defRPr/>
                      </a:pPr>
                      <a:r>
                        <a:rPr lang="en-US" sz="900" b="0" i="0">
                          <a:solidFill>
                            <a:schemeClr val="accent3"/>
                          </a:solidFill>
                          <a:effectLst/>
                          <a:latin typeface="+mn-lt"/>
                        </a:rPr>
                        <a:t>Nancy</a:t>
                      </a:r>
                    </a:p>
                    <a:p>
                      <a:pPr marL="0" marR="0" lvl="0" indent="0" algn="ctr" defTabSz="914400" rtl="0" eaLnBrk="1" fontAlgn="base" latinLnBrk="0" hangingPunct="1">
                        <a:lnSpc>
                          <a:spcPct val="100000"/>
                        </a:lnSpc>
                        <a:spcBef>
                          <a:spcPts val="0"/>
                        </a:spcBef>
                        <a:spcAft>
                          <a:spcPts val="0"/>
                        </a:spcAft>
                        <a:buClrTx/>
                        <a:buSzTx/>
                        <a:buFontTx/>
                        <a:buNone/>
                        <a:tabLst/>
                        <a:defRPr/>
                      </a:pPr>
                      <a:r>
                        <a:rPr lang="en-US" sz="900" b="0" i="0">
                          <a:effectLst/>
                          <a:latin typeface="+mn-lt"/>
                        </a:rPr>
                        <a:t>BG – Cynara</a:t>
                      </a:r>
                    </a:p>
                    <a:p>
                      <a:pPr marL="0" marR="0" lvl="0" indent="0" algn="ctr" defTabSz="914400" rtl="0" eaLnBrk="1" fontAlgn="base" latinLnBrk="0" hangingPunct="1">
                        <a:lnSpc>
                          <a:spcPct val="100000"/>
                        </a:lnSpc>
                        <a:spcBef>
                          <a:spcPts val="0"/>
                        </a:spcBef>
                        <a:spcAft>
                          <a:spcPts val="0"/>
                        </a:spcAft>
                        <a:buClrTx/>
                        <a:buSzTx/>
                        <a:buFontTx/>
                        <a:buNone/>
                        <a:tabLst/>
                        <a:defRPr/>
                      </a:pPr>
                      <a:endParaRPr lang="en-US" sz="900" b="0" i="0">
                        <a:effectLst/>
                        <a:latin typeface="+mn-lt"/>
                      </a:endParaRP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algn="ctr" rtl="0" fontAlgn="base"/>
                      <a:r>
                        <a:rPr lang="en-US" sz="900" b="0" i="0">
                          <a:effectLst/>
                          <a:latin typeface="+mn-lt"/>
                        </a:rPr>
                        <a:t>B&amp;C</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900" b="0" i="0">
                          <a:effectLst/>
                          <a:latin typeface="+mn-lt"/>
                        </a:rPr>
                        <a:t>PM Team</a:t>
                      </a:r>
                      <a:br>
                        <a:rPr lang="en-US" sz="900" b="0" i="0">
                          <a:effectLst/>
                          <a:latin typeface="+mn-lt"/>
                        </a:rPr>
                      </a:br>
                      <a:r>
                        <a:rPr lang="en-US" sz="900" b="0" i="0">
                          <a:effectLst/>
                          <a:latin typeface="+mn-lt"/>
                        </a:rPr>
                        <a:t>Jim</a:t>
                      </a:r>
                      <a:br>
                        <a:rPr lang="en-US" sz="900" b="0" i="0">
                          <a:effectLst/>
                          <a:latin typeface="+mn-lt"/>
                        </a:rPr>
                      </a:br>
                      <a:r>
                        <a:rPr lang="en-US" sz="900" b="0" i="0">
                          <a:effectLst/>
                          <a:latin typeface="+mn-lt"/>
                        </a:rPr>
                        <a:t>Nancy</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Micah</a:t>
                      </a:r>
                      <a:endParaRPr kumimoji="0" lang="en-US" sz="900" b="0" i="0" u="none" strike="noStrike" kern="1200" cap="none" spc="0" normalizeH="0" baseline="0" noProof="0">
                        <a:ln>
                          <a:noFill/>
                        </a:ln>
                        <a:solidFill>
                          <a:srgbClr val="000000"/>
                        </a:solidFill>
                        <a:effectLst/>
                        <a:uLnTx/>
                        <a:uFillTx/>
                        <a:latin typeface="Camphor Std"/>
                        <a:ea typeface="+mn-ea"/>
                        <a:cs typeface="+mn-cs"/>
                      </a:endParaRP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extLst>
                  <a:ext uri="{0D108BD9-81ED-4DB2-BD59-A6C34878D82A}">
                    <a16:rowId xmlns:a16="http://schemas.microsoft.com/office/drawing/2014/main" val="719461317"/>
                  </a:ext>
                </a:extLst>
              </a:tr>
              <a:tr h="571876">
                <a:tc>
                  <a:txBody>
                    <a:bodyPr/>
                    <a:lstStyle/>
                    <a:p>
                      <a:pPr algn="r" rtl="0" fontAlgn="base"/>
                      <a:r>
                        <a:rPr lang="en-US" sz="1050" b="1" i="0">
                          <a:effectLst/>
                          <a:latin typeface="+mn-lt"/>
                        </a:rPr>
                        <a:t>Messaging Framework</a:t>
                      </a:r>
                    </a:p>
                  </a:txBody>
                  <a:tcPr marL="11845" marR="11845" marT="5923" marB="5923" anchor="ctr">
                    <a:lnL w="12700" cap="flat" cmpd="sng" algn="ctr">
                      <a:solidFill>
                        <a:schemeClr val="bg1"/>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amphor Std"/>
                          <a:ea typeface="+mn-ea"/>
                          <a:cs typeface="+mn-cs"/>
                        </a:rPr>
                        <a:t>B&amp;C (Meti, Caroline, Micah)</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900" b="0" i="0">
                          <a:effectLst/>
                          <a:latin typeface="+mn-lt"/>
                        </a:rPr>
                        <a:t>Cecilia </a:t>
                      </a:r>
                    </a:p>
                    <a:p>
                      <a:pPr marL="0" marR="0" lvl="0" indent="0" algn="ctr" defTabSz="914400" rtl="0" eaLnBrk="1" fontAlgn="base" latinLnBrk="0" hangingPunct="1">
                        <a:lnSpc>
                          <a:spcPct val="100000"/>
                        </a:lnSpc>
                        <a:spcBef>
                          <a:spcPts val="0"/>
                        </a:spcBef>
                        <a:spcAft>
                          <a:spcPts val="0"/>
                        </a:spcAft>
                        <a:buClrTx/>
                        <a:buSzTx/>
                        <a:buFontTx/>
                        <a:buNone/>
                        <a:tabLst/>
                        <a:defRPr/>
                      </a:pPr>
                      <a:r>
                        <a:rPr lang="en-US" sz="900" b="0" i="0">
                          <a:solidFill>
                            <a:schemeClr val="accent3"/>
                          </a:solidFill>
                          <a:effectLst/>
                          <a:latin typeface="+mn-lt"/>
                        </a:rPr>
                        <a:t>Nancy?</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algn="ctr" rtl="0" fontAlgn="base"/>
                      <a:r>
                        <a:rPr lang="en-US" sz="900" b="0" i="0">
                          <a:effectLst/>
                          <a:latin typeface="+mn-lt"/>
                        </a:rPr>
                        <a:t>Caroline</a:t>
                      </a:r>
                      <a:br>
                        <a:rPr lang="en-US" sz="900" b="0" i="0">
                          <a:effectLst/>
                          <a:latin typeface="+mn-lt"/>
                        </a:rPr>
                      </a:br>
                      <a:r>
                        <a:rPr lang="en-US" sz="900" b="0" i="0">
                          <a:effectLst/>
                          <a:latin typeface="+mn-lt"/>
                        </a:rPr>
                        <a:t>Meti</a:t>
                      </a:r>
                      <a:br>
                        <a:rPr lang="en-US" sz="900" b="0" i="0">
                          <a:effectLst/>
                          <a:latin typeface="+mn-lt"/>
                        </a:rPr>
                      </a:br>
                      <a:r>
                        <a:rPr lang="en-US" sz="900" b="0" i="0">
                          <a:effectLst/>
                          <a:latin typeface="+mn-lt"/>
                        </a:rPr>
                        <a:t>Addy</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900" b="0" i="0">
                          <a:effectLst/>
                          <a:latin typeface="+mn-lt"/>
                        </a:rPr>
                        <a:t>PM Team</a:t>
                      </a:r>
                      <a:br>
                        <a:rPr lang="en-US" sz="900" b="0" i="0">
                          <a:effectLst/>
                          <a:latin typeface="+mn-lt"/>
                        </a:rPr>
                      </a:br>
                      <a:r>
                        <a:rPr lang="en-US" sz="900" b="0" i="0">
                          <a:effectLst/>
                          <a:latin typeface="+mn-lt"/>
                        </a:rPr>
                        <a:t>Jim</a:t>
                      </a:r>
                      <a:br>
                        <a:rPr lang="en-US" sz="900" b="0" i="0">
                          <a:effectLst/>
                          <a:latin typeface="+mn-lt"/>
                        </a:rPr>
                      </a:br>
                      <a:r>
                        <a:rPr lang="en-US" sz="900" b="0" i="0">
                          <a:effectLst/>
                          <a:latin typeface="+mn-lt"/>
                        </a:rPr>
                        <a:t>BG - Cynara</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mphor Std"/>
                          <a:ea typeface="+mn-ea"/>
                          <a:cs typeface="+mn-cs"/>
                        </a:rPr>
                        <a:t>Micah</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extLst>
                  <a:ext uri="{0D108BD9-81ED-4DB2-BD59-A6C34878D82A}">
                    <a16:rowId xmlns:a16="http://schemas.microsoft.com/office/drawing/2014/main" val="2087633006"/>
                  </a:ext>
                </a:extLst>
              </a:tr>
              <a:tr h="571876">
                <a:tc>
                  <a:txBody>
                    <a:bodyPr/>
                    <a:lstStyle/>
                    <a:p>
                      <a:pPr algn="r" rtl="0" fontAlgn="base"/>
                      <a:r>
                        <a:rPr lang="en-US" sz="1050" b="1" i="0">
                          <a:effectLst/>
                          <a:latin typeface="+mn-lt"/>
                        </a:rPr>
                        <a:t>Press Release</a:t>
                      </a:r>
                    </a:p>
                  </a:txBody>
                  <a:tcPr marL="11845" marR="11845" marT="5923" marB="5923" anchor="ctr">
                    <a:lnL w="12700" cap="flat" cmpd="sng" algn="ctr">
                      <a:solidFill>
                        <a:schemeClr val="bg1"/>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mphor Std"/>
                          <a:ea typeface="+mn-ea"/>
                          <a:cs typeface="+mn-cs"/>
                        </a:rPr>
                        <a:t>B&amp;C (Meti, Caroline, Micah, Porter N)</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lvl="0" algn="ctr">
                        <a:buNone/>
                      </a:pPr>
                      <a:r>
                        <a:rPr lang="en-US" sz="900" b="0" i="0">
                          <a:effectLst/>
                          <a:latin typeface="+mn-lt"/>
                        </a:rPr>
                        <a:t>Cecilia</a:t>
                      </a:r>
                    </a:p>
                    <a:p>
                      <a:pPr lvl="0" algn="ctr">
                        <a:buNone/>
                      </a:pPr>
                      <a:r>
                        <a:rPr lang="en-US" sz="900" b="0" i="0">
                          <a:solidFill>
                            <a:schemeClr val="accent3"/>
                          </a:solidFill>
                          <a:effectLst/>
                          <a:latin typeface="+mn-lt"/>
                        </a:rPr>
                        <a:t>Nancy</a:t>
                      </a:r>
                      <a:br>
                        <a:rPr lang="en-US" sz="900" b="0" i="0">
                          <a:effectLst/>
                          <a:latin typeface="+mn-lt"/>
                        </a:rPr>
                      </a:br>
                      <a:r>
                        <a:rPr lang="en-US" sz="900" b="0" i="0">
                          <a:effectLst/>
                          <a:latin typeface="+mn-lt"/>
                        </a:rPr>
                        <a:t>BG - Cynara</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algn="ctr" rtl="0" fontAlgn="base"/>
                      <a:r>
                        <a:rPr lang="en-US" sz="900" b="0" i="0">
                          <a:effectLst/>
                          <a:latin typeface="+mn-lt"/>
                        </a:rPr>
                        <a:t>Porter N – release</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algn="ctr" rtl="0" fontAlgn="base"/>
                      <a:r>
                        <a:rPr lang="en-US" sz="900" b="0" i="0">
                          <a:effectLst/>
                          <a:latin typeface="+mn-lt"/>
                        </a:rPr>
                        <a:t>Jim</a:t>
                      </a:r>
                    </a:p>
                    <a:p>
                      <a:pPr algn="ctr" rtl="0" fontAlgn="base"/>
                      <a:r>
                        <a:rPr lang="en-US" sz="900" b="0" i="0">
                          <a:effectLst/>
                          <a:latin typeface="+mn-lt"/>
                        </a:rPr>
                        <a:t>Tia</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algn="ctr" rtl="0" fontAlgn="base"/>
                      <a:r>
                        <a:rPr kumimoji="0" lang="en-US" sz="900" b="0" i="0" u="none" strike="noStrike" kern="1200" cap="none" spc="0" normalizeH="0" baseline="0" noProof="0">
                          <a:ln>
                            <a:noFill/>
                          </a:ln>
                          <a:solidFill>
                            <a:srgbClr val="000000"/>
                          </a:solidFill>
                          <a:effectLst/>
                          <a:uLnTx/>
                          <a:uFillTx/>
                          <a:latin typeface="+mn-lt"/>
                          <a:ea typeface="+mn-ea"/>
                          <a:cs typeface="+mn-cs"/>
                        </a:rPr>
                        <a:t>Micah</a:t>
                      </a:r>
                      <a:endParaRPr lang="en-US" sz="900" b="0" i="0">
                        <a:effectLst/>
                        <a:latin typeface="+mn-lt"/>
                      </a:endParaRP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extLst>
                  <a:ext uri="{0D108BD9-81ED-4DB2-BD59-A6C34878D82A}">
                    <a16:rowId xmlns:a16="http://schemas.microsoft.com/office/drawing/2014/main" val="2863118464"/>
                  </a:ext>
                </a:extLst>
              </a:tr>
              <a:tr h="571876">
                <a:tc>
                  <a:txBody>
                    <a:bodyPr/>
                    <a:lstStyle/>
                    <a:p>
                      <a:pPr algn="r" rtl="0" fontAlgn="base"/>
                      <a:r>
                        <a:rPr lang="en-US" sz="1050" b="1" i="0">
                          <a:effectLst/>
                          <a:latin typeface="+mn-lt"/>
                        </a:rPr>
                        <a:t>Earned Media Activations</a:t>
                      </a:r>
                    </a:p>
                  </a:txBody>
                  <a:tcPr marL="11845" marR="11845" marT="5923" marB="5923" anchor="ctr">
                    <a:lnL w="12700" cap="flat" cmpd="sng" algn="ctr">
                      <a:solidFill>
                        <a:schemeClr val="bg1"/>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B&amp;C (Meti, Caroline, Micah, Porter N)</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lvl="0" algn="ctr">
                        <a:buNone/>
                      </a:pPr>
                      <a:r>
                        <a:rPr lang="en-US" sz="900" b="0" i="0">
                          <a:effectLst/>
                          <a:latin typeface="+mn-lt"/>
                        </a:rPr>
                        <a:t>BG – Cynara</a:t>
                      </a:r>
                    </a:p>
                    <a:p>
                      <a:pPr lvl="0" algn="ctr">
                        <a:buNone/>
                      </a:pPr>
                      <a:r>
                        <a:rPr lang="en-US" sz="900" b="0" i="0">
                          <a:solidFill>
                            <a:schemeClr val="accent3"/>
                          </a:solidFill>
                          <a:effectLst/>
                          <a:latin typeface="+mn-lt"/>
                        </a:rPr>
                        <a:t>Nancy?</a:t>
                      </a:r>
                    </a:p>
                    <a:p>
                      <a:pPr lvl="0" algn="ctr">
                        <a:buNone/>
                      </a:pPr>
                      <a:r>
                        <a:rPr lang="en-US" sz="900" b="0" i="0">
                          <a:solidFill>
                            <a:schemeClr val="accent3"/>
                          </a:solidFill>
                          <a:effectLst/>
                          <a:latin typeface="+mn-lt"/>
                        </a:rPr>
                        <a:t>Jim - Spokespeople</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algn="ctr" rtl="0" fontAlgn="base"/>
                      <a:r>
                        <a:rPr lang="en-US" sz="900" b="0" i="0">
                          <a:effectLst/>
                          <a:latin typeface="+mn-lt"/>
                        </a:rPr>
                        <a:t>Porter N - pitching</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algn="ctr" rtl="0" fontAlgn="base"/>
                      <a:r>
                        <a:rPr lang="en-US" sz="900" b="0" i="0">
                          <a:effectLst/>
                          <a:latin typeface="+mn-lt"/>
                        </a:rPr>
                        <a:t>Cecilia</a:t>
                      </a:r>
                    </a:p>
                    <a:p>
                      <a:pPr algn="ctr" rtl="0" fontAlgn="base"/>
                      <a:r>
                        <a:rPr lang="en-US" sz="900" b="0" i="0">
                          <a:effectLst/>
                          <a:latin typeface="+mn-lt"/>
                        </a:rPr>
                        <a:t>Jim</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tc>
                  <a:txBody>
                    <a:bodyPr/>
                    <a:lstStyle/>
                    <a:p>
                      <a:pPr algn="ctr" rtl="0" fontAlgn="base"/>
                      <a:r>
                        <a:rPr lang="en-US" sz="900" b="0" i="0" dirty="0">
                          <a:effectLst/>
                          <a:latin typeface="+mn-lt"/>
                        </a:rPr>
                        <a:t>Micah/Meti</a:t>
                      </a:r>
                    </a:p>
                  </a:txBody>
                  <a:tcPr marL="11845" marR="11845" marT="5923" marB="5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FCFCFC"/>
                    </a:solidFill>
                  </a:tcPr>
                </a:tc>
                <a:extLst>
                  <a:ext uri="{0D108BD9-81ED-4DB2-BD59-A6C34878D82A}">
                    <a16:rowId xmlns:a16="http://schemas.microsoft.com/office/drawing/2014/main" val="1892917226"/>
                  </a:ext>
                </a:extLst>
              </a:tr>
            </a:tbl>
          </a:graphicData>
        </a:graphic>
      </p:graphicFrame>
      <p:graphicFrame>
        <p:nvGraphicFramePr>
          <p:cNvPr id="13" name="Table 12">
            <a:extLst>
              <a:ext uri="{FF2B5EF4-FFF2-40B4-BE49-F238E27FC236}">
                <a16:creationId xmlns:a16="http://schemas.microsoft.com/office/drawing/2014/main" id="{F722A037-B2A2-4546-9A87-AA808D5D5EBA}"/>
              </a:ext>
            </a:extLst>
          </p:cNvPr>
          <p:cNvGraphicFramePr>
            <a:graphicFrameLocks noGrp="1"/>
          </p:cNvGraphicFramePr>
          <p:nvPr/>
        </p:nvGraphicFramePr>
        <p:xfrm>
          <a:off x="613098" y="999649"/>
          <a:ext cx="3884258" cy="1371600"/>
        </p:xfrm>
        <a:graphic>
          <a:graphicData uri="http://schemas.openxmlformats.org/drawingml/2006/table">
            <a:tbl>
              <a:tblPr>
                <a:solidFill>
                  <a:srgbClr val="FFFFFF"/>
                </a:solidFill>
              </a:tblPr>
              <a:tblGrid>
                <a:gridCol w="292490">
                  <a:extLst>
                    <a:ext uri="{9D8B030D-6E8A-4147-A177-3AD203B41FA5}">
                      <a16:colId xmlns:a16="http://schemas.microsoft.com/office/drawing/2014/main" val="1755231669"/>
                    </a:ext>
                  </a:extLst>
                </a:gridCol>
                <a:gridCol w="3591768">
                  <a:extLst>
                    <a:ext uri="{9D8B030D-6E8A-4147-A177-3AD203B41FA5}">
                      <a16:colId xmlns:a16="http://schemas.microsoft.com/office/drawing/2014/main" val="3353028707"/>
                    </a:ext>
                  </a:extLst>
                </a:gridCol>
              </a:tblGrid>
              <a:tr h="205019">
                <a:tc>
                  <a:txBody>
                    <a:bodyPr/>
                    <a:lstStyle/>
                    <a:p>
                      <a:pPr algn="ctr" rtl="0" fontAlgn="base"/>
                      <a:r>
                        <a:rPr lang="en-US" sz="1000" b="1" i="0">
                          <a:solidFill>
                            <a:sysClr val="windowText" lastClr="000000"/>
                          </a:solidFill>
                          <a:effectLst/>
                          <a:latin typeface="Calibri" panose="020F0502020204030204" pitchFamily="34" charset="0"/>
                        </a:rPr>
                        <a:t>R </a:t>
                      </a:r>
                      <a:endParaRPr lang="en-US" sz="2000" b="1" i="0">
                        <a:solidFill>
                          <a:sysClr val="windowText" lastClr="000000"/>
                        </a:solidFill>
                        <a:effectLst/>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EEAF6"/>
                    </a:solidFill>
                  </a:tcPr>
                </a:tc>
                <a:tc>
                  <a:txBody>
                    <a:bodyPr/>
                    <a:lstStyle/>
                    <a:p>
                      <a:pPr algn="l" rtl="0" fontAlgn="base"/>
                      <a:r>
                        <a:rPr lang="en-US" sz="1000" b="1" i="0">
                          <a:effectLst/>
                          <a:latin typeface="Calibri" panose="020F0502020204030204" pitchFamily="34" charset="0"/>
                        </a:rPr>
                        <a:t>Recommend – person recommends the decision or action</a:t>
                      </a:r>
                      <a:endParaRPr lang="en-US" sz="2000" b="1" i="0">
                        <a:effectLst/>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2896090"/>
                  </a:ext>
                </a:extLst>
              </a:tr>
              <a:tr h="205019">
                <a:tc>
                  <a:txBody>
                    <a:bodyPr/>
                    <a:lstStyle/>
                    <a:p>
                      <a:pPr algn="ctr" rtl="0" fontAlgn="base"/>
                      <a:r>
                        <a:rPr lang="en-US" sz="1000" b="1" i="0">
                          <a:solidFill>
                            <a:sysClr val="windowText" lastClr="000000"/>
                          </a:solidFill>
                          <a:effectLst/>
                          <a:latin typeface="Calibri" panose="020F0502020204030204" pitchFamily="34" charset="0"/>
                        </a:rPr>
                        <a:t>A </a:t>
                      </a:r>
                      <a:endParaRPr lang="en-US" sz="2000" b="1" i="0">
                        <a:solidFill>
                          <a:sysClr val="windowText" lastClr="000000"/>
                        </a:solidFill>
                        <a:effectLst/>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4C6E7"/>
                    </a:solidFill>
                  </a:tcPr>
                </a:tc>
                <a:tc>
                  <a:txBody>
                    <a:bodyPr/>
                    <a:lstStyle/>
                    <a:p>
                      <a:pPr algn="l" rtl="0" fontAlgn="base"/>
                      <a:r>
                        <a:rPr lang="en-US" sz="1000" b="1" i="0">
                          <a:effectLst/>
                          <a:latin typeface="Calibri" panose="020F0502020204030204" pitchFamily="34" charset="0"/>
                        </a:rPr>
                        <a:t>Agree – person agrees to the decision or action</a:t>
                      </a:r>
                      <a:endParaRPr lang="en-US" sz="2000" b="1" i="0">
                        <a:effectLst/>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6217744"/>
                  </a:ext>
                </a:extLst>
              </a:tr>
              <a:tr h="205019">
                <a:tc>
                  <a:txBody>
                    <a:bodyPr/>
                    <a:lstStyle/>
                    <a:p>
                      <a:pPr algn="ctr" rtl="0" fontAlgn="base"/>
                      <a:r>
                        <a:rPr lang="en-US" sz="1000" b="1" i="0">
                          <a:solidFill>
                            <a:sysClr val="windowText" lastClr="000000"/>
                          </a:solidFill>
                          <a:effectLst/>
                          <a:latin typeface="Calibri" panose="020F0502020204030204" pitchFamily="34" charset="0"/>
                        </a:rPr>
                        <a:t>P</a:t>
                      </a:r>
                      <a:endParaRPr lang="en-US" sz="2000" b="1" i="0">
                        <a:solidFill>
                          <a:sysClr val="windowText" lastClr="000000"/>
                        </a:solidFill>
                        <a:effectLst/>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rtl="0" fontAlgn="base"/>
                      <a:r>
                        <a:rPr lang="en-US" sz="1000" b="1" i="0">
                          <a:effectLst/>
                          <a:latin typeface="Calibri" panose="020F0502020204030204" pitchFamily="34" charset="0"/>
                        </a:rPr>
                        <a:t>Perform – person performs the execution of decision or action</a:t>
                      </a:r>
                      <a:endParaRPr lang="en-US" sz="2000" b="1" i="0">
                        <a:effectLst/>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585947"/>
                  </a:ext>
                </a:extLst>
              </a:tr>
              <a:tr h="205019">
                <a:tc>
                  <a:txBody>
                    <a:bodyPr/>
                    <a:lstStyle/>
                    <a:p>
                      <a:pPr marL="0" algn="ctr" defTabSz="914400" rtl="0" eaLnBrk="1" fontAlgn="base" latinLnBrk="0" hangingPunct="1"/>
                      <a:r>
                        <a:rPr lang="en-US" sz="1000" b="1" i="0" kern="1200">
                          <a:solidFill>
                            <a:sysClr val="windowText" lastClr="000000"/>
                          </a:solidFill>
                          <a:effectLst/>
                          <a:latin typeface="Calibri" panose="020F0502020204030204" pitchFamily="34" charset="0"/>
                          <a:ea typeface="+mn-ea"/>
                          <a:cs typeface="+mn-cs"/>
                        </a:rPr>
                        <a:t>I</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1E8BCD"/>
                    </a:solidFill>
                  </a:tcPr>
                </a:tc>
                <a:tc>
                  <a:txBody>
                    <a:bodyPr/>
                    <a:lstStyle/>
                    <a:p>
                      <a:pPr marL="0" algn="l" defTabSz="914400" rtl="0" eaLnBrk="1" fontAlgn="base" latinLnBrk="0" hangingPunct="1"/>
                      <a:r>
                        <a:rPr lang="en-US" sz="1000" b="1" i="0" kern="1200">
                          <a:solidFill>
                            <a:schemeClr val="tx1"/>
                          </a:solidFill>
                          <a:effectLst/>
                          <a:latin typeface="Calibri" panose="020F0502020204030204" pitchFamily="34" charset="0"/>
                          <a:ea typeface="+mn-ea"/>
                          <a:cs typeface="+mn-cs"/>
                        </a:rPr>
                        <a:t>Input – person who will add input to the decision or action</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19215445"/>
                  </a:ext>
                </a:extLst>
              </a:tr>
              <a:tr h="205019">
                <a:tc>
                  <a:txBody>
                    <a:bodyPr/>
                    <a:lstStyle/>
                    <a:p>
                      <a:pPr algn="ctr" rtl="0" fontAlgn="base"/>
                      <a:r>
                        <a:rPr lang="en-US" sz="1000" b="1" i="0">
                          <a:solidFill>
                            <a:sysClr val="windowText" lastClr="000000"/>
                          </a:solidFill>
                          <a:effectLst/>
                          <a:latin typeface="Calibri" panose="020F0502020204030204" pitchFamily="34" charset="0"/>
                        </a:rPr>
                        <a:t>D</a:t>
                      </a:r>
                      <a:endParaRPr lang="en-US" sz="2000" b="1" i="0">
                        <a:solidFill>
                          <a:sysClr val="windowText" lastClr="000000"/>
                        </a:solidFill>
                        <a:effectLst/>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l" rtl="0" fontAlgn="base"/>
                      <a:r>
                        <a:rPr lang="en-US" sz="1000" b="1" i="0">
                          <a:effectLst/>
                          <a:latin typeface="Calibri" panose="020F0502020204030204" pitchFamily="34" charset="0"/>
                        </a:rPr>
                        <a:t>Decide – person to make the decision or action aka decision owner</a:t>
                      </a:r>
                      <a:endParaRPr lang="en-US" sz="2000" b="1" i="0">
                        <a:effectLst/>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457070"/>
                  </a:ext>
                </a:extLst>
              </a:tr>
            </a:tbl>
          </a:graphicData>
        </a:graphic>
      </p:graphicFrame>
      <p:sp>
        <p:nvSpPr>
          <p:cNvPr id="4" name="TextBox 3">
            <a:extLst>
              <a:ext uri="{FF2B5EF4-FFF2-40B4-BE49-F238E27FC236}">
                <a16:creationId xmlns:a16="http://schemas.microsoft.com/office/drawing/2014/main" id="{CCCE7BFE-C4C6-9FE2-6D50-E54477D9377B}"/>
              </a:ext>
            </a:extLst>
          </p:cNvPr>
          <p:cNvSpPr txBox="1"/>
          <p:nvPr/>
        </p:nvSpPr>
        <p:spPr>
          <a:xfrm>
            <a:off x="613097" y="5858351"/>
            <a:ext cx="5626592" cy="369332"/>
          </a:xfrm>
          <a:prstGeom prst="rect">
            <a:avLst/>
          </a:prstGeom>
          <a:noFill/>
        </p:spPr>
        <p:txBody>
          <a:bodyPr wrap="square" lIns="91440" tIns="45720" rIns="91440" bIns="45720" rtlCol="0" anchor="t">
            <a:spAutoFit/>
          </a:bodyPr>
          <a:lstStyle/>
          <a:p>
            <a:r>
              <a:rPr lang="en-US" sz="900" i="1"/>
              <a:t>B&amp;C team = Meti/Micah/Addy + Caroline Mauldin (consultant supporting activation planning)</a:t>
            </a:r>
          </a:p>
          <a:p>
            <a:r>
              <a:rPr lang="en-US" sz="900" i="1"/>
              <a:t>BG = Ballmer Group</a:t>
            </a:r>
          </a:p>
        </p:txBody>
      </p:sp>
      <p:sp>
        <p:nvSpPr>
          <p:cNvPr id="6" name="TextBox 5">
            <a:extLst>
              <a:ext uri="{FF2B5EF4-FFF2-40B4-BE49-F238E27FC236}">
                <a16:creationId xmlns:a16="http://schemas.microsoft.com/office/drawing/2014/main" id="{E6E6B939-B4DE-2A81-AB09-1B4C767234BB}"/>
              </a:ext>
            </a:extLst>
          </p:cNvPr>
          <p:cNvSpPr txBox="1"/>
          <p:nvPr/>
        </p:nvSpPr>
        <p:spPr>
          <a:xfrm>
            <a:off x="5466207" y="6043731"/>
            <a:ext cx="3406702" cy="230832"/>
          </a:xfrm>
          <a:prstGeom prst="rect">
            <a:avLst/>
          </a:prstGeom>
          <a:noFill/>
        </p:spPr>
        <p:txBody>
          <a:bodyPr wrap="none" rtlCol="0">
            <a:spAutoFit/>
          </a:bodyPr>
          <a:lstStyle/>
          <a:p>
            <a:r>
              <a:rPr lang="en-US" sz="900" i="1"/>
              <a:t>Cecilia to inform and collect feedback from Melinda and Othello</a:t>
            </a:r>
          </a:p>
        </p:txBody>
      </p:sp>
      <p:sp>
        <p:nvSpPr>
          <p:cNvPr id="7" name="TextBox 6">
            <a:extLst>
              <a:ext uri="{FF2B5EF4-FFF2-40B4-BE49-F238E27FC236}">
                <a16:creationId xmlns:a16="http://schemas.microsoft.com/office/drawing/2014/main" id="{E26E78D3-7992-DBD8-EC41-96F68DB6D0D3}"/>
              </a:ext>
            </a:extLst>
          </p:cNvPr>
          <p:cNvSpPr txBox="1"/>
          <p:nvPr/>
        </p:nvSpPr>
        <p:spPr>
          <a:xfrm>
            <a:off x="7850056" y="29155"/>
            <a:ext cx="1293944" cy="253916"/>
          </a:xfrm>
          <a:prstGeom prst="rect">
            <a:avLst/>
          </a:prstGeom>
          <a:noFill/>
        </p:spPr>
        <p:txBody>
          <a:bodyPr wrap="none" rtlCol="0">
            <a:spAutoFit/>
          </a:bodyPr>
          <a:lstStyle/>
          <a:p>
            <a:r>
              <a:rPr lang="en-US" sz="1050">
                <a:solidFill>
                  <a:schemeClr val="accent3"/>
                </a:solidFill>
              </a:rPr>
              <a:t>Revised in late Oct</a:t>
            </a:r>
          </a:p>
        </p:txBody>
      </p:sp>
    </p:spTree>
    <p:extLst>
      <p:ext uri="{BB962C8B-B14F-4D97-AF65-F5344CB8AC3E}">
        <p14:creationId xmlns:p14="http://schemas.microsoft.com/office/powerpoint/2010/main" val="3701694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DD13A-7A94-1A27-4DD1-277AF9F16427}"/>
              </a:ext>
            </a:extLst>
          </p:cNvPr>
          <p:cNvSpPr>
            <a:spLocks noGrp="1"/>
          </p:cNvSpPr>
          <p:nvPr>
            <p:ph type="title"/>
          </p:nvPr>
        </p:nvSpPr>
        <p:spPr/>
        <p:txBody>
          <a:bodyPr/>
          <a:lstStyle/>
          <a:p>
            <a:r>
              <a:rPr lang="en-US"/>
              <a:t>How we will work with PM Investees (1 of 2)</a:t>
            </a:r>
          </a:p>
        </p:txBody>
      </p:sp>
      <p:sp>
        <p:nvSpPr>
          <p:cNvPr id="3" name="Content Placeholder 2">
            <a:extLst>
              <a:ext uri="{FF2B5EF4-FFF2-40B4-BE49-F238E27FC236}">
                <a16:creationId xmlns:a16="http://schemas.microsoft.com/office/drawing/2014/main" id="{C4017AD1-DD5A-DB2A-A37B-9D1E14888716}"/>
              </a:ext>
            </a:extLst>
          </p:cNvPr>
          <p:cNvSpPr>
            <a:spLocks noGrp="1"/>
          </p:cNvSpPr>
          <p:nvPr>
            <p:ph idx="1"/>
          </p:nvPr>
        </p:nvSpPr>
        <p:spPr>
          <a:xfrm>
            <a:off x="521952" y="1300055"/>
            <a:ext cx="8104015" cy="4257890"/>
          </a:xfrm>
        </p:spPr>
        <p:txBody>
          <a:bodyPr vert="horz" lIns="91440" tIns="45720" rIns="91440" bIns="45720" rtlCol="0" anchor="t">
            <a:noAutofit/>
          </a:bodyPr>
          <a:lstStyle/>
          <a:p>
            <a:pPr marL="0" indent="0">
              <a:buNone/>
            </a:pPr>
            <a:r>
              <a:rPr lang="en-US" sz="1100" b="1">
                <a:solidFill>
                  <a:schemeClr val="accent1"/>
                </a:solidFill>
                <a:cs typeface="Arial"/>
              </a:rPr>
              <a:t>COMMS STRATEGY</a:t>
            </a:r>
          </a:p>
          <a:p>
            <a:r>
              <a:rPr lang="en-US" sz="1100"/>
              <a:t>We seek to maintain our comms protocol of talking at the Portfolio level related to our funding, and not doing individual-level investment announcements</a:t>
            </a:r>
          </a:p>
          <a:p>
            <a:r>
              <a:rPr lang="en-US" sz="1100"/>
              <a:t>We want to ensure that the full PM strategy is conveyed and we will aim to speaking to the total, while also honoring the new “news” of the moment</a:t>
            </a:r>
            <a:endParaRPr lang="en-US" sz="1100">
              <a:cs typeface="Arial"/>
            </a:endParaRPr>
          </a:p>
          <a:p>
            <a:r>
              <a:rPr lang="en-US" sz="1100">
                <a:cs typeface="Arial"/>
              </a:rPr>
              <a:t>We have asked that investees </a:t>
            </a:r>
            <a:r>
              <a:rPr lang="en-US" sz="1100" b="1">
                <a:cs typeface="Arial"/>
              </a:rPr>
              <a:t>hold any announcement </a:t>
            </a:r>
            <a:r>
              <a:rPr lang="en-US" sz="1100">
                <a:cs typeface="Arial"/>
              </a:rPr>
              <a:t>of our investment in their respective org until the Blue Meridian Partners press release has dropped. </a:t>
            </a:r>
            <a:endParaRPr lang="en-US" sz="1600"/>
          </a:p>
          <a:p>
            <a:pPr lvl="1"/>
            <a:r>
              <a:rPr lang="en-US" sz="1000">
                <a:cs typeface="Arial"/>
              </a:rPr>
              <a:t>We hope to get </a:t>
            </a:r>
            <a:r>
              <a:rPr lang="en-US" sz="1000" b="1">
                <a:cs typeface="Arial"/>
              </a:rPr>
              <a:t>an exclusive story with a top national outlet</a:t>
            </a:r>
            <a:r>
              <a:rPr lang="en-US" sz="1000">
                <a:cs typeface="Arial"/>
              </a:rPr>
              <a:t>, which would include mention of their work. As such, it is critical that the news is not leaked beforehand. </a:t>
            </a:r>
          </a:p>
          <a:p>
            <a:pPr lvl="1"/>
            <a:r>
              <a:rPr lang="en-US" sz="1000">
                <a:cs typeface="Arial"/>
              </a:rPr>
              <a:t>That said, we know investees may want to share about their investment </a:t>
            </a:r>
            <a:r>
              <a:rPr lang="en-US" sz="1000" i="1">
                <a:cs typeface="Arial"/>
              </a:rPr>
              <a:t>before</a:t>
            </a:r>
            <a:r>
              <a:rPr lang="en-US" sz="1000">
                <a:cs typeface="Arial"/>
              </a:rPr>
              <a:t> this time to align with their comms goals. In this case, we will work with each organization as best as we can to support both orgs. </a:t>
            </a:r>
          </a:p>
          <a:p>
            <a:pPr lvl="1"/>
            <a:r>
              <a:rPr lang="en-US" sz="1000">
                <a:cs typeface="Arial"/>
              </a:rPr>
              <a:t>And we know investees want to fast follow our announcement with their own locally-focused news. We aim to avoid “stealing their thunder” by sharing details of their plans and fundraising. </a:t>
            </a:r>
          </a:p>
          <a:p>
            <a:r>
              <a:rPr lang="en-US" sz="1100">
                <a:cs typeface="Arial"/>
              </a:rPr>
              <a:t>Each organization’s narrative should aim to acknowledge how their work is part of a broader effort to </a:t>
            </a:r>
            <a:r>
              <a:rPr lang="en-US" sz="1100" b="1">
                <a:cs typeface="Arial"/>
              </a:rPr>
              <a:t>grow the place-based partnership field </a:t>
            </a:r>
            <a:r>
              <a:rPr lang="en-US" sz="1100">
                <a:cs typeface="Arial"/>
              </a:rPr>
              <a:t>and </a:t>
            </a:r>
            <a:r>
              <a:rPr lang="en-US" sz="1100" b="1">
                <a:cs typeface="Arial"/>
              </a:rPr>
              <a:t>scale up effective programs </a:t>
            </a:r>
            <a:r>
              <a:rPr lang="en-US" sz="1100">
                <a:cs typeface="Arial"/>
              </a:rPr>
              <a:t>across the country. </a:t>
            </a:r>
            <a:endParaRPr lang="en-US" sz="1100">
              <a:solidFill>
                <a:schemeClr val="accent1"/>
              </a:solidFill>
              <a:cs typeface="Arial"/>
            </a:endParaRPr>
          </a:p>
          <a:p>
            <a:pPr marL="0" indent="0">
              <a:buNone/>
            </a:pPr>
            <a:r>
              <a:rPr lang="en-US" sz="1100" b="1">
                <a:solidFill>
                  <a:schemeClr val="accent1"/>
                </a:solidFill>
                <a:cs typeface="Arial"/>
              </a:rPr>
              <a:t>PROCESS</a:t>
            </a:r>
          </a:p>
          <a:p>
            <a:r>
              <a:rPr lang="en-US" sz="1100">
                <a:cs typeface="Arial"/>
              </a:rPr>
              <a:t>Our goal is for our teams to be in lockstep to ensure </a:t>
            </a:r>
            <a:r>
              <a:rPr lang="en-US" sz="1100" b="1">
                <a:cs typeface="Arial"/>
              </a:rPr>
              <a:t>consistency in language and overarching messaging </a:t>
            </a:r>
            <a:r>
              <a:rPr lang="en-US" sz="1100">
                <a:cs typeface="Arial"/>
              </a:rPr>
              <a:t>as it concerns our investment in each organization’s work. </a:t>
            </a:r>
          </a:p>
          <a:p>
            <a:r>
              <a:rPr lang="en-US" sz="1100">
                <a:cs typeface="Arial"/>
              </a:rPr>
              <a:t>To better coordinate comms efforts as activities begin to ramp up for the fall, we will request </a:t>
            </a:r>
            <a:r>
              <a:rPr lang="en-US" sz="1100" b="1">
                <a:cs typeface="Arial"/>
              </a:rPr>
              <a:t>monthly check-ins Sept through November </a:t>
            </a:r>
            <a:r>
              <a:rPr lang="en-US" sz="1100">
                <a:cs typeface="Arial"/>
              </a:rPr>
              <a:t>with all four orgs in the fall 2023 bundle.</a:t>
            </a:r>
          </a:p>
          <a:p>
            <a:r>
              <a:rPr lang="en-US" sz="1100">
                <a:cs typeface="Arial"/>
              </a:rPr>
              <a:t>We will remind that investees </a:t>
            </a:r>
            <a:r>
              <a:rPr lang="en-US" sz="1100" b="1">
                <a:cs typeface="Arial"/>
              </a:rPr>
              <a:t>send all media mentions and requests referencing Blue Meridian and our investment </a:t>
            </a:r>
            <a:r>
              <a:rPr lang="en-US" sz="1100">
                <a:cs typeface="Arial"/>
              </a:rPr>
              <a:t>to their Blue Meridian Managing Director and the communications team (Meti/Addy/Micah). </a:t>
            </a:r>
          </a:p>
          <a:p>
            <a:endParaRPr lang="en-US" sz="1100">
              <a:cs typeface="Arial"/>
            </a:endParaRPr>
          </a:p>
          <a:p>
            <a:endParaRPr lang="en-US" sz="1100">
              <a:cs typeface="Arial"/>
            </a:endParaRPr>
          </a:p>
        </p:txBody>
      </p:sp>
      <p:sp>
        <p:nvSpPr>
          <p:cNvPr id="4" name="Slide Number Placeholder 3">
            <a:extLst>
              <a:ext uri="{FF2B5EF4-FFF2-40B4-BE49-F238E27FC236}">
                <a16:creationId xmlns:a16="http://schemas.microsoft.com/office/drawing/2014/main" id="{0737F7BD-2052-22D2-97AC-B22475A91069}"/>
              </a:ext>
            </a:extLst>
          </p:cNvPr>
          <p:cNvSpPr>
            <a:spLocks noGrp="1"/>
          </p:cNvSpPr>
          <p:nvPr>
            <p:ph type="sldNum" sz="quarter" idx="12"/>
          </p:nvPr>
        </p:nvSpPr>
        <p:spPr/>
        <p:txBody>
          <a:bodyPr/>
          <a:lstStyle/>
          <a:p>
            <a:fld id="{D4F07938-7C1D-46C8-9535-2404A951C984}" type="slidenum">
              <a:rPr lang="en-US" smtClean="0"/>
              <a:t>20</a:t>
            </a:fld>
            <a:endParaRPr lang="en-US"/>
          </a:p>
        </p:txBody>
      </p:sp>
      <p:sp>
        <p:nvSpPr>
          <p:cNvPr id="5" name="Text Placeholder 4">
            <a:extLst>
              <a:ext uri="{FF2B5EF4-FFF2-40B4-BE49-F238E27FC236}">
                <a16:creationId xmlns:a16="http://schemas.microsoft.com/office/drawing/2014/main" id="{54C148B3-AC4B-3A70-42D8-6019963A9420}"/>
              </a:ext>
            </a:extLst>
          </p:cNvPr>
          <p:cNvSpPr>
            <a:spLocks noGrp="1"/>
          </p:cNvSpPr>
          <p:nvPr>
            <p:ph type="body" sz="quarter" idx="13"/>
          </p:nvPr>
        </p:nvSpPr>
        <p:spPr>
          <a:xfrm>
            <a:off x="521952" y="959305"/>
            <a:ext cx="8404333" cy="396218"/>
          </a:xfrm>
        </p:spPr>
        <p:txBody>
          <a:bodyPr vert="horz" lIns="91440" tIns="45720" rIns="91440" bIns="45720" rtlCol="0" anchor="t">
            <a:noAutofit/>
          </a:bodyPr>
          <a:lstStyle/>
          <a:p>
            <a:r>
              <a:rPr lang="en-US" sz="1600"/>
              <a:t>We will provide the following guidance to investees </a:t>
            </a:r>
            <a:r>
              <a:rPr lang="en-US" sz="1600" u="sng"/>
              <a:t>included</a:t>
            </a:r>
            <a:r>
              <a:rPr lang="en-US" sz="1600"/>
              <a:t> in the fall 2023 bundle. </a:t>
            </a:r>
          </a:p>
        </p:txBody>
      </p:sp>
    </p:spTree>
    <p:extLst>
      <p:ext uri="{BB962C8B-B14F-4D97-AF65-F5344CB8AC3E}">
        <p14:creationId xmlns:p14="http://schemas.microsoft.com/office/powerpoint/2010/main" val="674253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DD13A-7A94-1A27-4DD1-277AF9F16427}"/>
              </a:ext>
            </a:extLst>
          </p:cNvPr>
          <p:cNvSpPr>
            <a:spLocks noGrp="1"/>
          </p:cNvSpPr>
          <p:nvPr>
            <p:ph type="title"/>
          </p:nvPr>
        </p:nvSpPr>
        <p:spPr/>
        <p:txBody>
          <a:bodyPr/>
          <a:lstStyle/>
          <a:p>
            <a:r>
              <a:rPr lang="en-US"/>
              <a:t>How we will work with PM Investees (2 of 2)</a:t>
            </a:r>
          </a:p>
        </p:txBody>
      </p:sp>
      <p:sp>
        <p:nvSpPr>
          <p:cNvPr id="3" name="Content Placeholder 2">
            <a:extLst>
              <a:ext uri="{FF2B5EF4-FFF2-40B4-BE49-F238E27FC236}">
                <a16:creationId xmlns:a16="http://schemas.microsoft.com/office/drawing/2014/main" id="{C4017AD1-DD5A-DB2A-A37B-9D1E14888716}"/>
              </a:ext>
            </a:extLst>
          </p:cNvPr>
          <p:cNvSpPr>
            <a:spLocks noGrp="1"/>
          </p:cNvSpPr>
          <p:nvPr>
            <p:ph idx="1"/>
          </p:nvPr>
        </p:nvSpPr>
        <p:spPr>
          <a:xfrm>
            <a:off x="521953" y="1569179"/>
            <a:ext cx="8104015" cy="4257890"/>
          </a:xfrm>
        </p:spPr>
        <p:txBody>
          <a:bodyPr vert="horz" lIns="91440" tIns="45720" rIns="91440" bIns="45720" rtlCol="0" anchor="t">
            <a:noAutofit/>
          </a:bodyPr>
          <a:lstStyle/>
          <a:p>
            <a:pPr marL="0" indent="0">
              <a:buNone/>
            </a:pPr>
            <a:r>
              <a:rPr lang="en-US" sz="1200" b="1" dirty="0">
                <a:solidFill>
                  <a:schemeClr val="accent1"/>
                </a:solidFill>
                <a:cs typeface="Arial"/>
              </a:rPr>
              <a:t>COMMS STRATEGY</a:t>
            </a:r>
          </a:p>
          <a:p>
            <a:r>
              <a:rPr lang="en-US" sz="1200" dirty="0">
                <a:cs typeface="Arial"/>
              </a:rPr>
              <a:t>FYI – maintain our proactive/no surprises approach to investees relationships and any overlapping comms work</a:t>
            </a:r>
            <a:endParaRPr lang="en-US" sz="1800" dirty="0"/>
          </a:p>
          <a:p>
            <a:r>
              <a:rPr lang="en-US" sz="1200" dirty="0">
                <a:cs typeface="Arial"/>
              </a:rPr>
              <a:t>Ensure the PM strategy is fully brought to life with relevant investees</a:t>
            </a:r>
          </a:p>
          <a:p>
            <a:pPr marL="0" indent="0">
              <a:buNone/>
            </a:pPr>
            <a:endParaRPr lang="en-US" sz="1200" dirty="0">
              <a:solidFill>
                <a:schemeClr val="accent1"/>
              </a:solidFill>
              <a:cs typeface="Arial"/>
            </a:endParaRPr>
          </a:p>
          <a:p>
            <a:pPr marL="0" indent="0">
              <a:buNone/>
            </a:pPr>
            <a:r>
              <a:rPr lang="en-US" sz="1200" b="1" dirty="0">
                <a:solidFill>
                  <a:schemeClr val="accent1"/>
                </a:solidFill>
                <a:cs typeface="Arial"/>
              </a:rPr>
              <a:t>PROCESS</a:t>
            </a:r>
          </a:p>
          <a:p>
            <a:pPr marL="0" indent="0">
              <a:buNone/>
            </a:pPr>
            <a:r>
              <a:rPr lang="en-US" sz="1200" dirty="0">
                <a:cs typeface="Arial"/>
              </a:rPr>
              <a:t>Send customized communications out as activation date approaches (</a:t>
            </a:r>
            <a:r>
              <a:rPr lang="en-US" sz="1200" i="1" dirty="0">
                <a:cs typeface="Arial"/>
              </a:rPr>
              <a:t>targeting mid-November) </a:t>
            </a:r>
            <a:r>
              <a:rPr lang="en-US" sz="1200" dirty="0">
                <a:cs typeface="Arial"/>
              </a:rPr>
              <a:t>to different groups:</a:t>
            </a:r>
          </a:p>
          <a:p>
            <a:r>
              <a:rPr lang="en-US" sz="1200" dirty="0">
                <a:cs typeface="Arial"/>
              </a:rPr>
              <a:t>Group 1 – get FYI only (need to list org names but e.g., Salt Lake City, Louisville, Rhode Island, etc.)</a:t>
            </a:r>
          </a:p>
          <a:p>
            <a:r>
              <a:rPr lang="en-US" sz="1200" dirty="0">
                <a:cs typeface="Arial"/>
              </a:rPr>
              <a:t>Group 2 – get update with more nuance/will be in next bundle (e.g. Memphis + Oakland + Purpose Built)</a:t>
            </a:r>
          </a:p>
          <a:p>
            <a:r>
              <a:rPr lang="en-US" sz="1200" dirty="0">
                <a:cs typeface="Arial"/>
              </a:rPr>
              <a:t>Group 3 – may need to tap them for a special role for fall comms (e.g., WJWI)</a:t>
            </a:r>
          </a:p>
          <a:p>
            <a:pPr marL="0" indent="0">
              <a:buNone/>
            </a:pPr>
            <a:endParaRPr lang="en-US" sz="1200" dirty="0">
              <a:cs typeface="Arial"/>
            </a:endParaRPr>
          </a:p>
          <a:p>
            <a:endParaRPr lang="en-US" sz="1200" dirty="0">
              <a:cs typeface="Arial"/>
            </a:endParaRPr>
          </a:p>
          <a:p>
            <a:endParaRPr lang="en-US" sz="1200" dirty="0">
              <a:cs typeface="Arial"/>
            </a:endParaRPr>
          </a:p>
        </p:txBody>
      </p:sp>
      <p:sp>
        <p:nvSpPr>
          <p:cNvPr id="4" name="Slide Number Placeholder 3">
            <a:extLst>
              <a:ext uri="{FF2B5EF4-FFF2-40B4-BE49-F238E27FC236}">
                <a16:creationId xmlns:a16="http://schemas.microsoft.com/office/drawing/2014/main" id="{0737F7BD-2052-22D2-97AC-B22475A91069}"/>
              </a:ext>
            </a:extLst>
          </p:cNvPr>
          <p:cNvSpPr>
            <a:spLocks noGrp="1"/>
          </p:cNvSpPr>
          <p:nvPr>
            <p:ph type="sldNum" sz="quarter" idx="12"/>
          </p:nvPr>
        </p:nvSpPr>
        <p:spPr/>
        <p:txBody>
          <a:bodyPr/>
          <a:lstStyle/>
          <a:p>
            <a:fld id="{D4F07938-7C1D-46C8-9535-2404A951C984}" type="slidenum">
              <a:rPr lang="en-US" smtClean="0"/>
              <a:t>21</a:t>
            </a:fld>
            <a:endParaRPr lang="en-US"/>
          </a:p>
        </p:txBody>
      </p:sp>
      <p:sp>
        <p:nvSpPr>
          <p:cNvPr id="5" name="Text Placeholder 4">
            <a:extLst>
              <a:ext uri="{FF2B5EF4-FFF2-40B4-BE49-F238E27FC236}">
                <a16:creationId xmlns:a16="http://schemas.microsoft.com/office/drawing/2014/main" id="{54C148B3-AC4B-3A70-42D8-6019963A9420}"/>
              </a:ext>
            </a:extLst>
          </p:cNvPr>
          <p:cNvSpPr>
            <a:spLocks noGrp="1"/>
          </p:cNvSpPr>
          <p:nvPr>
            <p:ph type="body" sz="quarter" idx="13"/>
          </p:nvPr>
        </p:nvSpPr>
        <p:spPr>
          <a:xfrm>
            <a:off x="521952" y="959305"/>
            <a:ext cx="8404333" cy="396218"/>
          </a:xfrm>
        </p:spPr>
        <p:txBody>
          <a:bodyPr vert="horz" lIns="91440" tIns="45720" rIns="91440" bIns="45720" rtlCol="0" anchor="t">
            <a:noAutofit/>
          </a:bodyPr>
          <a:lstStyle/>
          <a:p>
            <a:r>
              <a:rPr lang="en-US" sz="1600"/>
              <a:t>We will provide the following guidance to the </a:t>
            </a:r>
            <a:r>
              <a:rPr lang="en-US" sz="1600" u="sng"/>
              <a:t>other</a:t>
            </a:r>
            <a:r>
              <a:rPr lang="en-US" sz="1600"/>
              <a:t> investees (outside of the fall 2023 bundle). </a:t>
            </a:r>
          </a:p>
        </p:txBody>
      </p:sp>
    </p:spTree>
    <p:extLst>
      <p:ext uri="{BB962C8B-B14F-4D97-AF65-F5344CB8AC3E}">
        <p14:creationId xmlns:p14="http://schemas.microsoft.com/office/powerpoint/2010/main" val="3687010952"/>
      </p:ext>
    </p:extLst>
  </p:cSld>
  <p:clrMapOvr>
    <a:masterClrMapping/>
  </p:clrMapOvr>
</p:sld>
</file>

<file path=ppt/theme/theme1.xml><?xml version="1.0" encoding="utf-8"?>
<a:theme xmlns:a="http://schemas.openxmlformats.org/drawingml/2006/main" name="BMP Theme 2019">
  <a:themeElements>
    <a:clrScheme name="BMP Color Palette">
      <a:dk1>
        <a:srgbClr val="000000"/>
      </a:dk1>
      <a:lt1>
        <a:srgbClr val="FFFFFF"/>
      </a:lt1>
      <a:dk2>
        <a:srgbClr val="1B3169"/>
      </a:dk2>
      <a:lt2>
        <a:srgbClr val="0091C8"/>
      </a:lt2>
      <a:accent1>
        <a:srgbClr val="0091C8"/>
      </a:accent1>
      <a:accent2>
        <a:srgbClr val="0033A4"/>
      </a:accent2>
      <a:accent3>
        <a:srgbClr val="783C96"/>
      </a:accent3>
      <a:accent4>
        <a:srgbClr val="009637"/>
      </a:accent4>
      <a:accent5>
        <a:srgbClr val="004B1B"/>
      </a:accent5>
      <a:accent6>
        <a:srgbClr val="545566"/>
      </a:accent6>
      <a:hlink>
        <a:srgbClr val="0563C1"/>
      </a:hlink>
      <a:folHlink>
        <a:srgbClr val="954F72"/>
      </a:folHlink>
    </a:clrScheme>
    <a:fontScheme name="Blue Meridian Fonts">
      <a:majorFont>
        <a:latin typeface="Le Monde Livre Std"/>
        <a:ea typeface=""/>
        <a:cs typeface=""/>
      </a:majorFont>
      <a:minorFont>
        <a:latin typeface="Camphor Std"/>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MP Theme 2019">
  <a:themeElements>
    <a:clrScheme name="BMP Color Palette">
      <a:dk1>
        <a:srgbClr val="000000"/>
      </a:dk1>
      <a:lt1>
        <a:srgbClr val="FFFFFF"/>
      </a:lt1>
      <a:dk2>
        <a:srgbClr val="1B3169"/>
      </a:dk2>
      <a:lt2>
        <a:srgbClr val="0091C8"/>
      </a:lt2>
      <a:accent1>
        <a:srgbClr val="0091C8"/>
      </a:accent1>
      <a:accent2>
        <a:srgbClr val="0033A4"/>
      </a:accent2>
      <a:accent3>
        <a:srgbClr val="783C96"/>
      </a:accent3>
      <a:accent4>
        <a:srgbClr val="009637"/>
      </a:accent4>
      <a:accent5>
        <a:srgbClr val="004B1B"/>
      </a:accent5>
      <a:accent6>
        <a:srgbClr val="545566"/>
      </a:accent6>
      <a:hlink>
        <a:srgbClr val="0563C1"/>
      </a:hlink>
      <a:folHlink>
        <a:srgbClr val="954F72"/>
      </a:folHlink>
    </a:clrScheme>
    <a:fontScheme name="Blue Meridian Fonts">
      <a:majorFont>
        <a:latin typeface="Le Monde Livre Std"/>
        <a:ea typeface=""/>
        <a:cs typeface=""/>
      </a:majorFont>
      <a:minorFont>
        <a:latin typeface="Camphor Std"/>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MP Theme 2019">
  <a:themeElements>
    <a:clrScheme name="BMP Color Palette">
      <a:dk1>
        <a:srgbClr val="000000"/>
      </a:dk1>
      <a:lt1>
        <a:srgbClr val="FFFFFF"/>
      </a:lt1>
      <a:dk2>
        <a:srgbClr val="1B3169"/>
      </a:dk2>
      <a:lt2>
        <a:srgbClr val="0091C8"/>
      </a:lt2>
      <a:accent1>
        <a:srgbClr val="0091C8"/>
      </a:accent1>
      <a:accent2>
        <a:srgbClr val="0033A4"/>
      </a:accent2>
      <a:accent3>
        <a:srgbClr val="783C96"/>
      </a:accent3>
      <a:accent4>
        <a:srgbClr val="009637"/>
      </a:accent4>
      <a:accent5>
        <a:srgbClr val="004B1B"/>
      </a:accent5>
      <a:accent6>
        <a:srgbClr val="545566"/>
      </a:accent6>
      <a:hlink>
        <a:srgbClr val="0563C1"/>
      </a:hlink>
      <a:folHlink>
        <a:srgbClr val="954F72"/>
      </a:folHlink>
    </a:clrScheme>
    <a:fontScheme name="Blue Meridian Fonts">
      <a:majorFont>
        <a:latin typeface="Le Monde Livre Std"/>
        <a:ea typeface=""/>
        <a:cs typeface=""/>
      </a:majorFont>
      <a:minorFont>
        <a:latin typeface="Camphor Std"/>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ecdd74c-1124-4fd4-bdd6-7b8331f46d0d" xsi:nil="true"/>
    <SharedWithUsers xmlns="aecdd74c-1124-4fd4-bdd6-7b8331f46d0d">
      <UserInfo>
        <DisplayName>Staff</DisplayName>
        <AccountId>471</AccountId>
        <AccountType/>
      </UserInfo>
      <UserInfo>
        <DisplayName>Shari Arroyo Brown</DisplayName>
        <AccountId>53</AccountId>
        <AccountType/>
      </UserInfo>
      <UserInfo>
        <DisplayName>Meti Yemane</DisplayName>
        <AccountId>46</AccountId>
        <AccountType/>
      </UserInfo>
      <UserInfo>
        <DisplayName>Clea Bierman</DisplayName>
        <AccountId>31</AccountId>
        <AccountType/>
      </UserInfo>
      <UserInfo>
        <DisplayName>Susan Promislo</DisplayName>
        <AccountId>1143</AccountId>
        <AccountType/>
      </UserInfo>
    </SharedWithUsers>
    <Project xmlns="4d967369-dfa4-47f7-864b-fcabafab3419" xsi:nil="true"/>
    <Document_x0020_Type xmlns="4d967369-dfa4-47f7-864b-fcabafab3419">94;#Communications|b0637ae4-55ba-4c45-aa8a-2d573f1fdb8c</Document_x0020_Type>
    <Status xmlns="4d967369-dfa4-47f7-864b-fcabafab3419" xsi:nil="true"/>
    <Archive xmlns="4d967369-dfa4-47f7-864b-fcabafab3419">false</Archive>
    <pab5bec47b4f4e7ca882941a6121134c xmlns="4d967369-dfa4-47f7-864b-fcabafab3419">
      <Terms xmlns="http://schemas.microsoft.com/office/infopath/2007/PartnerControls"/>
    </pab5bec47b4f4e7ca882941a6121134c>
    <lcf76f155ced4ddcb4097134ff3c332f xmlns="4d967369-dfa4-47f7-864b-fcabafab341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F2512030E0B904BBCD27AE38D42872C" ma:contentTypeVersion="23" ma:contentTypeDescription="Create a new document." ma:contentTypeScope="" ma:versionID="49a7cddf442c28fdfed8fb2b47a0ef5c">
  <xsd:schema xmlns:xsd="http://www.w3.org/2001/XMLSchema" xmlns:xs="http://www.w3.org/2001/XMLSchema" xmlns:p="http://schemas.microsoft.com/office/2006/metadata/properties" xmlns:ns2="4d967369-dfa4-47f7-864b-fcabafab3419" xmlns:ns3="aecdd74c-1124-4fd4-bdd6-7b8331f46d0d" targetNamespace="http://schemas.microsoft.com/office/2006/metadata/properties" ma:root="true" ma:fieldsID="a0e7e8f9b48e12d398596cfc02535431" ns2:_="" ns3:_="">
    <xsd:import namespace="4d967369-dfa4-47f7-864b-fcabafab3419"/>
    <xsd:import namespace="aecdd74c-1124-4fd4-bdd6-7b8331f46d0d"/>
    <xsd:element name="properties">
      <xsd:complexType>
        <xsd:sequence>
          <xsd:element name="documentManagement">
            <xsd:complexType>
              <xsd:all>
                <xsd:element ref="ns2:Project" minOccurs="0"/>
                <xsd:element ref="ns2:pab5bec47b4f4e7ca882941a6121134c" minOccurs="0"/>
                <xsd:element ref="ns3:TaxCatchAll" minOccurs="0"/>
                <xsd:element ref="ns2:Document_x0020_Type" minOccurs="0"/>
                <xsd:element ref="ns2:Archive" minOccurs="0"/>
                <xsd:element ref="ns2:Status" minOccurs="0"/>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967369-dfa4-47f7-864b-fcabafab3419" elementFormDefault="qualified">
    <xsd:import namespace="http://schemas.microsoft.com/office/2006/documentManagement/types"/>
    <xsd:import namespace="http://schemas.microsoft.com/office/infopath/2007/PartnerControls"/>
    <xsd:element name="Project" ma:index="8" nillable="true" ma:displayName="Project" ma:format="Dropdown" ma:internalName="Project">
      <xsd:simpleType>
        <xsd:union memberTypes="dms:Text">
          <xsd:simpleType>
            <xsd:restriction base="dms:Choice">
              <xsd:enumeration value="Workforce Transformation"/>
            </xsd:restriction>
          </xsd:simpleType>
        </xsd:union>
      </xsd:simpleType>
    </xsd:element>
    <xsd:element name="pab5bec47b4f4e7ca882941a6121134c" ma:index="10" nillable="true" ma:taxonomy="true" ma:internalName="pab5bec47b4f4e7ca882941a6121134c" ma:taxonomyFieldName="Fund" ma:displayName="Portfolio" ma:default="" ma:fieldId="{9ab5bec4-7b4f-4e7c-a882-941a6121134c}" ma:sspId="ca064255-7d90-4955-b3d1-6b1c7a50c2ca" ma:termSetId="c21bbf51-c2ff-41cd-95bc-e36f28d4c0d0" ma:anchorId="00000000-0000-0000-0000-000000000000" ma:open="false" ma:isKeyword="false">
      <xsd:complexType>
        <xsd:sequence>
          <xsd:element ref="pc:Terms" minOccurs="0" maxOccurs="1"/>
        </xsd:sequence>
      </xsd:complexType>
    </xsd:element>
    <xsd:element name="Document_x0020_Type" ma:index="12" nillable="true" ma:displayName="Document Type" ma:format="Dropdown" ma:internalName="Document_x0020_Type">
      <xsd:simpleType>
        <xsd:union memberTypes="dms:Text">
          <xsd:simpleType>
            <xsd:restriction base="dms:Choice">
              <xsd:enumeration value="Investment Reference Sheet"/>
            </xsd:restriction>
          </xsd:simpleType>
        </xsd:union>
      </xsd:simpleType>
    </xsd:element>
    <xsd:element name="Archive" ma:index="13" nillable="true" ma:displayName="Archive" ma:default="0" ma:internalName="Archive">
      <xsd:simpleType>
        <xsd:restriction base="dms:Boolean"/>
      </xsd:simpleType>
    </xsd:element>
    <xsd:element name="Status" ma:index="14" nillable="true" ma:displayName="Status" ma:format="Dropdown" ma:internalName="Status">
      <xsd:simpleType>
        <xsd:union memberTypes="dms:Text">
          <xsd:simpleType>
            <xsd:restriction base="dms:Choice">
              <xsd:enumeration value="Final"/>
            </xsd:restriction>
          </xsd:simpleType>
        </xsd:union>
      </xsd:simpleType>
    </xsd:element>
    <xsd:element name="MediaServiceMetadata" ma:index="15" nillable="true" ma:displayName="MediaServiceMetadata" ma:hidden="true" ma:internalName="MediaServiceMetadata" ma:readOnly="true">
      <xsd:simpleType>
        <xsd:restriction base="dms:Note"/>
      </xsd:simpleType>
    </xsd:element>
    <xsd:element name="MediaServiceFastMetadata" ma:index="16" nillable="true" ma:displayName="MediaServiceFastMetadata" ma:hidden="true" ma:internalName="MediaServiceFastMetadata" ma:readOnly="true">
      <xsd:simpleType>
        <xsd:restriction base="dms:Note"/>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5" nillable="true" ma:displayName="MediaServiceDateTaken" ma:hidden="true" ma:internalName="MediaServiceDateTake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ca064255-7d90-4955-b3d1-6b1c7a50c2c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ecdd74c-1124-4fd4-bdd6-7b8331f46d0d"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66260018-33e1-449a-9141-95d14af812d9}" ma:internalName="TaxCatchAll" ma:showField="CatchAllData" ma:web="aecdd74c-1124-4fd4-bdd6-7b8331f46d0d">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8B76A2-4977-4529-B2E8-842E40C92524}">
  <ds:schemaRefs>
    <ds:schemaRef ds:uri="http://schemas.microsoft.com/sharepoint/v3/contenttype/forms"/>
  </ds:schemaRefs>
</ds:datastoreItem>
</file>

<file path=customXml/itemProps2.xml><?xml version="1.0" encoding="utf-8"?>
<ds:datastoreItem xmlns:ds="http://schemas.openxmlformats.org/officeDocument/2006/customXml" ds:itemID="{C85E01D3-E41C-4B5C-AB0A-A2213D0D0BD4}">
  <ds:schemaRefs>
    <ds:schemaRef ds:uri="http://schemas.microsoft.com/office/2006/documentManagement/types"/>
    <ds:schemaRef ds:uri="http://purl.org/dc/terms/"/>
    <ds:schemaRef ds:uri="http://purl.org/dc/elements/1.1/"/>
    <ds:schemaRef ds:uri="http://purl.org/dc/dcmitype/"/>
    <ds:schemaRef ds:uri="http://schemas.microsoft.com/office/infopath/2007/PartnerControls"/>
    <ds:schemaRef ds:uri="aecdd74c-1124-4fd4-bdd6-7b8331f46d0d"/>
    <ds:schemaRef ds:uri="4d967369-dfa4-47f7-864b-fcabafab3419"/>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223B02FF-1DA5-4D01-824F-9DB0BA862A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967369-dfa4-47f7-864b-fcabafab3419"/>
    <ds:schemaRef ds:uri="aecdd74c-1124-4fd4-bdd6-7b8331f46d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5834</TotalTime>
  <Words>3146</Words>
  <Application>Microsoft Office PowerPoint</Application>
  <PresentationFormat>On-screen Show (4:3)</PresentationFormat>
  <Paragraphs>350</Paragraphs>
  <Slides>21</Slides>
  <Notes>1</Notes>
  <HiddenSlides>0</HiddenSlides>
  <MMClips>0</MMClips>
  <ScaleCrop>false</ScaleCrop>
  <HeadingPairs>
    <vt:vector size="4" baseType="variant">
      <vt:variant>
        <vt:lpstr>Theme</vt:lpstr>
      </vt:variant>
      <vt:variant>
        <vt:i4>3</vt:i4>
      </vt:variant>
      <vt:variant>
        <vt:lpstr>Slide Titles</vt:lpstr>
      </vt:variant>
      <vt:variant>
        <vt:i4>21</vt:i4>
      </vt:variant>
    </vt:vector>
  </HeadingPairs>
  <TitlesOfParts>
    <vt:vector size="24" baseType="lpstr">
      <vt:lpstr>BMP Theme 2019</vt:lpstr>
      <vt:lpstr>BMP Theme 2019</vt:lpstr>
      <vt:lpstr>BMP Theme 2019</vt:lpstr>
      <vt:lpstr>Place Matters  Comms Fall 2023    Media Plan &amp; Key Info  </vt:lpstr>
      <vt:lpstr>Contents &amp; Review guidance</vt:lpstr>
      <vt:lpstr>PowerPoint Presentation</vt:lpstr>
      <vt:lpstr>Overall Path from BMP leadership (reminder)</vt:lpstr>
      <vt:lpstr>Top-Tier National – Target Outlets/Reporters</vt:lpstr>
      <vt:lpstr>Media Approach</vt:lpstr>
      <vt:lpstr>Top-Tier National – Others Considered</vt:lpstr>
      <vt:lpstr>National Outreach – Revised Angle</vt:lpstr>
      <vt:lpstr>Elements of Media Approach</vt:lpstr>
      <vt:lpstr>Media Spokespeople </vt:lpstr>
      <vt:lpstr>Media Key Risks</vt:lpstr>
      <vt:lpstr>Investment Totals</vt:lpstr>
      <vt:lpstr>PowerPoint Presentation</vt:lpstr>
      <vt:lpstr>Nov 29 Launch Date Background</vt:lpstr>
      <vt:lpstr>Timeline – Key Milestone Dates</vt:lpstr>
      <vt:lpstr>BMP Newsletter – PM focus</vt:lpstr>
      <vt:lpstr>Timeline – Key Activities Weekly</vt:lpstr>
      <vt:lpstr>PowerPoint Presentation</vt:lpstr>
      <vt:lpstr>RAPIDs for PM Comms Work</vt:lpstr>
      <vt:lpstr>How we will work with PM Investees (1 of 2)</vt:lpstr>
      <vt:lpstr>How we will work with PM Investees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Wiafe Mensah-Bonsu (Communications Temp)</dc:creator>
  <cp:lastModifiedBy>Meti Yemane</cp:lastModifiedBy>
  <cp:revision>3</cp:revision>
  <cp:lastPrinted>2021-11-24T21:59:23Z</cp:lastPrinted>
  <dcterms:created xsi:type="dcterms:W3CDTF">2019-05-10T19:12:38Z</dcterms:created>
  <dcterms:modified xsi:type="dcterms:W3CDTF">2025-05-30T19:31:10Z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0x0101005F2512030E0B904BBCD27AE38D42872C</vt:lpwstr>
  </property>
  <property fmtid="{D5CDD505-2E9C-101B-9397-08002B2CF9AE}" pid="3" name="Year">
    <vt:lpwstr>158;#2020|374242f6-afae-4504-af21-13aa444c2742</vt:lpwstr>
  </property>
  <property fmtid="{D5CDD505-2E9C-101B-9397-08002B2CF9AE}" pid="4" name="Grantee">
    <vt:lpwstr/>
  </property>
  <property fmtid="{D5CDD505-2E9C-101B-9397-08002B2CF9AE}" pid="5" name="Domain">
    <vt:lpwstr>95;#Cross-Domain|a61ee2f0-e605-48c3-9b43-13deac567aba</vt:lpwstr>
  </property>
  <property fmtid="{D5CDD505-2E9C-101B-9397-08002B2CF9AE}" pid="6" name="Document Type">
    <vt:lpwstr>94;#Communications|b0637ae4-55ba-4c45-aa8a-2d573f1fdb8c</vt:lpwstr>
  </property>
  <property fmtid="{D5CDD505-2E9C-101B-9397-08002B2CF9AE}" pid="7" name="Partner">
    <vt:lpwstr/>
  </property>
  <property fmtid="{D5CDD505-2E9C-101B-9397-08002B2CF9AE}" pid="8" name="Fund">
    <vt:lpwstr/>
  </property>
  <property fmtid="{D5CDD505-2E9C-101B-9397-08002B2CF9AE}" pid="9" name="MediaServiceImageTags">
    <vt:lpwstr/>
  </property>
</Properties>
</file>