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844" r:id="rId5"/>
    <p:sldId id="259" r:id="rId6"/>
    <p:sldId id="854" r:id="rId7"/>
    <p:sldId id="886" r:id="rId8"/>
    <p:sldId id="889" r:id="rId9"/>
    <p:sldId id="893" r:id="rId10"/>
    <p:sldId id="894" r:id="rId11"/>
    <p:sldId id="895" r:id="rId12"/>
    <p:sldId id="898" r:id="rId13"/>
    <p:sldId id="897" r:id="rId14"/>
    <p:sldId id="902" r:id="rId15"/>
    <p:sldId id="296" r:id="rId16"/>
    <p:sldId id="900" r:id="rId17"/>
    <p:sldId id="859" r:id="rId18"/>
    <p:sldId id="909" r:id="rId19"/>
    <p:sldId id="905" r:id="rId20"/>
    <p:sldId id="910" r:id="rId21"/>
    <p:sldId id="911" r:id="rId22"/>
    <p:sldId id="908" r:id="rId23"/>
    <p:sldId id="885" r:id="rId24"/>
    <p:sldId id="858" r:id="rId25"/>
    <p:sldId id="887" r:id="rId26"/>
    <p:sldId id="904" r:id="rId27"/>
    <p:sldId id="856" r:id="rId28"/>
    <p:sldId id="901" r:id="rId29"/>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ri Arroyo Brown" initials="SAB" lastIdx="10" clrIdx="0">
    <p:extLst>
      <p:ext uri="{19B8F6BF-5375-455C-9EA6-DF929625EA0E}">
        <p15:presenceInfo xmlns:p15="http://schemas.microsoft.com/office/powerpoint/2012/main" userId="S::sbrown@emcf.org::4f97b906-eb2c-4b54-908f-e77994f051e6" providerId="AD"/>
      </p:ext>
    </p:extLst>
  </p:cmAuthor>
  <p:cmAuthor id="2" name="Micah Carr" initials="MC" lastIdx="12" clrIdx="1">
    <p:extLst>
      <p:ext uri="{19B8F6BF-5375-455C-9EA6-DF929625EA0E}">
        <p15:presenceInfo xmlns:p15="http://schemas.microsoft.com/office/powerpoint/2012/main" userId="S::mcarr@bluemeridian.org::a8f1e0c3-6a7c-47cd-96e9-e67a539c7eda" providerId="AD"/>
      </p:ext>
    </p:extLst>
  </p:cmAuthor>
  <p:cmAuthor id="3" name="Susan Promislo" initials="SP" lastIdx="17" clrIdx="2">
    <p:extLst>
      <p:ext uri="{19B8F6BF-5375-455C-9EA6-DF929625EA0E}">
        <p15:presenceInfo xmlns:p15="http://schemas.microsoft.com/office/powerpoint/2012/main" userId="S::spromislo@bluemeridian.org::c69596e7-9181-41a4-a965-bf6ee4268d35" providerId="AD"/>
      </p:ext>
    </p:extLst>
  </p:cmAuthor>
  <p:cmAuthor id="4" name="Matt Kagan" initials="MK" lastIdx="30" clrIdx="3">
    <p:extLst>
      <p:ext uri="{19B8F6BF-5375-455C-9EA6-DF929625EA0E}">
        <p15:presenceInfo xmlns:p15="http://schemas.microsoft.com/office/powerpoint/2012/main" userId="S::matt@behr-communications.com::56964231-946f-40bf-b95c-a4c8818fc10a" providerId="AD"/>
      </p:ext>
    </p:extLst>
  </p:cmAuthor>
  <p:cmAuthor id="5" name="Brittany Crockett" initials="BC" lastIdx="3" clrIdx="4">
    <p:extLst>
      <p:ext uri="{19B8F6BF-5375-455C-9EA6-DF929625EA0E}">
        <p15:presenceInfo xmlns:p15="http://schemas.microsoft.com/office/powerpoint/2012/main" userId="S::brittany@4thmvmt.com::be58aa5d-4318-48a8-b211-f718f1c178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a:srgbClr val="EBDEF2"/>
    <a:srgbClr val="D1F2FF"/>
    <a:srgbClr val="1B3169"/>
    <a:srgbClr val="FCFCFC"/>
    <a:srgbClr val="F8F8F8"/>
    <a:srgbClr val="233F8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514930-3924-E688-274F-E2516E3813A4}" v="3" dt="2025-05-30T18:25:36.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45" autoAdjust="0"/>
    <p:restoredTop sz="94678"/>
  </p:normalViewPr>
  <p:slideViewPr>
    <p:cSldViewPr snapToGrid="0">
      <p:cViewPr varScale="1">
        <p:scale>
          <a:sx n="97" d="100"/>
          <a:sy n="97" d="100"/>
        </p:scale>
        <p:origin x="1062" y="306"/>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BF97B9-5971-4641-9FEC-C7B6355E2D68}"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09FE6177-AD69-4006-8CF4-5153D1A3C0B6}">
      <dgm:prSet phldrT="[Text]" custT="1"/>
      <dgm:spPr/>
      <dgm:t>
        <a:bodyPr/>
        <a:lstStyle/>
        <a:p>
          <a:r>
            <a:rPr lang="en-US" sz="1300" b="1" dirty="0"/>
            <a:t>First Reporter:</a:t>
          </a:r>
        </a:p>
        <a:p>
          <a:r>
            <a:rPr lang="en-US" sz="1400" dirty="0"/>
            <a:t>Gathers facts and completes crisis incident fact sheet. </a:t>
          </a:r>
        </a:p>
        <a:p>
          <a:r>
            <a:rPr lang="en-US" sz="1400" dirty="0"/>
            <a:t>Alerts Susan and Micah.  </a:t>
          </a:r>
        </a:p>
        <a:p>
          <a:r>
            <a:rPr lang="en-US" sz="1400" dirty="0"/>
            <a:t>Comms &amp; Branding decides whether or not to convene Crisis Communications Team (CCT).</a:t>
          </a:r>
        </a:p>
      </dgm:t>
    </dgm:pt>
    <dgm:pt modelId="{37572F48-13E8-4F2B-BD5B-348B822CE988}" type="parTrans" cxnId="{ACC978F8-BCAA-4F16-B5CE-5D064D40E94E}">
      <dgm:prSet/>
      <dgm:spPr/>
      <dgm:t>
        <a:bodyPr/>
        <a:lstStyle/>
        <a:p>
          <a:endParaRPr lang="en-US"/>
        </a:p>
      </dgm:t>
    </dgm:pt>
    <dgm:pt modelId="{3796F4F2-1CDE-4676-9B4F-6F84B904D0A2}" type="sibTrans" cxnId="{ACC978F8-BCAA-4F16-B5CE-5D064D40E94E}">
      <dgm:prSet/>
      <dgm:spPr/>
      <dgm:t>
        <a:bodyPr/>
        <a:lstStyle/>
        <a:p>
          <a:endParaRPr lang="en-US"/>
        </a:p>
      </dgm:t>
    </dgm:pt>
    <dgm:pt modelId="{5312D53D-6F01-40A0-A04F-CF81529E9A27}">
      <dgm:prSet phldrT="[Text]" custT="1"/>
      <dgm:spPr/>
      <dgm:t>
        <a:bodyPr/>
        <a:lstStyle/>
        <a:p>
          <a:r>
            <a:rPr lang="en-US" sz="1400" b="1" dirty="0"/>
            <a:t>CCT meets and develops response plan.</a:t>
          </a:r>
        </a:p>
        <a:p>
          <a:r>
            <a:rPr lang="en-US" sz="1400" b="0" dirty="0"/>
            <a:t>Investigates the situation further.</a:t>
          </a:r>
        </a:p>
        <a:p>
          <a:r>
            <a:rPr lang="en-US" sz="1400" b="0" dirty="0"/>
            <a:t>Assesses severity of crisis, using 1-5 severity scale. </a:t>
          </a:r>
        </a:p>
        <a:p>
          <a:r>
            <a:rPr lang="en-US" sz="1400" b="0" dirty="0"/>
            <a:t>Determines if a response is warranted and the means for that response.</a:t>
          </a:r>
        </a:p>
        <a:p>
          <a:r>
            <a:rPr lang="en-US" sz="1400" b="0" dirty="0"/>
            <a:t>If warranted, drafts statement based on pre-created holding documents. </a:t>
          </a:r>
        </a:p>
      </dgm:t>
    </dgm:pt>
    <dgm:pt modelId="{5ED8B8FE-74AE-446C-B6E5-A09A8D521322}" type="parTrans" cxnId="{4DA48D2C-FE97-469F-8C77-4E263862FE5E}">
      <dgm:prSet/>
      <dgm:spPr/>
      <dgm:t>
        <a:bodyPr/>
        <a:lstStyle/>
        <a:p>
          <a:endParaRPr lang="en-US"/>
        </a:p>
      </dgm:t>
    </dgm:pt>
    <dgm:pt modelId="{8D7DE3E0-88DD-401C-92E7-D30583B6CB5F}" type="sibTrans" cxnId="{4DA48D2C-FE97-469F-8C77-4E263862FE5E}">
      <dgm:prSet/>
      <dgm:spPr/>
      <dgm:t>
        <a:bodyPr/>
        <a:lstStyle/>
        <a:p>
          <a:endParaRPr lang="en-US"/>
        </a:p>
      </dgm:t>
    </dgm:pt>
    <dgm:pt modelId="{2AF326CA-5B15-4E29-96F8-601799774553}">
      <dgm:prSet phldrT="[Text]" custT="1"/>
      <dgm:spPr/>
      <dgm:t>
        <a:bodyPr/>
        <a:lstStyle/>
        <a:p>
          <a:r>
            <a:rPr lang="en-US" sz="1400" b="1" dirty="0"/>
            <a:t>CCT members execute response plan</a:t>
          </a:r>
          <a:r>
            <a:rPr lang="en-US" sz="1400" dirty="0"/>
            <a:t>, which may include:</a:t>
          </a:r>
        </a:p>
      </dgm:t>
    </dgm:pt>
    <dgm:pt modelId="{1C35E041-7177-418F-B3BC-172841A97FAC}" type="parTrans" cxnId="{FC372A98-2D82-48B3-A23E-904B53EBD690}">
      <dgm:prSet/>
      <dgm:spPr/>
      <dgm:t>
        <a:bodyPr/>
        <a:lstStyle/>
        <a:p>
          <a:endParaRPr lang="en-US"/>
        </a:p>
      </dgm:t>
    </dgm:pt>
    <dgm:pt modelId="{0A0E2599-B2FF-4B26-A7EF-898594A4AFA2}" type="sibTrans" cxnId="{FC372A98-2D82-48B3-A23E-904B53EBD690}">
      <dgm:prSet/>
      <dgm:spPr/>
      <dgm:t>
        <a:bodyPr/>
        <a:lstStyle/>
        <a:p>
          <a:endParaRPr lang="en-US"/>
        </a:p>
      </dgm:t>
    </dgm:pt>
    <dgm:pt modelId="{A19CFA74-EAA7-46CA-9F6F-C12F70488376}">
      <dgm:prSet phldrT="[Text]" custT="1"/>
      <dgm:spPr/>
      <dgm:t>
        <a:bodyPr/>
        <a:lstStyle/>
        <a:p>
          <a:r>
            <a:rPr lang="en-US" sz="1400" b="1" dirty="0"/>
            <a:t>CCT continues monitoring </a:t>
          </a:r>
          <a:r>
            <a:rPr lang="en-US" sz="1400" dirty="0"/>
            <a:t>and evaluates response effectiveness.</a:t>
          </a:r>
        </a:p>
        <a:p>
          <a:r>
            <a:rPr lang="en-US" sz="1400" dirty="0"/>
            <a:t>When crisis abates, Comms &amp; Branding determines when to disband CCT.</a:t>
          </a:r>
        </a:p>
      </dgm:t>
    </dgm:pt>
    <dgm:pt modelId="{92501429-45B7-4391-8F40-573498BB8927}" type="parTrans" cxnId="{FABA0260-04D5-40F5-A064-29B7D92AED21}">
      <dgm:prSet/>
      <dgm:spPr/>
      <dgm:t>
        <a:bodyPr/>
        <a:lstStyle/>
        <a:p>
          <a:endParaRPr lang="en-US"/>
        </a:p>
      </dgm:t>
    </dgm:pt>
    <dgm:pt modelId="{008997B4-0D22-4FEA-862B-9D1C26D48F3C}" type="sibTrans" cxnId="{FABA0260-04D5-40F5-A064-29B7D92AED21}">
      <dgm:prSet/>
      <dgm:spPr/>
      <dgm:t>
        <a:bodyPr/>
        <a:lstStyle/>
        <a:p>
          <a:endParaRPr lang="en-US"/>
        </a:p>
      </dgm:t>
    </dgm:pt>
    <dgm:pt modelId="{37AAAA98-C1BD-4F38-A624-A8F0BF0EA6F6}">
      <dgm:prSet phldrT="[Text]" custT="1"/>
      <dgm:spPr/>
      <dgm:t>
        <a:bodyPr/>
        <a:lstStyle/>
        <a:p>
          <a:r>
            <a:rPr lang="en-US" sz="1400" dirty="0"/>
            <a:t>Statement from Blue Meridian or interview with spokesperson.</a:t>
          </a:r>
        </a:p>
      </dgm:t>
    </dgm:pt>
    <dgm:pt modelId="{D1A7A568-21AB-4B17-8F95-61DD510AA4D5}" type="parTrans" cxnId="{0DEEF798-4797-4CFB-A3E2-8754A0DA9FF6}">
      <dgm:prSet/>
      <dgm:spPr/>
      <dgm:t>
        <a:bodyPr/>
        <a:lstStyle/>
        <a:p>
          <a:endParaRPr lang="en-US"/>
        </a:p>
      </dgm:t>
    </dgm:pt>
    <dgm:pt modelId="{6D612CA6-0486-4AFC-A879-4995DFEE1673}" type="sibTrans" cxnId="{0DEEF798-4797-4CFB-A3E2-8754A0DA9FF6}">
      <dgm:prSet/>
      <dgm:spPr/>
      <dgm:t>
        <a:bodyPr/>
        <a:lstStyle/>
        <a:p>
          <a:endParaRPr lang="en-US"/>
        </a:p>
      </dgm:t>
    </dgm:pt>
    <dgm:pt modelId="{66372B17-B2DF-4FE0-90ED-025DBB05989F}">
      <dgm:prSet phldrT="[Text]" custT="1"/>
      <dgm:spPr/>
      <dgm:t>
        <a:bodyPr/>
        <a:lstStyle/>
        <a:p>
          <a:r>
            <a:rPr lang="en-US" sz="1400" dirty="0"/>
            <a:t>Communication with partners, staff, other stakeholders and social media audiences.</a:t>
          </a:r>
        </a:p>
      </dgm:t>
    </dgm:pt>
    <dgm:pt modelId="{7460635C-88D8-4294-8A65-B696A89F15CA}" type="parTrans" cxnId="{7ADD724A-67FD-471F-B839-F3A74F1EBB86}">
      <dgm:prSet/>
      <dgm:spPr/>
      <dgm:t>
        <a:bodyPr/>
        <a:lstStyle/>
        <a:p>
          <a:endParaRPr lang="en-US"/>
        </a:p>
      </dgm:t>
    </dgm:pt>
    <dgm:pt modelId="{C8C9847A-5ECC-4966-8FBC-C7FC2EB411E9}" type="sibTrans" cxnId="{7ADD724A-67FD-471F-B839-F3A74F1EBB86}">
      <dgm:prSet/>
      <dgm:spPr/>
      <dgm:t>
        <a:bodyPr/>
        <a:lstStyle/>
        <a:p>
          <a:endParaRPr lang="en-US"/>
        </a:p>
      </dgm:t>
    </dgm:pt>
    <dgm:pt modelId="{211E4745-05FE-47C2-A5D2-28AD76C372ED}">
      <dgm:prSet phldrT="[Text]" custT="1"/>
      <dgm:spPr/>
      <dgm:t>
        <a:bodyPr/>
        <a:lstStyle/>
        <a:p>
          <a:r>
            <a:rPr lang="en-US" sz="1400" dirty="0"/>
            <a:t>Outreach to media outlets (broad or narrow distribution plan).</a:t>
          </a:r>
        </a:p>
      </dgm:t>
    </dgm:pt>
    <dgm:pt modelId="{993D2798-C841-4985-A19C-9208A552BFAA}" type="parTrans" cxnId="{C2D03F59-BA98-4671-BE49-9DBBBDCC373F}">
      <dgm:prSet/>
      <dgm:spPr/>
      <dgm:t>
        <a:bodyPr/>
        <a:lstStyle/>
        <a:p>
          <a:endParaRPr lang="en-US"/>
        </a:p>
      </dgm:t>
    </dgm:pt>
    <dgm:pt modelId="{A4E5B195-27F0-4A2B-AD42-BDFEB5CA9B97}" type="sibTrans" cxnId="{C2D03F59-BA98-4671-BE49-9DBBBDCC373F}">
      <dgm:prSet/>
      <dgm:spPr/>
      <dgm:t>
        <a:bodyPr/>
        <a:lstStyle/>
        <a:p>
          <a:endParaRPr lang="en-US"/>
        </a:p>
      </dgm:t>
    </dgm:pt>
    <dgm:pt modelId="{9EBEC4D0-0974-40B6-AA11-351544BFF07A}" type="pres">
      <dgm:prSet presAssocID="{5DBF97B9-5971-4641-9FEC-C7B6355E2D68}" presName="rootnode" presStyleCnt="0">
        <dgm:presLayoutVars>
          <dgm:chMax/>
          <dgm:chPref/>
          <dgm:dir/>
          <dgm:animLvl val="lvl"/>
        </dgm:presLayoutVars>
      </dgm:prSet>
      <dgm:spPr/>
    </dgm:pt>
    <dgm:pt modelId="{D83E4400-09DA-418A-9013-970875240A43}" type="pres">
      <dgm:prSet presAssocID="{09FE6177-AD69-4006-8CF4-5153D1A3C0B6}" presName="composite" presStyleCnt="0"/>
      <dgm:spPr/>
    </dgm:pt>
    <dgm:pt modelId="{A606D942-D36F-4D12-9811-1FE661FD46F6}" type="pres">
      <dgm:prSet presAssocID="{09FE6177-AD69-4006-8CF4-5153D1A3C0B6}" presName="LShape" presStyleLbl="alignNode1" presStyleIdx="0" presStyleCnt="7"/>
      <dgm:spPr/>
    </dgm:pt>
    <dgm:pt modelId="{E96D58C1-231A-4646-A1CF-4C10BAC4EE42}" type="pres">
      <dgm:prSet presAssocID="{09FE6177-AD69-4006-8CF4-5153D1A3C0B6}" presName="ParentText" presStyleLbl="revTx" presStyleIdx="0" presStyleCnt="4">
        <dgm:presLayoutVars>
          <dgm:chMax val="0"/>
          <dgm:chPref val="0"/>
          <dgm:bulletEnabled val="1"/>
        </dgm:presLayoutVars>
      </dgm:prSet>
      <dgm:spPr/>
    </dgm:pt>
    <dgm:pt modelId="{922BF642-6933-4370-95A2-BA2D7ED8D7C4}" type="pres">
      <dgm:prSet presAssocID="{09FE6177-AD69-4006-8CF4-5153D1A3C0B6}" presName="Triangle" presStyleLbl="alignNode1" presStyleIdx="1" presStyleCnt="7"/>
      <dgm:spPr/>
    </dgm:pt>
    <dgm:pt modelId="{0D4A0952-FB5F-4666-BC8A-E39FB496888A}" type="pres">
      <dgm:prSet presAssocID="{3796F4F2-1CDE-4676-9B4F-6F84B904D0A2}" presName="sibTrans" presStyleCnt="0"/>
      <dgm:spPr/>
    </dgm:pt>
    <dgm:pt modelId="{5EADA11F-3648-4196-98DF-A87FBB728DD0}" type="pres">
      <dgm:prSet presAssocID="{3796F4F2-1CDE-4676-9B4F-6F84B904D0A2}" presName="space" presStyleCnt="0"/>
      <dgm:spPr/>
    </dgm:pt>
    <dgm:pt modelId="{53B4C326-1D08-41C3-9E0E-BF4D5572E1C9}" type="pres">
      <dgm:prSet presAssocID="{5312D53D-6F01-40A0-A04F-CF81529E9A27}" presName="composite" presStyleCnt="0"/>
      <dgm:spPr/>
    </dgm:pt>
    <dgm:pt modelId="{9A0A9B80-D4AB-4BDE-A5EE-AE43AB6F6F42}" type="pres">
      <dgm:prSet presAssocID="{5312D53D-6F01-40A0-A04F-CF81529E9A27}" presName="LShape" presStyleLbl="alignNode1" presStyleIdx="2" presStyleCnt="7" custLinFactNeighborY="0"/>
      <dgm:spPr/>
    </dgm:pt>
    <dgm:pt modelId="{9C061C62-9FB7-4081-A1D9-EE5C8512A4DF}" type="pres">
      <dgm:prSet presAssocID="{5312D53D-6F01-40A0-A04F-CF81529E9A27}" presName="ParentText" presStyleLbl="revTx" presStyleIdx="1" presStyleCnt="4" custScaleY="175738" custLinFactNeighborX="-832" custLinFactNeighborY="42370">
        <dgm:presLayoutVars>
          <dgm:chMax val="0"/>
          <dgm:chPref val="0"/>
          <dgm:bulletEnabled val="1"/>
        </dgm:presLayoutVars>
      </dgm:prSet>
      <dgm:spPr/>
    </dgm:pt>
    <dgm:pt modelId="{37C10012-5D3B-4134-A15E-A98E337A698F}" type="pres">
      <dgm:prSet presAssocID="{5312D53D-6F01-40A0-A04F-CF81529E9A27}" presName="Triangle" presStyleLbl="alignNode1" presStyleIdx="3" presStyleCnt="7"/>
      <dgm:spPr/>
    </dgm:pt>
    <dgm:pt modelId="{C2FE95AD-9BC3-4375-88C3-4F865BED317C}" type="pres">
      <dgm:prSet presAssocID="{8D7DE3E0-88DD-401C-92E7-D30583B6CB5F}" presName="sibTrans" presStyleCnt="0"/>
      <dgm:spPr/>
    </dgm:pt>
    <dgm:pt modelId="{6A3B2C2E-0357-4942-9A4A-4135A2D00BE6}" type="pres">
      <dgm:prSet presAssocID="{8D7DE3E0-88DD-401C-92E7-D30583B6CB5F}" presName="space" presStyleCnt="0"/>
      <dgm:spPr/>
    </dgm:pt>
    <dgm:pt modelId="{05E6881D-0BEA-40EE-85F2-3E5BB0A6F0FF}" type="pres">
      <dgm:prSet presAssocID="{2AF326CA-5B15-4E29-96F8-601799774553}" presName="composite" presStyleCnt="0"/>
      <dgm:spPr/>
    </dgm:pt>
    <dgm:pt modelId="{8AAE9118-E37D-40B4-B824-7FA0147A7F2E}" type="pres">
      <dgm:prSet presAssocID="{2AF326CA-5B15-4E29-96F8-601799774553}" presName="LShape" presStyleLbl="alignNode1" presStyleIdx="4" presStyleCnt="7"/>
      <dgm:spPr/>
    </dgm:pt>
    <dgm:pt modelId="{845B7559-32F1-4C18-81F5-CFB64AF5757F}" type="pres">
      <dgm:prSet presAssocID="{2AF326CA-5B15-4E29-96F8-601799774553}" presName="ParentText" presStyleLbl="revTx" presStyleIdx="2" presStyleCnt="4">
        <dgm:presLayoutVars>
          <dgm:chMax val="0"/>
          <dgm:chPref val="0"/>
          <dgm:bulletEnabled val="1"/>
        </dgm:presLayoutVars>
      </dgm:prSet>
      <dgm:spPr/>
    </dgm:pt>
    <dgm:pt modelId="{3A7C3E03-B70E-414F-9EBC-F334B6C906A9}" type="pres">
      <dgm:prSet presAssocID="{2AF326CA-5B15-4E29-96F8-601799774553}" presName="Triangle" presStyleLbl="alignNode1" presStyleIdx="5" presStyleCnt="7"/>
      <dgm:spPr/>
    </dgm:pt>
    <dgm:pt modelId="{08DB3AB8-1ED4-40EA-91BD-1187BABA2FED}" type="pres">
      <dgm:prSet presAssocID="{0A0E2599-B2FF-4B26-A7EF-898594A4AFA2}" presName="sibTrans" presStyleCnt="0"/>
      <dgm:spPr/>
    </dgm:pt>
    <dgm:pt modelId="{B345E5BF-5BAA-414D-9136-8FAE0A53A6A6}" type="pres">
      <dgm:prSet presAssocID="{0A0E2599-B2FF-4B26-A7EF-898594A4AFA2}" presName="space" presStyleCnt="0"/>
      <dgm:spPr/>
    </dgm:pt>
    <dgm:pt modelId="{D9CAF995-584B-44B0-86C9-F4CFE41F23DB}" type="pres">
      <dgm:prSet presAssocID="{A19CFA74-EAA7-46CA-9F6F-C12F70488376}" presName="composite" presStyleCnt="0"/>
      <dgm:spPr/>
    </dgm:pt>
    <dgm:pt modelId="{0C866946-C85E-4C47-9F86-8B243C68F2C9}" type="pres">
      <dgm:prSet presAssocID="{A19CFA74-EAA7-46CA-9F6F-C12F70488376}" presName="LShape" presStyleLbl="alignNode1" presStyleIdx="6" presStyleCnt="7"/>
      <dgm:spPr/>
    </dgm:pt>
    <dgm:pt modelId="{859214B4-2321-4EAD-AD88-6C2C149773A5}" type="pres">
      <dgm:prSet presAssocID="{A19CFA74-EAA7-46CA-9F6F-C12F70488376}" presName="ParentText" presStyleLbl="revTx" presStyleIdx="3" presStyleCnt="4">
        <dgm:presLayoutVars>
          <dgm:chMax val="0"/>
          <dgm:chPref val="0"/>
          <dgm:bulletEnabled val="1"/>
        </dgm:presLayoutVars>
      </dgm:prSet>
      <dgm:spPr/>
    </dgm:pt>
  </dgm:ptLst>
  <dgm:cxnLst>
    <dgm:cxn modelId="{C4549225-23F2-4AB3-B3D5-22AA428F503D}" type="presOf" srcId="{5DBF97B9-5971-4641-9FEC-C7B6355E2D68}" destId="{9EBEC4D0-0974-40B6-AA11-351544BFF07A}" srcOrd="0" destOrd="0" presId="urn:microsoft.com/office/officeart/2009/3/layout/StepUpProcess"/>
    <dgm:cxn modelId="{4DA48D2C-FE97-469F-8C77-4E263862FE5E}" srcId="{5DBF97B9-5971-4641-9FEC-C7B6355E2D68}" destId="{5312D53D-6F01-40A0-A04F-CF81529E9A27}" srcOrd="1" destOrd="0" parTransId="{5ED8B8FE-74AE-446C-B6E5-A09A8D521322}" sibTransId="{8D7DE3E0-88DD-401C-92E7-D30583B6CB5F}"/>
    <dgm:cxn modelId="{751E235D-48AE-4C29-A074-C66A3BF0E2FA}" type="presOf" srcId="{A19CFA74-EAA7-46CA-9F6F-C12F70488376}" destId="{859214B4-2321-4EAD-AD88-6C2C149773A5}" srcOrd="0" destOrd="0" presId="urn:microsoft.com/office/officeart/2009/3/layout/StepUpProcess"/>
    <dgm:cxn modelId="{FABA0260-04D5-40F5-A064-29B7D92AED21}" srcId="{5DBF97B9-5971-4641-9FEC-C7B6355E2D68}" destId="{A19CFA74-EAA7-46CA-9F6F-C12F70488376}" srcOrd="3" destOrd="0" parTransId="{92501429-45B7-4391-8F40-573498BB8927}" sibTransId="{008997B4-0D22-4FEA-862B-9D1C26D48F3C}"/>
    <dgm:cxn modelId="{71AC8264-3615-4B52-AE00-F48E1FD4BF72}" type="presOf" srcId="{09FE6177-AD69-4006-8CF4-5153D1A3C0B6}" destId="{E96D58C1-231A-4646-A1CF-4C10BAC4EE42}" srcOrd="0" destOrd="0" presId="urn:microsoft.com/office/officeart/2009/3/layout/StepUpProcess"/>
    <dgm:cxn modelId="{7ADD724A-67FD-471F-B839-F3A74F1EBB86}" srcId="{2AF326CA-5B15-4E29-96F8-601799774553}" destId="{66372B17-B2DF-4FE0-90ED-025DBB05989F}" srcOrd="2" destOrd="0" parTransId="{7460635C-88D8-4294-8A65-B696A89F15CA}" sibTransId="{C8C9847A-5ECC-4966-8FBC-C7FC2EB411E9}"/>
    <dgm:cxn modelId="{C2D03F59-BA98-4671-BE49-9DBBBDCC373F}" srcId="{2AF326CA-5B15-4E29-96F8-601799774553}" destId="{211E4745-05FE-47C2-A5D2-28AD76C372ED}" srcOrd="1" destOrd="0" parTransId="{993D2798-C841-4985-A19C-9208A552BFAA}" sibTransId="{A4E5B195-27F0-4A2B-AD42-BDFEB5CA9B97}"/>
    <dgm:cxn modelId="{81272784-6D98-4CD6-A0B4-75A9AC3AA5BD}" type="presOf" srcId="{66372B17-B2DF-4FE0-90ED-025DBB05989F}" destId="{845B7559-32F1-4C18-81F5-CFB64AF5757F}" srcOrd="0" destOrd="3" presId="urn:microsoft.com/office/officeart/2009/3/layout/StepUpProcess"/>
    <dgm:cxn modelId="{92784985-A1F2-4969-A35D-0CAAA85CBADB}" type="presOf" srcId="{37AAAA98-C1BD-4F38-A624-A8F0BF0EA6F6}" destId="{845B7559-32F1-4C18-81F5-CFB64AF5757F}" srcOrd="0" destOrd="1" presId="urn:microsoft.com/office/officeart/2009/3/layout/StepUpProcess"/>
    <dgm:cxn modelId="{FC372A98-2D82-48B3-A23E-904B53EBD690}" srcId="{5DBF97B9-5971-4641-9FEC-C7B6355E2D68}" destId="{2AF326CA-5B15-4E29-96F8-601799774553}" srcOrd="2" destOrd="0" parTransId="{1C35E041-7177-418F-B3BC-172841A97FAC}" sibTransId="{0A0E2599-B2FF-4B26-A7EF-898594A4AFA2}"/>
    <dgm:cxn modelId="{0DEEF798-4797-4CFB-A3E2-8754A0DA9FF6}" srcId="{2AF326CA-5B15-4E29-96F8-601799774553}" destId="{37AAAA98-C1BD-4F38-A624-A8F0BF0EA6F6}" srcOrd="0" destOrd="0" parTransId="{D1A7A568-21AB-4B17-8F95-61DD510AA4D5}" sibTransId="{6D612CA6-0486-4AFC-A879-4995DFEE1673}"/>
    <dgm:cxn modelId="{580881AD-DF55-4129-95C2-2BBDE366E5C6}" type="presOf" srcId="{211E4745-05FE-47C2-A5D2-28AD76C372ED}" destId="{845B7559-32F1-4C18-81F5-CFB64AF5757F}" srcOrd="0" destOrd="2" presId="urn:microsoft.com/office/officeart/2009/3/layout/StepUpProcess"/>
    <dgm:cxn modelId="{F92C74D0-DF3F-4C93-91EF-046065FE7BC3}" type="presOf" srcId="{5312D53D-6F01-40A0-A04F-CF81529E9A27}" destId="{9C061C62-9FB7-4081-A1D9-EE5C8512A4DF}" srcOrd="0" destOrd="0" presId="urn:microsoft.com/office/officeart/2009/3/layout/StepUpProcess"/>
    <dgm:cxn modelId="{D2D8BED1-879F-4155-B99C-2E26C04B723D}" type="presOf" srcId="{2AF326CA-5B15-4E29-96F8-601799774553}" destId="{845B7559-32F1-4C18-81F5-CFB64AF5757F}" srcOrd="0" destOrd="0" presId="urn:microsoft.com/office/officeart/2009/3/layout/StepUpProcess"/>
    <dgm:cxn modelId="{ACC978F8-BCAA-4F16-B5CE-5D064D40E94E}" srcId="{5DBF97B9-5971-4641-9FEC-C7B6355E2D68}" destId="{09FE6177-AD69-4006-8CF4-5153D1A3C0B6}" srcOrd="0" destOrd="0" parTransId="{37572F48-13E8-4F2B-BD5B-348B822CE988}" sibTransId="{3796F4F2-1CDE-4676-9B4F-6F84B904D0A2}"/>
    <dgm:cxn modelId="{F87E529B-B5AB-49BB-941D-826DE7FB9906}" type="presParOf" srcId="{9EBEC4D0-0974-40B6-AA11-351544BFF07A}" destId="{D83E4400-09DA-418A-9013-970875240A43}" srcOrd="0" destOrd="0" presId="urn:microsoft.com/office/officeart/2009/3/layout/StepUpProcess"/>
    <dgm:cxn modelId="{EE1CDA80-8D02-49EF-9D08-AA6A2DE5A89B}" type="presParOf" srcId="{D83E4400-09DA-418A-9013-970875240A43}" destId="{A606D942-D36F-4D12-9811-1FE661FD46F6}" srcOrd="0" destOrd="0" presId="urn:microsoft.com/office/officeart/2009/3/layout/StepUpProcess"/>
    <dgm:cxn modelId="{F29687C2-FC88-43EE-AB1F-D16F19B1339C}" type="presParOf" srcId="{D83E4400-09DA-418A-9013-970875240A43}" destId="{E96D58C1-231A-4646-A1CF-4C10BAC4EE42}" srcOrd="1" destOrd="0" presId="urn:microsoft.com/office/officeart/2009/3/layout/StepUpProcess"/>
    <dgm:cxn modelId="{C18A65E0-F0CB-4410-BC9D-8BCB3842FD82}" type="presParOf" srcId="{D83E4400-09DA-418A-9013-970875240A43}" destId="{922BF642-6933-4370-95A2-BA2D7ED8D7C4}" srcOrd="2" destOrd="0" presId="urn:microsoft.com/office/officeart/2009/3/layout/StepUpProcess"/>
    <dgm:cxn modelId="{79DFEAB5-5F40-4E69-B39E-729E9AC76481}" type="presParOf" srcId="{9EBEC4D0-0974-40B6-AA11-351544BFF07A}" destId="{0D4A0952-FB5F-4666-BC8A-E39FB496888A}" srcOrd="1" destOrd="0" presId="urn:microsoft.com/office/officeart/2009/3/layout/StepUpProcess"/>
    <dgm:cxn modelId="{B65A5EE2-2843-418C-BEFD-346BD99748E6}" type="presParOf" srcId="{0D4A0952-FB5F-4666-BC8A-E39FB496888A}" destId="{5EADA11F-3648-4196-98DF-A87FBB728DD0}" srcOrd="0" destOrd="0" presId="urn:microsoft.com/office/officeart/2009/3/layout/StepUpProcess"/>
    <dgm:cxn modelId="{A5475C33-A191-4866-B81D-B4387B38459F}" type="presParOf" srcId="{9EBEC4D0-0974-40B6-AA11-351544BFF07A}" destId="{53B4C326-1D08-41C3-9E0E-BF4D5572E1C9}" srcOrd="2" destOrd="0" presId="urn:microsoft.com/office/officeart/2009/3/layout/StepUpProcess"/>
    <dgm:cxn modelId="{57A3DA9F-7261-4457-9BEB-F6B35B218BC8}" type="presParOf" srcId="{53B4C326-1D08-41C3-9E0E-BF4D5572E1C9}" destId="{9A0A9B80-D4AB-4BDE-A5EE-AE43AB6F6F42}" srcOrd="0" destOrd="0" presId="urn:microsoft.com/office/officeart/2009/3/layout/StepUpProcess"/>
    <dgm:cxn modelId="{B213957C-C5CA-4A7D-B784-2B1DA87FD3F5}" type="presParOf" srcId="{53B4C326-1D08-41C3-9E0E-BF4D5572E1C9}" destId="{9C061C62-9FB7-4081-A1D9-EE5C8512A4DF}" srcOrd="1" destOrd="0" presId="urn:microsoft.com/office/officeart/2009/3/layout/StepUpProcess"/>
    <dgm:cxn modelId="{C1DA03FC-56E1-45C3-9698-C451344D4AE6}" type="presParOf" srcId="{53B4C326-1D08-41C3-9E0E-BF4D5572E1C9}" destId="{37C10012-5D3B-4134-A15E-A98E337A698F}" srcOrd="2" destOrd="0" presId="urn:microsoft.com/office/officeart/2009/3/layout/StepUpProcess"/>
    <dgm:cxn modelId="{701CDA89-69BA-460C-84F8-3698D2371C4E}" type="presParOf" srcId="{9EBEC4D0-0974-40B6-AA11-351544BFF07A}" destId="{C2FE95AD-9BC3-4375-88C3-4F865BED317C}" srcOrd="3" destOrd="0" presId="urn:microsoft.com/office/officeart/2009/3/layout/StepUpProcess"/>
    <dgm:cxn modelId="{391B270F-1010-4F47-B893-530E78750A99}" type="presParOf" srcId="{C2FE95AD-9BC3-4375-88C3-4F865BED317C}" destId="{6A3B2C2E-0357-4942-9A4A-4135A2D00BE6}" srcOrd="0" destOrd="0" presId="urn:microsoft.com/office/officeart/2009/3/layout/StepUpProcess"/>
    <dgm:cxn modelId="{CC92FBAC-FEAD-42E9-8302-58F09D80B85E}" type="presParOf" srcId="{9EBEC4D0-0974-40B6-AA11-351544BFF07A}" destId="{05E6881D-0BEA-40EE-85F2-3E5BB0A6F0FF}" srcOrd="4" destOrd="0" presId="urn:microsoft.com/office/officeart/2009/3/layout/StepUpProcess"/>
    <dgm:cxn modelId="{C9A5F971-1AF8-4A8B-B9F4-69267D77A242}" type="presParOf" srcId="{05E6881D-0BEA-40EE-85F2-3E5BB0A6F0FF}" destId="{8AAE9118-E37D-40B4-B824-7FA0147A7F2E}" srcOrd="0" destOrd="0" presId="urn:microsoft.com/office/officeart/2009/3/layout/StepUpProcess"/>
    <dgm:cxn modelId="{CA626C24-C286-4526-960E-AC60222BBB36}" type="presParOf" srcId="{05E6881D-0BEA-40EE-85F2-3E5BB0A6F0FF}" destId="{845B7559-32F1-4C18-81F5-CFB64AF5757F}" srcOrd="1" destOrd="0" presId="urn:microsoft.com/office/officeart/2009/3/layout/StepUpProcess"/>
    <dgm:cxn modelId="{E2F276F8-D8DF-4EE6-ADFC-4C12F1DF60C6}" type="presParOf" srcId="{05E6881D-0BEA-40EE-85F2-3E5BB0A6F0FF}" destId="{3A7C3E03-B70E-414F-9EBC-F334B6C906A9}" srcOrd="2" destOrd="0" presId="urn:microsoft.com/office/officeart/2009/3/layout/StepUpProcess"/>
    <dgm:cxn modelId="{013AE4E4-5451-4962-B47E-0F8D487847F8}" type="presParOf" srcId="{9EBEC4D0-0974-40B6-AA11-351544BFF07A}" destId="{08DB3AB8-1ED4-40EA-91BD-1187BABA2FED}" srcOrd="5" destOrd="0" presId="urn:microsoft.com/office/officeart/2009/3/layout/StepUpProcess"/>
    <dgm:cxn modelId="{D87EA333-2C17-40DC-9EB8-F5D99E787E4F}" type="presParOf" srcId="{08DB3AB8-1ED4-40EA-91BD-1187BABA2FED}" destId="{B345E5BF-5BAA-414D-9136-8FAE0A53A6A6}" srcOrd="0" destOrd="0" presId="urn:microsoft.com/office/officeart/2009/3/layout/StepUpProcess"/>
    <dgm:cxn modelId="{5298759D-C5F1-4FD5-92D2-738C06820C7A}" type="presParOf" srcId="{9EBEC4D0-0974-40B6-AA11-351544BFF07A}" destId="{D9CAF995-584B-44B0-86C9-F4CFE41F23DB}" srcOrd="6" destOrd="0" presId="urn:microsoft.com/office/officeart/2009/3/layout/StepUpProcess"/>
    <dgm:cxn modelId="{D0CB731E-4E6B-4A61-A0D6-E4BFD057F414}" type="presParOf" srcId="{D9CAF995-584B-44B0-86C9-F4CFE41F23DB}" destId="{0C866946-C85E-4C47-9F86-8B243C68F2C9}" srcOrd="0" destOrd="0" presId="urn:microsoft.com/office/officeart/2009/3/layout/StepUpProcess"/>
    <dgm:cxn modelId="{E39546CD-6A6A-47BF-8C3A-A4FECE234EC6}" type="presParOf" srcId="{D9CAF995-584B-44B0-86C9-F4CFE41F23DB}" destId="{859214B4-2321-4EAD-AD88-6C2C149773A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BF97B9-5971-4641-9FEC-C7B6355E2D68}"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09FE6177-AD69-4006-8CF4-5153D1A3C0B6}">
      <dgm:prSet phldrT="[Text]" custT="1"/>
      <dgm:spPr/>
      <dgm:t>
        <a:bodyPr/>
        <a:lstStyle/>
        <a:p>
          <a:r>
            <a:rPr lang="en-US" sz="1300" b="1" dirty="0"/>
            <a:t>First Reporter/MD </a:t>
          </a:r>
          <a:r>
            <a:rPr lang="en-US" sz="1300" b="0" dirty="0"/>
            <a:t>receives</a:t>
          </a:r>
          <a:r>
            <a:rPr lang="en-US" sz="1300" dirty="0"/>
            <a:t> call from Youth Villages CEO. First Reporter completes crisis incident fact sheet and alerts Susan and Micah. </a:t>
          </a:r>
        </a:p>
        <a:p>
          <a:r>
            <a:rPr lang="en-US" sz="1300" dirty="0"/>
            <a:t>Susan and Micah determine this is a likely crisis and convene crisis communications team. Jim joins CCT as function team lead.</a:t>
          </a:r>
        </a:p>
      </dgm:t>
    </dgm:pt>
    <dgm:pt modelId="{37572F48-13E8-4F2B-BD5B-348B822CE988}" type="parTrans" cxnId="{ACC978F8-BCAA-4F16-B5CE-5D064D40E94E}">
      <dgm:prSet/>
      <dgm:spPr/>
      <dgm:t>
        <a:bodyPr/>
        <a:lstStyle/>
        <a:p>
          <a:endParaRPr lang="en-US"/>
        </a:p>
      </dgm:t>
    </dgm:pt>
    <dgm:pt modelId="{3796F4F2-1CDE-4676-9B4F-6F84B904D0A2}" type="sibTrans" cxnId="{ACC978F8-BCAA-4F16-B5CE-5D064D40E94E}">
      <dgm:prSet/>
      <dgm:spPr/>
      <dgm:t>
        <a:bodyPr/>
        <a:lstStyle/>
        <a:p>
          <a:endParaRPr lang="en-US"/>
        </a:p>
      </dgm:t>
    </dgm:pt>
    <dgm:pt modelId="{5312D53D-6F01-40A0-A04F-CF81529E9A27}">
      <dgm:prSet phldrT="[Text]" custT="1"/>
      <dgm:spPr/>
      <dgm:t>
        <a:bodyPr/>
        <a:lstStyle/>
        <a:p>
          <a:r>
            <a:rPr lang="en-US" sz="1300" b="1" dirty="0"/>
            <a:t>CCT meets and develops response plan. </a:t>
          </a:r>
        </a:p>
        <a:p>
          <a:r>
            <a:rPr lang="en-US" sz="1300" b="0" dirty="0"/>
            <a:t>MD learns that local media has </a:t>
          </a:r>
          <a:r>
            <a:rPr lang="en-US" sz="1300" b="0" dirty="0" err="1"/>
            <a:t>commrequestedent</a:t>
          </a:r>
          <a:r>
            <a:rPr lang="en-US" sz="1300" b="0" dirty="0"/>
            <a:t> from Youth Villages and plans to seek BMP comment.</a:t>
          </a:r>
        </a:p>
        <a:p>
          <a:r>
            <a:rPr lang="en-US" sz="1300" b="0" dirty="0"/>
            <a:t>Rates the crisis a 3-4.</a:t>
          </a:r>
        </a:p>
        <a:p>
          <a:r>
            <a:rPr lang="en-US" sz="1300" b="0" dirty="0"/>
            <a:t>Comms develops statement based on existing holding draft;  recommends outreach to local media and on-record interview.</a:t>
          </a:r>
        </a:p>
        <a:p>
          <a:r>
            <a:rPr lang="en-US" sz="1300" b="0" dirty="0"/>
            <a:t>Nancy approves outreach plan.</a:t>
          </a:r>
        </a:p>
      </dgm:t>
    </dgm:pt>
    <dgm:pt modelId="{5ED8B8FE-74AE-446C-B6E5-A09A8D521322}" type="parTrans" cxnId="{4DA48D2C-FE97-469F-8C77-4E263862FE5E}">
      <dgm:prSet/>
      <dgm:spPr/>
      <dgm:t>
        <a:bodyPr/>
        <a:lstStyle/>
        <a:p>
          <a:endParaRPr lang="en-US"/>
        </a:p>
      </dgm:t>
    </dgm:pt>
    <dgm:pt modelId="{8D7DE3E0-88DD-401C-92E7-D30583B6CB5F}" type="sibTrans" cxnId="{4DA48D2C-FE97-469F-8C77-4E263862FE5E}">
      <dgm:prSet/>
      <dgm:spPr/>
      <dgm:t>
        <a:bodyPr/>
        <a:lstStyle/>
        <a:p>
          <a:endParaRPr lang="en-US"/>
        </a:p>
      </dgm:t>
    </dgm:pt>
    <dgm:pt modelId="{2AF326CA-5B15-4E29-96F8-601799774553}">
      <dgm:prSet phldrT="[Text]" custT="1"/>
      <dgm:spPr/>
      <dgm:t>
        <a:bodyPr/>
        <a:lstStyle/>
        <a:p>
          <a:r>
            <a:rPr lang="en-US" sz="1300" b="1" dirty="0"/>
            <a:t>Blue Meridian executes response plan</a:t>
          </a:r>
          <a:r>
            <a:rPr lang="en-US" sz="1300" dirty="0"/>
            <a:t>:</a:t>
          </a:r>
        </a:p>
        <a:p>
          <a:r>
            <a:rPr lang="en-US" sz="1300" dirty="0"/>
            <a:t>Comms delivers statement to local media.</a:t>
          </a:r>
        </a:p>
        <a:p>
          <a:r>
            <a:rPr lang="en-US" sz="1300" dirty="0"/>
            <a:t>Comms prepares spokesperson for phone interview and listens in, following up with reporter as needed.</a:t>
          </a:r>
        </a:p>
        <a:p>
          <a:r>
            <a:rPr lang="en-US" sz="1300" dirty="0"/>
            <a:t>Jim recommends not distributing the statement to wider group of investees.</a:t>
          </a:r>
        </a:p>
        <a:p>
          <a:r>
            <a:rPr lang="en-US" sz="1300" dirty="0"/>
            <a:t>Comms recommends against posting statement on BMP social media channels.</a:t>
          </a:r>
        </a:p>
      </dgm:t>
    </dgm:pt>
    <dgm:pt modelId="{1C35E041-7177-418F-B3BC-172841A97FAC}" type="parTrans" cxnId="{FC372A98-2D82-48B3-A23E-904B53EBD690}">
      <dgm:prSet/>
      <dgm:spPr/>
      <dgm:t>
        <a:bodyPr/>
        <a:lstStyle/>
        <a:p>
          <a:endParaRPr lang="en-US"/>
        </a:p>
      </dgm:t>
    </dgm:pt>
    <dgm:pt modelId="{0A0E2599-B2FF-4B26-A7EF-898594A4AFA2}" type="sibTrans" cxnId="{FC372A98-2D82-48B3-A23E-904B53EBD690}">
      <dgm:prSet/>
      <dgm:spPr/>
      <dgm:t>
        <a:bodyPr/>
        <a:lstStyle/>
        <a:p>
          <a:endParaRPr lang="en-US"/>
        </a:p>
      </dgm:t>
    </dgm:pt>
    <dgm:pt modelId="{A19CFA74-EAA7-46CA-9F6F-C12F70488376}">
      <dgm:prSet phldrT="[Text]" custT="1"/>
      <dgm:spPr/>
      <dgm:t>
        <a:bodyPr/>
        <a:lstStyle/>
        <a:p>
          <a:r>
            <a:rPr lang="en-US" sz="1300" b="0" dirty="0"/>
            <a:t>Clea/Comms closely </a:t>
          </a:r>
          <a:r>
            <a:rPr lang="en-US" sz="1300" b="1" dirty="0"/>
            <a:t>tracks media coverage </a:t>
          </a:r>
          <a:r>
            <a:rPr lang="en-US" sz="1300" b="0" dirty="0"/>
            <a:t>and reports a single day of difficult stories. After this initial wave, interest in the story dissipates.</a:t>
          </a:r>
        </a:p>
        <a:p>
          <a:r>
            <a:rPr lang="en-US" sz="1300" b="0" dirty="0"/>
            <a:t>Comms disbands the CCT team. </a:t>
          </a:r>
          <a:endParaRPr lang="en-US" sz="1300" dirty="0"/>
        </a:p>
      </dgm:t>
    </dgm:pt>
    <dgm:pt modelId="{92501429-45B7-4391-8F40-573498BB8927}" type="parTrans" cxnId="{FABA0260-04D5-40F5-A064-29B7D92AED21}">
      <dgm:prSet/>
      <dgm:spPr/>
      <dgm:t>
        <a:bodyPr/>
        <a:lstStyle/>
        <a:p>
          <a:endParaRPr lang="en-US"/>
        </a:p>
      </dgm:t>
    </dgm:pt>
    <dgm:pt modelId="{008997B4-0D22-4FEA-862B-9D1C26D48F3C}" type="sibTrans" cxnId="{FABA0260-04D5-40F5-A064-29B7D92AED21}">
      <dgm:prSet/>
      <dgm:spPr/>
      <dgm:t>
        <a:bodyPr/>
        <a:lstStyle/>
        <a:p>
          <a:endParaRPr lang="en-US"/>
        </a:p>
      </dgm:t>
    </dgm:pt>
    <dgm:pt modelId="{9EBEC4D0-0974-40B6-AA11-351544BFF07A}" type="pres">
      <dgm:prSet presAssocID="{5DBF97B9-5971-4641-9FEC-C7B6355E2D68}" presName="rootnode" presStyleCnt="0">
        <dgm:presLayoutVars>
          <dgm:chMax/>
          <dgm:chPref/>
          <dgm:dir/>
          <dgm:animLvl val="lvl"/>
        </dgm:presLayoutVars>
      </dgm:prSet>
      <dgm:spPr/>
    </dgm:pt>
    <dgm:pt modelId="{D83E4400-09DA-418A-9013-970875240A43}" type="pres">
      <dgm:prSet presAssocID="{09FE6177-AD69-4006-8CF4-5153D1A3C0B6}" presName="composite" presStyleCnt="0"/>
      <dgm:spPr/>
    </dgm:pt>
    <dgm:pt modelId="{A606D942-D36F-4D12-9811-1FE661FD46F6}" type="pres">
      <dgm:prSet presAssocID="{09FE6177-AD69-4006-8CF4-5153D1A3C0B6}" presName="LShape" presStyleLbl="alignNode1" presStyleIdx="0" presStyleCnt="7"/>
      <dgm:spPr/>
    </dgm:pt>
    <dgm:pt modelId="{E96D58C1-231A-4646-A1CF-4C10BAC4EE42}" type="pres">
      <dgm:prSet presAssocID="{09FE6177-AD69-4006-8CF4-5153D1A3C0B6}" presName="ParentText" presStyleLbl="revTx" presStyleIdx="0" presStyleCnt="4">
        <dgm:presLayoutVars>
          <dgm:chMax val="0"/>
          <dgm:chPref val="0"/>
          <dgm:bulletEnabled val="1"/>
        </dgm:presLayoutVars>
      </dgm:prSet>
      <dgm:spPr/>
    </dgm:pt>
    <dgm:pt modelId="{922BF642-6933-4370-95A2-BA2D7ED8D7C4}" type="pres">
      <dgm:prSet presAssocID="{09FE6177-AD69-4006-8CF4-5153D1A3C0B6}" presName="Triangle" presStyleLbl="alignNode1" presStyleIdx="1" presStyleCnt="7"/>
      <dgm:spPr/>
    </dgm:pt>
    <dgm:pt modelId="{0D4A0952-FB5F-4666-BC8A-E39FB496888A}" type="pres">
      <dgm:prSet presAssocID="{3796F4F2-1CDE-4676-9B4F-6F84B904D0A2}" presName="sibTrans" presStyleCnt="0"/>
      <dgm:spPr/>
    </dgm:pt>
    <dgm:pt modelId="{5EADA11F-3648-4196-98DF-A87FBB728DD0}" type="pres">
      <dgm:prSet presAssocID="{3796F4F2-1CDE-4676-9B4F-6F84B904D0A2}" presName="space" presStyleCnt="0"/>
      <dgm:spPr/>
    </dgm:pt>
    <dgm:pt modelId="{53B4C326-1D08-41C3-9E0E-BF4D5572E1C9}" type="pres">
      <dgm:prSet presAssocID="{5312D53D-6F01-40A0-A04F-CF81529E9A27}" presName="composite" presStyleCnt="0"/>
      <dgm:spPr/>
    </dgm:pt>
    <dgm:pt modelId="{9A0A9B80-D4AB-4BDE-A5EE-AE43AB6F6F42}" type="pres">
      <dgm:prSet presAssocID="{5312D53D-6F01-40A0-A04F-CF81529E9A27}" presName="LShape" presStyleLbl="alignNode1" presStyleIdx="2" presStyleCnt="7" custLinFactNeighborY="0"/>
      <dgm:spPr/>
    </dgm:pt>
    <dgm:pt modelId="{9C061C62-9FB7-4081-A1D9-EE5C8512A4DF}" type="pres">
      <dgm:prSet presAssocID="{5312D53D-6F01-40A0-A04F-CF81529E9A27}" presName="ParentText" presStyleLbl="revTx" presStyleIdx="1" presStyleCnt="4" custScaleY="175738" custLinFactNeighborX="-832" custLinFactNeighborY="42370">
        <dgm:presLayoutVars>
          <dgm:chMax val="0"/>
          <dgm:chPref val="0"/>
          <dgm:bulletEnabled val="1"/>
        </dgm:presLayoutVars>
      </dgm:prSet>
      <dgm:spPr/>
    </dgm:pt>
    <dgm:pt modelId="{37C10012-5D3B-4134-A15E-A98E337A698F}" type="pres">
      <dgm:prSet presAssocID="{5312D53D-6F01-40A0-A04F-CF81529E9A27}" presName="Triangle" presStyleLbl="alignNode1" presStyleIdx="3" presStyleCnt="7"/>
      <dgm:spPr/>
    </dgm:pt>
    <dgm:pt modelId="{C2FE95AD-9BC3-4375-88C3-4F865BED317C}" type="pres">
      <dgm:prSet presAssocID="{8D7DE3E0-88DD-401C-92E7-D30583B6CB5F}" presName="sibTrans" presStyleCnt="0"/>
      <dgm:spPr/>
    </dgm:pt>
    <dgm:pt modelId="{6A3B2C2E-0357-4942-9A4A-4135A2D00BE6}" type="pres">
      <dgm:prSet presAssocID="{8D7DE3E0-88DD-401C-92E7-D30583B6CB5F}" presName="space" presStyleCnt="0"/>
      <dgm:spPr/>
    </dgm:pt>
    <dgm:pt modelId="{05E6881D-0BEA-40EE-85F2-3E5BB0A6F0FF}" type="pres">
      <dgm:prSet presAssocID="{2AF326CA-5B15-4E29-96F8-601799774553}" presName="composite" presStyleCnt="0"/>
      <dgm:spPr/>
    </dgm:pt>
    <dgm:pt modelId="{8AAE9118-E37D-40B4-B824-7FA0147A7F2E}" type="pres">
      <dgm:prSet presAssocID="{2AF326CA-5B15-4E29-96F8-601799774553}" presName="LShape" presStyleLbl="alignNode1" presStyleIdx="4" presStyleCnt="7"/>
      <dgm:spPr/>
    </dgm:pt>
    <dgm:pt modelId="{845B7559-32F1-4C18-81F5-CFB64AF5757F}" type="pres">
      <dgm:prSet presAssocID="{2AF326CA-5B15-4E29-96F8-601799774553}" presName="ParentText" presStyleLbl="revTx" presStyleIdx="2" presStyleCnt="4">
        <dgm:presLayoutVars>
          <dgm:chMax val="0"/>
          <dgm:chPref val="0"/>
          <dgm:bulletEnabled val="1"/>
        </dgm:presLayoutVars>
      </dgm:prSet>
      <dgm:spPr/>
    </dgm:pt>
    <dgm:pt modelId="{3A7C3E03-B70E-414F-9EBC-F334B6C906A9}" type="pres">
      <dgm:prSet presAssocID="{2AF326CA-5B15-4E29-96F8-601799774553}" presName="Triangle" presStyleLbl="alignNode1" presStyleIdx="5" presStyleCnt="7"/>
      <dgm:spPr/>
    </dgm:pt>
    <dgm:pt modelId="{08DB3AB8-1ED4-40EA-91BD-1187BABA2FED}" type="pres">
      <dgm:prSet presAssocID="{0A0E2599-B2FF-4B26-A7EF-898594A4AFA2}" presName="sibTrans" presStyleCnt="0"/>
      <dgm:spPr/>
    </dgm:pt>
    <dgm:pt modelId="{B345E5BF-5BAA-414D-9136-8FAE0A53A6A6}" type="pres">
      <dgm:prSet presAssocID="{0A0E2599-B2FF-4B26-A7EF-898594A4AFA2}" presName="space" presStyleCnt="0"/>
      <dgm:spPr/>
    </dgm:pt>
    <dgm:pt modelId="{D9CAF995-584B-44B0-86C9-F4CFE41F23DB}" type="pres">
      <dgm:prSet presAssocID="{A19CFA74-EAA7-46CA-9F6F-C12F70488376}" presName="composite" presStyleCnt="0"/>
      <dgm:spPr/>
    </dgm:pt>
    <dgm:pt modelId="{0C866946-C85E-4C47-9F86-8B243C68F2C9}" type="pres">
      <dgm:prSet presAssocID="{A19CFA74-EAA7-46CA-9F6F-C12F70488376}" presName="LShape" presStyleLbl="alignNode1" presStyleIdx="6" presStyleCnt="7"/>
      <dgm:spPr/>
    </dgm:pt>
    <dgm:pt modelId="{859214B4-2321-4EAD-AD88-6C2C149773A5}" type="pres">
      <dgm:prSet presAssocID="{A19CFA74-EAA7-46CA-9F6F-C12F70488376}" presName="ParentText" presStyleLbl="revTx" presStyleIdx="3" presStyleCnt="4">
        <dgm:presLayoutVars>
          <dgm:chMax val="0"/>
          <dgm:chPref val="0"/>
          <dgm:bulletEnabled val="1"/>
        </dgm:presLayoutVars>
      </dgm:prSet>
      <dgm:spPr/>
    </dgm:pt>
  </dgm:ptLst>
  <dgm:cxnLst>
    <dgm:cxn modelId="{C4549225-23F2-4AB3-B3D5-22AA428F503D}" type="presOf" srcId="{5DBF97B9-5971-4641-9FEC-C7B6355E2D68}" destId="{9EBEC4D0-0974-40B6-AA11-351544BFF07A}" srcOrd="0" destOrd="0" presId="urn:microsoft.com/office/officeart/2009/3/layout/StepUpProcess"/>
    <dgm:cxn modelId="{4DA48D2C-FE97-469F-8C77-4E263862FE5E}" srcId="{5DBF97B9-5971-4641-9FEC-C7B6355E2D68}" destId="{5312D53D-6F01-40A0-A04F-CF81529E9A27}" srcOrd="1" destOrd="0" parTransId="{5ED8B8FE-74AE-446C-B6E5-A09A8D521322}" sibTransId="{8D7DE3E0-88DD-401C-92E7-D30583B6CB5F}"/>
    <dgm:cxn modelId="{751E235D-48AE-4C29-A074-C66A3BF0E2FA}" type="presOf" srcId="{A19CFA74-EAA7-46CA-9F6F-C12F70488376}" destId="{859214B4-2321-4EAD-AD88-6C2C149773A5}" srcOrd="0" destOrd="0" presId="urn:microsoft.com/office/officeart/2009/3/layout/StepUpProcess"/>
    <dgm:cxn modelId="{FABA0260-04D5-40F5-A064-29B7D92AED21}" srcId="{5DBF97B9-5971-4641-9FEC-C7B6355E2D68}" destId="{A19CFA74-EAA7-46CA-9F6F-C12F70488376}" srcOrd="3" destOrd="0" parTransId="{92501429-45B7-4391-8F40-573498BB8927}" sibTransId="{008997B4-0D22-4FEA-862B-9D1C26D48F3C}"/>
    <dgm:cxn modelId="{71AC8264-3615-4B52-AE00-F48E1FD4BF72}" type="presOf" srcId="{09FE6177-AD69-4006-8CF4-5153D1A3C0B6}" destId="{E96D58C1-231A-4646-A1CF-4C10BAC4EE42}" srcOrd="0" destOrd="0" presId="urn:microsoft.com/office/officeart/2009/3/layout/StepUpProcess"/>
    <dgm:cxn modelId="{FC372A98-2D82-48B3-A23E-904B53EBD690}" srcId="{5DBF97B9-5971-4641-9FEC-C7B6355E2D68}" destId="{2AF326CA-5B15-4E29-96F8-601799774553}" srcOrd="2" destOrd="0" parTransId="{1C35E041-7177-418F-B3BC-172841A97FAC}" sibTransId="{0A0E2599-B2FF-4B26-A7EF-898594A4AFA2}"/>
    <dgm:cxn modelId="{F92C74D0-DF3F-4C93-91EF-046065FE7BC3}" type="presOf" srcId="{5312D53D-6F01-40A0-A04F-CF81529E9A27}" destId="{9C061C62-9FB7-4081-A1D9-EE5C8512A4DF}" srcOrd="0" destOrd="0" presId="urn:microsoft.com/office/officeart/2009/3/layout/StepUpProcess"/>
    <dgm:cxn modelId="{D2D8BED1-879F-4155-B99C-2E26C04B723D}" type="presOf" srcId="{2AF326CA-5B15-4E29-96F8-601799774553}" destId="{845B7559-32F1-4C18-81F5-CFB64AF5757F}" srcOrd="0" destOrd="0" presId="urn:microsoft.com/office/officeart/2009/3/layout/StepUpProcess"/>
    <dgm:cxn modelId="{ACC978F8-BCAA-4F16-B5CE-5D064D40E94E}" srcId="{5DBF97B9-5971-4641-9FEC-C7B6355E2D68}" destId="{09FE6177-AD69-4006-8CF4-5153D1A3C0B6}" srcOrd="0" destOrd="0" parTransId="{37572F48-13E8-4F2B-BD5B-348B822CE988}" sibTransId="{3796F4F2-1CDE-4676-9B4F-6F84B904D0A2}"/>
    <dgm:cxn modelId="{F87E529B-B5AB-49BB-941D-826DE7FB9906}" type="presParOf" srcId="{9EBEC4D0-0974-40B6-AA11-351544BFF07A}" destId="{D83E4400-09DA-418A-9013-970875240A43}" srcOrd="0" destOrd="0" presId="urn:microsoft.com/office/officeart/2009/3/layout/StepUpProcess"/>
    <dgm:cxn modelId="{EE1CDA80-8D02-49EF-9D08-AA6A2DE5A89B}" type="presParOf" srcId="{D83E4400-09DA-418A-9013-970875240A43}" destId="{A606D942-D36F-4D12-9811-1FE661FD46F6}" srcOrd="0" destOrd="0" presId="urn:microsoft.com/office/officeart/2009/3/layout/StepUpProcess"/>
    <dgm:cxn modelId="{F29687C2-FC88-43EE-AB1F-D16F19B1339C}" type="presParOf" srcId="{D83E4400-09DA-418A-9013-970875240A43}" destId="{E96D58C1-231A-4646-A1CF-4C10BAC4EE42}" srcOrd="1" destOrd="0" presId="urn:microsoft.com/office/officeart/2009/3/layout/StepUpProcess"/>
    <dgm:cxn modelId="{C18A65E0-F0CB-4410-BC9D-8BCB3842FD82}" type="presParOf" srcId="{D83E4400-09DA-418A-9013-970875240A43}" destId="{922BF642-6933-4370-95A2-BA2D7ED8D7C4}" srcOrd="2" destOrd="0" presId="urn:microsoft.com/office/officeart/2009/3/layout/StepUpProcess"/>
    <dgm:cxn modelId="{79DFEAB5-5F40-4E69-B39E-729E9AC76481}" type="presParOf" srcId="{9EBEC4D0-0974-40B6-AA11-351544BFF07A}" destId="{0D4A0952-FB5F-4666-BC8A-E39FB496888A}" srcOrd="1" destOrd="0" presId="urn:microsoft.com/office/officeart/2009/3/layout/StepUpProcess"/>
    <dgm:cxn modelId="{B65A5EE2-2843-418C-BEFD-346BD99748E6}" type="presParOf" srcId="{0D4A0952-FB5F-4666-BC8A-E39FB496888A}" destId="{5EADA11F-3648-4196-98DF-A87FBB728DD0}" srcOrd="0" destOrd="0" presId="urn:microsoft.com/office/officeart/2009/3/layout/StepUpProcess"/>
    <dgm:cxn modelId="{A5475C33-A191-4866-B81D-B4387B38459F}" type="presParOf" srcId="{9EBEC4D0-0974-40B6-AA11-351544BFF07A}" destId="{53B4C326-1D08-41C3-9E0E-BF4D5572E1C9}" srcOrd="2" destOrd="0" presId="urn:microsoft.com/office/officeart/2009/3/layout/StepUpProcess"/>
    <dgm:cxn modelId="{57A3DA9F-7261-4457-9BEB-F6B35B218BC8}" type="presParOf" srcId="{53B4C326-1D08-41C3-9E0E-BF4D5572E1C9}" destId="{9A0A9B80-D4AB-4BDE-A5EE-AE43AB6F6F42}" srcOrd="0" destOrd="0" presId="urn:microsoft.com/office/officeart/2009/3/layout/StepUpProcess"/>
    <dgm:cxn modelId="{B213957C-C5CA-4A7D-B784-2B1DA87FD3F5}" type="presParOf" srcId="{53B4C326-1D08-41C3-9E0E-BF4D5572E1C9}" destId="{9C061C62-9FB7-4081-A1D9-EE5C8512A4DF}" srcOrd="1" destOrd="0" presId="urn:microsoft.com/office/officeart/2009/3/layout/StepUpProcess"/>
    <dgm:cxn modelId="{C1DA03FC-56E1-45C3-9698-C451344D4AE6}" type="presParOf" srcId="{53B4C326-1D08-41C3-9E0E-BF4D5572E1C9}" destId="{37C10012-5D3B-4134-A15E-A98E337A698F}" srcOrd="2" destOrd="0" presId="urn:microsoft.com/office/officeart/2009/3/layout/StepUpProcess"/>
    <dgm:cxn modelId="{701CDA89-69BA-460C-84F8-3698D2371C4E}" type="presParOf" srcId="{9EBEC4D0-0974-40B6-AA11-351544BFF07A}" destId="{C2FE95AD-9BC3-4375-88C3-4F865BED317C}" srcOrd="3" destOrd="0" presId="urn:microsoft.com/office/officeart/2009/3/layout/StepUpProcess"/>
    <dgm:cxn modelId="{391B270F-1010-4F47-B893-530E78750A99}" type="presParOf" srcId="{C2FE95AD-9BC3-4375-88C3-4F865BED317C}" destId="{6A3B2C2E-0357-4942-9A4A-4135A2D00BE6}" srcOrd="0" destOrd="0" presId="urn:microsoft.com/office/officeart/2009/3/layout/StepUpProcess"/>
    <dgm:cxn modelId="{CC92FBAC-FEAD-42E9-8302-58F09D80B85E}" type="presParOf" srcId="{9EBEC4D0-0974-40B6-AA11-351544BFF07A}" destId="{05E6881D-0BEA-40EE-85F2-3E5BB0A6F0FF}" srcOrd="4" destOrd="0" presId="urn:microsoft.com/office/officeart/2009/3/layout/StepUpProcess"/>
    <dgm:cxn modelId="{C9A5F971-1AF8-4A8B-B9F4-69267D77A242}" type="presParOf" srcId="{05E6881D-0BEA-40EE-85F2-3E5BB0A6F0FF}" destId="{8AAE9118-E37D-40B4-B824-7FA0147A7F2E}" srcOrd="0" destOrd="0" presId="urn:microsoft.com/office/officeart/2009/3/layout/StepUpProcess"/>
    <dgm:cxn modelId="{CA626C24-C286-4526-960E-AC60222BBB36}" type="presParOf" srcId="{05E6881D-0BEA-40EE-85F2-3E5BB0A6F0FF}" destId="{845B7559-32F1-4C18-81F5-CFB64AF5757F}" srcOrd="1" destOrd="0" presId="urn:microsoft.com/office/officeart/2009/3/layout/StepUpProcess"/>
    <dgm:cxn modelId="{E2F276F8-D8DF-4EE6-ADFC-4C12F1DF60C6}" type="presParOf" srcId="{05E6881D-0BEA-40EE-85F2-3E5BB0A6F0FF}" destId="{3A7C3E03-B70E-414F-9EBC-F334B6C906A9}" srcOrd="2" destOrd="0" presId="urn:microsoft.com/office/officeart/2009/3/layout/StepUpProcess"/>
    <dgm:cxn modelId="{013AE4E4-5451-4962-B47E-0F8D487847F8}" type="presParOf" srcId="{9EBEC4D0-0974-40B6-AA11-351544BFF07A}" destId="{08DB3AB8-1ED4-40EA-91BD-1187BABA2FED}" srcOrd="5" destOrd="0" presId="urn:microsoft.com/office/officeart/2009/3/layout/StepUpProcess"/>
    <dgm:cxn modelId="{D87EA333-2C17-40DC-9EB8-F5D99E787E4F}" type="presParOf" srcId="{08DB3AB8-1ED4-40EA-91BD-1187BABA2FED}" destId="{B345E5BF-5BAA-414D-9136-8FAE0A53A6A6}" srcOrd="0" destOrd="0" presId="urn:microsoft.com/office/officeart/2009/3/layout/StepUpProcess"/>
    <dgm:cxn modelId="{5298759D-C5F1-4FD5-92D2-738C06820C7A}" type="presParOf" srcId="{9EBEC4D0-0974-40B6-AA11-351544BFF07A}" destId="{D9CAF995-584B-44B0-86C9-F4CFE41F23DB}" srcOrd="6" destOrd="0" presId="urn:microsoft.com/office/officeart/2009/3/layout/StepUpProcess"/>
    <dgm:cxn modelId="{D0CB731E-4E6B-4A61-A0D6-E4BFD057F414}" type="presParOf" srcId="{D9CAF995-584B-44B0-86C9-F4CFE41F23DB}" destId="{0C866946-C85E-4C47-9F86-8B243C68F2C9}" srcOrd="0" destOrd="0" presId="urn:microsoft.com/office/officeart/2009/3/layout/StepUpProcess"/>
    <dgm:cxn modelId="{E39546CD-6A6A-47BF-8C3A-A4FECE234EC6}" type="presParOf" srcId="{D9CAF995-584B-44B0-86C9-F4CFE41F23DB}" destId="{859214B4-2321-4EAD-AD88-6C2C149773A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BF97B9-5971-4641-9FEC-C7B6355E2D68}"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09FE6177-AD69-4006-8CF4-5153D1A3C0B6}">
      <dgm:prSet phldrT="[Text]" custT="1"/>
      <dgm:spPr/>
      <dgm:t>
        <a:bodyPr/>
        <a:lstStyle/>
        <a:p>
          <a:r>
            <a:rPr lang="en-US" sz="1300" b="1" dirty="0"/>
            <a:t>First Reporter/ Chief Development Officer </a:t>
          </a:r>
          <a:r>
            <a:rPr lang="en-US" sz="1300" b="0" dirty="0"/>
            <a:t>receives</a:t>
          </a:r>
          <a:r>
            <a:rPr lang="en-US" sz="1300" dirty="0"/>
            <a:t> notice from the </a:t>
          </a:r>
          <a:r>
            <a:rPr lang="en-US" sz="1300" dirty="0">
              <a:solidFill>
                <a:schemeClr val="tx1"/>
              </a:solidFill>
            </a:rPr>
            <a:t>partner. The partner asks to step aside from Blue Meridian during </a:t>
          </a:r>
          <a:r>
            <a:rPr lang="en-US" sz="1300" dirty="0"/>
            <a:t>pendency of case. Tia completes crisis fact sheet and alerts Susan and Micah. </a:t>
          </a:r>
        </a:p>
        <a:p>
          <a:r>
            <a:rPr lang="en-US" sz="1300" dirty="0"/>
            <a:t>Susan and Micah determine this is a crisis and convene CCT (including Tia).</a:t>
          </a:r>
        </a:p>
      </dgm:t>
    </dgm:pt>
    <dgm:pt modelId="{37572F48-13E8-4F2B-BD5B-348B822CE988}" type="parTrans" cxnId="{ACC978F8-BCAA-4F16-B5CE-5D064D40E94E}">
      <dgm:prSet/>
      <dgm:spPr/>
      <dgm:t>
        <a:bodyPr/>
        <a:lstStyle/>
        <a:p>
          <a:endParaRPr lang="en-US"/>
        </a:p>
      </dgm:t>
    </dgm:pt>
    <dgm:pt modelId="{3796F4F2-1CDE-4676-9B4F-6F84B904D0A2}" type="sibTrans" cxnId="{ACC978F8-BCAA-4F16-B5CE-5D064D40E94E}">
      <dgm:prSet/>
      <dgm:spPr/>
      <dgm:t>
        <a:bodyPr/>
        <a:lstStyle/>
        <a:p>
          <a:endParaRPr lang="en-US"/>
        </a:p>
      </dgm:t>
    </dgm:pt>
    <dgm:pt modelId="{5312D53D-6F01-40A0-A04F-CF81529E9A27}">
      <dgm:prSet phldrT="[Text]" custT="1"/>
      <dgm:spPr/>
      <dgm:t>
        <a:bodyPr/>
        <a:lstStyle/>
        <a:p>
          <a:r>
            <a:rPr lang="en-US" sz="1400" b="1" dirty="0"/>
            <a:t>CCT meets and develops response plan. </a:t>
          </a:r>
        </a:p>
        <a:p>
          <a:r>
            <a:rPr lang="en-US" sz="1300" b="0" dirty="0"/>
            <a:t>Learns from Tia that SEC plans to announce enforcement action the following day. CCT rates the crisis a 3-4.</a:t>
          </a:r>
        </a:p>
        <a:p>
          <a:r>
            <a:rPr lang="en-US" sz="1300" b="0" dirty="0"/>
            <a:t>Comms develops media statement, based on pre-existing holding statement.  Comms plans to distribute following SEC announcement.</a:t>
          </a:r>
        </a:p>
        <a:p>
          <a:r>
            <a:rPr lang="en-US" sz="1300" b="0" dirty="0"/>
            <a:t>Nancy approves response plan.</a:t>
          </a:r>
        </a:p>
      </dgm:t>
    </dgm:pt>
    <dgm:pt modelId="{5ED8B8FE-74AE-446C-B6E5-A09A8D521322}" type="parTrans" cxnId="{4DA48D2C-FE97-469F-8C77-4E263862FE5E}">
      <dgm:prSet/>
      <dgm:spPr/>
      <dgm:t>
        <a:bodyPr/>
        <a:lstStyle/>
        <a:p>
          <a:endParaRPr lang="en-US"/>
        </a:p>
      </dgm:t>
    </dgm:pt>
    <dgm:pt modelId="{8D7DE3E0-88DD-401C-92E7-D30583B6CB5F}" type="sibTrans" cxnId="{4DA48D2C-FE97-469F-8C77-4E263862FE5E}">
      <dgm:prSet/>
      <dgm:spPr/>
      <dgm:t>
        <a:bodyPr/>
        <a:lstStyle/>
        <a:p>
          <a:endParaRPr lang="en-US"/>
        </a:p>
      </dgm:t>
    </dgm:pt>
    <dgm:pt modelId="{2AF326CA-5B15-4E29-96F8-601799774553}">
      <dgm:prSet phldrT="[Text]" custT="1"/>
      <dgm:spPr/>
      <dgm:t>
        <a:bodyPr/>
        <a:lstStyle/>
        <a:p>
          <a:r>
            <a:rPr lang="en-US" sz="1400" b="1" dirty="0"/>
            <a:t>Blue Meridian executes response plan</a:t>
          </a:r>
          <a:r>
            <a:rPr lang="en-US" sz="1400" dirty="0"/>
            <a:t>:</a:t>
          </a:r>
        </a:p>
        <a:p>
          <a:r>
            <a:rPr lang="en-US" sz="1300" dirty="0"/>
            <a:t>Comms delivers statement to its broad media list following SEC announcement.</a:t>
          </a:r>
        </a:p>
        <a:p>
          <a:r>
            <a:rPr lang="en-US" sz="1300" dirty="0"/>
            <a:t>Tia recommends sending variation of statement to all partners. Comms assists with drafting. </a:t>
          </a:r>
          <a:r>
            <a:rPr lang="en-US" sz="1300" b="0" dirty="0"/>
            <a:t>N</a:t>
          </a:r>
          <a:r>
            <a:rPr lang="en-US" sz="1300" dirty="0"/>
            <a:t>ancy approves and Tia distributes.</a:t>
          </a:r>
        </a:p>
        <a:p>
          <a:r>
            <a:rPr lang="en-US" sz="1300" dirty="0"/>
            <a:t>Comms does not </a:t>
          </a:r>
          <a:r>
            <a:rPr lang="en-US" sz="1300" dirty="0">
              <a:solidFill>
                <a:schemeClr val="tx1"/>
              </a:solidFill>
            </a:rPr>
            <a:t>recommend posting on social media </a:t>
          </a:r>
          <a:r>
            <a:rPr lang="en-US" sz="1300" dirty="0"/>
            <a:t>about crisis.</a:t>
          </a:r>
        </a:p>
      </dgm:t>
    </dgm:pt>
    <dgm:pt modelId="{1C35E041-7177-418F-B3BC-172841A97FAC}" type="parTrans" cxnId="{FC372A98-2D82-48B3-A23E-904B53EBD690}">
      <dgm:prSet/>
      <dgm:spPr/>
      <dgm:t>
        <a:bodyPr/>
        <a:lstStyle/>
        <a:p>
          <a:endParaRPr lang="en-US"/>
        </a:p>
      </dgm:t>
    </dgm:pt>
    <dgm:pt modelId="{0A0E2599-B2FF-4B26-A7EF-898594A4AFA2}" type="sibTrans" cxnId="{FC372A98-2D82-48B3-A23E-904B53EBD690}">
      <dgm:prSet/>
      <dgm:spPr/>
      <dgm:t>
        <a:bodyPr/>
        <a:lstStyle/>
        <a:p>
          <a:endParaRPr lang="en-US"/>
        </a:p>
      </dgm:t>
    </dgm:pt>
    <dgm:pt modelId="{A19CFA74-EAA7-46CA-9F6F-C12F70488376}">
      <dgm:prSet phldrT="[Text]" custT="1"/>
      <dgm:spPr/>
      <dgm:t>
        <a:bodyPr/>
        <a:lstStyle/>
        <a:p>
          <a:r>
            <a:rPr lang="en-US" sz="1300" b="1" dirty="0"/>
            <a:t>Media monitoring </a:t>
          </a:r>
          <a:r>
            <a:rPr lang="en-US" sz="1300" b="0" dirty="0"/>
            <a:t>reports very significant media coverage following the SEC announcement, both online and traditional media.</a:t>
          </a:r>
        </a:p>
        <a:p>
          <a:r>
            <a:rPr lang="en-US" sz="1300" b="0" dirty="0"/>
            <a:t>Several stories mention Blue Meridian and include excerpts from BMP statement but no stories feature the organization prominently. </a:t>
          </a:r>
        </a:p>
        <a:p>
          <a:r>
            <a:rPr lang="en-US" sz="1300" b="0" dirty="0"/>
            <a:t>Comms disbands the CCT.</a:t>
          </a:r>
          <a:endParaRPr lang="en-US" sz="1300" dirty="0"/>
        </a:p>
      </dgm:t>
    </dgm:pt>
    <dgm:pt modelId="{92501429-45B7-4391-8F40-573498BB8927}" type="parTrans" cxnId="{FABA0260-04D5-40F5-A064-29B7D92AED21}">
      <dgm:prSet/>
      <dgm:spPr/>
      <dgm:t>
        <a:bodyPr/>
        <a:lstStyle/>
        <a:p>
          <a:endParaRPr lang="en-US"/>
        </a:p>
      </dgm:t>
    </dgm:pt>
    <dgm:pt modelId="{008997B4-0D22-4FEA-862B-9D1C26D48F3C}" type="sibTrans" cxnId="{FABA0260-04D5-40F5-A064-29B7D92AED21}">
      <dgm:prSet/>
      <dgm:spPr/>
      <dgm:t>
        <a:bodyPr/>
        <a:lstStyle/>
        <a:p>
          <a:endParaRPr lang="en-US"/>
        </a:p>
      </dgm:t>
    </dgm:pt>
    <dgm:pt modelId="{9EBEC4D0-0974-40B6-AA11-351544BFF07A}" type="pres">
      <dgm:prSet presAssocID="{5DBF97B9-5971-4641-9FEC-C7B6355E2D68}" presName="rootnode" presStyleCnt="0">
        <dgm:presLayoutVars>
          <dgm:chMax/>
          <dgm:chPref/>
          <dgm:dir/>
          <dgm:animLvl val="lvl"/>
        </dgm:presLayoutVars>
      </dgm:prSet>
      <dgm:spPr/>
    </dgm:pt>
    <dgm:pt modelId="{D83E4400-09DA-418A-9013-970875240A43}" type="pres">
      <dgm:prSet presAssocID="{09FE6177-AD69-4006-8CF4-5153D1A3C0B6}" presName="composite" presStyleCnt="0"/>
      <dgm:spPr/>
    </dgm:pt>
    <dgm:pt modelId="{A606D942-D36F-4D12-9811-1FE661FD46F6}" type="pres">
      <dgm:prSet presAssocID="{09FE6177-AD69-4006-8CF4-5153D1A3C0B6}" presName="LShape" presStyleLbl="alignNode1" presStyleIdx="0" presStyleCnt="7"/>
      <dgm:spPr/>
    </dgm:pt>
    <dgm:pt modelId="{E96D58C1-231A-4646-A1CF-4C10BAC4EE42}" type="pres">
      <dgm:prSet presAssocID="{09FE6177-AD69-4006-8CF4-5153D1A3C0B6}" presName="ParentText" presStyleLbl="revTx" presStyleIdx="0" presStyleCnt="4">
        <dgm:presLayoutVars>
          <dgm:chMax val="0"/>
          <dgm:chPref val="0"/>
          <dgm:bulletEnabled val="1"/>
        </dgm:presLayoutVars>
      </dgm:prSet>
      <dgm:spPr/>
    </dgm:pt>
    <dgm:pt modelId="{922BF642-6933-4370-95A2-BA2D7ED8D7C4}" type="pres">
      <dgm:prSet presAssocID="{09FE6177-AD69-4006-8CF4-5153D1A3C0B6}" presName="Triangle" presStyleLbl="alignNode1" presStyleIdx="1" presStyleCnt="7"/>
      <dgm:spPr/>
    </dgm:pt>
    <dgm:pt modelId="{0D4A0952-FB5F-4666-BC8A-E39FB496888A}" type="pres">
      <dgm:prSet presAssocID="{3796F4F2-1CDE-4676-9B4F-6F84B904D0A2}" presName="sibTrans" presStyleCnt="0"/>
      <dgm:spPr/>
    </dgm:pt>
    <dgm:pt modelId="{5EADA11F-3648-4196-98DF-A87FBB728DD0}" type="pres">
      <dgm:prSet presAssocID="{3796F4F2-1CDE-4676-9B4F-6F84B904D0A2}" presName="space" presStyleCnt="0"/>
      <dgm:spPr/>
    </dgm:pt>
    <dgm:pt modelId="{53B4C326-1D08-41C3-9E0E-BF4D5572E1C9}" type="pres">
      <dgm:prSet presAssocID="{5312D53D-6F01-40A0-A04F-CF81529E9A27}" presName="composite" presStyleCnt="0"/>
      <dgm:spPr/>
    </dgm:pt>
    <dgm:pt modelId="{9A0A9B80-D4AB-4BDE-A5EE-AE43AB6F6F42}" type="pres">
      <dgm:prSet presAssocID="{5312D53D-6F01-40A0-A04F-CF81529E9A27}" presName="LShape" presStyleLbl="alignNode1" presStyleIdx="2" presStyleCnt="7" custLinFactNeighborY="0"/>
      <dgm:spPr/>
    </dgm:pt>
    <dgm:pt modelId="{9C061C62-9FB7-4081-A1D9-EE5C8512A4DF}" type="pres">
      <dgm:prSet presAssocID="{5312D53D-6F01-40A0-A04F-CF81529E9A27}" presName="ParentText" presStyleLbl="revTx" presStyleIdx="1" presStyleCnt="4" custScaleY="175738" custLinFactNeighborX="-832" custLinFactNeighborY="42370">
        <dgm:presLayoutVars>
          <dgm:chMax val="0"/>
          <dgm:chPref val="0"/>
          <dgm:bulletEnabled val="1"/>
        </dgm:presLayoutVars>
      </dgm:prSet>
      <dgm:spPr/>
    </dgm:pt>
    <dgm:pt modelId="{37C10012-5D3B-4134-A15E-A98E337A698F}" type="pres">
      <dgm:prSet presAssocID="{5312D53D-6F01-40A0-A04F-CF81529E9A27}" presName="Triangle" presStyleLbl="alignNode1" presStyleIdx="3" presStyleCnt="7"/>
      <dgm:spPr/>
    </dgm:pt>
    <dgm:pt modelId="{C2FE95AD-9BC3-4375-88C3-4F865BED317C}" type="pres">
      <dgm:prSet presAssocID="{8D7DE3E0-88DD-401C-92E7-D30583B6CB5F}" presName="sibTrans" presStyleCnt="0"/>
      <dgm:spPr/>
    </dgm:pt>
    <dgm:pt modelId="{6A3B2C2E-0357-4942-9A4A-4135A2D00BE6}" type="pres">
      <dgm:prSet presAssocID="{8D7DE3E0-88DD-401C-92E7-D30583B6CB5F}" presName="space" presStyleCnt="0"/>
      <dgm:spPr/>
    </dgm:pt>
    <dgm:pt modelId="{05E6881D-0BEA-40EE-85F2-3E5BB0A6F0FF}" type="pres">
      <dgm:prSet presAssocID="{2AF326CA-5B15-4E29-96F8-601799774553}" presName="composite" presStyleCnt="0"/>
      <dgm:spPr/>
    </dgm:pt>
    <dgm:pt modelId="{8AAE9118-E37D-40B4-B824-7FA0147A7F2E}" type="pres">
      <dgm:prSet presAssocID="{2AF326CA-5B15-4E29-96F8-601799774553}" presName="LShape" presStyleLbl="alignNode1" presStyleIdx="4" presStyleCnt="7"/>
      <dgm:spPr/>
    </dgm:pt>
    <dgm:pt modelId="{845B7559-32F1-4C18-81F5-CFB64AF5757F}" type="pres">
      <dgm:prSet presAssocID="{2AF326CA-5B15-4E29-96F8-601799774553}" presName="ParentText" presStyleLbl="revTx" presStyleIdx="2" presStyleCnt="4">
        <dgm:presLayoutVars>
          <dgm:chMax val="0"/>
          <dgm:chPref val="0"/>
          <dgm:bulletEnabled val="1"/>
        </dgm:presLayoutVars>
      </dgm:prSet>
      <dgm:spPr/>
    </dgm:pt>
    <dgm:pt modelId="{3A7C3E03-B70E-414F-9EBC-F334B6C906A9}" type="pres">
      <dgm:prSet presAssocID="{2AF326CA-5B15-4E29-96F8-601799774553}" presName="Triangle" presStyleLbl="alignNode1" presStyleIdx="5" presStyleCnt="7"/>
      <dgm:spPr/>
    </dgm:pt>
    <dgm:pt modelId="{08DB3AB8-1ED4-40EA-91BD-1187BABA2FED}" type="pres">
      <dgm:prSet presAssocID="{0A0E2599-B2FF-4B26-A7EF-898594A4AFA2}" presName="sibTrans" presStyleCnt="0"/>
      <dgm:spPr/>
    </dgm:pt>
    <dgm:pt modelId="{B345E5BF-5BAA-414D-9136-8FAE0A53A6A6}" type="pres">
      <dgm:prSet presAssocID="{0A0E2599-B2FF-4B26-A7EF-898594A4AFA2}" presName="space" presStyleCnt="0"/>
      <dgm:spPr/>
    </dgm:pt>
    <dgm:pt modelId="{D9CAF995-584B-44B0-86C9-F4CFE41F23DB}" type="pres">
      <dgm:prSet presAssocID="{A19CFA74-EAA7-46CA-9F6F-C12F70488376}" presName="composite" presStyleCnt="0"/>
      <dgm:spPr/>
    </dgm:pt>
    <dgm:pt modelId="{0C866946-C85E-4C47-9F86-8B243C68F2C9}" type="pres">
      <dgm:prSet presAssocID="{A19CFA74-EAA7-46CA-9F6F-C12F70488376}" presName="LShape" presStyleLbl="alignNode1" presStyleIdx="6" presStyleCnt="7"/>
      <dgm:spPr/>
    </dgm:pt>
    <dgm:pt modelId="{859214B4-2321-4EAD-AD88-6C2C149773A5}" type="pres">
      <dgm:prSet presAssocID="{A19CFA74-EAA7-46CA-9F6F-C12F70488376}" presName="ParentText" presStyleLbl="revTx" presStyleIdx="3" presStyleCnt="4">
        <dgm:presLayoutVars>
          <dgm:chMax val="0"/>
          <dgm:chPref val="0"/>
          <dgm:bulletEnabled val="1"/>
        </dgm:presLayoutVars>
      </dgm:prSet>
      <dgm:spPr/>
    </dgm:pt>
  </dgm:ptLst>
  <dgm:cxnLst>
    <dgm:cxn modelId="{C4549225-23F2-4AB3-B3D5-22AA428F503D}" type="presOf" srcId="{5DBF97B9-5971-4641-9FEC-C7B6355E2D68}" destId="{9EBEC4D0-0974-40B6-AA11-351544BFF07A}" srcOrd="0" destOrd="0" presId="urn:microsoft.com/office/officeart/2009/3/layout/StepUpProcess"/>
    <dgm:cxn modelId="{4DA48D2C-FE97-469F-8C77-4E263862FE5E}" srcId="{5DBF97B9-5971-4641-9FEC-C7B6355E2D68}" destId="{5312D53D-6F01-40A0-A04F-CF81529E9A27}" srcOrd="1" destOrd="0" parTransId="{5ED8B8FE-74AE-446C-B6E5-A09A8D521322}" sibTransId="{8D7DE3E0-88DD-401C-92E7-D30583B6CB5F}"/>
    <dgm:cxn modelId="{751E235D-48AE-4C29-A074-C66A3BF0E2FA}" type="presOf" srcId="{A19CFA74-EAA7-46CA-9F6F-C12F70488376}" destId="{859214B4-2321-4EAD-AD88-6C2C149773A5}" srcOrd="0" destOrd="0" presId="urn:microsoft.com/office/officeart/2009/3/layout/StepUpProcess"/>
    <dgm:cxn modelId="{FABA0260-04D5-40F5-A064-29B7D92AED21}" srcId="{5DBF97B9-5971-4641-9FEC-C7B6355E2D68}" destId="{A19CFA74-EAA7-46CA-9F6F-C12F70488376}" srcOrd="3" destOrd="0" parTransId="{92501429-45B7-4391-8F40-573498BB8927}" sibTransId="{008997B4-0D22-4FEA-862B-9D1C26D48F3C}"/>
    <dgm:cxn modelId="{71AC8264-3615-4B52-AE00-F48E1FD4BF72}" type="presOf" srcId="{09FE6177-AD69-4006-8CF4-5153D1A3C0B6}" destId="{E96D58C1-231A-4646-A1CF-4C10BAC4EE42}" srcOrd="0" destOrd="0" presId="urn:microsoft.com/office/officeart/2009/3/layout/StepUpProcess"/>
    <dgm:cxn modelId="{FC372A98-2D82-48B3-A23E-904B53EBD690}" srcId="{5DBF97B9-5971-4641-9FEC-C7B6355E2D68}" destId="{2AF326CA-5B15-4E29-96F8-601799774553}" srcOrd="2" destOrd="0" parTransId="{1C35E041-7177-418F-B3BC-172841A97FAC}" sibTransId="{0A0E2599-B2FF-4B26-A7EF-898594A4AFA2}"/>
    <dgm:cxn modelId="{F92C74D0-DF3F-4C93-91EF-046065FE7BC3}" type="presOf" srcId="{5312D53D-6F01-40A0-A04F-CF81529E9A27}" destId="{9C061C62-9FB7-4081-A1D9-EE5C8512A4DF}" srcOrd="0" destOrd="0" presId="urn:microsoft.com/office/officeart/2009/3/layout/StepUpProcess"/>
    <dgm:cxn modelId="{D2D8BED1-879F-4155-B99C-2E26C04B723D}" type="presOf" srcId="{2AF326CA-5B15-4E29-96F8-601799774553}" destId="{845B7559-32F1-4C18-81F5-CFB64AF5757F}" srcOrd="0" destOrd="0" presId="urn:microsoft.com/office/officeart/2009/3/layout/StepUpProcess"/>
    <dgm:cxn modelId="{ACC978F8-BCAA-4F16-B5CE-5D064D40E94E}" srcId="{5DBF97B9-5971-4641-9FEC-C7B6355E2D68}" destId="{09FE6177-AD69-4006-8CF4-5153D1A3C0B6}" srcOrd="0" destOrd="0" parTransId="{37572F48-13E8-4F2B-BD5B-348B822CE988}" sibTransId="{3796F4F2-1CDE-4676-9B4F-6F84B904D0A2}"/>
    <dgm:cxn modelId="{F87E529B-B5AB-49BB-941D-826DE7FB9906}" type="presParOf" srcId="{9EBEC4D0-0974-40B6-AA11-351544BFF07A}" destId="{D83E4400-09DA-418A-9013-970875240A43}" srcOrd="0" destOrd="0" presId="urn:microsoft.com/office/officeart/2009/3/layout/StepUpProcess"/>
    <dgm:cxn modelId="{EE1CDA80-8D02-49EF-9D08-AA6A2DE5A89B}" type="presParOf" srcId="{D83E4400-09DA-418A-9013-970875240A43}" destId="{A606D942-D36F-4D12-9811-1FE661FD46F6}" srcOrd="0" destOrd="0" presId="urn:microsoft.com/office/officeart/2009/3/layout/StepUpProcess"/>
    <dgm:cxn modelId="{F29687C2-FC88-43EE-AB1F-D16F19B1339C}" type="presParOf" srcId="{D83E4400-09DA-418A-9013-970875240A43}" destId="{E96D58C1-231A-4646-A1CF-4C10BAC4EE42}" srcOrd="1" destOrd="0" presId="urn:microsoft.com/office/officeart/2009/3/layout/StepUpProcess"/>
    <dgm:cxn modelId="{C18A65E0-F0CB-4410-BC9D-8BCB3842FD82}" type="presParOf" srcId="{D83E4400-09DA-418A-9013-970875240A43}" destId="{922BF642-6933-4370-95A2-BA2D7ED8D7C4}" srcOrd="2" destOrd="0" presId="urn:microsoft.com/office/officeart/2009/3/layout/StepUpProcess"/>
    <dgm:cxn modelId="{79DFEAB5-5F40-4E69-B39E-729E9AC76481}" type="presParOf" srcId="{9EBEC4D0-0974-40B6-AA11-351544BFF07A}" destId="{0D4A0952-FB5F-4666-BC8A-E39FB496888A}" srcOrd="1" destOrd="0" presId="urn:microsoft.com/office/officeart/2009/3/layout/StepUpProcess"/>
    <dgm:cxn modelId="{B65A5EE2-2843-418C-BEFD-346BD99748E6}" type="presParOf" srcId="{0D4A0952-FB5F-4666-BC8A-E39FB496888A}" destId="{5EADA11F-3648-4196-98DF-A87FBB728DD0}" srcOrd="0" destOrd="0" presId="urn:microsoft.com/office/officeart/2009/3/layout/StepUpProcess"/>
    <dgm:cxn modelId="{A5475C33-A191-4866-B81D-B4387B38459F}" type="presParOf" srcId="{9EBEC4D0-0974-40B6-AA11-351544BFF07A}" destId="{53B4C326-1D08-41C3-9E0E-BF4D5572E1C9}" srcOrd="2" destOrd="0" presId="urn:microsoft.com/office/officeart/2009/3/layout/StepUpProcess"/>
    <dgm:cxn modelId="{57A3DA9F-7261-4457-9BEB-F6B35B218BC8}" type="presParOf" srcId="{53B4C326-1D08-41C3-9E0E-BF4D5572E1C9}" destId="{9A0A9B80-D4AB-4BDE-A5EE-AE43AB6F6F42}" srcOrd="0" destOrd="0" presId="urn:microsoft.com/office/officeart/2009/3/layout/StepUpProcess"/>
    <dgm:cxn modelId="{B213957C-C5CA-4A7D-B784-2B1DA87FD3F5}" type="presParOf" srcId="{53B4C326-1D08-41C3-9E0E-BF4D5572E1C9}" destId="{9C061C62-9FB7-4081-A1D9-EE5C8512A4DF}" srcOrd="1" destOrd="0" presId="urn:microsoft.com/office/officeart/2009/3/layout/StepUpProcess"/>
    <dgm:cxn modelId="{C1DA03FC-56E1-45C3-9698-C451344D4AE6}" type="presParOf" srcId="{53B4C326-1D08-41C3-9E0E-BF4D5572E1C9}" destId="{37C10012-5D3B-4134-A15E-A98E337A698F}" srcOrd="2" destOrd="0" presId="urn:microsoft.com/office/officeart/2009/3/layout/StepUpProcess"/>
    <dgm:cxn modelId="{701CDA89-69BA-460C-84F8-3698D2371C4E}" type="presParOf" srcId="{9EBEC4D0-0974-40B6-AA11-351544BFF07A}" destId="{C2FE95AD-9BC3-4375-88C3-4F865BED317C}" srcOrd="3" destOrd="0" presId="urn:microsoft.com/office/officeart/2009/3/layout/StepUpProcess"/>
    <dgm:cxn modelId="{391B270F-1010-4F47-B893-530E78750A99}" type="presParOf" srcId="{C2FE95AD-9BC3-4375-88C3-4F865BED317C}" destId="{6A3B2C2E-0357-4942-9A4A-4135A2D00BE6}" srcOrd="0" destOrd="0" presId="urn:microsoft.com/office/officeart/2009/3/layout/StepUpProcess"/>
    <dgm:cxn modelId="{CC92FBAC-FEAD-42E9-8302-58F09D80B85E}" type="presParOf" srcId="{9EBEC4D0-0974-40B6-AA11-351544BFF07A}" destId="{05E6881D-0BEA-40EE-85F2-3E5BB0A6F0FF}" srcOrd="4" destOrd="0" presId="urn:microsoft.com/office/officeart/2009/3/layout/StepUpProcess"/>
    <dgm:cxn modelId="{C9A5F971-1AF8-4A8B-B9F4-69267D77A242}" type="presParOf" srcId="{05E6881D-0BEA-40EE-85F2-3E5BB0A6F0FF}" destId="{8AAE9118-E37D-40B4-B824-7FA0147A7F2E}" srcOrd="0" destOrd="0" presId="urn:microsoft.com/office/officeart/2009/3/layout/StepUpProcess"/>
    <dgm:cxn modelId="{CA626C24-C286-4526-960E-AC60222BBB36}" type="presParOf" srcId="{05E6881D-0BEA-40EE-85F2-3E5BB0A6F0FF}" destId="{845B7559-32F1-4C18-81F5-CFB64AF5757F}" srcOrd="1" destOrd="0" presId="urn:microsoft.com/office/officeart/2009/3/layout/StepUpProcess"/>
    <dgm:cxn modelId="{E2F276F8-D8DF-4EE6-ADFC-4C12F1DF60C6}" type="presParOf" srcId="{05E6881D-0BEA-40EE-85F2-3E5BB0A6F0FF}" destId="{3A7C3E03-B70E-414F-9EBC-F334B6C906A9}" srcOrd="2" destOrd="0" presId="urn:microsoft.com/office/officeart/2009/3/layout/StepUpProcess"/>
    <dgm:cxn modelId="{013AE4E4-5451-4962-B47E-0F8D487847F8}" type="presParOf" srcId="{9EBEC4D0-0974-40B6-AA11-351544BFF07A}" destId="{08DB3AB8-1ED4-40EA-91BD-1187BABA2FED}" srcOrd="5" destOrd="0" presId="urn:microsoft.com/office/officeart/2009/3/layout/StepUpProcess"/>
    <dgm:cxn modelId="{D87EA333-2C17-40DC-9EB8-F5D99E787E4F}" type="presParOf" srcId="{08DB3AB8-1ED4-40EA-91BD-1187BABA2FED}" destId="{B345E5BF-5BAA-414D-9136-8FAE0A53A6A6}" srcOrd="0" destOrd="0" presId="urn:microsoft.com/office/officeart/2009/3/layout/StepUpProcess"/>
    <dgm:cxn modelId="{5298759D-C5F1-4FD5-92D2-738C06820C7A}" type="presParOf" srcId="{9EBEC4D0-0974-40B6-AA11-351544BFF07A}" destId="{D9CAF995-584B-44B0-86C9-F4CFE41F23DB}" srcOrd="6" destOrd="0" presId="urn:microsoft.com/office/officeart/2009/3/layout/StepUpProcess"/>
    <dgm:cxn modelId="{D0CB731E-4E6B-4A61-A0D6-E4BFD057F414}" type="presParOf" srcId="{D9CAF995-584B-44B0-86C9-F4CFE41F23DB}" destId="{0C866946-C85E-4C47-9F86-8B243C68F2C9}" srcOrd="0" destOrd="0" presId="urn:microsoft.com/office/officeart/2009/3/layout/StepUpProcess"/>
    <dgm:cxn modelId="{E39546CD-6A6A-47BF-8C3A-A4FECE234EC6}" type="presParOf" srcId="{D9CAF995-584B-44B0-86C9-F4CFE41F23DB}" destId="{859214B4-2321-4EAD-AD88-6C2C149773A5}"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DBF97B9-5971-4641-9FEC-C7B6355E2D68}"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09FE6177-AD69-4006-8CF4-5153D1A3C0B6}">
      <dgm:prSet phldrT="[Text]" custT="1"/>
      <dgm:spPr/>
      <dgm:t>
        <a:bodyPr/>
        <a:lstStyle/>
        <a:p>
          <a:r>
            <a:rPr lang="en-US" sz="1300" b="1" dirty="0"/>
            <a:t>Blue Meridian learns </a:t>
          </a:r>
          <a:r>
            <a:rPr lang="en-US" sz="1300" b="0" dirty="0"/>
            <a:t>about the story from social media. It has received no communications from the committee. </a:t>
          </a:r>
          <a:endParaRPr lang="en-US" sz="1300" dirty="0"/>
        </a:p>
        <a:p>
          <a:r>
            <a:rPr lang="en-US" sz="1300" dirty="0"/>
            <a:t>Because there is no traditional “first reporter,” Comms completes crisis incident fact sheet and convenes crisis communications team, including Legal Counsel.</a:t>
          </a:r>
        </a:p>
      </dgm:t>
    </dgm:pt>
    <dgm:pt modelId="{37572F48-13E8-4F2B-BD5B-348B822CE988}" type="parTrans" cxnId="{ACC978F8-BCAA-4F16-B5CE-5D064D40E94E}">
      <dgm:prSet/>
      <dgm:spPr/>
      <dgm:t>
        <a:bodyPr/>
        <a:lstStyle/>
        <a:p>
          <a:endParaRPr lang="en-US"/>
        </a:p>
      </dgm:t>
    </dgm:pt>
    <dgm:pt modelId="{3796F4F2-1CDE-4676-9B4F-6F84B904D0A2}" type="sibTrans" cxnId="{ACC978F8-BCAA-4F16-B5CE-5D064D40E94E}">
      <dgm:prSet/>
      <dgm:spPr/>
      <dgm:t>
        <a:bodyPr/>
        <a:lstStyle/>
        <a:p>
          <a:endParaRPr lang="en-US"/>
        </a:p>
      </dgm:t>
    </dgm:pt>
    <dgm:pt modelId="{5312D53D-6F01-40A0-A04F-CF81529E9A27}">
      <dgm:prSet phldrT="[Text]" custT="1"/>
      <dgm:spPr/>
      <dgm:t>
        <a:bodyPr/>
        <a:lstStyle/>
        <a:p>
          <a:pPr marL="0" lvl="0" defTabSz="622300">
            <a:lnSpc>
              <a:spcPct val="90000"/>
            </a:lnSpc>
            <a:spcBef>
              <a:spcPct val="0"/>
            </a:spcBef>
            <a:spcAft>
              <a:spcPct val="35000"/>
            </a:spcAft>
            <a:buNone/>
          </a:pPr>
          <a:r>
            <a:rPr lang="en-US" sz="1400" b="1" dirty="0"/>
            <a:t>CCT meets and develops response plan. </a:t>
          </a:r>
        </a:p>
        <a:p>
          <a:pPr marL="0" lvl="0" defTabSz="622300">
            <a:lnSpc>
              <a:spcPct val="90000"/>
            </a:lnSpc>
            <a:spcBef>
              <a:spcPct val="0"/>
            </a:spcBef>
            <a:spcAft>
              <a:spcPct val="35000"/>
            </a:spcAft>
            <a:buNone/>
          </a:pPr>
          <a:r>
            <a:rPr lang="en-US" sz="1400" b="0" dirty="0"/>
            <a:t>The CCT rates the crisis a 4-5.</a:t>
          </a:r>
        </a:p>
        <a:p>
          <a:pPr marL="0" marR="0" lvl="0" indent="0" defTabSz="914400" eaLnBrk="1" fontAlgn="auto" latinLnBrk="0" hangingPunct="1">
            <a:lnSpc>
              <a:spcPct val="100000"/>
            </a:lnSpc>
            <a:spcBef>
              <a:spcPts val="0"/>
            </a:spcBef>
            <a:spcAft>
              <a:spcPts val="0"/>
            </a:spcAft>
            <a:buClrTx/>
            <a:buSzTx/>
            <a:buFontTx/>
            <a:buNone/>
            <a:tabLst/>
            <a:defRPr/>
          </a:pPr>
          <a:r>
            <a:rPr lang="en-US" sz="1300" b="0" dirty="0"/>
            <a:t>Working </a:t>
          </a:r>
          <a:r>
            <a:rPr lang="en-US" sz="1300" b="0" dirty="0" err="1"/>
            <a:t>toBecause</a:t>
          </a:r>
          <a:r>
            <a:rPr lang="en-US" sz="1300" b="0" dirty="0"/>
            <a:t> other philanthropies are involved, comms coordinates with industry peers.</a:t>
          </a:r>
        </a:p>
        <a:p>
          <a:pPr marL="0" lvl="0" defTabSz="622300">
            <a:lnSpc>
              <a:spcPct val="90000"/>
            </a:lnSpc>
            <a:spcBef>
              <a:spcPct val="0"/>
            </a:spcBef>
            <a:spcAft>
              <a:spcPct val="35000"/>
            </a:spcAft>
            <a:buNone/>
          </a:pPr>
          <a:r>
            <a:rPr lang="en-US" sz="1300" b="0" dirty="0"/>
            <a:t>Together, comms directors across organizations recommend an aggressive response, including traditional and social media. Nancy approves outreach plan. Legal counsel concurs.</a:t>
          </a:r>
        </a:p>
      </dgm:t>
    </dgm:pt>
    <dgm:pt modelId="{5ED8B8FE-74AE-446C-B6E5-A09A8D521322}" type="parTrans" cxnId="{4DA48D2C-FE97-469F-8C77-4E263862FE5E}">
      <dgm:prSet/>
      <dgm:spPr/>
      <dgm:t>
        <a:bodyPr/>
        <a:lstStyle/>
        <a:p>
          <a:endParaRPr lang="en-US"/>
        </a:p>
      </dgm:t>
    </dgm:pt>
    <dgm:pt modelId="{8D7DE3E0-88DD-401C-92E7-D30583B6CB5F}" type="sibTrans" cxnId="{4DA48D2C-FE97-469F-8C77-4E263862FE5E}">
      <dgm:prSet/>
      <dgm:spPr/>
      <dgm:t>
        <a:bodyPr/>
        <a:lstStyle/>
        <a:p>
          <a:endParaRPr lang="en-US"/>
        </a:p>
      </dgm:t>
    </dgm:pt>
    <dgm:pt modelId="{2AF326CA-5B15-4E29-96F8-601799774553}">
      <dgm:prSet phldrT="[Text]" custT="1"/>
      <dgm:spPr/>
      <dgm:t>
        <a:bodyPr/>
        <a:lstStyle/>
        <a:p>
          <a:r>
            <a:rPr lang="en-US" sz="1400" b="1" dirty="0"/>
            <a:t>Blue Meridian executes response plan</a:t>
          </a:r>
          <a:r>
            <a:rPr lang="en-US" sz="1400" dirty="0"/>
            <a:t>:</a:t>
          </a:r>
        </a:p>
        <a:p>
          <a:r>
            <a:rPr lang="en-US" sz="1300" dirty="0"/>
            <a:t>Comms delivers statement to media contacts, cosigned by multiple philanthropies.</a:t>
          </a:r>
        </a:p>
        <a:p>
          <a:r>
            <a:rPr lang="en-US" sz="1300" dirty="0"/>
            <a:t>Tia and Jim recommend advising all partners and investees. Comms assists in developing email message.</a:t>
          </a:r>
        </a:p>
        <a:p>
          <a:r>
            <a:rPr lang="en-US" sz="1300" dirty="0"/>
            <a:t>Comms posts messages on social media channels.</a:t>
          </a:r>
        </a:p>
      </dgm:t>
    </dgm:pt>
    <dgm:pt modelId="{1C35E041-7177-418F-B3BC-172841A97FAC}" type="parTrans" cxnId="{FC372A98-2D82-48B3-A23E-904B53EBD690}">
      <dgm:prSet/>
      <dgm:spPr/>
      <dgm:t>
        <a:bodyPr/>
        <a:lstStyle/>
        <a:p>
          <a:endParaRPr lang="en-US"/>
        </a:p>
      </dgm:t>
    </dgm:pt>
    <dgm:pt modelId="{0A0E2599-B2FF-4B26-A7EF-898594A4AFA2}" type="sibTrans" cxnId="{FC372A98-2D82-48B3-A23E-904B53EBD690}">
      <dgm:prSet/>
      <dgm:spPr/>
      <dgm:t>
        <a:bodyPr/>
        <a:lstStyle/>
        <a:p>
          <a:endParaRPr lang="en-US"/>
        </a:p>
      </dgm:t>
    </dgm:pt>
    <dgm:pt modelId="{A19CFA74-EAA7-46CA-9F6F-C12F70488376}">
      <dgm:prSet phldrT="[Text]" custT="1"/>
      <dgm:spPr/>
      <dgm:t>
        <a:bodyPr/>
        <a:lstStyle/>
        <a:p>
          <a:r>
            <a:rPr lang="en-US" sz="1300" b="1" dirty="0"/>
            <a:t>Media monitoring </a:t>
          </a:r>
          <a:r>
            <a:rPr lang="en-US" sz="1300" b="0" dirty="0"/>
            <a:t>indicates continued interest in the story. </a:t>
          </a:r>
        </a:p>
        <a:p>
          <a:r>
            <a:rPr lang="en-US" sz="1300" b="0" dirty="0"/>
            <a:t>Public affairs outreach suggests the committee will move forward with hearings.</a:t>
          </a:r>
        </a:p>
        <a:p>
          <a:r>
            <a:rPr lang="en-US" sz="1300" b="0" dirty="0"/>
            <a:t>The CCT remains active, anticipating additional communications needs. Comms develops a long-term communications plan, anticipating a monthslong effort. </a:t>
          </a:r>
          <a:endParaRPr lang="en-US" sz="1300" dirty="0"/>
        </a:p>
      </dgm:t>
    </dgm:pt>
    <dgm:pt modelId="{92501429-45B7-4391-8F40-573498BB8927}" type="parTrans" cxnId="{FABA0260-04D5-40F5-A064-29B7D92AED21}">
      <dgm:prSet/>
      <dgm:spPr/>
      <dgm:t>
        <a:bodyPr/>
        <a:lstStyle/>
        <a:p>
          <a:endParaRPr lang="en-US"/>
        </a:p>
      </dgm:t>
    </dgm:pt>
    <dgm:pt modelId="{008997B4-0D22-4FEA-862B-9D1C26D48F3C}" type="sibTrans" cxnId="{FABA0260-04D5-40F5-A064-29B7D92AED21}">
      <dgm:prSet/>
      <dgm:spPr/>
      <dgm:t>
        <a:bodyPr/>
        <a:lstStyle/>
        <a:p>
          <a:endParaRPr lang="en-US"/>
        </a:p>
      </dgm:t>
    </dgm:pt>
    <dgm:pt modelId="{9EBEC4D0-0974-40B6-AA11-351544BFF07A}" type="pres">
      <dgm:prSet presAssocID="{5DBF97B9-5971-4641-9FEC-C7B6355E2D68}" presName="rootnode" presStyleCnt="0">
        <dgm:presLayoutVars>
          <dgm:chMax/>
          <dgm:chPref/>
          <dgm:dir/>
          <dgm:animLvl val="lvl"/>
        </dgm:presLayoutVars>
      </dgm:prSet>
      <dgm:spPr/>
    </dgm:pt>
    <dgm:pt modelId="{D83E4400-09DA-418A-9013-970875240A43}" type="pres">
      <dgm:prSet presAssocID="{09FE6177-AD69-4006-8CF4-5153D1A3C0B6}" presName="composite" presStyleCnt="0"/>
      <dgm:spPr/>
    </dgm:pt>
    <dgm:pt modelId="{A606D942-D36F-4D12-9811-1FE661FD46F6}" type="pres">
      <dgm:prSet presAssocID="{09FE6177-AD69-4006-8CF4-5153D1A3C0B6}" presName="LShape" presStyleLbl="alignNode1" presStyleIdx="0" presStyleCnt="7"/>
      <dgm:spPr/>
    </dgm:pt>
    <dgm:pt modelId="{E96D58C1-231A-4646-A1CF-4C10BAC4EE42}" type="pres">
      <dgm:prSet presAssocID="{09FE6177-AD69-4006-8CF4-5153D1A3C0B6}" presName="ParentText" presStyleLbl="revTx" presStyleIdx="0" presStyleCnt="4">
        <dgm:presLayoutVars>
          <dgm:chMax val="0"/>
          <dgm:chPref val="0"/>
          <dgm:bulletEnabled val="1"/>
        </dgm:presLayoutVars>
      </dgm:prSet>
      <dgm:spPr/>
    </dgm:pt>
    <dgm:pt modelId="{922BF642-6933-4370-95A2-BA2D7ED8D7C4}" type="pres">
      <dgm:prSet presAssocID="{09FE6177-AD69-4006-8CF4-5153D1A3C0B6}" presName="Triangle" presStyleLbl="alignNode1" presStyleIdx="1" presStyleCnt="7"/>
      <dgm:spPr/>
    </dgm:pt>
    <dgm:pt modelId="{0D4A0952-FB5F-4666-BC8A-E39FB496888A}" type="pres">
      <dgm:prSet presAssocID="{3796F4F2-1CDE-4676-9B4F-6F84B904D0A2}" presName="sibTrans" presStyleCnt="0"/>
      <dgm:spPr/>
    </dgm:pt>
    <dgm:pt modelId="{5EADA11F-3648-4196-98DF-A87FBB728DD0}" type="pres">
      <dgm:prSet presAssocID="{3796F4F2-1CDE-4676-9B4F-6F84B904D0A2}" presName="space" presStyleCnt="0"/>
      <dgm:spPr/>
    </dgm:pt>
    <dgm:pt modelId="{53B4C326-1D08-41C3-9E0E-BF4D5572E1C9}" type="pres">
      <dgm:prSet presAssocID="{5312D53D-6F01-40A0-A04F-CF81529E9A27}" presName="composite" presStyleCnt="0"/>
      <dgm:spPr/>
    </dgm:pt>
    <dgm:pt modelId="{9A0A9B80-D4AB-4BDE-A5EE-AE43AB6F6F42}" type="pres">
      <dgm:prSet presAssocID="{5312D53D-6F01-40A0-A04F-CF81529E9A27}" presName="LShape" presStyleLbl="alignNode1" presStyleIdx="2" presStyleCnt="7" custLinFactNeighborY="0"/>
      <dgm:spPr/>
    </dgm:pt>
    <dgm:pt modelId="{9C061C62-9FB7-4081-A1D9-EE5C8512A4DF}" type="pres">
      <dgm:prSet presAssocID="{5312D53D-6F01-40A0-A04F-CF81529E9A27}" presName="ParentText" presStyleLbl="revTx" presStyleIdx="1" presStyleCnt="4" custScaleY="175738" custLinFactNeighborX="-832" custLinFactNeighborY="42370">
        <dgm:presLayoutVars>
          <dgm:chMax val="0"/>
          <dgm:chPref val="0"/>
          <dgm:bulletEnabled val="1"/>
        </dgm:presLayoutVars>
      </dgm:prSet>
      <dgm:spPr/>
    </dgm:pt>
    <dgm:pt modelId="{37C10012-5D3B-4134-A15E-A98E337A698F}" type="pres">
      <dgm:prSet presAssocID="{5312D53D-6F01-40A0-A04F-CF81529E9A27}" presName="Triangle" presStyleLbl="alignNode1" presStyleIdx="3" presStyleCnt="7"/>
      <dgm:spPr/>
    </dgm:pt>
    <dgm:pt modelId="{C2FE95AD-9BC3-4375-88C3-4F865BED317C}" type="pres">
      <dgm:prSet presAssocID="{8D7DE3E0-88DD-401C-92E7-D30583B6CB5F}" presName="sibTrans" presStyleCnt="0"/>
      <dgm:spPr/>
    </dgm:pt>
    <dgm:pt modelId="{6A3B2C2E-0357-4942-9A4A-4135A2D00BE6}" type="pres">
      <dgm:prSet presAssocID="{8D7DE3E0-88DD-401C-92E7-D30583B6CB5F}" presName="space" presStyleCnt="0"/>
      <dgm:spPr/>
    </dgm:pt>
    <dgm:pt modelId="{05E6881D-0BEA-40EE-85F2-3E5BB0A6F0FF}" type="pres">
      <dgm:prSet presAssocID="{2AF326CA-5B15-4E29-96F8-601799774553}" presName="composite" presStyleCnt="0"/>
      <dgm:spPr/>
    </dgm:pt>
    <dgm:pt modelId="{8AAE9118-E37D-40B4-B824-7FA0147A7F2E}" type="pres">
      <dgm:prSet presAssocID="{2AF326CA-5B15-4E29-96F8-601799774553}" presName="LShape" presStyleLbl="alignNode1" presStyleIdx="4" presStyleCnt="7"/>
      <dgm:spPr/>
    </dgm:pt>
    <dgm:pt modelId="{845B7559-32F1-4C18-81F5-CFB64AF5757F}" type="pres">
      <dgm:prSet presAssocID="{2AF326CA-5B15-4E29-96F8-601799774553}" presName="ParentText" presStyleLbl="revTx" presStyleIdx="2" presStyleCnt="4">
        <dgm:presLayoutVars>
          <dgm:chMax val="0"/>
          <dgm:chPref val="0"/>
          <dgm:bulletEnabled val="1"/>
        </dgm:presLayoutVars>
      </dgm:prSet>
      <dgm:spPr/>
    </dgm:pt>
    <dgm:pt modelId="{3A7C3E03-B70E-414F-9EBC-F334B6C906A9}" type="pres">
      <dgm:prSet presAssocID="{2AF326CA-5B15-4E29-96F8-601799774553}" presName="Triangle" presStyleLbl="alignNode1" presStyleIdx="5" presStyleCnt="7"/>
      <dgm:spPr/>
    </dgm:pt>
    <dgm:pt modelId="{08DB3AB8-1ED4-40EA-91BD-1187BABA2FED}" type="pres">
      <dgm:prSet presAssocID="{0A0E2599-B2FF-4B26-A7EF-898594A4AFA2}" presName="sibTrans" presStyleCnt="0"/>
      <dgm:spPr/>
    </dgm:pt>
    <dgm:pt modelId="{B345E5BF-5BAA-414D-9136-8FAE0A53A6A6}" type="pres">
      <dgm:prSet presAssocID="{0A0E2599-B2FF-4B26-A7EF-898594A4AFA2}" presName="space" presStyleCnt="0"/>
      <dgm:spPr/>
    </dgm:pt>
    <dgm:pt modelId="{D9CAF995-584B-44B0-86C9-F4CFE41F23DB}" type="pres">
      <dgm:prSet presAssocID="{A19CFA74-EAA7-46CA-9F6F-C12F70488376}" presName="composite" presStyleCnt="0"/>
      <dgm:spPr/>
    </dgm:pt>
    <dgm:pt modelId="{0C866946-C85E-4C47-9F86-8B243C68F2C9}" type="pres">
      <dgm:prSet presAssocID="{A19CFA74-EAA7-46CA-9F6F-C12F70488376}" presName="LShape" presStyleLbl="alignNode1" presStyleIdx="6" presStyleCnt="7"/>
      <dgm:spPr/>
    </dgm:pt>
    <dgm:pt modelId="{859214B4-2321-4EAD-AD88-6C2C149773A5}" type="pres">
      <dgm:prSet presAssocID="{A19CFA74-EAA7-46CA-9F6F-C12F70488376}" presName="ParentText" presStyleLbl="revTx" presStyleIdx="3" presStyleCnt="4">
        <dgm:presLayoutVars>
          <dgm:chMax val="0"/>
          <dgm:chPref val="0"/>
          <dgm:bulletEnabled val="1"/>
        </dgm:presLayoutVars>
      </dgm:prSet>
      <dgm:spPr/>
    </dgm:pt>
  </dgm:ptLst>
  <dgm:cxnLst>
    <dgm:cxn modelId="{C4549225-23F2-4AB3-B3D5-22AA428F503D}" type="presOf" srcId="{5DBF97B9-5971-4641-9FEC-C7B6355E2D68}" destId="{9EBEC4D0-0974-40B6-AA11-351544BFF07A}" srcOrd="0" destOrd="0" presId="urn:microsoft.com/office/officeart/2009/3/layout/StepUpProcess"/>
    <dgm:cxn modelId="{4DA48D2C-FE97-469F-8C77-4E263862FE5E}" srcId="{5DBF97B9-5971-4641-9FEC-C7B6355E2D68}" destId="{5312D53D-6F01-40A0-A04F-CF81529E9A27}" srcOrd="1" destOrd="0" parTransId="{5ED8B8FE-74AE-446C-B6E5-A09A8D521322}" sibTransId="{8D7DE3E0-88DD-401C-92E7-D30583B6CB5F}"/>
    <dgm:cxn modelId="{751E235D-48AE-4C29-A074-C66A3BF0E2FA}" type="presOf" srcId="{A19CFA74-EAA7-46CA-9F6F-C12F70488376}" destId="{859214B4-2321-4EAD-AD88-6C2C149773A5}" srcOrd="0" destOrd="0" presId="urn:microsoft.com/office/officeart/2009/3/layout/StepUpProcess"/>
    <dgm:cxn modelId="{FABA0260-04D5-40F5-A064-29B7D92AED21}" srcId="{5DBF97B9-5971-4641-9FEC-C7B6355E2D68}" destId="{A19CFA74-EAA7-46CA-9F6F-C12F70488376}" srcOrd="3" destOrd="0" parTransId="{92501429-45B7-4391-8F40-573498BB8927}" sibTransId="{008997B4-0D22-4FEA-862B-9D1C26D48F3C}"/>
    <dgm:cxn modelId="{71AC8264-3615-4B52-AE00-F48E1FD4BF72}" type="presOf" srcId="{09FE6177-AD69-4006-8CF4-5153D1A3C0B6}" destId="{E96D58C1-231A-4646-A1CF-4C10BAC4EE42}" srcOrd="0" destOrd="0" presId="urn:microsoft.com/office/officeart/2009/3/layout/StepUpProcess"/>
    <dgm:cxn modelId="{FC372A98-2D82-48B3-A23E-904B53EBD690}" srcId="{5DBF97B9-5971-4641-9FEC-C7B6355E2D68}" destId="{2AF326CA-5B15-4E29-96F8-601799774553}" srcOrd="2" destOrd="0" parTransId="{1C35E041-7177-418F-B3BC-172841A97FAC}" sibTransId="{0A0E2599-B2FF-4B26-A7EF-898594A4AFA2}"/>
    <dgm:cxn modelId="{F92C74D0-DF3F-4C93-91EF-046065FE7BC3}" type="presOf" srcId="{5312D53D-6F01-40A0-A04F-CF81529E9A27}" destId="{9C061C62-9FB7-4081-A1D9-EE5C8512A4DF}" srcOrd="0" destOrd="0" presId="urn:microsoft.com/office/officeart/2009/3/layout/StepUpProcess"/>
    <dgm:cxn modelId="{D2D8BED1-879F-4155-B99C-2E26C04B723D}" type="presOf" srcId="{2AF326CA-5B15-4E29-96F8-601799774553}" destId="{845B7559-32F1-4C18-81F5-CFB64AF5757F}" srcOrd="0" destOrd="0" presId="urn:microsoft.com/office/officeart/2009/3/layout/StepUpProcess"/>
    <dgm:cxn modelId="{ACC978F8-BCAA-4F16-B5CE-5D064D40E94E}" srcId="{5DBF97B9-5971-4641-9FEC-C7B6355E2D68}" destId="{09FE6177-AD69-4006-8CF4-5153D1A3C0B6}" srcOrd="0" destOrd="0" parTransId="{37572F48-13E8-4F2B-BD5B-348B822CE988}" sibTransId="{3796F4F2-1CDE-4676-9B4F-6F84B904D0A2}"/>
    <dgm:cxn modelId="{F87E529B-B5AB-49BB-941D-826DE7FB9906}" type="presParOf" srcId="{9EBEC4D0-0974-40B6-AA11-351544BFF07A}" destId="{D83E4400-09DA-418A-9013-970875240A43}" srcOrd="0" destOrd="0" presId="urn:microsoft.com/office/officeart/2009/3/layout/StepUpProcess"/>
    <dgm:cxn modelId="{EE1CDA80-8D02-49EF-9D08-AA6A2DE5A89B}" type="presParOf" srcId="{D83E4400-09DA-418A-9013-970875240A43}" destId="{A606D942-D36F-4D12-9811-1FE661FD46F6}" srcOrd="0" destOrd="0" presId="urn:microsoft.com/office/officeart/2009/3/layout/StepUpProcess"/>
    <dgm:cxn modelId="{F29687C2-FC88-43EE-AB1F-D16F19B1339C}" type="presParOf" srcId="{D83E4400-09DA-418A-9013-970875240A43}" destId="{E96D58C1-231A-4646-A1CF-4C10BAC4EE42}" srcOrd="1" destOrd="0" presId="urn:microsoft.com/office/officeart/2009/3/layout/StepUpProcess"/>
    <dgm:cxn modelId="{C18A65E0-F0CB-4410-BC9D-8BCB3842FD82}" type="presParOf" srcId="{D83E4400-09DA-418A-9013-970875240A43}" destId="{922BF642-6933-4370-95A2-BA2D7ED8D7C4}" srcOrd="2" destOrd="0" presId="urn:microsoft.com/office/officeart/2009/3/layout/StepUpProcess"/>
    <dgm:cxn modelId="{79DFEAB5-5F40-4E69-B39E-729E9AC76481}" type="presParOf" srcId="{9EBEC4D0-0974-40B6-AA11-351544BFF07A}" destId="{0D4A0952-FB5F-4666-BC8A-E39FB496888A}" srcOrd="1" destOrd="0" presId="urn:microsoft.com/office/officeart/2009/3/layout/StepUpProcess"/>
    <dgm:cxn modelId="{B65A5EE2-2843-418C-BEFD-346BD99748E6}" type="presParOf" srcId="{0D4A0952-FB5F-4666-BC8A-E39FB496888A}" destId="{5EADA11F-3648-4196-98DF-A87FBB728DD0}" srcOrd="0" destOrd="0" presId="urn:microsoft.com/office/officeart/2009/3/layout/StepUpProcess"/>
    <dgm:cxn modelId="{A5475C33-A191-4866-B81D-B4387B38459F}" type="presParOf" srcId="{9EBEC4D0-0974-40B6-AA11-351544BFF07A}" destId="{53B4C326-1D08-41C3-9E0E-BF4D5572E1C9}" srcOrd="2" destOrd="0" presId="urn:microsoft.com/office/officeart/2009/3/layout/StepUpProcess"/>
    <dgm:cxn modelId="{57A3DA9F-7261-4457-9BEB-F6B35B218BC8}" type="presParOf" srcId="{53B4C326-1D08-41C3-9E0E-BF4D5572E1C9}" destId="{9A0A9B80-D4AB-4BDE-A5EE-AE43AB6F6F42}" srcOrd="0" destOrd="0" presId="urn:microsoft.com/office/officeart/2009/3/layout/StepUpProcess"/>
    <dgm:cxn modelId="{B213957C-C5CA-4A7D-B784-2B1DA87FD3F5}" type="presParOf" srcId="{53B4C326-1D08-41C3-9E0E-BF4D5572E1C9}" destId="{9C061C62-9FB7-4081-A1D9-EE5C8512A4DF}" srcOrd="1" destOrd="0" presId="urn:microsoft.com/office/officeart/2009/3/layout/StepUpProcess"/>
    <dgm:cxn modelId="{C1DA03FC-56E1-45C3-9698-C451344D4AE6}" type="presParOf" srcId="{53B4C326-1D08-41C3-9E0E-BF4D5572E1C9}" destId="{37C10012-5D3B-4134-A15E-A98E337A698F}" srcOrd="2" destOrd="0" presId="urn:microsoft.com/office/officeart/2009/3/layout/StepUpProcess"/>
    <dgm:cxn modelId="{701CDA89-69BA-460C-84F8-3698D2371C4E}" type="presParOf" srcId="{9EBEC4D0-0974-40B6-AA11-351544BFF07A}" destId="{C2FE95AD-9BC3-4375-88C3-4F865BED317C}" srcOrd="3" destOrd="0" presId="urn:microsoft.com/office/officeart/2009/3/layout/StepUpProcess"/>
    <dgm:cxn modelId="{391B270F-1010-4F47-B893-530E78750A99}" type="presParOf" srcId="{C2FE95AD-9BC3-4375-88C3-4F865BED317C}" destId="{6A3B2C2E-0357-4942-9A4A-4135A2D00BE6}" srcOrd="0" destOrd="0" presId="urn:microsoft.com/office/officeart/2009/3/layout/StepUpProcess"/>
    <dgm:cxn modelId="{CC92FBAC-FEAD-42E9-8302-58F09D80B85E}" type="presParOf" srcId="{9EBEC4D0-0974-40B6-AA11-351544BFF07A}" destId="{05E6881D-0BEA-40EE-85F2-3E5BB0A6F0FF}" srcOrd="4" destOrd="0" presId="urn:microsoft.com/office/officeart/2009/3/layout/StepUpProcess"/>
    <dgm:cxn modelId="{C9A5F971-1AF8-4A8B-B9F4-69267D77A242}" type="presParOf" srcId="{05E6881D-0BEA-40EE-85F2-3E5BB0A6F0FF}" destId="{8AAE9118-E37D-40B4-B824-7FA0147A7F2E}" srcOrd="0" destOrd="0" presId="urn:microsoft.com/office/officeart/2009/3/layout/StepUpProcess"/>
    <dgm:cxn modelId="{CA626C24-C286-4526-960E-AC60222BBB36}" type="presParOf" srcId="{05E6881D-0BEA-40EE-85F2-3E5BB0A6F0FF}" destId="{845B7559-32F1-4C18-81F5-CFB64AF5757F}" srcOrd="1" destOrd="0" presId="urn:microsoft.com/office/officeart/2009/3/layout/StepUpProcess"/>
    <dgm:cxn modelId="{E2F276F8-D8DF-4EE6-ADFC-4C12F1DF60C6}" type="presParOf" srcId="{05E6881D-0BEA-40EE-85F2-3E5BB0A6F0FF}" destId="{3A7C3E03-B70E-414F-9EBC-F334B6C906A9}" srcOrd="2" destOrd="0" presId="urn:microsoft.com/office/officeart/2009/3/layout/StepUpProcess"/>
    <dgm:cxn modelId="{013AE4E4-5451-4962-B47E-0F8D487847F8}" type="presParOf" srcId="{9EBEC4D0-0974-40B6-AA11-351544BFF07A}" destId="{08DB3AB8-1ED4-40EA-91BD-1187BABA2FED}" srcOrd="5" destOrd="0" presId="urn:microsoft.com/office/officeart/2009/3/layout/StepUpProcess"/>
    <dgm:cxn modelId="{D87EA333-2C17-40DC-9EB8-F5D99E787E4F}" type="presParOf" srcId="{08DB3AB8-1ED4-40EA-91BD-1187BABA2FED}" destId="{B345E5BF-5BAA-414D-9136-8FAE0A53A6A6}" srcOrd="0" destOrd="0" presId="urn:microsoft.com/office/officeart/2009/3/layout/StepUpProcess"/>
    <dgm:cxn modelId="{5298759D-C5F1-4FD5-92D2-738C06820C7A}" type="presParOf" srcId="{9EBEC4D0-0974-40B6-AA11-351544BFF07A}" destId="{D9CAF995-584B-44B0-86C9-F4CFE41F23DB}" srcOrd="6" destOrd="0" presId="urn:microsoft.com/office/officeart/2009/3/layout/StepUpProcess"/>
    <dgm:cxn modelId="{D0CB731E-4E6B-4A61-A0D6-E4BFD057F414}" type="presParOf" srcId="{D9CAF995-584B-44B0-86C9-F4CFE41F23DB}" destId="{0C866946-C85E-4C47-9F86-8B243C68F2C9}" srcOrd="0" destOrd="0" presId="urn:microsoft.com/office/officeart/2009/3/layout/StepUpProcess"/>
    <dgm:cxn modelId="{E39546CD-6A6A-47BF-8C3A-A4FECE234EC6}" type="presParOf" srcId="{D9CAF995-584B-44B0-86C9-F4CFE41F23DB}" destId="{859214B4-2321-4EAD-AD88-6C2C149773A5}"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6D942-D36F-4D12-9811-1FE661FD46F6}">
      <dsp:nvSpPr>
        <dsp:cNvPr id="0" name=""/>
        <dsp:cNvSpPr/>
      </dsp:nvSpPr>
      <dsp:spPr>
        <a:xfrm rot="5400000">
          <a:off x="376265" y="2036696"/>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D58C1-231A-4646-A1CF-4C10BAC4EE42}">
      <dsp:nvSpPr>
        <dsp:cNvPr id="0" name=""/>
        <dsp:cNvSpPr/>
      </dsp:nvSpPr>
      <dsp:spPr>
        <a:xfrm>
          <a:off x="188306" y="2596517"/>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First Reporter:</a:t>
          </a:r>
        </a:p>
        <a:p>
          <a:pPr marL="0" lvl="0" indent="0" algn="l" defTabSz="577850">
            <a:lnSpc>
              <a:spcPct val="90000"/>
            </a:lnSpc>
            <a:spcBef>
              <a:spcPct val="0"/>
            </a:spcBef>
            <a:spcAft>
              <a:spcPct val="35000"/>
            </a:spcAft>
            <a:buNone/>
          </a:pPr>
          <a:r>
            <a:rPr lang="en-US" sz="1400" kern="1200" dirty="0"/>
            <a:t>Gathers facts and completes crisis incident fact sheet. </a:t>
          </a:r>
        </a:p>
        <a:p>
          <a:pPr marL="0" lvl="0" indent="0" algn="l" defTabSz="577850">
            <a:lnSpc>
              <a:spcPct val="90000"/>
            </a:lnSpc>
            <a:spcBef>
              <a:spcPct val="0"/>
            </a:spcBef>
            <a:spcAft>
              <a:spcPct val="35000"/>
            </a:spcAft>
            <a:buNone/>
          </a:pPr>
          <a:r>
            <a:rPr lang="en-US" sz="1400" kern="1200" dirty="0"/>
            <a:t>Alerts Susan and Micah.  </a:t>
          </a:r>
        </a:p>
        <a:p>
          <a:pPr marL="0" lvl="0" indent="0" algn="l" defTabSz="577850">
            <a:lnSpc>
              <a:spcPct val="90000"/>
            </a:lnSpc>
            <a:spcBef>
              <a:spcPct val="0"/>
            </a:spcBef>
            <a:spcAft>
              <a:spcPct val="35000"/>
            </a:spcAft>
            <a:buNone/>
          </a:pPr>
          <a:r>
            <a:rPr lang="en-US" sz="1400" kern="1200" dirty="0"/>
            <a:t>Comms &amp; Branding decides whether or not to convene Crisis Communications Team (CCT).</a:t>
          </a:r>
        </a:p>
      </dsp:txBody>
      <dsp:txXfrm>
        <a:off x="188306" y="2596517"/>
        <a:ext cx="1691550" cy="1482742"/>
      </dsp:txXfrm>
    </dsp:sp>
    <dsp:sp modelId="{922BF642-6933-4370-95A2-BA2D7ED8D7C4}">
      <dsp:nvSpPr>
        <dsp:cNvPr id="0" name=""/>
        <dsp:cNvSpPr/>
      </dsp:nvSpPr>
      <dsp:spPr>
        <a:xfrm>
          <a:off x="1560696" y="1898755"/>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A9B80-D4AB-4BDE-A5EE-AE43AB6F6F42}">
      <dsp:nvSpPr>
        <dsp:cNvPr id="0" name=""/>
        <dsp:cNvSpPr/>
      </dsp:nvSpPr>
      <dsp:spPr>
        <a:xfrm rot="5400000">
          <a:off x="2447053" y="96277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61C62-9FB7-4081-A1D9-EE5C8512A4DF}">
      <dsp:nvSpPr>
        <dsp:cNvPr id="0" name=""/>
        <dsp:cNvSpPr/>
      </dsp:nvSpPr>
      <dsp:spPr>
        <a:xfrm>
          <a:off x="2245020" y="1589337"/>
          <a:ext cx="1691550" cy="260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CCT meets and develops response plan.</a:t>
          </a:r>
        </a:p>
        <a:p>
          <a:pPr marL="0" lvl="0" indent="0" algn="l" defTabSz="622300">
            <a:lnSpc>
              <a:spcPct val="90000"/>
            </a:lnSpc>
            <a:spcBef>
              <a:spcPct val="0"/>
            </a:spcBef>
            <a:spcAft>
              <a:spcPct val="35000"/>
            </a:spcAft>
            <a:buNone/>
          </a:pPr>
          <a:r>
            <a:rPr lang="en-US" sz="1400" b="0" kern="1200" dirty="0"/>
            <a:t>Investigates the situation further.</a:t>
          </a:r>
        </a:p>
        <a:p>
          <a:pPr marL="0" lvl="0" indent="0" algn="l" defTabSz="622300">
            <a:lnSpc>
              <a:spcPct val="90000"/>
            </a:lnSpc>
            <a:spcBef>
              <a:spcPct val="0"/>
            </a:spcBef>
            <a:spcAft>
              <a:spcPct val="35000"/>
            </a:spcAft>
            <a:buNone/>
          </a:pPr>
          <a:r>
            <a:rPr lang="en-US" sz="1400" b="0" kern="1200" dirty="0"/>
            <a:t>Assesses severity of crisis, using 1-5 severity scale. </a:t>
          </a:r>
        </a:p>
        <a:p>
          <a:pPr marL="0" lvl="0" indent="0" algn="l" defTabSz="622300">
            <a:lnSpc>
              <a:spcPct val="90000"/>
            </a:lnSpc>
            <a:spcBef>
              <a:spcPct val="0"/>
            </a:spcBef>
            <a:spcAft>
              <a:spcPct val="35000"/>
            </a:spcAft>
            <a:buNone/>
          </a:pPr>
          <a:r>
            <a:rPr lang="en-US" sz="1400" b="0" kern="1200" dirty="0"/>
            <a:t>Determines if a response is warranted and the means for that response.</a:t>
          </a:r>
        </a:p>
        <a:p>
          <a:pPr marL="0" lvl="0" indent="0" algn="l" defTabSz="622300">
            <a:lnSpc>
              <a:spcPct val="90000"/>
            </a:lnSpc>
            <a:spcBef>
              <a:spcPct val="0"/>
            </a:spcBef>
            <a:spcAft>
              <a:spcPct val="35000"/>
            </a:spcAft>
            <a:buNone/>
          </a:pPr>
          <a:r>
            <a:rPr lang="en-US" sz="1400" b="0" kern="1200" dirty="0"/>
            <a:t>If warranted, drafts statement based on pre-created holding documents. </a:t>
          </a:r>
        </a:p>
      </dsp:txBody>
      <dsp:txXfrm>
        <a:off x="2245020" y="1589337"/>
        <a:ext cx="1691550" cy="2605742"/>
      </dsp:txXfrm>
    </dsp:sp>
    <dsp:sp modelId="{37C10012-5D3B-4134-A15E-A98E337A698F}">
      <dsp:nvSpPr>
        <dsp:cNvPr id="0" name=""/>
        <dsp:cNvSpPr/>
      </dsp:nvSpPr>
      <dsp:spPr>
        <a:xfrm>
          <a:off x="3631483" y="824837"/>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E9118-E37D-40B4-B824-7FA0147A7F2E}">
      <dsp:nvSpPr>
        <dsp:cNvPr id="0" name=""/>
        <dsp:cNvSpPr/>
      </dsp:nvSpPr>
      <dsp:spPr>
        <a:xfrm rot="5400000">
          <a:off x="4517841" y="450359"/>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5B7559-32F1-4C18-81F5-CFB64AF5757F}">
      <dsp:nvSpPr>
        <dsp:cNvPr id="0" name=""/>
        <dsp:cNvSpPr/>
      </dsp:nvSpPr>
      <dsp:spPr>
        <a:xfrm>
          <a:off x="4329881" y="1010180"/>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CCT members execute response plan</a:t>
          </a:r>
          <a:r>
            <a:rPr lang="en-US" sz="1400" kern="1200" dirty="0"/>
            <a:t>, which may include:</a:t>
          </a:r>
        </a:p>
        <a:p>
          <a:pPr marL="114300" lvl="1" indent="-114300" algn="l" defTabSz="622300">
            <a:lnSpc>
              <a:spcPct val="90000"/>
            </a:lnSpc>
            <a:spcBef>
              <a:spcPct val="0"/>
            </a:spcBef>
            <a:spcAft>
              <a:spcPct val="15000"/>
            </a:spcAft>
            <a:buChar char="•"/>
          </a:pPr>
          <a:r>
            <a:rPr lang="en-US" sz="1400" kern="1200" dirty="0"/>
            <a:t>Statement from Blue Meridian or interview with spokesperson.</a:t>
          </a:r>
        </a:p>
        <a:p>
          <a:pPr marL="114300" lvl="1" indent="-114300" algn="l" defTabSz="622300">
            <a:lnSpc>
              <a:spcPct val="90000"/>
            </a:lnSpc>
            <a:spcBef>
              <a:spcPct val="0"/>
            </a:spcBef>
            <a:spcAft>
              <a:spcPct val="15000"/>
            </a:spcAft>
            <a:buChar char="•"/>
          </a:pPr>
          <a:r>
            <a:rPr lang="en-US" sz="1400" kern="1200" dirty="0"/>
            <a:t>Outreach to media outlets (broad or narrow distribution plan).</a:t>
          </a:r>
        </a:p>
        <a:p>
          <a:pPr marL="114300" lvl="1" indent="-114300" algn="l" defTabSz="622300">
            <a:lnSpc>
              <a:spcPct val="90000"/>
            </a:lnSpc>
            <a:spcBef>
              <a:spcPct val="0"/>
            </a:spcBef>
            <a:spcAft>
              <a:spcPct val="15000"/>
            </a:spcAft>
            <a:buChar char="•"/>
          </a:pPr>
          <a:r>
            <a:rPr lang="en-US" sz="1400" kern="1200" dirty="0"/>
            <a:t>Communication with partners, staff, other stakeholders and social media audiences.</a:t>
          </a:r>
        </a:p>
      </dsp:txBody>
      <dsp:txXfrm>
        <a:off x="4329881" y="1010180"/>
        <a:ext cx="1691550" cy="1482742"/>
      </dsp:txXfrm>
    </dsp:sp>
    <dsp:sp modelId="{3A7C3E03-B70E-414F-9EBC-F334B6C906A9}">
      <dsp:nvSpPr>
        <dsp:cNvPr id="0" name=""/>
        <dsp:cNvSpPr/>
      </dsp:nvSpPr>
      <dsp:spPr>
        <a:xfrm>
          <a:off x="5702271" y="312419"/>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866946-C85E-4C47-9F86-8B243C68F2C9}">
      <dsp:nvSpPr>
        <dsp:cNvPr id="0" name=""/>
        <dsp:cNvSpPr/>
      </dsp:nvSpPr>
      <dsp:spPr>
        <a:xfrm rot="5400000">
          <a:off x="6588628" y="-6205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214B4-2321-4EAD-AD88-6C2C149773A5}">
      <dsp:nvSpPr>
        <dsp:cNvPr id="0" name=""/>
        <dsp:cNvSpPr/>
      </dsp:nvSpPr>
      <dsp:spPr>
        <a:xfrm>
          <a:off x="6400669" y="497761"/>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CCT continues monitoring </a:t>
          </a:r>
          <a:r>
            <a:rPr lang="en-US" sz="1400" kern="1200" dirty="0"/>
            <a:t>and evaluates response effectiveness.</a:t>
          </a:r>
        </a:p>
        <a:p>
          <a:pPr marL="0" lvl="0" indent="0" algn="l" defTabSz="622300">
            <a:lnSpc>
              <a:spcPct val="90000"/>
            </a:lnSpc>
            <a:spcBef>
              <a:spcPct val="0"/>
            </a:spcBef>
            <a:spcAft>
              <a:spcPct val="35000"/>
            </a:spcAft>
            <a:buNone/>
          </a:pPr>
          <a:r>
            <a:rPr lang="en-US" sz="1400" kern="1200" dirty="0"/>
            <a:t>When crisis abates, Comms &amp; Branding determines when to disband CCT.</a:t>
          </a:r>
        </a:p>
      </dsp:txBody>
      <dsp:txXfrm>
        <a:off x="6400669" y="497761"/>
        <a:ext cx="1691550" cy="1482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6D942-D36F-4D12-9811-1FE661FD46F6}">
      <dsp:nvSpPr>
        <dsp:cNvPr id="0" name=""/>
        <dsp:cNvSpPr/>
      </dsp:nvSpPr>
      <dsp:spPr>
        <a:xfrm rot="5400000">
          <a:off x="376265" y="2036696"/>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D58C1-231A-4646-A1CF-4C10BAC4EE42}">
      <dsp:nvSpPr>
        <dsp:cNvPr id="0" name=""/>
        <dsp:cNvSpPr/>
      </dsp:nvSpPr>
      <dsp:spPr>
        <a:xfrm>
          <a:off x="188306" y="2596517"/>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First Reporter/MD </a:t>
          </a:r>
          <a:r>
            <a:rPr lang="en-US" sz="1300" b="0" kern="1200" dirty="0"/>
            <a:t>receives</a:t>
          </a:r>
          <a:r>
            <a:rPr lang="en-US" sz="1300" kern="1200" dirty="0"/>
            <a:t> call from Youth Villages CEO. First Reporter completes crisis incident fact sheet and alerts Susan and Micah. </a:t>
          </a:r>
        </a:p>
        <a:p>
          <a:pPr marL="0" lvl="0" indent="0" algn="l" defTabSz="577850">
            <a:lnSpc>
              <a:spcPct val="90000"/>
            </a:lnSpc>
            <a:spcBef>
              <a:spcPct val="0"/>
            </a:spcBef>
            <a:spcAft>
              <a:spcPct val="35000"/>
            </a:spcAft>
            <a:buNone/>
          </a:pPr>
          <a:r>
            <a:rPr lang="en-US" sz="1300" kern="1200" dirty="0"/>
            <a:t>Susan and Micah determine this is a likely crisis and convene crisis communications team. Jim joins CCT as function team lead.</a:t>
          </a:r>
        </a:p>
      </dsp:txBody>
      <dsp:txXfrm>
        <a:off x="188306" y="2596517"/>
        <a:ext cx="1691550" cy="1482742"/>
      </dsp:txXfrm>
    </dsp:sp>
    <dsp:sp modelId="{922BF642-6933-4370-95A2-BA2D7ED8D7C4}">
      <dsp:nvSpPr>
        <dsp:cNvPr id="0" name=""/>
        <dsp:cNvSpPr/>
      </dsp:nvSpPr>
      <dsp:spPr>
        <a:xfrm>
          <a:off x="1560696" y="1898755"/>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A9B80-D4AB-4BDE-A5EE-AE43AB6F6F42}">
      <dsp:nvSpPr>
        <dsp:cNvPr id="0" name=""/>
        <dsp:cNvSpPr/>
      </dsp:nvSpPr>
      <dsp:spPr>
        <a:xfrm rot="5400000">
          <a:off x="2447053" y="96277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61C62-9FB7-4081-A1D9-EE5C8512A4DF}">
      <dsp:nvSpPr>
        <dsp:cNvPr id="0" name=""/>
        <dsp:cNvSpPr/>
      </dsp:nvSpPr>
      <dsp:spPr>
        <a:xfrm>
          <a:off x="2245020" y="1589337"/>
          <a:ext cx="1691550" cy="260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CCT meets and develops response plan. </a:t>
          </a:r>
        </a:p>
        <a:p>
          <a:pPr marL="0" lvl="0" indent="0" algn="l" defTabSz="577850">
            <a:lnSpc>
              <a:spcPct val="90000"/>
            </a:lnSpc>
            <a:spcBef>
              <a:spcPct val="0"/>
            </a:spcBef>
            <a:spcAft>
              <a:spcPct val="35000"/>
            </a:spcAft>
            <a:buNone/>
          </a:pPr>
          <a:r>
            <a:rPr lang="en-US" sz="1300" b="0" kern="1200" dirty="0"/>
            <a:t>MD learns that local media has </a:t>
          </a:r>
          <a:r>
            <a:rPr lang="en-US" sz="1300" b="0" kern="1200" dirty="0" err="1"/>
            <a:t>commrequestedent</a:t>
          </a:r>
          <a:r>
            <a:rPr lang="en-US" sz="1300" b="0" kern="1200" dirty="0"/>
            <a:t> from Youth Villages and plans to seek BMP comment.</a:t>
          </a:r>
        </a:p>
        <a:p>
          <a:pPr marL="0" lvl="0" indent="0" algn="l" defTabSz="577850">
            <a:lnSpc>
              <a:spcPct val="90000"/>
            </a:lnSpc>
            <a:spcBef>
              <a:spcPct val="0"/>
            </a:spcBef>
            <a:spcAft>
              <a:spcPct val="35000"/>
            </a:spcAft>
            <a:buNone/>
          </a:pPr>
          <a:r>
            <a:rPr lang="en-US" sz="1300" b="0" kern="1200" dirty="0"/>
            <a:t>Rates the crisis a 3-4.</a:t>
          </a:r>
        </a:p>
        <a:p>
          <a:pPr marL="0" lvl="0" indent="0" algn="l" defTabSz="577850">
            <a:lnSpc>
              <a:spcPct val="90000"/>
            </a:lnSpc>
            <a:spcBef>
              <a:spcPct val="0"/>
            </a:spcBef>
            <a:spcAft>
              <a:spcPct val="35000"/>
            </a:spcAft>
            <a:buNone/>
          </a:pPr>
          <a:r>
            <a:rPr lang="en-US" sz="1300" b="0" kern="1200" dirty="0"/>
            <a:t>Comms develops statement based on existing holding draft;  recommends outreach to local media and on-record interview.</a:t>
          </a:r>
        </a:p>
        <a:p>
          <a:pPr marL="0" lvl="0" indent="0" algn="l" defTabSz="577850">
            <a:lnSpc>
              <a:spcPct val="90000"/>
            </a:lnSpc>
            <a:spcBef>
              <a:spcPct val="0"/>
            </a:spcBef>
            <a:spcAft>
              <a:spcPct val="35000"/>
            </a:spcAft>
            <a:buNone/>
          </a:pPr>
          <a:r>
            <a:rPr lang="en-US" sz="1300" b="0" kern="1200" dirty="0"/>
            <a:t>Nancy approves outreach plan.</a:t>
          </a:r>
        </a:p>
      </dsp:txBody>
      <dsp:txXfrm>
        <a:off x="2245020" y="1589337"/>
        <a:ext cx="1691550" cy="2605742"/>
      </dsp:txXfrm>
    </dsp:sp>
    <dsp:sp modelId="{37C10012-5D3B-4134-A15E-A98E337A698F}">
      <dsp:nvSpPr>
        <dsp:cNvPr id="0" name=""/>
        <dsp:cNvSpPr/>
      </dsp:nvSpPr>
      <dsp:spPr>
        <a:xfrm>
          <a:off x="3631483" y="824837"/>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E9118-E37D-40B4-B824-7FA0147A7F2E}">
      <dsp:nvSpPr>
        <dsp:cNvPr id="0" name=""/>
        <dsp:cNvSpPr/>
      </dsp:nvSpPr>
      <dsp:spPr>
        <a:xfrm rot="5400000">
          <a:off x="4517841" y="450359"/>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5B7559-32F1-4C18-81F5-CFB64AF5757F}">
      <dsp:nvSpPr>
        <dsp:cNvPr id="0" name=""/>
        <dsp:cNvSpPr/>
      </dsp:nvSpPr>
      <dsp:spPr>
        <a:xfrm>
          <a:off x="4329881" y="1010180"/>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Blue Meridian executes response plan</a:t>
          </a:r>
          <a:r>
            <a:rPr lang="en-US" sz="1300" kern="1200" dirty="0"/>
            <a:t>:</a:t>
          </a:r>
        </a:p>
        <a:p>
          <a:pPr marL="0" lvl="0" indent="0" algn="l" defTabSz="577850">
            <a:lnSpc>
              <a:spcPct val="90000"/>
            </a:lnSpc>
            <a:spcBef>
              <a:spcPct val="0"/>
            </a:spcBef>
            <a:spcAft>
              <a:spcPct val="35000"/>
            </a:spcAft>
            <a:buNone/>
          </a:pPr>
          <a:r>
            <a:rPr lang="en-US" sz="1300" kern="1200" dirty="0"/>
            <a:t>Comms delivers statement to local media.</a:t>
          </a:r>
        </a:p>
        <a:p>
          <a:pPr marL="0" lvl="0" indent="0" algn="l" defTabSz="577850">
            <a:lnSpc>
              <a:spcPct val="90000"/>
            </a:lnSpc>
            <a:spcBef>
              <a:spcPct val="0"/>
            </a:spcBef>
            <a:spcAft>
              <a:spcPct val="35000"/>
            </a:spcAft>
            <a:buNone/>
          </a:pPr>
          <a:r>
            <a:rPr lang="en-US" sz="1300" kern="1200" dirty="0"/>
            <a:t>Comms prepares spokesperson for phone interview and listens in, following up with reporter as needed.</a:t>
          </a:r>
        </a:p>
        <a:p>
          <a:pPr marL="0" lvl="0" indent="0" algn="l" defTabSz="577850">
            <a:lnSpc>
              <a:spcPct val="90000"/>
            </a:lnSpc>
            <a:spcBef>
              <a:spcPct val="0"/>
            </a:spcBef>
            <a:spcAft>
              <a:spcPct val="35000"/>
            </a:spcAft>
            <a:buNone/>
          </a:pPr>
          <a:r>
            <a:rPr lang="en-US" sz="1300" kern="1200" dirty="0"/>
            <a:t>Jim recommends not distributing the statement to wider group of investees.</a:t>
          </a:r>
        </a:p>
        <a:p>
          <a:pPr marL="0" lvl="0" indent="0" algn="l" defTabSz="577850">
            <a:lnSpc>
              <a:spcPct val="90000"/>
            </a:lnSpc>
            <a:spcBef>
              <a:spcPct val="0"/>
            </a:spcBef>
            <a:spcAft>
              <a:spcPct val="35000"/>
            </a:spcAft>
            <a:buNone/>
          </a:pPr>
          <a:r>
            <a:rPr lang="en-US" sz="1300" kern="1200" dirty="0"/>
            <a:t>Comms recommends against posting statement on BMP social media channels.</a:t>
          </a:r>
        </a:p>
      </dsp:txBody>
      <dsp:txXfrm>
        <a:off x="4329881" y="1010180"/>
        <a:ext cx="1691550" cy="1482742"/>
      </dsp:txXfrm>
    </dsp:sp>
    <dsp:sp modelId="{3A7C3E03-B70E-414F-9EBC-F334B6C906A9}">
      <dsp:nvSpPr>
        <dsp:cNvPr id="0" name=""/>
        <dsp:cNvSpPr/>
      </dsp:nvSpPr>
      <dsp:spPr>
        <a:xfrm>
          <a:off x="5702271" y="312419"/>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866946-C85E-4C47-9F86-8B243C68F2C9}">
      <dsp:nvSpPr>
        <dsp:cNvPr id="0" name=""/>
        <dsp:cNvSpPr/>
      </dsp:nvSpPr>
      <dsp:spPr>
        <a:xfrm rot="5400000">
          <a:off x="6588628" y="-6205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214B4-2321-4EAD-AD88-6C2C149773A5}">
      <dsp:nvSpPr>
        <dsp:cNvPr id="0" name=""/>
        <dsp:cNvSpPr/>
      </dsp:nvSpPr>
      <dsp:spPr>
        <a:xfrm>
          <a:off x="6400669" y="497761"/>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kern="1200" dirty="0"/>
            <a:t>Clea/Comms closely </a:t>
          </a:r>
          <a:r>
            <a:rPr lang="en-US" sz="1300" b="1" kern="1200" dirty="0"/>
            <a:t>tracks media coverage </a:t>
          </a:r>
          <a:r>
            <a:rPr lang="en-US" sz="1300" b="0" kern="1200" dirty="0"/>
            <a:t>and reports a single day of difficult stories. After this initial wave, interest in the story dissipates.</a:t>
          </a:r>
        </a:p>
        <a:p>
          <a:pPr marL="0" lvl="0" indent="0" algn="l" defTabSz="577850">
            <a:lnSpc>
              <a:spcPct val="90000"/>
            </a:lnSpc>
            <a:spcBef>
              <a:spcPct val="0"/>
            </a:spcBef>
            <a:spcAft>
              <a:spcPct val="35000"/>
            </a:spcAft>
            <a:buNone/>
          </a:pPr>
          <a:r>
            <a:rPr lang="en-US" sz="1300" b="0" kern="1200" dirty="0"/>
            <a:t>Comms disbands the CCT team. </a:t>
          </a:r>
          <a:endParaRPr lang="en-US" sz="1300" kern="1200" dirty="0"/>
        </a:p>
      </dsp:txBody>
      <dsp:txXfrm>
        <a:off x="6400669" y="497761"/>
        <a:ext cx="1691550" cy="148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6D942-D36F-4D12-9811-1FE661FD46F6}">
      <dsp:nvSpPr>
        <dsp:cNvPr id="0" name=""/>
        <dsp:cNvSpPr/>
      </dsp:nvSpPr>
      <dsp:spPr>
        <a:xfrm rot="5400000">
          <a:off x="376265" y="2036696"/>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D58C1-231A-4646-A1CF-4C10BAC4EE42}">
      <dsp:nvSpPr>
        <dsp:cNvPr id="0" name=""/>
        <dsp:cNvSpPr/>
      </dsp:nvSpPr>
      <dsp:spPr>
        <a:xfrm>
          <a:off x="188306" y="2596517"/>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First Reporter/ Chief Development Officer </a:t>
          </a:r>
          <a:r>
            <a:rPr lang="en-US" sz="1300" b="0" kern="1200" dirty="0"/>
            <a:t>receives</a:t>
          </a:r>
          <a:r>
            <a:rPr lang="en-US" sz="1300" kern="1200" dirty="0"/>
            <a:t> notice from the </a:t>
          </a:r>
          <a:r>
            <a:rPr lang="en-US" sz="1300" kern="1200" dirty="0">
              <a:solidFill>
                <a:schemeClr val="tx1"/>
              </a:solidFill>
            </a:rPr>
            <a:t>partner. The partner asks to step aside from Blue Meridian during </a:t>
          </a:r>
          <a:r>
            <a:rPr lang="en-US" sz="1300" kern="1200" dirty="0"/>
            <a:t>pendency of case. Tia completes crisis fact sheet and alerts Susan and Micah. </a:t>
          </a:r>
        </a:p>
        <a:p>
          <a:pPr marL="0" lvl="0" indent="0" algn="l" defTabSz="577850">
            <a:lnSpc>
              <a:spcPct val="90000"/>
            </a:lnSpc>
            <a:spcBef>
              <a:spcPct val="0"/>
            </a:spcBef>
            <a:spcAft>
              <a:spcPct val="35000"/>
            </a:spcAft>
            <a:buNone/>
          </a:pPr>
          <a:r>
            <a:rPr lang="en-US" sz="1300" kern="1200" dirty="0"/>
            <a:t>Susan and Micah determine this is a crisis and convene CCT (including Tia).</a:t>
          </a:r>
        </a:p>
      </dsp:txBody>
      <dsp:txXfrm>
        <a:off x="188306" y="2596517"/>
        <a:ext cx="1691550" cy="1482742"/>
      </dsp:txXfrm>
    </dsp:sp>
    <dsp:sp modelId="{922BF642-6933-4370-95A2-BA2D7ED8D7C4}">
      <dsp:nvSpPr>
        <dsp:cNvPr id="0" name=""/>
        <dsp:cNvSpPr/>
      </dsp:nvSpPr>
      <dsp:spPr>
        <a:xfrm>
          <a:off x="1560696" y="1898755"/>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A9B80-D4AB-4BDE-A5EE-AE43AB6F6F42}">
      <dsp:nvSpPr>
        <dsp:cNvPr id="0" name=""/>
        <dsp:cNvSpPr/>
      </dsp:nvSpPr>
      <dsp:spPr>
        <a:xfrm rot="5400000">
          <a:off x="2447053" y="96277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61C62-9FB7-4081-A1D9-EE5C8512A4DF}">
      <dsp:nvSpPr>
        <dsp:cNvPr id="0" name=""/>
        <dsp:cNvSpPr/>
      </dsp:nvSpPr>
      <dsp:spPr>
        <a:xfrm>
          <a:off x="2245020" y="1589337"/>
          <a:ext cx="1691550" cy="260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CCT meets and develops response plan. </a:t>
          </a:r>
        </a:p>
        <a:p>
          <a:pPr marL="0" lvl="0" indent="0" algn="l" defTabSz="622300">
            <a:lnSpc>
              <a:spcPct val="90000"/>
            </a:lnSpc>
            <a:spcBef>
              <a:spcPct val="0"/>
            </a:spcBef>
            <a:spcAft>
              <a:spcPct val="35000"/>
            </a:spcAft>
            <a:buNone/>
          </a:pPr>
          <a:r>
            <a:rPr lang="en-US" sz="1300" b="0" kern="1200" dirty="0"/>
            <a:t>Learns from Tia that SEC plans to announce enforcement action the following day. CCT rates the crisis a 3-4.</a:t>
          </a:r>
        </a:p>
        <a:p>
          <a:pPr marL="0" lvl="0" indent="0" algn="l" defTabSz="622300">
            <a:lnSpc>
              <a:spcPct val="90000"/>
            </a:lnSpc>
            <a:spcBef>
              <a:spcPct val="0"/>
            </a:spcBef>
            <a:spcAft>
              <a:spcPct val="35000"/>
            </a:spcAft>
            <a:buNone/>
          </a:pPr>
          <a:r>
            <a:rPr lang="en-US" sz="1300" b="0" kern="1200" dirty="0"/>
            <a:t>Comms develops media statement, based on pre-existing holding statement.  Comms plans to distribute following SEC announcement.</a:t>
          </a:r>
        </a:p>
        <a:p>
          <a:pPr marL="0" lvl="0" indent="0" algn="l" defTabSz="622300">
            <a:lnSpc>
              <a:spcPct val="90000"/>
            </a:lnSpc>
            <a:spcBef>
              <a:spcPct val="0"/>
            </a:spcBef>
            <a:spcAft>
              <a:spcPct val="35000"/>
            </a:spcAft>
            <a:buNone/>
          </a:pPr>
          <a:r>
            <a:rPr lang="en-US" sz="1300" b="0" kern="1200" dirty="0"/>
            <a:t>Nancy approves response plan.</a:t>
          </a:r>
        </a:p>
      </dsp:txBody>
      <dsp:txXfrm>
        <a:off x="2245020" y="1589337"/>
        <a:ext cx="1691550" cy="2605742"/>
      </dsp:txXfrm>
    </dsp:sp>
    <dsp:sp modelId="{37C10012-5D3B-4134-A15E-A98E337A698F}">
      <dsp:nvSpPr>
        <dsp:cNvPr id="0" name=""/>
        <dsp:cNvSpPr/>
      </dsp:nvSpPr>
      <dsp:spPr>
        <a:xfrm>
          <a:off x="3631483" y="824837"/>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E9118-E37D-40B4-B824-7FA0147A7F2E}">
      <dsp:nvSpPr>
        <dsp:cNvPr id="0" name=""/>
        <dsp:cNvSpPr/>
      </dsp:nvSpPr>
      <dsp:spPr>
        <a:xfrm rot="5400000">
          <a:off x="4517841" y="450359"/>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5B7559-32F1-4C18-81F5-CFB64AF5757F}">
      <dsp:nvSpPr>
        <dsp:cNvPr id="0" name=""/>
        <dsp:cNvSpPr/>
      </dsp:nvSpPr>
      <dsp:spPr>
        <a:xfrm>
          <a:off x="4329881" y="1010180"/>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Blue Meridian executes response plan</a:t>
          </a:r>
          <a:r>
            <a:rPr lang="en-US" sz="1400" kern="1200" dirty="0"/>
            <a:t>:</a:t>
          </a:r>
        </a:p>
        <a:p>
          <a:pPr marL="0" lvl="0" indent="0" algn="l" defTabSz="622300">
            <a:lnSpc>
              <a:spcPct val="90000"/>
            </a:lnSpc>
            <a:spcBef>
              <a:spcPct val="0"/>
            </a:spcBef>
            <a:spcAft>
              <a:spcPct val="35000"/>
            </a:spcAft>
            <a:buNone/>
          </a:pPr>
          <a:r>
            <a:rPr lang="en-US" sz="1300" kern="1200" dirty="0"/>
            <a:t>Comms delivers statement to its broad media list following SEC announcement.</a:t>
          </a:r>
        </a:p>
        <a:p>
          <a:pPr marL="0" lvl="0" indent="0" algn="l" defTabSz="622300">
            <a:lnSpc>
              <a:spcPct val="90000"/>
            </a:lnSpc>
            <a:spcBef>
              <a:spcPct val="0"/>
            </a:spcBef>
            <a:spcAft>
              <a:spcPct val="35000"/>
            </a:spcAft>
            <a:buNone/>
          </a:pPr>
          <a:r>
            <a:rPr lang="en-US" sz="1300" kern="1200" dirty="0"/>
            <a:t>Tia recommends sending variation of statement to all partners. Comms assists with drafting. </a:t>
          </a:r>
          <a:r>
            <a:rPr lang="en-US" sz="1300" b="0" kern="1200" dirty="0"/>
            <a:t>N</a:t>
          </a:r>
          <a:r>
            <a:rPr lang="en-US" sz="1300" kern="1200" dirty="0"/>
            <a:t>ancy approves and Tia distributes.</a:t>
          </a:r>
        </a:p>
        <a:p>
          <a:pPr marL="0" lvl="0" indent="0" algn="l" defTabSz="622300">
            <a:lnSpc>
              <a:spcPct val="90000"/>
            </a:lnSpc>
            <a:spcBef>
              <a:spcPct val="0"/>
            </a:spcBef>
            <a:spcAft>
              <a:spcPct val="35000"/>
            </a:spcAft>
            <a:buNone/>
          </a:pPr>
          <a:r>
            <a:rPr lang="en-US" sz="1300" kern="1200" dirty="0"/>
            <a:t>Comms does not </a:t>
          </a:r>
          <a:r>
            <a:rPr lang="en-US" sz="1300" kern="1200" dirty="0">
              <a:solidFill>
                <a:schemeClr val="tx1"/>
              </a:solidFill>
            </a:rPr>
            <a:t>recommend posting on social media </a:t>
          </a:r>
          <a:r>
            <a:rPr lang="en-US" sz="1300" kern="1200" dirty="0"/>
            <a:t>about crisis.</a:t>
          </a:r>
        </a:p>
      </dsp:txBody>
      <dsp:txXfrm>
        <a:off x="4329881" y="1010180"/>
        <a:ext cx="1691550" cy="1482742"/>
      </dsp:txXfrm>
    </dsp:sp>
    <dsp:sp modelId="{3A7C3E03-B70E-414F-9EBC-F334B6C906A9}">
      <dsp:nvSpPr>
        <dsp:cNvPr id="0" name=""/>
        <dsp:cNvSpPr/>
      </dsp:nvSpPr>
      <dsp:spPr>
        <a:xfrm>
          <a:off x="5702271" y="312419"/>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866946-C85E-4C47-9F86-8B243C68F2C9}">
      <dsp:nvSpPr>
        <dsp:cNvPr id="0" name=""/>
        <dsp:cNvSpPr/>
      </dsp:nvSpPr>
      <dsp:spPr>
        <a:xfrm rot="5400000">
          <a:off x="6588628" y="-6205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214B4-2321-4EAD-AD88-6C2C149773A5}">
      <dsp:nvSpPr>
        <dsp:cNvPr id="0" name=""/>
        <dsp:cNvSpPr/>
      </dsp:nvSpPr>
      <dsp:spPr>
        <a:xfrm>
          <a:off x="6400669" y="497761"/>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Media monitoring </a:t>
          </a:r>
          <a:r>
            <a:rPr lang="en-US" sz="1300" b="0" kern="1200" dirty="0"/>
            <a:t>reports very significant media coverage following the SEC announcement, both online and traditional media.</a:t>
          </a:r>
        </a:p>
        <a:p>
          <a:pPr marL="0" lvl="0" indent="0" algn="l" defTabSz="577850">
            <a:lnSpc>
              <a:spcPct val="90000"/>
            </a:lnSpc>
            <a:spcBef>
              <a:spcPct val="0"/>
            </a:spcBef>
            <a:spcAft>
              <a:spcPct val="35000"/>
            </a:spcAft>
            <a:buNone/>
          </a:pPr>
          <a:r>
            <a:rPr lang="en-US" sz="1300" b="0" kern="1200" dirty="0"/>
            <a:t>Several stories mention Blue Meridian and include excerpts from BMP statement but no stories feature the organization prominently. </a:t>
          </a:r>
        </a:p>
        <a:p>
          <a:pPr marL="0" lvl="0" indent="0" algn="l" defTabSz="577850">
            <a:lnSpc>
              <a:spcPct val="90000"/>
            </a:lnSpc>
            <a:spcBef>
              <a:spcPct val="0"/>
            </a:spcBef>
            <a:spcAft>
              <a:spcPct val="35000"/>
            </a:spcAft>
            <a:buNone/>
          </a:pPr>
          <a:r>
            <a:rPr lang="en-US" sz="1300" b="0" kern="1200" dirty="0"/>
            <a:t>Comms disbands the CCT.</a:t>
          </a:r>
          <a:endParaRPr lang="en-US" sz="1300" kern="1200" dirty="0"/>
        </a:p>
      </dsp:txBody>
      <dsp:txXfrm>
        <a:off x="6400669" y="497761"/>
        <a:ext cx="1691550" cy="14827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6D942-D36F-4D12-9811-1FE661FD46F6}">
      <dsp:nvSpPr>
        <dsp:cNvPr id="0" name=""/>
        <dsp:cNvSpPr/>
      </dsp:nvSpPr>
      <dsp:spPr>
        <a:xfrm rot="5400000">
          <a:off x="376265" y="2036696"/>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D58C1-231A-4646-A1CF-4C10BAC4EE42}">
      <dsp:nvSpPr>
        <dsp:cNvPr id="0" name=""/>
        <dsp:cNvSpPr/>
      </dsp:nvSpPr>
      <dsp:spPr>
        <a:xfrm>
          <a:off x="188306" y="2596517"/>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Blue Meridian learns </a:t>
          </a:r>
          <a:r>
            <a:rPr lang="en-US" sz="1300" b="0" kern="1200" dirty="0"/>
            <a:t>about the story from social media. It has received no communications from the committee. </a:t>
          </a:r>
          <a:endParaRPr lang="en-US" sz="1300" kern="1200" dirty="0"/>
        </a:p>
        <a:p>
          <a:pPr marL="0" lvl="0" indent="0" algn="l" defTabSz="577850">
            <a:lnSpc>
              <a:spcPct val="90000"/>
            </a:lnSpc>
            <a:spcBef>
              <a:spcPct val="0"/>
            </a:spcBef>
            <a:spcAft>
              <a:spcPct val="35000"/>
            </a:spcAft>
            <a:buNone/>
          </a:pPr>
          <a:r>
            <a:rPr lang="en-US" sz="1300" kern="1200" dirty="0"/>
            <a:t>Because there is no traditional “first reporter,” Comms completes crisis incident fact sheet and convenes crisis communications team, including Legal Counsel.</a:t>
          </a:r>
        </a:p>
      </dsp:txBody>
      <dsp:txXfrm>
        <a:off x="188306" y="2596517"/>
        <a:ext cx="1691550" cy="1482742"/>
      </dsp:txXfrm>
    </dsp:sp>
    <dsp:sp modelId="{922BF642-6933-4370-95A2-BA2D7ED8D7C4}">
      <dsp:nvSpPr>
        <dsp:cNvPr id="0" name=""/>
        <dsp:cNvSpPr/>
      </dsp:nvSpPr>
      <dsp:spPr>
        <a:xfrm>
          <a:off x="1560696" y="1898755"/>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A9B80-D4AB-4BDE-A5EE-AE43AB6F6F42}">
      <dsp:nvSpPr>
        <dsp:cNvPr id="0" name=""/>
        <dsp:cNvSpPr/>
      </dsp:nvSpPr>
      <dsp:spPr>
        <a:xfrm rot="5400000">
          <a:off x="2447053" y="96277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61C62-9FB7-4081-A1D9-EE5C8512A4DF}">
      <dsp:nvSpPr>
        <dsp:cNvPr id="0" name=""/>
        <dsp:cNvSpPr/>
      </dsp:nvSpPr>
      <dsp:spPr>
        <a:xfrm>
          <a:off x="2245020" y="1589337"/>
          <a:ext cx="1691550" cy="260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algn="l" defTabSz="622300">
            <a:lnSpc>
              <a:spcPct val="90000"/>
            </a:lnSpc>
            <a:spcBef>
              <a:spcPct val="0"/>
            </a:spcBef>
            <a:spcAft>
              <a:spcPct val="35000"/>
            </a:spcAft>
            <a:buNone/>
          </a:pPr>
          <a:r>
            <a:rPr lang="en-US" sz="1400" b="1" kern="1200" dirty="0"/>
            <a:t>CCT meets and develops response plan. </a:t>
          </a:r>
        </a:p>
        <a:p>
          <a:pPr marL="0" lvl="0" algn="l" defTabSz="622300">
            <a:lnSpc>
              <a:spcPct val="90000"/>
            </a:lnSpc>
            <a:spcBef>
              <a:spcPct val="0"/>
            </a:spcBef>
            <a:spcAft>
              <a:spcPct val="35000"/>
            </a:spcAft>
            <a:buNone/>
          </a:pPr>
          <a:r>
            <a:rPr lang="en-US" sz="1400" b="0" kern="1200" dirty="0"/>
            <a:t>The CCT rates the crisis a 4-5.</a:t>
          </a:r>
        </a:p>
        <a:p>
          <a:pPr marL="0" marR="0" lvl="0" indent="0" algn="l" defTabSz="914400" eaLnBrk="1" fontAlgn="auto" latinLnBrk="0" hangingPunct="1">
            <a:lnSpc>
              <a:spcPct val="100000"/>
            </a:lnSpc>
            <a:spcBef>
              <a:spcPts val="0"/>
            </a:spcBef>
            <a:spcAft>
              <a:spcPts val="0"/>
            </a:spcAft>
            <a:buClrTx/>
            <a:buSzTx/>
            <a:buFontTx/>
            <a:buNone/>
            <a:tabLst/>
            <a:defRPr/>
          </a:pPr>
          <a:r>
            <a:rPr lang="en-US" sz="1300" b="0" kern="1200" dirty="0"/>
            <a:t>Working </a:t>
          </a:r>
          <a:r>
            <a:rPr lang="en-US" sz="1300" b="0" kern="1200" dirty="0" err="1"/>
            <a:t>toBecause</a:t>
          </a:r>
          <a:r>
            <a:rPr lang="en-US" sz="1300" b="0" kern="1200" dirty="0"/>
            <a:t> other philanthropies are involved, comms coordinates with industry peers.</a:t>
          </a:r>
        </a:p>
        <a:p>
          <a:pPr marL="0" lvl="0" algn="l" defTabSz="622300">
            <a:lnSpc>
              <a:spcPct val="90000"/>
            </a:lnSpc>
            <a:spcBef>
              <a:spcPct val="0"/>
            </a:spcBef>
            <a:spcAft>
              <a:spcPct val="35000"/>
            </a:spcAft>
            <a:buNone/>
          </a:pPr>
          <a:r>
            <a:rPr lang="en-US" sz="1300" b="0" kern="1200" dirty="0"/>
            <a:t>Together, comms directors across organizations recommend an aggressive response, including traditional and social media. Nancy approves outreach plan. Legal counsel concurs.</a:t>
          </a:r>
        </a:p>
      </dsp:txBody>
      <dsp:txXfrm>
        <a:off x="2245020" y="1589337"/>
        <a:ext cx="1691550" cy="2605742"/>
      </dsp:txXfrm>
    </dsp:sp>
    <dsp:sp modelId="{37C10012-5D3B-4134-A15E-A98E337A698F}">
      <dsp:nvSpPr>
        <dsp:cNvPr id="0" name=""/>
        <dsp:cNvSpPr/>
      </dsp:nvSpPr>
      <dsp:spPr>
        <a:xfrm>
          <a:off x="3631483" y="824837"/>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E9118-E37D-40B4-B824-7FA0147A7F2E}">
      <dsp:nvSpPr>
        <dsp:cNvPr id="0" name=""/>
        <dsp:cNvSpPr/>
      </dsp:nvSpPr>
      <dsp:spPr>
        <a:xfrm rot="5400000">
          <a:off x="4517841" y="450359"/>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5B7559-32F1-4C18-81F5-CFB64AF5757F}">
      <dsp:nvSpPr>
        <dsp:cNvPr id="0" name=""/>
        <dsp:cNvSpPr/>
      </dsp:nvSpPr>
      <dsp:spPr>
        <a:xfrm>
          <a:off x="4329881" y="1010180"/>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Blue Meridian executes response plan</a:t>
          </a:r>
          <a:r>
            <a:rPr lang="en-US" sz="1400" kern="1200" dirty="0"/>
            <a:t>:</a:t>
          </a:r>
        </a:p>
        <a:p>
          <a:pPr marL="0" lvl="0" indent="0" algn="l" defTabSz="622300">
            <a:lnSpc>
              <a:spcPct val="90000"/>
            </a:lnSpc>
            <a:spcBef>
              <a:spcPct val="0"/>
            </a:spcBef>
            <a:spcAft>
              <a:spcPct val="35000"/>
            </a:spcAft>
            <a:buNone/>
          </a:pPr>
          <a:r>
            <a:rPr lang="en-US" sz="1300" kern="1200" dirty="0"/>
            <a:t>Comms delivers statement to media contacts, cosigned by multiple philanthropies.</a:t>
          </a:r>
        </a:p>
        <a:p>
          <a:pPr marL="0" lvl="0" indent="0" algn="l" defTabSz="622300">
            <a:lnSpc>
              <a:spcPct val="90000"/>
            </a:lnSpc>
            <a:spcBef>
              <a:spcPct val="0"/>
            </a:spcBef>
            <a:spcAft>
              <a:spcPct val="35000"/>
            </a:spcAft>
            <a:buNone/>
          </a:pPr>
          <a:r>
            <a:rPr lang="en-US" sz="1300" kern="1200" dirty="0"/>
            <a:t>Tia and Jim recommend advising all partners and investees. Comms assists in developing email message.</a:t>
          </a:r>
        </a:p>
        <a:p>
          <a:pPr marL="0" lvl="0" indent="0" algn="l" defTabSz="622300">
            <a:lnSpc>
              <a:spcPct val="90000"/>
            </a:lnSpc>
            <a:spcBef>
              <a:spcPct val="0"/>
            </a:spcBef>
            <a:spcAft>
              <a:spcPct val="35000"/>
            </a:spcAft>
            <a:buNone/>
          </a:pPr>
          <a:r>
            <a:rPr lang="en-US" sz="1300" kern="1200" dirty="0"/>
            <a:t>Comms posts messages on social media channels.</a:t>
          </a:r>
        </a:p>
      </dsp:txBody>
      <dsp:txXfrm>
        <a:off x="4329881" y="1010180"/>
        <a:ext cx="1691550" cy="1482742"/>
      </dsp:txXfrm>
    </dsp:sp>
    <dsp:sp modelId="{3A7C3E03-B70E-414F-9EBC-F334B6C906A9}">
      <dsp:nvSpPr>
        <dsp:cNvPr id="0" name=""/>
        <dsp:cNvSpPr/>
      </dsp:nvSpPr>
      <dsp:spPr>
        <a:xfrm>
          <a:off x="5702271" y="312419"/>
          <a:ext cx="319160" cy="319160"/>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866946-C85E-4C47-9F86-8B243C68F2C9}">
      <dsp:nvSpPr>
        <dsp:cNvPr id="0" name=""/>
        <dsp:cNvSpPr/>
      </dsp:nvSpPr>
      <dsp:spPr>
        <a:xfrm rot="5400000">
          <a:off x="6588628" y="-62058"/>
          <a:ext cx="1126012" cy="187365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9214B4-2321-4EAD-AD88-6C2C149773A5}">
      <dsp:nvSpPr>
        <dsp:cNvPr id="0" name=""/>
        <dsp:cNvSpPr/>
      </dsp:nvSpPr>
      <dsp:spPr>
        <a:xfrm>
          <a:off x="6400669" y="497761"/>
          <a:ext cx="1691550" cy="1482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Media monitoring </a:t>
          </a:r>
          <a:r>
            <a:rPr lang="en-US" sz="1300" b="0" kern="1200" dirty="0"/>
            <a:t>indicates continued interest in the story. </a:t>
          </a:r>
        </a:p>
        <a:p>
          <a:pPr marL="0" lvl="0" indent="0" algn="l" defTabSz="577850">
            <a:lnSpc>
              <a:spcPct val="90000"/>
            </a:lnSpc>
            <a:spcBef>
              <a:spcPct val="0"/>
            </a:spcBef>
            <a:spcAft>
              <a:spcPct val="35000"/>
            </a:spcAft>
            <a:buNone/>
          </a:pPr>
          <a:r>
            <a:rPr lang="en-US" sz="1300" b="0" kern="1200" dirty="0"/>
            <a:t>Public affairs outreach suggests the committee will move forward with hearings.</a:t>
          </a:r>
        </a:p>
        <a:p>
          <a:pPr marL="0" lvl="0" indent="0" algn="l" defTabSz="577850">
            <a:lnSpc>
              <a:spcPct val="90000"/>
            </a:lnSpc>
            <a:spcBef>
              <a:spcPct val="0"/>
            </a:spcBef>
            <a:spcAft>
              <a:spcPct val="35000"/>
            </a:spcAft>
            <a:buNone/>
          </a:pPr>
          <a:r>
            <a:rPr lang="en-US" sz="1300" b="0" kern="1200" dirty="0"/>
            <a:t>The CCT remains active, anticipating additional communications needs. Comms develops a long-term communications plan, anticipating a monthslong effort. </a:t>
          </a:r>
          <a:endParaRPr lang="en-US" sz="1300" kern="1200" dirty="0"/>
        </a:p>
      </dsp:txBody>
      <dsp:txXfrm>
        <a:off x="6400669" y="497761"/>
        <a:ext cx="1691550" cy="1482742"/>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DA1F40B-0F8B-489C-8514-0E9E92C6D3F8}" type="datetimeFigureOut">
              <a:rPr lang="en-US" smtClean="0"/>
              <a:t>5/30/2025</a:t>
            </a:fld>
            <a:endParaRPr lang="en-US"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0429C17-9F4B-4E72-8C00-80C1FEACBEC3}" type="slidenum">
              <a:rPr lang="en-US" smtClean="0"/>
              <a:t>‹#›</a:t>
            </a:fld>
            <a:endParaRPr lang="en-US" dirty="0"/>
          </a:p>
        </p:txBody>
      </p:sp>
    </p:spTree>
    <p:extLst>
      <p:ext uri="{BB962C8B-B14F-4D97-AF65-F5344CB8AC3E}">
        <p14:creationId xmlns:p14="http://schemas.microsoft.com/office/powerpoint/2010/main" val="4262455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2</a:t>
            </a:fld>
            <a:endParaRPr lang="en-US" dirty="0"/>
          </a:p>
        </p:txBody>
      </p:sp>
    </p:spTree>
    <p:extLst>
      <p:ext uri="{BB962C8B-B14F-4D97-AF65-F5344CB8AC3E}">
        <p14:creationId xmlns:p14="http://schemas.microsoft.com/office/powerpoint/2010/main" val="752030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13</a:t>
            </a:fld>
            <a:endParaRPr lang="en-US" dirty="0"/>
          </a:p>
        </p:txBody>
      </p:sp>
    </p:spTree>
    <p:extLst>
      <p:ext uri="{BB962C8B-B14F-4D97-AF65-F5344CB8AC3E}">
        <p14:creationId xmlns:p14="http://schemas.microsoft.com/office/powerpoint/2010/main" val="3319450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18</a:t>
            </a:fld>
            <a:endParaRPr lang="en-US" dirty="0"/>
          </a:p>
        </p:txBody>
      </p:sp>
    </p:spTree>
    <p:extLst>
      <p:ext uri="{BB962C8B-B14F-4D97-AF65-F5344CB8AC3E}">
        <p14:creationId xmlns:p14="http://schemas.microsoft.com/office/powerpoint/2010/main" val="2821868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19</a:t>
            </a:fld>
            <a:endParaRPr lang="en-US" dirty="0"/>
          </a:p>
        </p:txBody>
      </p:sp>
    </p:spTree>
    <p:extLst>
      <p:ext uri="{BB962C8B-B14F-4D97-AF65-F5344CB8AC3E}">
        <p14:creationId xmlns:p14="http://schemas.microsoft.com/office/powerpoint/2010/main" val="4123797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20</a:t>
            </a:fld>
            <a:endParaRPr lang="en-US" dirty="0"/>
          </a:p>
        </p:txBody>
      </p:sp>
    </p:spTree>
    <p:extLst>
      <p:ext uri="{BB962C8B-B14F-4D97-AF65-F5344CB8AC3E}">
        <p14:creationId xmlns:p14="http://schemas.microsoft.com/office/powerpoint/2010/main" val="10240027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4572000" y="0"/>
            <a:ext cx="4572000" cy="68640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101168" y="1445345"/>
            <a:ext cx="3429000" cy="3059647"/>
          </a:xfrm>
        </p:spPr>
        <p:txBody>
          <a:bodyPr anchor="t"/>
          <a:lstStyle>
            <a:lvl1pPr algn="l">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a:xfrm>
            <a:off x="5101167" y="5904194"/>
            <a:ext cx="3433231" cy="365125"/>
          </a:xfrm>
          <a:prstGeom prst="rect">
            <a:avLst/>
          </a:prstGeom>
        </p:spPr>
        <p:txBody>
          <a:bodyPr/>
          <a:lstStyle>
            <a:lvl1pPr>
              <a:defRPr sz="1600">
                <a:solidFill>
                  <a:schemeClr val="bg2">
                    <a:lumMod val="60000"/>
                    <a:lumOff val="40000"/>
                  </a:schemeClr>
                </a:solidFill>
              </a:defRPr>
            </a:lvl1pPr>
          </a:lstStyle>
          <a:p>
            <a:endParaRPr lang="en-US" dirty="0"/>
          </a:p>
        </p:txBody>
      </p:sp>
      <p:sp>
        <p:nvSpPr>
          <p:cNvPr id="5" name="Footer Placeholder 4"/>
          <p:cNvSpPr>
            <a:spLocks noGrp="1"/>
          </p:cNvSpPr>
          <p:nvPr>
            <p:ph type="ftr" sz="quarter" idx="11"/>
          </p:nvPr>
        </p:nvSpPr>
        <p:spPr>
          <a:xfrm>
            <a:off x="742950" y="6356351"/>
            <a:ext cx="3086100" cy="365125"/>
          </a:xfrm>
        </p:spPr>
        <p:txBody>
          <a:bodyPr/>
          <a:lstStyle>
            <a:lvl1pPr>
              <a:defRPr>
                <a:solidFill>
                  <a:schemeClr val="tx1"/>
                </a:solidFill>
              </a:defRPr>
            </a:lvl1pPr>
          </a:lstStyle>
          <a:p>
            <a:pPr>
              <a:spcAft>
                <a:spcPts val="300"/>
              </a:spcAft>
            </a:pPr>
            <a:r>
              <a:rPr lang="en-US" dirty="0"/>
              <a:t>CONFIDENTIAL DO NOT DISTRIBUTE</a:t>
            </a:r>
          </a:p>
        </p:txBody>
      </p:sp>
      <p:sp>
        <p:nvSpPr>
          <p:cNvPr id="7" name="Text Placeholder 51">
            <a:extLst>
              <a:ext uri="{FF2B5EF4-FFF2-40B4-BE49-F238E27FC236}">
                <a16:creationId xmlns:a16="http://schemas.microsoft.com/office/drawing/2014/main" id="{A1A21E0E-34CB-46D3-A141-7DEA284EE4A8}"/>
              </a:ext>
            </a:extLst>
          </p:cNvPr>
          <p:cNvSpPr>
            <a:spLocks noGrp="1"/>
          </p:cNvSpPr>
          <p:nvPr>
            <p:ph type="body" sz="quarter" idx="16" hasCustomPrompt="1"/>
          </p:nvPr>
        </p:nvSpPr>
        <p:spPr>
          <a:xfrm>
            <a:off x="5101168" y="5154389"/>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Name</a:t>
            </a:r>
          </a:p>
        </p:txBody>
      </p:sp>
      <p:sp>
        <p:nvSpPr>
          <p:cNvPr id="8" name="Text Placeholder 51">
            <a:extLst>
              <a:ext uri="{FF2B5EF4-FFF2-40B4-BE49-F238E27FC236}">
                <a16:creationId xmlns:a16="http://schemas.microsoft.com/office/drawing/2014/main" id="{2D78E484-5EEE-4DE7-9FD5-EFD3F6A4643B}"/>
              </a:ext>
            </a:extLst>
          </p:cNvPr>
          <p:cNvSpPr>
            <a:spLocks noGrp="1"/>
          </p:cNvSpPr>
          <p:nvPr>
            <p:ph type="body" sz="quarter" idx="17" hasCustomPrompt="1"/>
          </p:nvPr>
        </p:nvSpPr>
        <p:spPr>
          <a:xfrm>
            <a:off x="5101168" y="5434126"/>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Title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dirty="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321"/>
          <a:stretch/>
        </p:blipFill>
        <p:spPr>
          <a:xfrm>
            <a:off x="936790" y="2665898"/>
            <a:ext cx="3469844" cy="1548465"/>
          </a:xfrm>
          <a:prstGeom prst="rect">
            <a:avLst/>
          </a:prstGeom>
        </p:spPr>
      </p:pic>
    </p:spTree>
    <p:extLst>
      <p:ext uri="{BB962C8B-B14F-4D97-AF65-F5344CB8AC3E}">
        <p14:creationId xmlns:p14="http://schemas.microsoft.com/office/powerpoint/2010/main" val="331790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750" fill="hold"/>
                                        <p:tgtEl>
                                          <p:spTgt spid="13"/>
                                        </p:tgtEl>
                                        <p:attrNameLst>
                                          <p:attrName>ppt_x</p:attrName>
                                        </p:attrNameLst>
                                      </p:cBhvr>
                                      <p:tavLst>
                                        <p:tav tm="0">
                                          <p:val>
                                            <p:strVal val="0-#ppt_w/2"/>
                                          </p:val>
                                        </p:tav>
                                        <p:tav tm="100000">
                                          <p:val>
                                            <p:strVal val="#ppt_x"/>
                                          </p:val>
                                        </p:tav>
                                      </p:tavLst>
                                    </p:anim>
                                    <p:anim calcmode="lin" valueType="num">
                                      <p:cBhvr additive="base">
                                        <p:cTn id="8" dur="2750" fill="hold"/>
                                        <p:tgtEl>
                                          <p:spTgt spid="1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1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500"/>
                                        <p:tgtEl>
                                          <p:spTgt spid="14"/>
                                        </p:tgtEl>
                                      </p:cBhvr>
                                    </p:animEffect>
                                  </p:childTnLst>
                                </p:cTn>
                              </p:par>
                              <p:par>
                                <p:cTn id="12" presetID="35" presetClass="path" presetSubtype="0" decel="100000" fill="hold" nodeType="withEffect">
                                  <p:stCondLst>
                                    <p:cond delay="1250"/>
                                  </p:stCondLst>
                                  <p:childTnLst>
                                    <p:animMotion origin="layout" path="M 2.5E-6 -3.7037E-7 L -0.02743 -3.7037E-7 " pathEditMode="relative" rAng="0" ptsTypes="AA">
                                      <p:cBhvr>
                                        <p:cTn id="13" dur="1500" spd="-100000" fill="hold"/>
                                        <p:tgtEl>
                                          <p:spTgt spid="14"/>
                                        </p:tgtEl>
                                        <p:attrNameLst>
                                          <p:attrName>ppt_x</p:attrName>
                                          <p:attrName>ppt_y</p:attrName>
                                        </p:attrNameLst>
                                      </p:cBhvr>
                                      <p:rCtr x="-1372" y="0"/>
                                    </p:animMotion>
                                  </p:childTnLst>
                                </p:cTn>
                              </p:par>
                            </p:childTnLst>
                          </p:cTn>
                        </p:par>
                        <p:par>
                          <p:cTn id="14" fill="hold">
                            <p:stCondLst>
                              <p:cond delay="2750"/>
                            </p:stCondLst>
                            <p:childTnLst>
                              <p:par>
                                <p:cTn id="15" presetID="42" presetClass="entr" presetSubtype="0" fill="hold" grpId="0"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nodePh="1">
                                  <p:stCondLst>
                                    <p:cond delay="0"/>
                                  </p:stCondLst>
                                  <p:endCondLst>
                                    <p:cond evt="begin" delay="0">
                                      <p:tn val="30"/>
                                    </p:cond>
                                  </p:end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1000"/>
                                        <p:tgtEl>
                                          <p:spTgt spid="4">
                                            <p:txEl>
                                              <p:pRg st="0" end="0"/>
                                            </p:txEl>
                                          </p:spTgt>
                                        </p:tgtEl>
                                      </p:cBhvr>
                                    </p:animEffect>
                                    <p:anim calcmode="lin" valueType="num">
                                      <p:cBhvr>
                                        <p:cTn id="3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7" grpId="0" build="p">
        <p:tmplLst>
          <p:tmpl lvl="1">
            <p:tnLst>
              <p:par>
                <p:cTn presetID="42" presetClass="entr" presetSubtype="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2"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ppt_x</p:attrName>
                        </p:attrNameLst>
                      </p:cBhvr>
                      <p:tavLst>
                        <p:tav tm="0">
                          <p:val>
                            <p:strVal val="#ppt_x"/>
                          </p:val>
                        </p:tav>
                        <p:tav tm="100000">
                          <p:val>
                            <p:strVal val="#ppt_x"/>
                          </p:val>
                        </p:tav>
                      </p:tavLst>
                    </p:anim>
                    <p:anim calcmode="lin" valueType="num">
                      <p:cBhvr>
                        <p:cTn dur="1000" fill="hold"/>
                        <p:tgtEl>
                          <p:spTgt spid="8"/>
                        </p:tgtEl>
                        <p:attrNameLst>
                          <p:attrName>ppt_y</p:attrName>
                        </p:attrNameLst>
                      </p:cBhvr>
                      <p:tavLst>
                        <p:tav tm="0">
                          <p:val>
                            <p:strVal val="#ppt_y+.1"/>
                          </p:val>
                        </p:tav>
                        <p:tav tm="100000">
                          <p:val>
                            <p:strVal val="#ppt_y"/>
                          </p:val>
                        </p:tav>
                      </p:tavLst>
                    </p:anim>
                  </p:childTnLst>
                </p:cTn>
              </p:par>
            </p:tnLst>
          </p:tmpl>
        </p:tmplLst>
      </p:bldP>
      <p:bldP spid="13"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lvl1pPr>
          </a:lstStyle>
          <a:p>
            <a:pPr>
              <a:spcAft>
                <a:spcPts val="300"/>
              </a:spcAft>
            </a:pPr>
            <a:r>
              <a:rPr lang="en-US" dirty="0"/>
              <a:t>CONFIDENTIAL DO NOT DISTRIBUTE</a:t>
            </a:r>
          </a:p>
        </p:txBody>
      </p:sp>
      <p:sp>
        <p:nvSpPr>
          <p:cNvPr id="9" name="Freeform: Shape 8">
            <a:extLst>
              <a:ext uri="{FF2B5EF4-FFF2-40B4-BE49-F238E27FC236}">
                <a16:creationId xmlns:a16="http://schemas.microsoft.com/office/drawing/2014/main" id="{E00957E1-7385-4372-958A-08F6E48CF842}"/>
              </a:ext>
            </a:extLst>
          </p:cNvPr>
          <p:cNvSpPr>
            <a:spLocks noChangeArrowheads="1"/>
          </p:cNvSpPr>
          <p:nvPr userDrawn="1"/>
        </p:nvSpPr>
        <p:spPr bwMode="auto">
          <a:xfrm>
            <a:off x="0" y="3823012"/>
            <a:ext cx="8229600" cy="54864"/>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lt1"/>
              </a:solidFill>
            </a:endParaRPr>
          </a:p>
        </p:txBody>
      </p:sp>
      <p:sp>
        <p:nvSpPr>
          <p:cNvPr id="3" name="Section Divider Title">
            <a:extLst>
              <a:ext uri="{FF2B5EF4-FFF2-40B4-BE49-F238E27FC236}">
                <a16:creationId xmlns:a16="http://schemas.microsoft.com/office/drawing/2014/main" id="{4E2D8BF0-9312-4079-A0C6-A9039E405EB5}"/>
              </a:ext>
            </a:extLst>
          </p:cNvPr>
          <p:cNvSpPr>
            <a:spLocks noGrp="1"/>
          </p:cNvSpPr>
          <p:nvPr>
            <p:ph type="body" sz="quarter" idx="12" hasCustomPrompt="1"/>
          </p:nvPr>
        </p:nvSpPr>
        <p:spPr>
          <a:xfrm>
            <a:off x="921880" y="1796142"/>
            <a:ext cx="7399343" cy="1959549"/>
          </a:xfrm>
        </p:spPr>
        <p:txBody>
          <a:bodyPr anchor="b">
            <a:normAutofit/>
          </a:bodyPr>
          <a:lstStyle>
            <a:lvl1pPr marL="0" indent="0" algn="r">
              <a:buNone/>
              <a:defRPr sz="4000" baseline="0">
                <a:solidFill>
                  <a:schemeClr val="bg1"/>
                </a:solidFill>
                <a:latin typeface="+mj-lt"/>
              </a:defRPr>
            </a:lvl1pPr>
            <a:lvl2pPr marL="457200" indent="0">
              <a:buNone/>
              <a:defRPr/>
            </a:lvl2pPr>
          </a:lstStyle>
          <a:p>
            <a:pPr lvl="0"/>
            <a:r>
              <a:rPr lang="en-US">
                <a:latin typeface="+mj-lt"/>
              </a:rPr>
              <a:t>Click to edit Master title style</a:t>
            </a:r>
            <a:endParaRPr lang="en-US"/>
          </a:p>
        </p:txBody>
      </p:sp>
      <p:sp>
        <p:nvSpPr>
          <p:cNvPr id="6" name="Subtitle">
            <a:extLst>
              <a:ext uri="{FF2B5EF4-FFF2-40B4-BE49-F238E27FC236}">
                <a16:creationId xmlns:a16="http://schemas.microsoft.com/office/drawing/2014/main" id="{1C918C49-2DED-4376-A852-85D9A03B1807}"/>
              </a:ext>
            </a:extLst>
          </p:cNvPr>
          <p:cNvSpPr>
            <a:spLocks noGrp="1"/>
          </p:cNvSpPr>
          <p:nvPr>
            <p:ph type="body" sz="quarter" idx="13" hasCustomPrompt="1"/>
          </p:nvPr>
        </p:nvSpPr>
        <p:spPr>
          <a:xfrm>
            <a:off x="921880" y="4016103"/>
            <a:ext cx="7399343" cy="1089025"/>
          </a:xfrm>
        </p:spPr>
        <p:txBody>
          <a:bodyPr/>
          <a:lstStyle>
            <a:lvl1pPr marL="0" indent="0" algn="r">
              <a:buNone/>
              <a:defRPr>
                <a:solidFill>
                  <a:schemeClr val="bg1"/>
                </a:solidFill>
              </a:defRPr>
            </a:lvl1pPr>
            <a:lvl2pPr marL="457200" indent="0">
              <a:buNone/>
              <a:defRPr/>
            </a:lvl2pPr>
          </a:lstStyle>
          <a:p>
            <a:pPr lvl="0"/>
            <a:r>
              <a:rPr lang="en-US"/>
              <a:t>Click to edit Master subtitle style</a:t>
            </a:r>
          </a:p>
        </p:txBody>
      </p:sp>
    </p:spTree>
    <p:extLst>
      <p:ext uri="{BB962C8B-B14F-4D97-AF65-F5344CB8AC3E}">
        <p14:creationId xmlns:p14="http://schemas.microsoft.com/office/powerpoint/2010/main" val="321490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35" presetClass="path" presetSubtype="0" decel="100000" fill="hold" grpId="1" nodeType="withEffect">
                                  <p:stCondLst>
                                    <p:cond delay="1250"/>
                                  </p:stCondLst>
                                  <p:childTnLst>
                                    <p:animMotion origin="layout" path="M -1.94444E-6 3.7037E-7 L -0.02482 3.7037E-7 " pathEditMode="relative" rAng="0" ptsTypes="AA">
                                      <p:cBhvr>
                                        <p:cTn id="9" dur="1500" spd="-100000" fill="hold"/>
                                        <p:tgtEl>
                                          <p:spTgt spid="3"/>
                                        </p:tgtEl>
                                        <p:attrNameLst>
                                          <p:attrName>ppt_x</p:attrName>
                                          <p:attrName>ppt_y</p:attrName>
                                        </p:attrNameLst>
                                      </p:cBhvr>
                                      <p:rCtr x="-1250" y="0"/>
                                    </p:animMotion>
                                  </p:childTnLst>
                                </p:cTn>
                              </p:par>
                              <p:par>
                                <p:cTn id="10" presetID="10" presetClass="entr" presetSubtype="0" fill="hold" grpId="0" nodeType="withEffect">
                                  <p:stCondLst>
                                    <p:cond delay="1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par>
                                <p:cTn id="13" presetID="35" presetClass="path" presetSubtype="0" decel="100000" fill="hold" grpId="1" nodeType="withEffect">
                                  <p:stCondLst>
                                    <p:cond delay="1250"/>
                                  </p:stCondLst>
                                  <p:childTnLst>
                                    <p:animMotion origin="layout" path="M -1.94444E-6 3.7037E-6 L -0.02482 3.7037E-6 " pathEditMode="relative" rAng="0" ptsTypes="AA">
                                      <p:cBhvr>
                                        <p:cTn id="14" dur="1500" spd="-100000" fill="hold"/>
                                        <p:tgtEl>
                                          <p:spTgt spid="6"/>
                                        </p:tgtEl>
                                        <p:attrNameLst>
                                          <p:attrName>ppt_x</p:attrName>
                                          <p:attrName>ppt_y</p:attrName>
                                        </p:attrNameLst>
                                      </p:cBhvr>
                                      <p:rCtr x="-1250" y="0"/>
                                    </p:animMotion>
                                  </p:childTnLst>
                                </p:cTn>
                              </p:par>
                              <p:par>
                                <p:cTn id="15" presetID="2" presetClass="entr" presetSubtype="8"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2750" fill="hold"/>
                                        <p:tgtEl>
                                          <p:spTgt spid="9"/>
                                        </p:tgtEl>
                                        <p:attrNameLst>
                                          <p:attrName>ppt_x</p:attrName>
                                        </p:attrNameLst>
                                      </p:cBhvr>
                                      <p:tavLst>
                                        <p:tav tm="0">
                                          <p:val>
                                            <p:strVal val="0-#ppt_w/2"/>
                                          </p:val>
                                        </p:tav>
                                        <p:tav tm="100000">
                                          <p:val>
                                            <p:strVal val="#ppt_x"/>
                                          </p:val>
                                        </p:tav>
                                      </p:tavLst>
                                    </p:anim>
                                    <p:anim calcmode="lin" valueType="num">
                                      <p:cBhvr additive="base">
                                        <p:cTn id="18" dur="2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tmplLst>
          <p:tmpl>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500"/>
                        <p:tgtEl>
                          <p:spTgt spid="3"/>
                        </p:tgtEl>
                      </p:cBhvr>
                    </p:animEffect>
                  </p:childTnLst>
                </p:cTn>
              </p:par>
            </p:tnLst>
          </p:tmpl>
        </p:tmplLst>
      </p:bldP>
      <p:bldP spid="3" grpId="1">
        <p:tmplLst>
          <p:tmpl>
            <p:tnLst>
              <p:par>
                <p:cTn presetID="35" presetClass="path" presetSubtype="0" decel="100000" fill="hold" nodeType="withEffect">
                  <p:stCondLst>
                    <p:cond delay="1250"/>
                  </p:stCondLst>
                  <p:childTnLst>
                    <p:animMotion origin="layout" path="M -1.94444E-6 3.7037E-7 L -0.02482 3.7037E-7 " pathEditMode="relative" rAng="0" ptsTypes="AA">
                      <p:cBhvr>
                        <p:cTn dur="1500" spd="-100000" fill="hold"/>
                        <p:tgtEl>
                          <p:spTgt spid="3"/>
                        </p:tgtEl>
                        <p:attrNameLst>
                          <p:attrName>ppt_x</p:attrName>
                          <p:attrName>ppt_y</p:attrName>
                        </p:attrNameLst>
                      </p:cBhvr>
                      <p:rCtr x="-1250" y="0"/>
                    </p:animMotion>
                  </p:childTnLst>
                </p:cTn>
              </p:par>
            </p:tnLst>
          </p:tmpl>
        </p:tmplLst>
      </p:bldP>
      <p:bldP spid="6" grpId="0">
        <p:tmplLst>
          <p:tmpl>
            <p:tnLst>
              <p:par>
                <p:cTn presetID="10" presetClass="entr" presetSubtype="0" fill="hold" nodeType="withEffect">
                  <p:stCondLst>
                    <p:cond delay="1250"/>
                  </p:stCondLst>
                  <p:childTnLst>
                    <p:set>
                      <p:cBhvr>
                        <p:cTn dur="1" fill="hold">
                          <p:stCondLst>
                            <p:cond delay="0"/>
                          </p:stCondLst>
                        </p:cTn>
                        <p:tgtEl>
                          <p:spTgt spid="6"/>
                        </p:tgtEl>
                        <p:attrNameLst>
                          <p:attrName>style.visibility</p:attrName>
                        </p:attrNameLst>
                      </p:cBhvr>
                      <p:to>
                        <p:strVal val="visible"/>
                      </p:to>
                    </p:set>
                    <p:animEffect transition="in" filter="fade">
                      <p:cBhvr>
                        <p:cTn dur="1500"/>
                        <p:tgtEl>
                          <p:spTgt spid="6"/>
                        </p:tgtEl>
                      </p:cBhvr>
                    </p:animEffect>
                  </p:childTnLst>
                </p:cTn>
              </p:par>
            </p:tnLst>
          </p:tmpl>
        </p:tmplLst>
      </p:bldP>
      <p:bldP spid="6" grpId="1">
        <p:tmplLst>
          <p:tmpl>
            <p:tnLst>
              <p:par>
                <p:cTn presetID="35" presetClass="path" presetSubtype="0" decel="100000" fill="hold" nodeType="withEffect">
                  <p:stCondLst>
                    <p:cond delay="1250"/>
                  </p:stCondLst>
                  <p:childTnLst>
                    <p:animMotion origin="layout" path="M -1.94444E-6 3.7037E-6 L -0.02482 3.7037E-6 " pathEditMode="relative" rAng="0" ptsTypes="AA">
                      <p:cBhvr>
                        <p:cTn dur="1500" spd="-100000" fill="hold"/>
                        <p:tgtEl>
                          <p:spTgt spid="6"/>
                        </p:tgtEl>
                        <p:attrNameLst>
                          <p:attrName>ppt_x</p:attrName>
                          <p:attrName>ppt_y</p:attrName>
                        </p:attrNameLst>
                      </p:cBhvr>
                      <p:rCtr x="-1250" y="0"/>
                    </p:animMotion>
                  </p:childTnLst>
                </p:cTn>
              </p:par>
            </p:tnLst>
          </p:tmpl>
        </p:tmplLst>
      </p:bldP>
    </p:bld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Placeholder"/>
          <p:cNvSpPr>
            <a:spLocks noGrp="1"/>
          </p:cNvSpPr>
          <p:nvPr>
            <p:ph type="title"/>
          </p:nvPr>
        </p:nvSpPr>
        <p:spPr>
          <a:xfrm>
            <a:off x="521953" y="349430"/>
            <a:ext cx="8088319" cy="396219"/>
          </a:xfrm>
        </p:spPr>
        <p:txBody>
          <a:bodyPr/>
          <a:lstStyle/>
          <a:p>
            <a:r>
              <a:rPr lang="en-US"/>
              <a:t>Click to edit Master title style</a:t>
            </a:r>
          </a:p>
        </p:txBody>
      </p:sp>
      <p:sp>
        <p:nvSpPr>
          <p:cNvPr id="3" name="Content Placeholder"/>
          <p:cNvSpPr>
            <a:spLocks noGrp="1"/>
          </p:cNvSpPr>
          <p:nvPr>
            <p:ph idx="1"/>
          </p:nvPr>
        </p:nvSpPr>
        <p:spPr>
          <a:xfrm>
            <a:off x="521953" y="1383847"/>
            <a:ext cx="8094997" cy="4391456"/>
          </a:xfrm>
        </p:spPr>
        <p:txBody>
          <a:bodyPr/>
          <a:lstStyle>
            <a:lvl2pPr marL="457200">
              <a:defRPr/>
            </a:lvl2pPr>
            <a:lvl3pPr marL="685800">
              <a:defRPr/>
            </a:lvl3pPr>
            <a:lvl4pPr marL="914400">
              <a:defRPr/>
            </a:lvl4pPr>
            <a:lvl5pPr marL="1143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p:txBody>
          <a:bodyPr/>
          <a:lstStyle>
            <a:lvl1pPr>
              <a:defRPr/>
            </a:lvl1pPr>
          </a:lstStyle>
          <a:p>
            <a:pPr>
              <a:spcAft>
                <a:spcPts val="300"/>
              </a:spcAft>
            </a:pPr>
            <a:r>
              <a:rPr lang="en-US" dirty="0"/>
              <a:t>CONFIDENTIAL DO NOT DISTRIBUTE</a:t>
            </a:r>
            <a:endParaRPr lang="en-US" sz="800" dirty="0"/>
          </a:p>
        </p:txBody>
      </p:sp>
      <p:sp>
        <p:nvSpPr>
          <p:cNvPr id="6" name="Slide Number Placeholder"/>
          <p:cNvSpPr>
            <a:spLocks noGrp="1"/>
          </p:cNvSpPr>
          <p:nvPr>
            <p:ph type="sldNum" sz="quarter" idx="12"/>
          </p:nvPr>
        </p:nvSpPr>
        <p:spPr/>
        <p:txBody>
          <a:bodyPr/>
          <a:lstStyle/>
          <a:p>
            <a:fld id="{D4F07938-7C1D-46C8-9535-2404A951C984}" type="slidenum">
              <a:rPr lang="en-US" smtClean="0"/>
              <a:t>‹#›</a:t>
            </a:fld>
            <a:endParaRPr lang="en-US" dirty="0"/>
          </a:p>
        </p:txBody>
      </p:sp>
      <p:sp>
        <p:nvSpPr>
          <p:cNvPr id="7" name="Subtitle Placeholder">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10" name="Footnote Placeholder">
            <a:extLst>
              <a:ext uri="{FF2B5EF4-FFF2-40B4-BE49-F238E27FC236}">
                <a16:creationId xmlns:a16="http://schemas.microsoft.com/office/drawing/2014/main" id="{02A5A177-C406-4C26-AEC6-86866B5E8C37}"/>
              </a:ext>
            </a:extLst>
          </p:cNvPr>
          <p:cNvSpPr>
            <a:spLocks noGrp="1"/>
          </p:cNvSpPr>
          <p:nvPr>
            <p:ph type="body" sz="quarter" idx="14"/>
          </p:nvPr>
        </p:nvSpPr>
        <p:spPr>
          <a:xfrm>
            <a:off x="521953" y="5832453"/>
            <a:ext cx="8087977" cy="282598"/>
          </a:xfrm>
        </p:spPr>
        <p:txBody>
          <a:bodyPr anchor="b">
            <a:noAutofit/>
          </a:bodyPr>
          <a:lstStyle>
            <a:lvl1pPr marL="0" indent="0">
              <a:buNone/>
              <a:defRPr sz="700">
                <a:solidFill>
                  <a:schemeClr val="tx1"/>
                </a:solidFill>
              </a:defRPr>
            </a:lvl1pPr>
          </a:lstStyle>
          <a:p>
            <a:pPr lvl="0"/>
            <a:endParaRPr lang="en-US"/>
          </a:p>
        </p:txBody>
      </p:sp>
    </p:spTree>
    <p:extLst>
      <p:ext uri="{BB962C8B-B14F-4D97-AF65-F5344CB8AC3E}">
        <p14:creationId xmlns:p14="http://schemas.microsoft.com/office/powerpoint/2010/main" val="532337829"/>
      </p:ext>
    </p:extLst>
  </p:cSld>
  <p:clrMapOvr>
    <a:masterClrMapping/>
  </p:clrMapOvr>
  <p:hf hdr="0" dt="0"/>
  <p:extLst>
    <p:ext uri="{DCECCB84-F9BA-43D5-87BE-67443E8EF086}">
      <p15:sldGuideLst xmlns:p15="http://schemas.microsoft.com/office/powerpoint/2012/main">
        <p15:guide id="1" orient="horz" pos="1104" userDrawn="1">
          <p15:clr>
            <a:srgbClr val="9FCC3B"/>
          </p15:clr>
        </p15:guide>
        <p15:guide id="2" orient="horz" pos="936" userDrawn="1">
          <p15:clr>
            <a:srgbClr val="9FCC3B"/>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5" name="Footer Placeholder 4"/>
          <p:cNvSpPr>
            <a:spLocks noGrp="1"/>
          </p:cNvSpPr>
          <p:nvPr>
            <p:ph type="ftr" sz="quarter" idx="11"/>
          </p:nvPr>
        </p:nvSpPr>
        <p:spPr/>
        <p:txBody>
          <a:bodyPr>
            <a:noAutofit/>
          </a:bodyPr>
          <a:lstStyle/>
          <a:p>
            <a:r>
              <a:rPr lang="en-US" dirty="0"/>
              <a:t>CONFIDENTIAL DO NOT DISTRIBUTE</a:t>
            </a:r>
          </a:p>
        </p:txBody>
      </p:sp>
      <p:sp>
        <p:nvSpPr>
          <p:cNvPr id="6" name="Slide Number Placeholder 5"/>
          <p:cNvSpPr>
            <a:spLocks noGrp="1"/>
          </p:cNvSpPr>
          <p:nvPr>
            <p:ph type="sldNum" sz="quarter" idx="12"/>
          </p:nvPr>
        </p:nvSpPr>
        <p:spPr/>
        <p:txBody>
          <a:bodyPr>
            <a:noAutofit/>
          </a:bodyPr>
          <a:lstStyle/>
          <a:p>
            <a:fld id="{D4F07938-7C1D-46C8-9535-2404A951C984}" type="slidenum">
              <a:rPr lang="en-US" smtClean="0"/>
              <a:t>‹#›</a:t>
            </a:fld>
            <a:endParaRPr lang="en-US" dirty="0"/>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3992897"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4629149" y="1383846"/>
            <a:ext cx="3981115"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485899"/>
            <a:ext cx="0" cy="4297680"/>
          </a:xfrm>
          <a:noFill/>
          <a:ln w="3175">
            <a:solidFill>
              <a:schemeClr val="bg1">
                <a:lumMod val="65000"/>
              </a:schemeClr>
            </a:solidFill>
          </a:ln>
        </p:spPr>
        <p:txBody>
          <a:bodyPr>
            <a:noAutofit/>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1279970961"/>
      </p:ext>
    </p:extLst>
  </p:cSld>
  <p:clrMapOvr>
    <a:masterClrMapping/>
  </p:clrMapOvr>
  <p:extLst>
    <p:ext uri="{DCECCB84-F9BA-43D5-87BE-67443E8EF086}">
      <p15:sldGuideLst xmlns:p15="http://schemas.microsoft.com/office/powerpoint/2012/main">
        <p15:guide id="1" orient="horz" pos="936" userDrawn="1">
          <p15:clr>
            <a:srgbClr val="9FCC3B"/>
          </p15:clr>
        </p15:guide>
        <p15:guide id="2" orient="horz" pos="1104"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dirty="0"/>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dirty="0"/>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375985"/>
            <a:ext cx="0" cy="457200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Content Placeholder 2">
            <a:extLst>
              <a:ext uri="{FF2B5EF4-FFF2-40B4-BE49-F238E27FC236}">
                <a16:creationId xmlns:a16="http://schemas.microsoft.com/office/drawing/2014/main" id="{A7DA370D-E409-442A-BE52-9CD43AE1107C}"/>
              </a:ext>
            </a:extLst>
          </p:cNvPr>
          <p:cNvSpPr>
            <a:spLocks noGrp="1"/>
          </p:cNvSpPr>
          <p:nvPr>
            <p:ph sz="half" idx="21"/>
          </p:nvPr>
        </p:nvSpPr>
        <p:spPr>
          <a:xfrm>
            <a:off x="609431" y="2227563"/>
            <a:ext cx="3886200"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A136D031-1688-4D3E-9953-9488DDFF5EC1}"/>
              </a:ext>
            </a:extLst>
          </p:cNvPr>
          <p:cNvSpPr>
            <a:spLocks noGrp="1"/>
          </p:cNvSpPr>
          <p:nvPr>
            <p:ph sz="half" idx="22"/>
          </p:nvPr>
        </p:nvSpPr>
        <p:spPr>
          <a:xfrm>
            <a:off x="4645479" y="2227563"/>
            <a:ext cx="3887391"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AF0A6AB6-36B9-4441-B946-8B83F968797E}"/>
              </a:ext>
            </a:extLst>
          </p:cNvPr>
          <p:cNvSpPr>
            <a:spLocks noGrp="1"/>
          </p:cNvSpPr>
          <p:nvPr>
            <p:ph type="body" idx="1" hasCustomPrompt="1"/>
          </p:nvPr>
        </p:nvSpPr>
        <p:spPr>
          <a:xfrm>
            <a:off x="609432" y="1375985"/>
            <a:ext cx="3886200" cy="732999"/>
          </a:xfrm>
          <a:solidFill>
            <a:schemeClr val="bg2"/>
          </a:solidFill>
        </p:spPr>
        <p:txBody>
          <a:bodyPr anchor="ctr">
            <a:noAutofit/>
          </a:bodyP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15" name="Text Placeholder 4">
            <a:extLst>
              <a:ext uri="{FF2B5EF4-FFF2-40B4-BE49-F238E27FC236}">
                <a16:creationId xmlns:a16="http://schemas.microsoft.com/office/drawing/2014/main" id="{3D0ACAF1-CE3C-48B5-91CD-AB8AF06B8CF2}"/>
              </a:ext>
            </a:extLst>
          </p:cNvPr>
          <p:cNvSpPr>
            <a:spLocks noGrp="1"/>
          </p:cNvSpPr>
          <p:nvPr>
            <p:ph type="body" sz="quarter" idx="3" hasCustomPrompt="1"/>
          </p:nvPr>
        </p:nvSpPr>
        <p:spPr>
          <a:xfrm>
            <a:off x="4645479" y="1375985"/>
            <a:ext cx="3887391" cy="741489"/>
          </a:xfrm>
          <a:solidFill>
            <a:schemeClr val="tx2"/>
          </a:solidFill>
        </p:spPr>
        <p:txBody>
          <a:bodyPr anchor="ct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Tree>
    <p:extLst>
      <p:ext uri="{BB962C8B-B14F-4D97-AF65-F5344CB8AC3E}">
        <p14:creationId xmlns:p14="http://schemas.microsoft.com/office/powerpoint/2010/main" val="344291597"/>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CONFIDENTIAL DO NOT DISTRIBUTE</a:t>
            </a:r>
          </a:p>
        </p:txBody>
      </p:sp>
      <p:sp>
        <p:nvSpPr>
          <p:cNvPr id="5" name="Slide Number Placeholder 4"/>
          <p:cNvSpPr>
            <a:spLocks noGrp="1"/>
          </p:cNvSpPr>
          <p:nvPr>
            <p:ph type="sldNum" sz="quarter" idx="12"/>
          </p:nvPr>
        </p:nvSpPr>
        <p:spPr/>
        <p:txBody>
          <a:bodyPr/>
          <a:lstStyle/>
          <a:p>
            <a:fld id="{D4F07938-7C1D-46C8-9535-2404A951C984}" type="slidenum">
              <a:rPr lang="en-US" smtClean="0"/>
              <a:t>‹#›</a:t>
            </a:fld>
            <a:endParaRPr lang="en-US" dirty="0"/>
          </a:p>
        </p:txBody>
      </p:sp>
      <p:sp>
        <p:nvSpPr>
          <p:cNvPr id="14" name="Text Placeholder 13">
            <a:extLst>
              <a:ext uri="{FF2B5EF4-FFF2-40B4-BE49-F238E27FC236}">
                <a16:creationId xmlns:a16="http://schemas.microsoft.com/office/drawing/2014/main" id="{D8BD46AF-A5A5-4B10-814A-2FB521643AF8}"/>
              </a:ext>
            </a:extLst>
          </p:cNvPr>
          <p:cNvSpPr>
            <a:spLocks noGrp="1"/>
          </p:cNvSpPr>
          <p:nvPr>
            <p:ph type="body" sz="quarter" idx="13" hasCustomPrompt="1"/>
          </p:nvPr>
        </p:nvSpPr>
        <p:spPr>
          <a:xfrm>
            <a:off x="522368"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15" name="Text Placeholder 13">
            <a:extLst>
              <a:ext uri="{FF2B5EF4-FFF2-40B4-BE49-F238E27FC236}">
                <a16:creationId xmlns:a16="http://schemas.microsoft.com/office/drawing/2014/main" id="{B6731277-5F54-4FDD-A117-A6405D49886C}"/>
              </a:ext>
            </a:extLst>
          </p:cNvPr>
          <p:cNvSpPr>
            <a:spLocks noGrp="1"/>
          </p:cNvSpPr>
          <p:nvPr>
            <p:ph type="body" sz="quarter" idx="14" hasCustomPrompt="1"/>
          </p:nvPr>
        </p:nvSpPr>
        <p:spPr>
          <a:xfrm>
            <a:off x="3439830" y="1682749"/>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solidFill>
                  <a:schemeClr val="bg2"/>
                </a:solidFill>
              </a:defRPr>
            </a:lvl2pPr>
          </a:lstStyle>
          <a:p>
            <a:pPr lvl="0"/>
            <a:r>
              <a:rPr lang="en-US"/>
              <a:t>Click to edit text styles</a:t>
            </a:r>
          </a:p>
        </p:txBody>
      </p:sp>
      <p:sp>
        <p:nvSpPr>
          <p:cNvPr id="16" name="Text Placeholder 13">
            <a:extLst>
              <a:ext uri="{FF2B5EF4-FFF2-40B4-BE49-F238E27FC236}">
                <a16:creationId xmlns:a16="http://schemas.microsoft.com/office/drawing/2014/main" id="{62DED061-CB5A-4E72-8682-F6A43103BC46}"/>
              </a:ext>
            </a:extLst>
          </p:cNvPr>
          <p:cNvSpPr>
            <a:spLocks noGrp="1"/>
          </p:cNvSpPr>
          <p:nvPr>
            <p:ph type="body" sz="quarter" idx="15" hasCustomPrompt="1"/>
          </p:nvPr>
        </p:nvSpPr>
        <p:spPr>
          <a:xfrm>
            <a:off x="6369992"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21" name="Title 20">
            <a:extLst>
              <a:ext uri="{FF2B5EF4-FFF2-40B4-BE49-F238E27FC236}">
                <a16:creationId xmlns:a16="http://schemas.microsoft.com/office/drawing/2014/main" id="{2270ADB5-41F0-48A0-B1CD-13F46FE2BA95}"/>
              </a:ext>
            </a:extLst>
          </p:cNvPr>
          <p:cNvSpPr>
            <a:spLocks noGrp="1"/>
          </p:cNvSpPr>
          <p:nvPr>
            <p:ph type="title"/>
          </p:nvPr>
        </p:nvSpPr>
        <p:spPr/>
        <p:txBody>
          <a:bodyPr/>
          <a:lstStyle/>
          <a:p>
            <a:r>
              <a:rPr lang="en-US"/>
              <a:t>Click to edit Master title style</a:t>
            </a:r>
          </a:p>
        </p:txBody>
      </p:sp>
      <p:sp>
        <p:nvSpPr>
          <p:cNvPr id="23" name="Content Placeholder 22">
            <a:extLst>
              <a:ext uri="{FF2B5EF4-FFF2-40B4-BE49-F238E27FC236}">
                <a16:creationId xmlns:a16="http://schemas.microsoft.com/office/drawing/2014/main" id="{9E51F7F1-6C7D-4A70-91AA-42490A4999C4}"/>
              </a:ext>
            </a:extLst>
          </p:cNvPr>
          <p:cNvSpPr>
            <a:spLocks noGrp="1"/>
          </p:cNvSpPr>
          <p:nvPr>
            <p:ph sz="quarter" idx="19"/>
          </p:nvPr>
        </p:nvSpPr>
        <p:spPr>
          <a:xfrm>
            <a:off x="517926" y="963376"/>
            <a:ext cx="8092440" cy="365760"/>
          </a:xfrm>
        </p:spPr>
        <p:txBody>
          <a:bodyPr/>
          <a:lstStyle>
            <a:lvl1pPr marL="0" indent="0">
              <a:buFontTx/>
              <a:buNone/>
              <a:defRPr>
                <a:solidFill>
                  <a:schemeClr val="bg2"/>
                </a:solidFill>
              </a:defRPr>
            </a:lvl1pPr>
          </a:lstStyle>
          <a:p>
            <a:pPr lvl="0"/>
            <a:r>
              <a:rPr lang="en-US"/>
              <a:t>Click to edit Master text styles</a:t>
            </a:r>
          </a:p>
        </p:txBody>
      </p:sp>
      <p:sp>
        <p:nvSpPr>
          <p:cNvPr id="3" name="Text Placeholder 2">
            <a:extLst>
              <a:ext uri="{FF2B5EF4-FFF2-40B4-BE49-F238E27FC236}">
                <a16:creationId xmlns:a16="http://schemas.microsoft.com/office/drawing/2014/main" id="{756437B4-32EE-462C-A2BA-659C7B55D2E4}"/>
              </a:ext>
            </a:extLst>
          </p:cNvPr>
          <p:cNvSpPr>
            <a:spLocks noGrp="1"/>
          </p:cNvSpPr>
          <p:nvPr>
            <p:ph type="body" sz="quarter" idx="20"/>
          </p:nvPr>
        </p:nvSpPr>
        <p:spPr>
          <a:xfrm flipH="1">
            <a:off x="3086100"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
        <p:nvSpPr>
          <p:cNvPr id="17" name="Text Placeholder 2">
            <a:extLst>
              <a:ext uri="{FF2B5EF4-FFF2-40B4-BE49-F238E27FC236}">
                <a16:creationId xmlns:a16="http://schemas.microsoft.com/office/drawing/2014/main" id="{C1407826-FE85-4277-B5B2-4DF9CAB42B1D}"/>
              </a:ext>
            </a:extLst>
          </p:cNvPr>
          <p:cNvSpPr>
            <a:spLocks noGrp="1"/>
          </p:cNvSpPr>
          <p:nvPr>
            <p:ph type="body" sz="quarter" idx="21"/>
          </p:nvPr>
        </p:nvSpPr>
        <p:spPr>
          <a:xfrm flipH="1">
            <a:off x="6028226"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606489556"/>
      </p:ext>
    </p:extLst>
  </p:cSld>
  <p:clrMapOvr>
    <a:masterClrMapping/>
  </p:clrMapOvr>
  <p:extLst>
    <p:ext uri="{DCECCB84-F9BA-43D5-87BE-67443E8EF086}">
      <p15:sldGuideLst xmlns:p15="http://schemas.microsoft.com/office/powerpoint/2012/main">
        <p15:guide id="1" pos="1944" userDrawn="1">
          <p15:clr>
            <a:srgbClr val="F26B43"/>
          </p15:clr>
        </p15:guide>
        <p15:guide id="2" pos="3792" userDrawn="1">
          <p15:clr>
            <a:srgbClr val="F26B43"/>
          </p15:clr>
        </p15:guide>
        <p15:guide id="3" orient="horz" pos="936" userDrawn="1">
          <p15:clr>
            <a:srgbClr val="9FCC3B"/>
          </p15:clr>
        </p15:guide>
        <p15:guide id="4" orient="horz" pos="1104"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dirty="0"/>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dirty="0"/>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3750733" y="1383846"/>
            <a:ext cx="4859532" cy="46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2347370870"/>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dirty="0"/>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dirty="0"/>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Picture Placeholder 2">
            <a:extLst>
              <a:ext uri="{FF2B5EF4-FFF2-40B4-BE49-F238E27FC236}">
                <a16:creationId xmlns:a16="http://schemas.microsoft.com/office/drawing/2014/main" id="{302EF2E1-7359-4EFE-8794-18338094BC31}"/>
              </a:ext>
            </a:extLst>
          </p:cNvPr>
          <p:cNvSpPr>
            <a:spLocks noGrp="1" noChangeAspect="1"/>
          </p:cNvSpPr>
          <p:nvPr>
            <p:ph type="pic" idx="1"/>
          </p:nvPr>
        </p:nvSpPr>
        <p:spPr>
          <a:xfrm>
            <a:off x="3749481" y="1383846"/>
            <a:ext cx="4859527" cy="467429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2571877516"/>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Slide w/ Log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B03D99-70B0-48F9-888F-CA1668BD87ED}"/>
              </a:ext>
            </a:extLst>
          </p:cNvPr>
          <p:cNvSpPr/>
          <p:nvPr userDrawn="1"/>
        </p:nvSpPr>
        <p:spPr>
          <a:xfrm>
            <a:off x="0" y="6231792"/>
            <a:ext cx="9144000" cy="6322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3EED9D3-C385-41F2-8EF2-ACB0C22CB04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3159" t="2718" r="2168" b="12046"/>
          <a:stretch/>
        </p:blipFill>
        <p:spPr>
          <a:xfrm>
            <a:off x="1" y="6223846"/>
            <a:ext cx="1760258" cy="584549"/>
          </a:xfrm>
          <a:prstGeom prst="rect">
            <a:avLst/>
          </a:prstGeom>
        </p:spPr>
      </p:pic>
      <p:sp>
        <p:nvSpPr>
          <p:cNvPr id="14" name="Content Placeholder 13">
            <a:extLst>
              <a:ext uri="{FF2B5EF4-FFF2-40B4-BE49-F238E27FC236}">
                <a16:creationId xmlns:a16="http://schemas.microsoft.com/office/drawing/2014/main" id="{CA490667-927C-4267-ACED-3C560CBFC007}"/>
              </a:ext>
            </a:extLst>
          </p:cNvPr>
          <p:cNvSpPr>
            <a:spLocks noGrp="1"/>
          </p:cNvSpPr>
          <p:nvPr>
            <p:ph sz="quarter" idx="10"/>
          </p:nvPr>
        </p:nvSpPr>
        <p:spPr>
          <a:xfrm>
            <a:off x="609600" y="342900"/>
            <a:ext cx="79248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40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F6CAE-86BC-4A1E-92A4-8ADB1D3E27CC}"/>
              </a:ext>
            </a:extLst>
          </p:cNvPr>
          <p:cNvSpPr>
            <a:spLocks noGrp="1"/>
          </p:cNvSpPr>
          <p:nvPr>
            <p:ph sz="quarter" idx="10"/>
          </p:nvPr>
        </p:nvSpPr>
        <p:spPr>
          <a:xfrm>
            <a:off x="0" y="0"/>
            <a:ext cx="9144000" cy="685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84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0" y="0"/>
            <a:ext cx="4572000" cy="68640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5101168" y="1904904"/>
            <a:ext cx="3429000" cy="3059647"/>
          </a:xfrm>
        </p:spPr>
        <p:txBody>
          <a:bodyPr anchor="ctr"/>
          <a:lstStyle>
            <a:lvl1pPr algn="l">
              <a:defRPr sz="4000">
                <a:solidFill>
                  <a:schemeClr val="tx2"/>
                </a:solidFill>
              </a:defRPr>
            </a:lvl1pPr>
          </a:lstStyle>
          <a:p>
            <a:r>
              <a:rPr lang="en-US"/>
              <a:t>Click to edit Master title style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dirty="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2676128"/>
            <a:ext cx="3469844" cy="1528004"/>
          </a:xfrm>
          <a:prstGeom prst="rect">
            <a:avLst/>
          </a:prstGeom>
        </p:spPr>
      </p:pic>
    </p:spTree>
    <p:extLst>
      <p:ext uri="{BB962C8B-B14F-4D97-AF65-F5344CB8AC3E}">
        <p14:creationId xmlns:p14="http://schemas.microsoft.com/office/powerpoint/2010/main" val="2822621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marL="214313" indent="-214313">
              <a:spcBef>
                <a:spcPts val="1800"/>
              </a:spcBef>
              <a:defRPr sz="2100"/>
            </a:lvl1pPr>
            <a:lvl2pPr marL="388144" indent="-165497">
              <a:spcBef>
                <a:spcPts val="900"/>
              </a:spcBef>
              <a:buFont typeface="Arial" panose="020B0604020202020204" pitchFamily="34" charset="0"/>
              <a:buChar char="•"/>
              <a:defRPr sz="1650"/>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1560942-3BC7-46EA-989B-E3DD2A1FAD8B}" type="datetime2">
              <a:rPr lang="en-US" smtClean="0"/>
              <a:t>Friday, May 30, 2025</a:t>
            </a:fld>
            <a:endParaRPr lang="en-US" dirty="0"/>
          </a:p>
        </p:txBody>
      </p:sp>
      <p:sp>
        <p:nvSpPr>
          <p:cNvPr id="5" name="Footer Placeholder 4"/>
          <p:cNvSpPr>
            <a:spLocks noGrp="1"/>
          </p:cNvSpPr>
          <p:nvPr>
            <p:ph type="ftr" sz="quarter" idx="11"/>
          </p:nvPr>
        </p:nvSpPr>
        <p:spPr/>
        <p:txBody>
          <a:bodyPr/>
          <a:lstStyle/>
          <a:p>
            <a:r>
              <a:rPr lang="en-US" dirty="0"/>
              <a:t>© 2020 California Endowment</a:t>
            </a:r>
          </a:p>
        </p:txBody>
      </p:sp>
      <p:sp>
        <p:nvSpPr>
          <p:cNvPr id="99" name="Title 9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1862861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BE4C8C-7EA6-4095-99E5-414877032DF4}"/>
              </a:ext>
            </a:extLst>
          </p:cNvPr>
          <p:cNvSpPr/>
          <p:nvPr userDrawn="1"/>
        </p:nvSpPr>
        <p:spPr>
          <a:xfrm>
            <a:off x="0" y="6231792"/>
            <a:ext cx="9144000" cy="632285"/>
          </a:xfrm>
          <a:prstGeom prst="rect">
            <a:avLst/>
          </a:prstGeom>
          <a:solidFill>
            <a:srgbClr val="1B31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8" name="Graphic 7">
            <a:extLst>
              <a:ext uri="{FF2B5EF4-FFF2-40B4-BE49-F238E27FC236}">
                <a16:creationId xmlns:a16="http://schemas.microsoft.com/office/drawing/2014/main" id="{4D6D90C7-D501-4F54-9C82-FA555F25007C}"/>
              </a:ext>
            </a:extLst>
          </p:cNvPr>
          <p:cNvPicPr>
            <a:picLocks noChangeAspect="1"/>
          </p:cNvPicPr>
          <p:nvPr userDrawn="1"/>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l="73159" t="2718" r="2168" b="12046"/>
          <a:stretch/>
        </p:blipFill>
        <p:spPr>
          <a:xfrm>
            <a:off x="1" y="6223846"/>
            <a:ext cx="1760258" cy="584549"/>
          </a:xfrm>
          <a:prstGeom prst="rect">
            <a:avLst/>
          </a:prstGeom>
        </p:spPr>
      </p:pic>
      <p:sp>
        <p:nvSpPr>
          <p:cNvPr id="2" name="Title Placeholder 1"/>
          <p:cNvSpPr>
            <a:spLocks noGrp="1"/>
          </p:cNvSpPr>
          <p:nvPr>
            <p:ph type="title"/>
          </p:nvPr>
        </p:nvSpPr>
        <p:spPr>
          <a:xfrm>
            <a:off x="521953" y="349430"/>
            <a:ext cx="8088319" cy="39621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530831" y="1602211"/>
            <a:ext cx="8088319" cy="446456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368128"/>
            <a:ext cx="3086100" cy="365125"/>
          </a:xfrm>
          <a:prstGeom prst="rect">
            <a:avLst/>
          </a:prstGeom>
        </p:spPr>
        <p:txBody>
          <a:bodyPr vert="horz" lIns="91440" tIns="45720" rIns="91440" bIns="45720" rtlCol="0" anchor="ctr">
            <a:noAutofit/>
          </a:bodyPr>
          <a:lstStyle>
            <a:lvl1pPr algn="ctr">
              <a:defRPr sz="1000">
                <a:solidFill>
                  <a:schemeClr val="bg1"/>
                </a:solidFill>
              </a:defRPr>
            </a:lvl1pPr>
          </a:lstStyle>
          <a:p>
            <a:pPr>
              <a:spcAft>
                <a:spcPts val="300"/>
              </a:spcAft>
            </a:pPr>
            <a:r>
              <a:rPr lang="en-US" dirty="0"/>
              <a:t>CONFIDENTIAL DO NOT DISTRIBUTE</a:t>
            </a:r>
          </a:p>
        </p:txBody>
      </p:sp>
      <p:sp>
        <p:nvSpPr>
          <p:cNvPr id="6" name="Slide Number Placeholder 5"/>
          <p:cNvSpPr>
            <a:spLocks noGrp="1"/>
          </p:cNvSpPr>
          <p:nvPr>
            <p:ph type="sldNum" sz="quarter" idx="4"/>
          </p:nvPr>
        </p:nvSpPr>
        <p:spPr>
          <a:xfrm>
            <a:off x="7494359" y="6356351"/>
            <a:ext cx="1131609" cy="365125"/>
          </a:xfrm>
          <a:prstGeom prst="rect">
            <a:avLst/>
          </a:prstGeom>
        </p:spPr>
        <p:txBody>
          <a:bodyPr vert="horz" lIns="91440" tIns="45720" rIns="91440" bIns="45720" rtlCol="0" anchor="ctr">
            <a:noAutofit/>
          </a:bodyPr>
          <a:lstStyle>
            <a:lvl1pPr algn="r">
              <a:defRPr sz="1000">
                <a:solidFill>
                  <a:schemeClr val="bg1"/>
                </a:solidFill>
              </a:defRPr>
            </a:lvl1pPr>
          </a:lstStyle>
          <a:p>
            <a:fld id="{D4F07938-7C1D-46C8-9535-2404A951C984}" type="slidenum">
              <a:rPr lang="en-US" smtClean="0"/>
              <a:pPr/>
              <a:t>‹#›</a:t>
            </a:fld>
            <a:endParaRPr lang="en-US" dirty="0"/>
          </a:p>
        </p:txBody>
      </p:sp>
      <p:sp>
        <p:nvSpPr>
          <p:cNvPr id="9" name="Freeform: Shape 8">
            <a:extLst>
              <a:ext uri="{FF2B5EF4-FFF2-40B4-BE49-F238E27FC236}">
                <a16:creationId xmlns:a16="http://schemas.microsoft.com/office/drawing/2014/main" id="{EBB73408-C38F-4695-B306-920DE967E6E4}"/>
              </a:ext>
            </a:extLst>
          </p:cNvPr>
          <p:cNvSpPr>
            <a:spLocks noChangeArrowheads="1"/>
          </p:cNvSpPr>
          <p:nvPr userDrawn="1"/>
        </p:nvSpPr>
        <p:spPr bwMode="auto">
          <a:xfrm>
            <a:off x="609600" y="836955"/>
            <a:ext cx="8530588"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1741139792"/>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2" r:id="rId3"/>
    <p:sldLayoutId id="2147483673" r:id="rId4"/>
    <p:sldLayoutId id="2147483685" r:id="rId5"/>
    <p:sldLayoutId id="2147483666" r:id="rId6"/>
    <p:sldLayoutId id="2147483682" r:id="rId7"/>
    <p:sldLayoutId id="2147483683" r:id="rId8"/>
    <p:sldLayoutId id="2147483667" r:id="rId9"/>
    <p:sldLayoutId id="2147483676" r:id="rId10"/>
    <p:sldLayoutId id="2147483677" r:id="rId11"/>
    <p:sldLayoutId id="2147483686" r:id="rId12"/>
  </p:sldLayoutIdLs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384" userDrawn="1">
          <p15:clr>
            <a:srgbClr val="F26B43"/>
          </p15:clr>
        </p15:guide>
        <p15:guide id="4" pos="5376" userDrawn="1">
          <p15:clr>
            <a:srgbClr val="F26B43"/>
          </p15:clr>
        </p15:guide>
        <p15:guide id="5" orient="horz" pos="216" userDrawn="1">
          <p15:clr>
            <a:srgbClr val="F26B43"/>
          </p15:clr>
        </p15:guide>
        <p15:guide id="6" orient="horz" pos="3816" userDrawn="1">
          <p15:clr>
            <a:srgbClr val="F26B43"/>
          </p15:clr>
        </p15:guide>
        <p15:guide id="7" orient="horz" pos="4176" userDrawn="1">
          <p15:clr>
            <a:srgbClr val="F26B43"/>
          </p15:clr>
        </p15:guide>
        <p15:guide id="8"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22F417-A54A-4B74-9EA2-B1C722CA4CA8}"/>
              </a:ext>
            </a:extLst>
          </p:cNvPr>
          <p:cNvSpPr>
            <a:spLocks noGrp="1"/>
          </p:cNvSpPr>
          <p:nvPr>
            <p:ph type="ctrTitle"/>
          </p:nvPr>
        </p:nvSpPr>
        <p:spPr>
          <a:xfrm>
            <a:off x="4702629" y="2342193"/>
            <a:ext cx="4203510" cy="2310226"/>
          </a:xfrm>
        </p:spPr>
        <p:txBody>
          <a:bodyPr/>
          <a:lstStyle/>
          <a:p>
            <a:r>
              <a:rPr lang="en-US" dirty="0"/>
              <a:t>Crisis</a:t>
            </a:r>
            <a:br>
              <a:rPr lang="en-US" dirty="0"/>
            </a:br>
            <a:r>
              <a:rPr lang="en-US" dirty="0"/>
              <a:t>Communications</a:t>
            </a:r>
            <a:br>
              <a:rPr lang="en-US" dirty="0"/>
            </a:br>
            <a:r>
              <a:rPr lang="en-US" dirty="0"/>
              <a:t>Plan </a:t>
            </a:r>
          </a:p>
        </p:txBody>
      </p:sp>
      <p:sp>
        <p:nvSpPr>
          <p:cNvPr id="3" name="Footer Placeholder 2">
            <a:extLst>
              <a:ext uri="{FF2B5EF4-FFF2-40B4-BE49-F238E27FC236}">
                <a16:creationId xmlns:a16="http://schemas.microsoft.com/office/drawing/2014/main" id="{24DAA989-781A-4EEF-BD07-A94DF964DA91}"/>
              </a:ext>
            </a:extLst>
          </p:cNvPr>
          <p:cNvSpPr>
            <a:spLocks noGrp="1"/>
          </p:cNvSpPr>
          <p:nvPr>
            <p:ph type="ftr" sz="quarter" idx="11"/>
          </p:nvPr>
        </p:nvSpPr>
        <p:spPr>
          <a:xfrm>
            <a:off x="1172157" y="6356351"/>
            <a:ext cx="3086100" cy="365125"/>
          </a:xfrm>
        </p:spPr>
        <p:txBody>
          <a:bodyPr/>
          <a:lstStyle/>
          <a:p>
            <a:r>
              <a:rPr lang="en-US" dirty="0"/>
              <a:t>CONFIDENTIAL DO NOT DISTRIBUTE</a:t>
            </a:r>
          </a:p>
        </p:txBody>
      </p:sp>
      <p:sp>
        <p:nvSpPr>
          <p:cNvPr id="9" name="Text Placeholder 8">
            <a:extLst>
              <a:ext uri="{FF2B5EF4-FFF2-40B4-BE49-F238E27FC236}">
                <a16:creationId xmlns:a16="http://schemas.microsoft.com/office/drawing/2014/main" id="{8899BB59-FF6E-4C31-8F4E-62956AB06496}"/>
              </a:ext>
            </a:extLst>
          </p:cNvPr>
          <p:cNvSpPr>
            <a:spLocks noGrp="1"/>
          </p:cNvSpPr>
          <p:nvPr>
            <p:ph type="body" sz="quarter" idx="17"/>
          </p:nvPr>
        </p:nvSpPr>
        <p:spPr/>
        <p:txBody>
          <a:bodyPr vert="horz" lIns="91440" tIns="45720" rIns="91440" bIns="45720" rtlCol="0" anchor="t">
            <a:noAutofit/>
          </a:bodyPr>
          <a:lstStyle/>
          <a:p>
            <a:r>
              <a:rPr lang="en-US" dirty="0"/>
              <a:t>February 2024</a:t>
            </a:r>
          </a:p>
        </p:txBody>
      </p:sp>
    </p:spTree>
    <p:extLst>
      <p:ext uri="{BB962C8B-B14F-4D97-AF65-F5344CB8AC3E}">
        <p14:creationId xmlns:p14="http://schemas.microsoft.com/office/powerpoint/2010/main" val="617399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F7749D-81E2-437E-B630-91D70A8E3C23}"/>
              </a:ext>
            </a:extLst>
          </p:cNvPr>
          <p:cNvSpPr>
            <a:spLocks noGrp="1"/>
          </p:cNvSpPr>
          <p:nvPr>
            <p:ph type="title"/>
          </p:nvPr>
        </p:nvSpPr>
        <p:spPr/>
        <p:txBody>
          <a:bodyPr/>
          <a:lstStyle/>
          <a:p>
            <a:r>
              <a:rPr lang="en-US" dirty="0"/>
              <a:t>Contents</a:t>
            </a:r>
          </a:p>
        </p:txBody>
      </p:sp>
      <p:sp>
        <p:nvSpPr>
          <p:cNvPr id="16" name="Footer Placeholder 15">
            <a:extLst>
              <a:ext uri="{FF2B5EF4-FFF2-40B4-BE49-F238E27FC236}">
                <a16:creationId xmlns:a16="http://schemas.microsoft.com/office/drawing/2014/main" id="{CD66B3E2-4B1F-4467-A0FD-3CC72FC283A2}"/>
              </a:ext>
            </a:extLst>
          </p:cNvPr>
          <p:cNvSpPr>
            <a:spLocks noGrp="1"/>
          </p:cNvSpPr>
          <p:nvPr>
            <p:ph type="ftr" sz="quarter" idx="11"/>
          </p:nvPr>
        </p:nvSpPr>
        <p:spPr/>
        <p:txBody>
          <a:bodyPr/>
          <a:lstStyle/>
          <a:p>
            <a:r>
              <a:rPr lang="en-US" dirty="0"/>
              <a:t>CONFIDENTIAL DO NOT DISTRIBUTE</a:t>
            </a:r>
          </a:p>
        </p:txBody>
      </p:sp>
      <p:sp>
        <p:nvSpPr>
          <p:cNvPr id="17" name="Slide Number Placeholder 16">
            <a:extLst>
              <a:ext uri="{FF2B5EF4-FFF2-40B4-BE49-F238E27FC236}">
                <a16:creationId xmlns:a16="http://schemas.microsoft.com/office/drawing/2014/main" id="{BA67A7F2-E308-4E86-A017-F27464EA5A83}"/>
              </a:ext>
            </a:extLst>
          </p:cNvPr>
          <p:cNvSpPr>
            <a:spLocks noGrp="1"/>
          </p:cNvSpPr>
          <p:nvPr>
            <p:ph type="sldNum" sz="quarter" idx="12"/>
          </p:nvPr>
        </p:nvSpPr>
        <p:spPr/>
        <p:txBody>
          <a:bodyPr/>
          <a:lstStyle/>
          <a:p>
            <a:fld id="{D4F07938-7C1D-46C8-9535-2404A951C984}" type="slidenum">
              <a:rPr lang="en-US" smtClean="0"/>
              <a:t>2</a:t>
            </a:fld>
            <a:endParaRPr lang="en-US" dirty="0"/>
          </a:p>
        </p:txBody>
      </p:sp>
      <p:graphicFrame>
        <p:nvGraphicFramePr>
          <p:cNvPr id="12" name="Content Placeholder 11">
            <a:extLst>
              <a:ext uri="{FF2B5EF4-FFF2-40B4-BE49-F238E27FC236}">
                <a16:creationId xmlns:a16="http://schemas.microsoft.com/office/drawing/2014/main" id="{B1F1C291-EB21-48AF-ABC8-D99433E62AEB}"/>
              </a:ext>
            </a:extLst>
          </p:cNvPr>
          <p:cNvGraphicFramePr>
            <a:graphicFrameLocks noGrp="1"/>
          </p:cNvGraphicFramePr>
          <p:nvPr>
            <p:ph idx="1"/>
            <p:extLst>
              <p:ext uri="{D42A27DB-BD31-4B8C-83A1-F6EECF244321}">
                <p14:modId xmlns:p14="http://schemas.microsoft.com/office/powerpoint/2010/main" val="3853684677"/>
              </p:ext>
            </p:extLst>
          </p:nvPr>
        </p:nvGraphicFramePr>
        <p:xfrm>
          <a:off x="618066" y="1610881"/>
          <a:ext cx="8388282" cy="3743573"/>
        </p:xfrm>
        <a:graphic>
          <a:graphicData uri="http://schemas.openxmlformats.org/drawingml/2006/table">
            <a:tbl>
              <a:tblPr>
                <a:tableStyleId>{5C22544A-7EE6-4342-B048-85BDC9FD1C3A}</a:tableStyleId>
              </a:tblPr>
              <a:tblGrid>
                <a:gridCol w="8388282">
                  <a:extLst>
                    <a:ext uri="{9D8B030D-6E8A-4147-A177-3AD203B41FA5}">
                      <a16:colId xmlns:a16="http://schemas.microsoft.com/office/drawing/2014/main" val="3519755195"/>
                    </a:ext>
                  </a:extLst>
                </a:gridCol>
              </a:tblGrid>
              <a:tr h="93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accent3"/>
                          </a:solidFill>
                          <a:latin typeface="+mn-lt"/>
                        </a:rPr>
                        <a:t>1   </a:t>
                      </a:r>
                      <a:r>
                        <a:rPr lang="en-US" sz="2800" dirty="0">
                          <a:solidFill>
                            <a:schemeClr val="tx1"/>
                          </a:solidFill>
                          <a:latin typeface="+mn-lt"/>
                        </a:rPr>
                        <a:t>Overview of Plan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223603"/>
                  </a:ext>
                </a:extLst>
              </a:tr>
              <a:tr h="937902">
                <a:tc>
                  <a:txBody>
                    <a:bodyPr/>
                    <a:lstStyle/>
                    <a:p>
                      <a:pPr marL="0" marR="0" lvl="0" indent="0" algn="l" defTabSz="914400" rtl="0" eaLnBrk="1" fontAlgn="auto" latinLnBrk="0" hangingPunct="1">
                        <a:lnSpc>
                          <a:spcPct val="100000"/>
                        </a:lnSpc>
                        <a:spcBef>
                          <a:spcPts val="0"/>
                        </a:spcBef>
                        <a:spcAft>
                          <a:spcPts val="1200"/>
                        </a:spcAft>
                        <a:buClrTx/>
                        <a:buSzTx/>
                        <a:buFont typeface="Open Sans" panose="020B0606030504020204" pitchFamily="34" charset="0"/>
                        <a:buChar char="​"/>
                        <a:tabLst/>
                        <a:defRPr/>
                      </a:pPr>
                      <a:r>
                        <a:rPr lang="en-US" sz="2800" dirty="0">
                          <a:solidFill>
                            <a:schemeClr val="accent3"/>
                          </a:solidFill>
                          <a:latin typeface="+mn-lt"/>
                        </a:rPr>
                        <a:t>2   </a:t>
                      </a:r>
                      <a:r>
                        <a:rPr lang="en-US" sz="2800" dirty="0">
                          <a:solidFill>
                            <a:schemeClr val="tx1"/>
                          </a:solidFill>
                          <a:latin typeface="+mn-lt"/>
                        </a:rPr>
                        <a:t>Crisis Assessment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976980"/>
                  </a:ext>
                </a:extLst>
              </a:tr>
              <a:tr h="9298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accent3"/>
                          </a:solidFill>
                          <a:latin typeface="+mn-lt"/>
                        </a:rPr>
                        <a:t>3   </a:t>
                      </a:r>
                      <a:r>
                        <a:rPr lang="en-US" sz="2800" dirty="0">
                          <a:solidFill>
                            <a:schemeClr val="tx1"/>
                          </a:solidFill>
                          <a:latin typeface="+mn-lt"/>
                        </a:rPr>
                        <a:t>Crisis Communications Roles &amp; Responsibilities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3905642"/>
                  </a:ext>
                </a:extLst>
              </a:tr>
              <a:tr h="93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accent3"/>
                          </a:solidFill>
                          <a:latin typeface="+mn-lt"/>
                        </a:rPr>
                        <a:t>4   </a:t>
                      </a:r>
                      <a:r>
                        <a:rPr lang="en-US" sz="2800" dirty="0">
                          <a:solidFill>
                            <a:schemeClr val="tx1"/>
                          </a:solidFill>
                          <a:latin typeface="+mn-lt"/>
                        </a:rPr>
                        <a:t>Holding Statements (Appendix)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3"/>
                      </a:solidFill>
                      <a:prstDash val="solid"/>
                      <a:round/>
                      <a:headEnd type="none" w="med" len="med"/>
                      <a:tailEnd type="none" w="med" len="med"/>
                    </a:lnT>
                    <a:lnB w="31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8877349"/>
                  </a:ext>
                </a:extLst>
              </a:tr>
            </a:tbl>
          </a:graphicData>
        </a:graphic>
      </p:graphicFrame>
      <p:sp>
        <p:nvSpPr>
          <p:cNvPr id="4" name="Oval 3">
            <a:extLst>
              <a:ext uri="{FF2B5EF4-FFF2-40B4-BE49-F238E27FC236}">
                <a16:creationId xmlns:a16="http://schemas.microsoft.com/office/drawing/2014/main" id="{1677B223-4D50-45F1-945D-BA703CF36763}"/>
              </a:ext>
            </a:extLst>
          </p:cNvPr>
          <p:cNvSpPr/>
          <p:nvPr/>
        </p:nvSpPr>
        <p:spPr>
          <a:xfrm>
            <a:off x="578613" y="1859109"/>
            <a:ext cx="457200" cy="457200"/>
          </a:xfrm>
          <a:prstGeom prst="ellipse">
            <a:avLst/>
          </a:pr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FFF91A9-E03E-4D48-9B4B-E6BC92614F3B}"/>
              </a:ext>
            </a:extLst>
          </p:cNvPr>
          <p:cNvSpPr/>
          <p:nvPr/>
        </p:nvSpPr>
        <p:spPr>
          <a:xfrm>
            <a:off x="578613" y="2799624"/>
            <a:ext cx="457200" cy="457200"/>
          </a:xfrm>
          <a:prstGeom prst="ellipse">
            <a:avLst/>
          </a:pr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96DC85CD-31E2-4C29-9236-23A632AACA64}"/>
              </a:ext>
            </a:extLst>
          </p:cNvPr>
          <p:cNvSpPr/>
          <p:nvPr/>
        </p:nvSpPr>
        <p:spPr>
          <a:xfrm>
            <a:off x="578613" y="3732293"/>
            <a:ext cx="457200" cy="457200"/>
          </a:xfrm>
          <a:prstGeom prst="ellipse">
            <a:avLst/>
          </a:pr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2F79DC7-9179-406A-B708-907320D3C76C}"/>
              </a:ext>
            </a:extLst>
          </p:cNvPr>
          <p:cNvSpPr/>
          <p:nvPr/>
        </p:nvSpPr>
        <p:spPr>
          <a:xfrm>
            <a:off x="578613" y="4672808"/>
            <a:ext cx="457200" cy="457200"/>
          </a:xfrm>
          <a:prstGeom prst="ellipse">
            <a:avLst/>
          </a:prstGeom>
          <a:no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2252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p:txBody>
          <a:bodyPr/>
          <a:lstStyle/>
          <a:p>
            <a:r>
              <a:rPr lang="en-US" dirty="0"/>
              <a:t>Goals of the Crisis Communications Plan</a:t>
            </a:r>
          </a:p>
        </p:txBody>
      </p:sp>
      <p:sp>
        <p:nvSpPr>
          <p:cNvPr id="3" name="Content Placeholder 2">
            <a:extLst>
              <a:ext uri="{FF2B5EF4-FFF2-40B4-BE49-F238E27FC236}">
                <a16:creationId xmlns:a16="http://schemas.microsoft.com/office/drawing/2014/main" id="{8701CC9D-D644-432B-BD3E-3365380FFF0C}"/>
              </a:ext>
            </a:extLst>
          </p:cNvPr>
          <p:cNvSpPr>
            <a:spLocks noGrp="1"/>
          </p:cNvSpPr>
          <p:nvPr>
            <p:ph idx="1"/>
          </p:nvPr>
        </p:nvSpPr>
        <p:spPr>
          <a:xfrm>
            <a:off x="521952" y="1125940"/>
            <a:ext cx="8256287" cy="4391456"/>
          </a:xfrm>
        </p:spPr>
        <p:txBody>
          <a:bodyPr/>
          <a:lstStyle/>
          <a:p>
            <a:pPr>
              <a:spcBef>
                <a:spcPts val="200"/>
              </a:spcBef>
            </a:pPr>
            <a:r>
              <a:rPr lang="en-US" sz="2400" dirty="0"/>
              <a:t>Develop a common understanding of what constitutes a communications crisis</a:t>
            </a:r>
            <a:br>
              <a:rPr lang="en-US" dirty="0"/>
            </a:br>
            <a:endParaRPr lang="en-US" sz="2400" dirty="0"/>
          </a:p>
          <a:p>
            <a:pPr>
              <a:spcBef>
                <a:spcPts val="200"/>
              </a:spcBef>
            </a:pPr>
            <a:r>
              <a:rPr lang="en-US" sz="2400" dirty="0"/>
              <a:t>Anticipate and prepare for crises most likely to occur</a:t>
            </a:r>
          </a:p>
          <a:p>
            <a:pPr lvl="2"/>
            <a:r>
              <a:rPr lang="en-US" dirty="0"/>
              <a:t>It’s impossible to predict the exact parameters of a future crisis, but advance planning may get us 75% of the way to a successful response</a:t>
            </a:r>
            <a:br>
              <a:rPr lang="en-US" dirty="0"/>
            </a:br>
            <a:endParaRPr lang="en-US" dirty="0"/>
          </a:p>
          <a:p>
            <a:pPr>
              <a:spcBef>
                <a:spcPts val="200"/>
              </a:spcBef>
            </a:pPr>
            <a:r>
              <a:rPr lang="en-US" sz="2400" dirty="0"/>
              <a:t>Clearly define crisis communications roles and responsibilities for all staff, especially “first reporters” and members of the Crisis Communications Team</a:t>
            </a:r>
            <a:br>
              <a:rPr lang="en-US" dirty="0"/>
            </a:br>
            <a:endParaRPr lang="en-US" dirty="0"/>
          </a:p>
          <a:p>
            <a:pPr>
              <a:spcBef>
                <a:spcPts val="200"/>
              </a:spcBef>
            </a:pPr>
            <a:r>
              <a:rPr lang="en-US" sz="2400" dirty="0"/>
              <a:t>Establish guidelines for when, if, and how to respond to a crisis</a:t>
            </a:r>
            <a:endParaRPr lang="en-US" dirty="0"/>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3</a:t>
            </a:fld>
            <a:endParaRPr lang="en-US" dirty="0"/>
          </a:p>
        </p:txBody>
      </p:sp>
      <p:sp>
        <p:nvSpPr>
          <p:cNvPr id="7" name="Text Placeholder 6">
            <a:extLst>
              <a:ext uri="{FF2B5EF4-FFF2-40B4-BE49-F238E27FC236}">
                <a16:creationId xmlns:a16="http://schemas.microsoft.com/office/drawing/2014/main" id="{AD949F0B-47A1-4843-AC2E-97FDC94750B8}"/>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406843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p:txBody>
          <a:bodyPr/>
          <a:lstStyle/>
          <a:p>
            <a:r>
              <a:rPr lang="en-US" dirty="0"/>
              <a:t>What Is a Communications Crisis?</a:t>
            </a:r>
          </a:p>
        </p:txBody>
      </p:sp>
      <p:sp>
        <p:nvSpPr>
          <p:cNvPr id="3" name="Content Placeholder 2">
            <a:extLst>
              <a:ext uri="{FF2B5EF4-FFF2-40B4-BE49-F238E27FC236}">
                <a16:creationId xmlns:a16="http://schemas.microsoft.com/office/drawing/2014/main" id="{8701CC9D-D644-432B-BD3E-3365380FFF0C}"/>
              </a:ext>
            </a:extLst>
          </p:cNvPr>
          <p:cNvSpPr>
            <a:spLocks noGrp="1"/>
          </p:cNvSpPr>
          <p:nvPr>
            <p:ph idx="1"/>
          </p:nvPr>
        </p:nvSpPr>
        <p:spPr>
          <a:xfrm>
            <a:off x="533735" y="1211654"/>
            <a:ext cx="8094997" cy="772499"/>
          </a:xfrm>
        </p:spPr>
        <p:txBody>
          <a:bodyPr/>
          <a:lstStyle/>
          <a:p>
            <a:r>
              <a:rPr lang="en-US" sz="1800" dirty="0"/>
              <a:t>A rapidly developing event or rumor with the potential to damage Blue Meridian Partners’ reputation and standing as a philanthropic leader.</a:t>
            </a:r>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4</a:t>
            </a:fld>
            <a:endParaRPr lang="en-US" dirty="0"/>
          </a:p>
        </p:txBody>
      </p:sp>
      <p:sp>
        <p:nvSpPr>
          <p:cNvPr id="6" name="Text Placeholder 5">
            <a:extLst>
              <a:ext uri="{FF2B5EF4-FFF2-40B4-BE49-F238E27FC236}">
                <a16:creationId xmlns:a16="http://schemas.microsoft.com/office/drawing/2014/main" id="{462B68F2-AD4C-4F6B-9473-CFAFE1A2C559}"/>
              </a:ext>
            </a:extLst>
          </p:cNvPr>
          <p:cNvSpPr>
            <a:spLocks noGrp="1"/>
          </p:cNvSpPr>
          <p:nvPr>
            <p:ph type="body" sz="quarter" idx="13"/>
          </p:nvPr>
        </p:nvSpPr>
        <p:spPr>
          <a:xfrm>
            <a:off x="521953" y="888965"/>
            <a:ext cx="8088312" cy="367392"/>
          </a:xfrm>
        </p:spPr>
        <p:txBody>
          <a:bodyPr>
            <a:normAutofit lnSpcReduction="10000"/>
          </a:bodyPr>
          <a:lstStyle/>
          <a:p>
            <a:r>
              <a:rPr lang="en-US" dirty="0"/>
              <a:t>We define a communications crisis as:</a:t>
            </a:r>
          </a:p>
        </p:txBody>
      </p:sp>
      <p:sp>
        <p:nvSpPr>
          <p:cNvPr id="7" name="Text Placeholder 6">
            <a:extLst>
              <a:ext uri="{FF2B5EF4-FFF2-40B4-BE49-F238E27FC236}">
                <a16:creationId xmlns:a16="http://schemas.microsoft.com/office/drawing/2014/main" id="{AD949F0B-47A1-4843-AC2E-97FDC94750B8}"/>
              </a:ext>
            </a:extLst>
          </p:cNvPr>
          <p:cNvSpPr>
            <a:spLocks noGrp="1"/>
          </p:cNvSpPr>
          <p:nvPr>
            <p:ph type="body" sz="quarter" idx="14"/>
          </p:nvPr>
        </p:nvSpPr>
        <p:spPr>
          <a:xfrm>
            <a:off x="521953" y="5888725"/>
            <a:ext cx="8087977" cy="282598"/>
          </a:xfrm>
        </p:spPr>
        <p:txBody>
          <a:bodyPr/>
          <a:lstStyle/>
          <a:p>
            <a:endParaRPr lang="en-US" dirty="0"/>
          </a:p>
        </p:txBody>
      </p:sp>
      <p:sp>
        <p:nvSpPr>
          <p:cNvPr id="8" name="Rectangle 7">
            <a:extLst>
              <a:ext uri="{FF2B5EF4-FFF2-40B4-BE49-F238E27FC236}">
                <a16:creationId xmlns:a16="http://schemas.microsoft.com/office/drawing/2014/main" id="{9F3B1F99-8F26-4A2A-8A1D-A2C4FB4956CE}"/>
              </a:ext>
            </a:extLst>
          </p:cNvPr>
          <p:cNvSpPr/>
          <p:nvPr/>
        </p:nvSpPr>
        <p:spPr>
          <a:xfrm>
            <a:off x="315647" y="3668624"/>
            <a:ext cx="4177210" cy="34469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Example #1: This is NOT a crisis</a:t>
            </a:r>
          </a:p>
        </p:txBody>
      </p:sp>
      <p:sp>
        <p:nvSpPr>
          <p:cNvPr id="9" name="Rectangle 8">
            <a:extLst>
              <a:ext uri="{FF2B5EF4-FFF2-40B4-BE49-F238E27FC236}">
                <a16:creationId xmlns:a16="http://schemas.microsoft.com/office/drawing/2014/main" id="{D9CB63D6-6097-46DB-93C3-066C87F485E0}"/>
              </a:ext>
            </a:extLst>
          </p:cNvPr>
          <p:cNvSpPr/>
          <p:nvPr/>
        </p:nvSpPr>
        <p:spPr>
          <a:xfrm>
            <a:off x="4681184" y="3668624"/>
            <a:ext cx="4177210" cy="3446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Example #2: This IS a potential crisis</a:t>
            </a:r>
          </a:p>
        </p:txBody>
      </p:sp>
      <p:sp>
        <p:nvSpPr>
          <p:cNvPr id="10" name="Rectangle 9">
            <a:extLst>
              <a:ext uri="{FF2B5EF4-FFF2-40B4-BE49-F238E27FC236}">
                <a16:creationId xmlns:a16="http://schemas.microsoft.com/office/drawing/2014/main" id="{F4456871-F3FE-40A4-923B-36E442B952D4}"/>
              </a:ext>
            </a:extLst>
          </p:cNvPr>
          <p:cNvSpPr/>
          <p:nvPr/>
        </p:nvSpPr>
        <p:spPr>
          <a:xfrm>
            <a:off x="318390" y="4014197"/>
            <a:ext cx="4174467" cy="215712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400"/>
              </a:spcAft>
              <a:buFont typeface="Arial" panose="020B0604020202020204" pitchFamily="34" charset="0"/>
              <a:buChar char="•"/>
            </a:pPr>
            <a:r>
              <a:rPr lang="en-US" sz="1100" dirty="0">
                <a:solidFill>
                  <a:schemeClr val="tx1"/>
                </a:solidFill>
              </a:rPr>
              <a:t>A well-known economist published an op-ed in </a:t>
            </a:r>
            <a:r>
              <a:rPr lang="en-US" sz="1100" i="1" dirty="0">
                <a:solidFill>
                  <a:schemeClr val="tx1"/>
                </a:solidFill>
              </a:rPr>
              <a:t>The New York Times</a:t>
            </a:r>
            <a:r>
              <a:rPr lang="en-US" sz="1100" dirty="0">
                <a:solidFill>
                  <a:schemeClr val="tx1"/>
                </a:solidFill>
              </a:rPr>
              <a:t> last week supporting a wealth tax that, he claims, would prevent the creation of “excessive” wealth. The op-ed criticizes philanthropy broadly and argues that higher taxes, more spending on social programs, and fewer “billionaire foundations” would improve life outcomes for more Americans.</a:t>
            </a:r>
          </a:p>
          <a:p>
            <a:pPr marL="171450" indent="-171450">
              <a:spcAft>
                <a:spcPts val="400"/>
              </a:spcAft>
              <a:buFont typeface="Arial" panose="020B0604020202020204" pitchFamily="34" charset="0"/>
              <a:buChar char="•"/>
            </a:pPr>
            <a:r>
              <a:rPr lang="en-US" sz="1100" dirty="0">
                <a:solidFill>
                  <a:schemeClr val="tx1"/>
                </a:solidFill>
              </a:rPr>
              <a:t>The op-ed is generating buzz online, and</a:t>
            </a:r>
            <a:r>
              <a:rPr lang="en-US" sz="1100" i="1" dirty="0">
                <a:solidFill>
                  <a:schemeClr val="tx1"/>
                </a:solidFill>
              </a:rPr>
              <a:t> The Washington Post </a:t>
            </a:r>
            <a:r>
              <a:rPr lang="en-US" sz="1100" dirty="0">
                <a:solidFill>
                  <a:schemeClr val="tx1"/>
                </a:solidFill>
              </a:rPr>
              <a:t>is asking Blue Meridian for comment. </a:t>
            </a:r>
          </a:p>
          <a:p>
            <a:pPr marL="171450" indent="-171450">
              <a:spcAft>
                <a:spcPts val="400"/>
              </a:spcAft>
              <a:buFont typeface="Arial" panose="020B0604020202020204" pitchFamily="34" charset="0"/>
              <a:buChar char="•"/>
            </a:pPr>
            <a:r>
              <a:rPr lang="en-US" sz="1100" dirty="0">
                <a:solidFill>
                  <a:schemeClr val="tx1"/>
                </a:solidFill>
              </a:rPr>
              <a:t>This </a:t>
            </a:r>
            <a:r>
              <a:rPr lang="en-US" sz="1100" i="1" dirty="0">
                <a:solidFill>
                  <a:schemeClr val="tx1"/>
                </a:solidFill>
              </a:rPr>
              <a:t>is</a:t>
            </a:r>
            <a:r>
              <a:rPr lang="en-US" sz="1100" dirty="0">
                <a:solidFill>
                  <a:schemeClr val="tx1"/>
                </a:solidFill>
              </a:rPr>
              <a:t> a challenging media inquiry that likely requires consultation with outside partners and a coordinated response, but it is </a:t>
            </a:r>
            <a:r>
              <a:rPr lang="en-US" sz="1100" i="1" dirty="0">
                <a:solidFill>
                  <a:schemeClr val="tx1"/>
                </a:solidFill>
              </a:rPr>
              <a:t>not</a:t>
            </a:r>
            <a:r>
              <a:rPr lang="en-US" sz="1100" dirty="0">
                <a:solidFill>
                  <a:schemeClr val="tx1"/>
                </a:solidFill>
              </a:rPr>
              <a:t> a crisis. </a:t>
            </a:r>
          </a:p>
        </p:txBody>
      </p:sp>
      <p:sp>
        <p:nvSpPr>
          <p:cNvPr id="11" name="Rectangle 10">
            <a:extLst>
              <a:ext uri="{FF2B5EF4-FFF2-40B4-BE49-F238E27FC236}">
                <a16:creationId xmlns:a16="http://schemas.microsoft.com/office/drawing/2014/main" id="{4517B4B6-28B0-460E-9D18-EDF92B38A02A}"/>
              </a:ext>
            </a:extLst>
          </p:cNvPr>
          <p:cNvSpPr/>
          <p:nvPr/>
        </p:nvSpPr>
        <p:spPr>
          <a:xfrm>
            <a:off x="4681184" y="4010171"/>
            <a:ext cx="4174467" cy="21571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400"/>
              </a:spcAft>
              <a:buFont typeface="Arial" panose="020B0604020202020204" pitchFamily="34" charset="0"/>
              <a:buChar char="•"/>
            </a:pPr>
            <a:r>
              <a:rPr lang="en-US" sz="1100" dirty="0">
                <a:solidFill>
                  <a:schemeClr val="tx1"/>
                </a:solidFill>
              </a:rPr>
              <a:t>An alt-right media outlet reported that the CEO of a major investee advocated violence against police officers at a protest rally yesterday. According to the report, many employees of the investee attended the rally and made similar statements. The news report named Blue Meridian as a leading funder of the organization and suggested that Congress investigate.</a:t>
            </a:r>
          </a:p>
          <a:p>
            <a:pPr marL="171450" indent="-171450">
              <a:spcAft>
                <a:spcPts val="400"/>
              </a:spcAft>
              <a:buFont typeface="Arial" panose="020B0604020202020204" pitchFamily="34" charset="0"/>
              <a:buChar char="•"/>
            </a:pPr>
            <a:r>
              <a:rPr lang="en-US" sz="1100" dirty="0">
                <a:solidFill>
                  <a:schemeClr val="tx1"/>
                </a:solidFill>
              </a:rPr>
              <a:t>The alt-right media outlet claimed that video of the rally, including the investee-leader’s speech, will be aired later today.</a:t>
            </a:r>
          </a:p>
          <a:p>
            <a:pPr marL="171450" indent="-171450">
              <a:spcAft>
                <a:spcPts val="400"/>
              </a:spcAft>
              <a:buFont typeface="Arial" panose="020B0604020202020204" pitchFamily="34" charset="0"/>
              <a:buChar char="•"/>
            </a:pPr>
            <a:r>
              <a:rPr lang="en-US" sz="1100" dirty="0">
                <a:solidFill>
                  <a:schemeClr val="tx1"/>
                </a:solidFill>
              </a:rPr>
              <a:t>Several news outlets have amplified the story online.</a:t>
            </a:r>
          </a:p>
        </p:txBody>
      </p:sp>
      <p:sp>
        <p:nvSpPr>
          <p:cNvPr id="16" name="Content Placeholder 2">
            <a:extLst>
              <a:ext uri="{FF2B5EF4-FFF2-40B4-BE49-F238E27FC236}">
                <a16:creationId xmlns:a16="http://schemas.microsoft.com/office/drawing/2014/main" id="{BC9EBFA1-C291-45E9-A558-B15E19B4E243}"/>
              </a:ext>
            </a:extLst>
          </p:cNvPr>
          <p:cNvSpPr txBox="1">
            <a:spLocks/>
          </p:cNvSpPr>
          <p:nvPr/>
        </p:nvSpPr>
        <p:spPr>
          <a:xfrm>
            <a:off x="540755" y="2245842"/>
            <a:ext cx="8094997" cy="77249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 national news event that prompts many responses from corporations and philanthropies, a difficult media inquiry, or ongoing criticism of Blue Meridian Partners’ model.</a:t>
            </a:r>
          </a:p>
          <a:p>
            <a:r>
              <a:rPr lang="en-US" sz="1800" dirty="0"/>
              <a:t>A non-communications challenge, like a stock market correction.</a:t>
            </a:r>
          </a:p>
        </p:txBody>
      </p:sp>
      <p:sp>
        <p:nvSpPr>
          <p:cNvPr id="17" name="Text Placeholder 5">
            <a:extLst>
              <a:ext uri="{FF2B5EF4-FFF2-40B4-BE49-F238E27FC236}">
                <a16:creationId xmlns:a16="http://schemas.microsoft.com/office/drawing/2014/main" id="{EB38FAB5-AB7E-4F2B-84B1-88880F46DD75}"/>
              </a:ext>
            </a:extLst>
          </p:cNvPr>
          <p:cNvSpPr txBox="1">
            <a:spLocks/>
          </p:cNvSpPr>
          <p:nvPr/>
        </p:nvSpPr>
        <p:spPr>
          <a:xfrm>
            <a:off x="514933" y="1942615"/>
            <a:ext cx="8088312" cy="367392"/>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Clr>
                <a:schemeClr val="bg2"/>
              </a:buClr>
              <a:buFont typeface="Arial" panose="020B0604020202020204" pitchFamily="34" charset="0"/>
              <a:buNone/>
              <a:defRPr sz="2000" kern="1200">
                <a:solidFill>
                  <a:schemeClr val="bg2"/>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communications crisis is NOT:</a:t>
            </a:r>
          </a:p>
        </p:txBody>
      </p:sp>
    </p:spTree>
    <p:extLst>
      <p:ext uri="{BB962C8B-B14F-4D97-AF65-F5344CB8AC3E}">
        <p14:creationId xmlns:p14="http://schemas.microsoft.com/office/powerpoint/2010/main" val="20161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p:txBody>
          <a:bodyPr/>
          <a:lstStyle/>
          <a:p>
            <a:r>
              <a:rPr lang="en-US" dirty="0"/>
              <a:t>Operating Principles for Crisis Response</a:t>
            </a:r>
          </a:p>
        </p:txBody>
      </p:sp>
      <p:sp>
        <p:nvSpPr>
          <p:cNvPr id="3" name="Content Placeholder 2">
            <a:extLst>
              <a:ext uri="{FF2B5EF4-FFF2-40B4-BE49-F238E27FC236}">
                <a16:creationId xmlns:a16="http://schemas.microsoft.com/office/drawing/2014/main" id="{8701CC9D-D644-432B-BD3E-3365380FFF0C}"/>
              </a:ext>
            </a:extLst>
          </p:cNvPr>
          <p:cNvSpPr>
            <a:spLocks noGrp="1"/>
          </p:cNvSpPr>
          <p:nvPr>
            <p:ph idx="1"/>
          </p:nvPr>
        </p:nvSpPr>
        <p:spPr/>
        <p:txBody>
          <a:bodyPr/>
          <a:lstStyle/>
          <a:p>
            <a:r>
              <a:rPr lang="en-US" sz="2400" dirty="0"/>
              <a:t>Emphasize transparency and truthfulness, always</a:t>
            </a:r>
          </a:p>
          <a:p>
            <a:pPr lvl="1">
              <a:buFont typeface="Wingdings" panose="05000000000000000000" pitchFamily="2" charset="2"/>
              <a:buChar char="§"/>
            </a:pPr>
            <a:r>
              <a:rPr lang="en-US" sz="1600" dirty="0"/>
              <a:t>Declining to comment may be the best approach, but avoid saying “no comment”</a:t>
            </a:r>
            <a:br>
              <a:rPr lang="en-US" dirty="0"/>
            </a:br>
            <a:endParaRPr lang="en-US" dirty="0"/>
          </a:p>
          <a:p>
            <a:pPr>
              <a:spcBef>
                <a:spcPts val="0"/>
              </a:spcBef>
            </a:pPr>
            <a:r>
              <a:rPr lang="en-US" sz="2400" dirty="0"/>
              <a:t>Get ahead of the story to share facts and shape narrative</a:t>
            </a:r>
            <a:br>
              <a:rPr lang="en-US" dirty="0"/>
            </a:br>
            <a:endParaRPr lang="en-US" dirty="0"/>
          </a:p>
          <a:p>
            <a:r>
              <a:rPr lang="en-US" sz="2400" dirty="0"/>
              <a:t>Protect the Blue Meridian brand and vision, honoring organizational messaging and values</a:t>
            </a:r>
            <a:br>
              <a:rPr lang="en-US" dirty="0"/>
            </a:br>
            <a:endParaRPr lang="en-US" dirty="0"/>
          </a:p>
          <a:p>
            <a:r>
              <a:rPr lang="en-US" sz="2400" dirty="0"/>
              <a:t>Respect our investees and partners </a:t>
            </a:r>
          </a:p>
          <a:p>
            <a:pPr lvl="2"/>
            <a:r>
              <a:rPr lang="en-US" dirty="0"/>
              <a:t>Criticizing Blue Meridian partners and investees is rarely the right approach. It jeopardizes key relationships and won’t defuse a potential crisis.  </a:t>
            </a:r>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5</a:t>
            </a:fld>
            <a:endParaRPr lang="en-US" dirty="0"/>
          </a:p>
        </p:txBody>
      </p:sp>
      <p:sp>
        <p:nvSpPr>
          <p:cNvPr id="7" name="Text Placeholder 6">
            <a:extLst>
              <a:ext uri="{FF2B5EF4-FFF2-40B4-BE49-F238E27FC236}">
                <a16:creationId xmlns:a16="http://schemas.microsoft.com/office/drawing/2014/main" id="{AD949F0B-47A1-4843-AC2E-97FDC94750B8}"/>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153221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01EEFF-E586-4889-ACDF-9D3A206DFD55}"/>
              </a:ext>
            </a:extLst>
          </p:cNvPr>
          <p:cNvSpPr>
            <a:spLocks noGrp="1"/>
          </p:cNvSpPr>
          <p:nvPr>
            <p:ph type="body" sz="quarter" idx="12"/>
          </p:nvPr>
        </p:nvSpPr>
        <p:spPr/>
        <p:txBody>
          <a:bodyPr/>
          <a:lstStyle/>
          <a:p>
            <a:r>
              <a:rPr lang="en-US" dirty="0"/>
              <a:t>Crisis Assessment</a:t>
            </a:r>
          </a:p>
        </p:txBody>
      </p:sp>
      <p:sp>
        <p:nvSpPr>
          <p:cNvPr id="4" name="Text Placeholder 3">
            <a:extLst>
              <a:ext uri="{FF2B5EF4-FFF2-40B4-BE49-F238E27FC236}">
                <a16:creationId xmlns:a16="http://schemas.microsoft.com/office/drawing/2014/main" id="{F2A405E1-31C2-4299-BBA0-5E165FA85CF9}"/>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514197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a:xfrm>
            <a:off x="439657" y="221315"/>
            <a:ext cx="8704343" cy="396219"/>
          </a:xfrm>
        </p:spPr>
        <p:txBody>
          <a:bodyPr/>
          <a:lstStyle/>
          <a:p>
            <a:r>
              <a:rPr lang="en-US" dirty="0"/>
              <a:t>Blue Meridian Crisis Risks Are Low to Moderate</a:t>
            </a:r>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7</a:t>
            </a:fld>
            <a:endParaRPr lang="en-US" dirty="0"/>
          </a:p>
        </p:txBody>
      </p:sp>
      <p:sp>
        <p:nvSpPr>
          <p:cNvPr id="11" name="Content Placeholder 2">
            <a:extLst>
              <a:ext uri="{FF2B5EF4-FFF2-40B4-BE49-F238E27FC236}">
                <a16:creationId xmlns:a16="http://schemas.microsoft.com/office/drawing/2014/main" id="{AFD47696-B263-4F98-AD39-C40A81C3A774}"/>
              </a:ext>
            </a:extLst>
          </p:cNvPr>
          <p:cNvSpPr txBox="1">
            <a:spLocks/>
          </p:cNvSpPr>
          <p:nvPr/>
        </p:nvSpPr>
        <p:spPr>
          <a:xfrm>
            <a:off x="534070" y="2247319"/>
            <a:ext cx="11466576" cy="484120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0513" indent="-290513">
              <a:spcBef>
                <a:spcPts val="2400"/>
              </a:spcBef>
            </a:pPr>
            <a:endParaRPr lang="en-US" sz="2800" dirty="0"/>
          </a:p>
        </p:txBody>
      </p:sp>
      <p:sp>
        <p:nvSpPr>
          <p:cNvPr id="12" name="Rectangle 11">
            <a:extLst>
              <a:ext uri="{FF2B5EF4-FFF2-40B4-BE49-F238E27FC236}">
                <a16:creationId xmlns:a16="http://schemas.microsoft.com/office/drawing/2014/main" id="{7C25BD74-3836-472E-B9D1-DAB05D38A76C}"/>
              </a:ext>
            </a:extLst>
          </p:cNvPr>
          <p:cNvSpPr/>
          <p:nvPr/>
        </p:nvSpPr>
        <p:spPr>
          <a:xfrm>
            <a:off x="516627" y="1592196"/>
            <a:ext cx="3956899" cy="442065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880" indent="-182880">
              <a:spcAft>
                <a:spcPts val="400"/>
              </a:spcAft>
              <a:buFont typeface="Arial" panose="020B0604020202020204" pitchFamily="34" charset="0"/>
              <a:buChar char="•"/>
            </a:pPr>
            <a:r>
              <a:rPr lang="en-US" sz="1400" dirty="0">
                <a:solidFill>
                  <a:schemeClr val="tx1"/>
                </a:solidFill>
              </a:rPr>
              <a:t>Strong relationships and open communication with investees and a strong “no surprises” culture throughout the organization</a:t>
            </a:r>
          </a:p>
          <a:p>
            <a:pPr marL="182880" indent="-182880">
              <a:spcAft>
                <a:spcPts val="400"/>
              </a:spcAft>
              <a:buFont typeface="Arial" panose="020B0604020202020204" pitchFamily="34" charset="0"/>
              <a:buChar char="•"/>
            </a:pPr>
            <a:r>
              <a:rPr lang="en-US" sz="1400" dirty="0">
                <a:solidFill>
                  <a:schemeClr val="tx1"/>
                </a:solidFill>
              </a:rPr>
              <a:t>Solid internal management experience and systems</a:t>
            </a:r>
          </a:p>
          <a:p>
            <a:pPr marL="182880" indent="-182880">
              <a:spcAft>
                <a:spcPts val="400"/>
              </a:spcAft>
              <a:buFont typeface="Arial" panose="020B0604020202020204" pitchFamily="34" charset="0"/>
              <a:buChar char="•"/>
            </a:pPr>
            <a:r>
              <a:rPr lang="en-US" sz="1400" dirty="0">
                <a:solidFill>
                  <a:schemeClr val="tx1"/>
                </a:solidFill>
              </a:rPr>
              <a:t>Portfolio strategies eschew high-risk investments in unproven organizations and approach issues with rigor and staying power</a:t>
            </a:r>
          </a:p>
          <a:p>
            <a:pPr marL="182880" indent="-182880">
              <a:spcAft>
                <a:spcPts val="400"/>
              </a:spcAft>
              <a:buFont typeface="Arial" panose="020B0604020202020204" pitchFamily="34" charset="0"/>
              <a:buChar char="•"/>
            </a:pPr>
            <a:r>
              <a:rPr lang="en-US" sz="1400" dirty="0">
                <a:solidFill>
                  <a:schemeClr val="tx1"/>
                </a:solidFill>
              </a:rPr>
              <a:t>Extensive vetting process for new partners and investees.</a:t>
            </a:r>
          </a:p>
          <a:p>
            <a:pPr marL="182880" indent="-182880">
              <a:spcAft>
                <a:spcPts val="400"/>
              </a:spcAft>
              <a:buFont typeface="Arial" panose="020B0604020202020204" pitchFamily="34" charset="0"/>
              <a:buChar char="•"/>
            </a:pPr>
            <a:r>
              <a:rPr lang="en-US" sz="1400" dirty="0">
                <a:solidFill>
                  <a:schemeClr val="tx1"/>
                </a:solidFill>
              </a:rPr>
              <a:t>No high-profile “bogeyman” singularly identified with Blue Meridian Partners, </a:t>
            </a:r>
            <a:r>
              <a:rPr lang="en-US" sz="1400" i="1" dirty="0">
                <a:solidFill>
                  <a:schemeClr val="tx1"/>
                </a:solidFill>
              </a:rPr>
              <a:t>contra</a:t>
            </a:r>
            <a:r>
              <a:rPr lang="en-US" sz="1400" dirty="0">
                <a:solidFill>
                  <a:schemeClr val="tx1"/>
                </a:solidFill>
              </a:rPr>
              <a:t> OSI/Soros or The Bill &amp; Melinda Gates Foundation.  </a:t>
            </a:r>
          </a:p>
          <a:p>
            <a:pPr>
              <a:spcAft>
                <a:spcPts val="400"/>
              </a:spcAft>
            </a:pPr>
            <a:endParaRPr lang="en-US" sz="1200" dirty="0">
              <a:solidFill>
                <a:schemeClr val="tx1"/>
              </a:solidFill>
            </a:endParaRPr>
          </a:p>
        </p:txBody>
      </p:sp>
      <p:sp>
        <p:nvSpPr>
          <p:cNvPr id="13" name="Rectangle 12">
            <a:extLst>
              <a:ext uri="{FF2B5EF4-FFF2-40B4-BE49-F238E27FC236}">
                <a16:creationId xmlns:a16="http://schemas.microsoft.com/office/drawing/2014/main" id="{BB9617B1-0223-4D71-B990-4159DB8570AC}"/>
              </a:ext>
            </a:extLst>
          </p:cNvPr>
          <p:cNvSpPr/>
          <p:nvPr/>
        </p:nvSpPr>
        <p:spPr>
          <a:xfrm>
            <a:off x="519322" y="1225883"/>
            <a:ext cx="3951378" cy="3663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Factors limiting crisis risk</a:t>
            </a:r>
          </a:p>
        </p:txBody>
      </p:sp>
      <p:sp>
        <p:nvSpPr>
          <p:cNvPr id="14" name="Rectangle 13">
            <a:extLst>
              <a:ext uri="{FF2B5EF4-FFF2-40B4-BE49-F238E27FC236}">
                <a16:creationId xmlns:a16="http://schemas.microsoft.com/office/drawing/2014/main" id="{302D6427-9F95-4E0A-B0B4-1A780F3DB743}"/>
              </a:ext>
            </a:extLst>
          </p:cNvPr>
          <p:cNvSpPr/>
          <p:nvPr/>
        </p:nvSpPr>
        <p:spPr>
          <a:xfrm>
            <a:off x="4884489" y="1236941"/>
            <a:ext cx="3971430" cy="36512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Factors contributing to crisis risk</a:t>
            </a:r>
          </a:p>
        </p:txBody>
      </p:sp>
      <p:sp>
        <p:nvSpPr>
          <p:cNvPr id="15" name="Rectangle 14">
            <a:extLst>
              <a:ext uri="{FF2B5EF4-FFF2-40B4-BE49-F238E27FC236}">
                <a16:creationId xmlns:a16="http://schemas.microsoft.com/office/drawing/2014/main" id="{C3645F75-5EE1-4ECD-9452-CB634E042F74}"/>
              </a:ext>
            </a:extLst>
          </p:cNvPr>
          <p:cNvSpPr/>
          <p:nvPr/>
        </p:nvSpPr>
        <p:spPr>
          <a:xfrm>
            <a:off x="4881490" y="1591008"/>
            <a:ext cx="3968822" cy="439829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Aft>
                <a:spcPts val="400"/>
              </a:spcAft>
              <a:buFont typeface="Arial" panose="020B0604020202020204" pitchFamily="34" charset="0"/>
              <a:buChar char="•"/>
            </a:pPr>
            <a:r>
              <a:rPr lang="en-US" sz="1400" dirty="0">
                <a:solidFill>
                  <a:schemeClr val="tx1"/>
                </a:solidFill>
              </a:rPr>
              <a:t>Growth brings new investees and new partners, many without long-term ties to Blue Meridian Partners</a:t>
            </a:r>
          </a:p>
          <a:p>
            <a:pPr marL="182880" indent="-182880">
              <a:spcAft>
                <a:spcPts val="400"/>
              </a:spcAft>
              <a:buFont typeface="Arial" panose="020B0604020202020204" pitchFamily="34" charset="0"/>
              <a:buChar char="•"/>
            </a:pPr>
            <a:r>
              <a:rPr lang="en-US" sz="1400" dirty="0">
                <a:solidFill>
                  <a:schemeClr val="tx1"/>
                </a:solidFill>
              </a:rPr>
              <a:t>Expanding investments in criminal justice reform investees carries known risks (e.g., The Bail Project)</a:t>
            </a:r>
          </a:p>
          <a:p>
            <a:pPr marL="182880" indent="-182880">
              <a:spcAft>
                <a:spcPts val="400"/>
              </a:spcAft>
              <a:buFont typeface="Arial" panose="020B0604020202020204" pitchFamily="34" charset="0"/>
              <a:buChar char="•"/>
            </a:pPr>
            <a:r>
              <a:rPr lang="en-US" sz="1400" dirty="0">
                <a:solidFill>
                  <a:schemeClr val="tx1"/>
                </a:solidFill>
              </a:rPr>
              <a:t>Lack of diversity in partner group, combined with involvement of well-known Wall Street leaders, could escalate “out of touch” criticism</a:t>
            </a:r>
          </a:p>
          <a:p>
            <a:pPr marL="182880" indent="-182880">
              <a:spcAft>
                <a:spcPts val="400"/>
              </a:spcAft>
              <a:buFont typeface="Arial" panose="020B0604020202020204" pitchFamily="34" charset="0"/>
              <a:buChar char="•"/>
            </a:pPr>
            <a:r>
              <a:rPr lang="en-US" sz="1400" dirty="0">
                <a:solidFill>
                  <a:schemeClr val="tx1"/>
                </a:solidFill>
              </a:rPr>
              <a:t>Political and regulatory environment is uncertain and may deteriorate. </a:t>
            </a:r>
          </a:p>
          <a:p>
            <a:pPr lvl="1" indent="-182880">
              <a:spcAft>
                <a:spcPts val="400"/>
              </a:spcAft>
              <a:buFont typeface="Arial" panose="020B0604020202020204" pitchFamily="34" charset="0"/>
              <a:buChar char="•"/>
            </a:pPr>
            <a:r>
              <a:rPr lang="en-US" sz="1400" dirty="0">
                <a:solidFill>
                  <a:schemeClr val="tx1"/>
                </a:solidFill>
              </a:rPr>
              <a:t>Regulatory risks may emerge from the ideological right (politically motivated investigations by fringe committee chairpersons) or the left (regulatory action disincentivizing “billionaire philanthropy”).</a:t>
            </a:r>
          </a:p>
        </p:txBody>
      </p:sp>
    </p:spTree>
    <p:extLst>
      <p:ext uri="{BB962C8B-B14F-4D97-AF65-F5344CB8AC3E}">
        <p14:creationId xmlns:p14="http://schemas.microsoft.com/office/powerpoint/2010/main" val="2368874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a:xfrm>
            <a:off x="346586" y="259888"/>
            <a:ext cx="8753139" cy="396219"/>
          </a:xfrm>
        </p:spPr>
        <p:txBody>
          <a:bodyPr/>
          <a:lstStyle/>
          <a:p>
            <a:r>
              <a:rPr lang="en-US" sz="3000" dirty="0"/>
              <a:t>Likely Crises Fall Into Three Broad Categories</a:t>
            </a:r>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8</a:t>
            </a:fld>
            <a:endParaRPr lang="en-US" dirty="0"/>
          </a:p>
        </p:txBody>
      </p:sp>
      <p:sp>
        <p:nvSpPr>
          <p:cNvPr id="7" name="Text Placeholder 6">
            <a:extLst>
              <a:ext uri="{FF2B5EF4-FFF2-40B4-BE49-F238E27FC236}">
                <a16:creationId xmlns:a16="http://schemas.microsoft.com/office/drawing/2014/main" id="{AD949F0B-47A1-4843-AC2E-97FDC94750B8}"/>
              </a:ext>
            </a:extLst>
          </p:cNvPr>
          <p:cNvSpPr>
            <a:spLocks noGrp="1"/>
          </p:cNvSpPr>
          <p:nvPr>
            <p:ph type="body" sz="quarter" idx="14"/>
          </p:nvPr>
        </p:nvSpPr>
        <p:spPr/>
        <p:txBody>
          <a:bodyPr/>
          <a:lstStyle/>
          <a:p>
            <a:endParaRPr lang="en-US" dirty="0"/>
          </a:p>
        </p:txBody>
      </p:sp>
      <p:sp>
        <p:nvSpPr>
          <p:cNvPr id="10" name="Content Placeholder 9">
            <a:extLst>
              <a:ext uri="{FF2B5EF4-FFF2-40B4-BE49-F238E27FC236}">
                <a16:creationId xmlns:a16="http://schemas.microsoft.com/office/drawing/2014/main" id="{C1EA9D37-F90A-4668-8E2D-D05CC5A028C4}"/>
              </a:ext>
            </a:extLst>
          </p:cNvPr>
          <p:cNvSpPr>
            <a:spLocks noGrp="1"/>
          </p:cNvSpPr>
          <p:nvPr>
            <p:ph idx="1"/>
          </p:nvPr>
        </p:nvSpPr>
        <p:spPr/>
        <p:txBody>
          <a:bodyPr/>
          <a:lstStyle/>
          <a:p>
            <a:pPr marL="457200" indent="-457200">
              <a:spcBef>
                <a:spcPts val="500"/>
              </a:spcBef>
              <a:buFont typeface="+mj-lt"/>
              <a:buAutoNum type="arabicPeriod"/>
            </a:pPr>
            <a:r>
              <a:rPr lang="en-US" sz="2400" dirty="0"/>
              <a:t>A potential crisis involving an </a:t>
            </a:r>
            <a:r>
              <a:rPr lang="en-US" sz="2400" u="sng" dirty="0"/>
              <a:t>investee</a:t>
            </a:r>
          </a:p>
          <a:p>
            <a:pPr marL="457200" indent="-457200">
              <a:spcBef>
                <a:spcPts val="2000"/>
              </a:spcBef>
              <a:buFont typeface="+mj-lt"/>
              <a:buAutoNum type="arabicPeriod"/>
            </a:pPr>
            <a:r>
              <a:rPr lang="en-US" sz="2400" dirty="0"/>
              <a:t>A potential crisis involving a </a:t>
            </a:r>
            <a:r>
              <a:rPr lang="en-US" sz="2400" u="sng" dirty="0"/>
              <a:t>funding partner</a:t>
            </a:r>
          </a:p>
          <a:p>
            <a:pPr marL="457200" indent="-457200">
              <a:spcBef>
                <a:spcPts val="2000"/>
              </a:spcBef>
              <a:buFont typeface="+mj-lt"/>
              <a:buAutoNum type="arabicPeriod"/>
            </a:pPr>
            <a:r>
              <a:rPr lang="en-US" sz="2400" dirty="0"/>
              <a:t>A potential crisis involving </a:t>
            </a:r>
            <a:r>
              <a:rPr lang="en-US" sz="2400" u="sng" dirty="0"/>
              <a:t>Blue Meridian Partners at the corporate level</a:t>
            </a:r>
          </a:p>
          <a:p>
            <a:endParaRPr lang="en-US" dirty="0"/>
          </a:p>
        </p:txBody>
      </p:sp>
      <p:sp>
        <p:nvSpPr>
          <p:cNvPr id="11" name="Content Placeholder 2">
            <a:extLst>
              <a:ext uri="{FF2B5EF4-FFF2-40B4-BE49-F238E27FC236}">
                <a16:creationId xmlns:a16="http://schemas.microsoft.com/office/drawing/2014/main" id="{AFD47696-B263-4F98-AD39-C40A81C3A774}"/>
              </a:ext>
            </a:extLst>
          </p:cNvPr>
          <p:cNvSpPr txBox="1">
            <a:spLocks/>
          </p:cNvSpPr>
          <p:nvPr/>
        </p:nvSpPr>
        <p:spPr>
          <a:xfrm>
            <a:off x="534070" y="2247319"/>
            <a:ext cx="11466576" cy="484120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0513" indent="-290513">
              <a:spcBef>
                <a:spcPts val="2400"/>
              </a:spcBef>
            </a:pPr>
            <a:endParaRPr lang="en-US" sz="2800" dirty="0"/>
          </a:p>
        </p:txBody>
      </p:sp>
    </p:spTree>
    <p:extLst>
      <p:ext uri="{BB962C8B-B14F-4D97-AF65-F5344CB8AC3E}">
        <p14:creationId xmlns:p14="http://schemas.microsoft.com/office/powerpoint/2010/main" val="2240267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D2D5154-EC16-47CB-9869-45540AB01BD5}"/>
              </a:ext>
            </a:extLst>
          </p:cNvPr>
          <p:cNvSpPr/>
          <p:nvPr/>
        </p:nvSpPr>
        <p:spPr>
          <a:xfrm>
            <a:off x="3247466" y="2029351"/>
            <a:ext cx="2754933" cy="394249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Aft>
                <a:spcPts val="400"/>
              </a:spcAft>
              <a:buFont typeface="Arial" panose="020B0604020202020204" pitchFamily="34" charset="0"/>
              <a:buChar char="•"/>
            </a:pPr>
            <a:endParaRPr lang="en-US" sz="1400" dirty="0">
              <a:solidFill>
                <a:schemeClr val="tx1"/>
              </a:solidFill>
            </a:endParaRPr>
          </a:p>
          <a:p>
            <a:pPr marL="182880" indent="-182880">
              <a:spcAft>
                <a:spcPts val="400"/>
              </a:spcAft>
              <a:buFont typeface="Arial" panose="020B0604020202020204" pitchFamily="34" charset="0"/>
              <a:buChar char="•"/>
            </a:pPr>
            <a:r>
              <a:rPr lang="en-US" sz="1400" dirty="0">
                <a:solidFill>
                  <a:schemeClr val="tx1"/>
                </a:solidFill>
              </a:rPr>
              <a:t>Personal/professional statements by partners (may or may not be related to Blue Meridian investments)</a:t>
            </a:r>
          </a:p>
          <a:p>
            <a:pPr lvl="1" indent="-182880">
              <a:spcAft>
                <a:spcPts val="400"/>
              </a:spcAft>
              <a:buFont typeface="Arial" panose="020B0604020202020204" pitchFamily="34" charset="0"/>
              <a:buChar char="•"/>
            </a:pPr>
            <a:r>
              <a:rPr lang="en-US" sz="1400" dirty="0">
                <a:solidFill>
                  <a:schemeClr val="tx1"/>
                </a:solidFill>
              </a:rPr>
              <a:t>Personal investments or business practices perceived to conflict with Blue Meridian priorities</a:t>
            </a:r>
          </a:p>
          <a:p>
            <a:pPr marL="182880" indent="-182880">
              <a:spcAft>
                <a:spcPts val="400"/>
              </a:spcAft>
              <a:buFont typeface="Arial" panose="020B0604020202020204" pitchFamily="34" charset="0"/>
              <a:buChar char="•"/>
            </a:pPr>
            <a:r>
              <a:rPr lang="en-US" sz="1400" dirty="0">
                <a:solidFill>
                  <a:schemeClr val="tx1"/>
                </a:solidFill>
              </a:rPr>
              <a:t>Organizational mismanagement or scandal</a:t>
            </a:r>
          </a:p>
          <a:p>
            <a:pPr marL="182880" indent="-182880">
              <a:spcAft>
                <a:spcPts val="400"/>
              </a:spcAft>
              <a:buFont typeface="Arial" panose="020B0604020202020204" pitchFamily="34" charset="0"/>
              <a:buChar char="•"/>
            </a:pPr>
            <a:r>
              <a:rPr lang="en-US" sz="1400" dirty="0">
                <a:solidFill>
                  <a:schemeClr val="tx1"/>
                </a:solidFill>
              </a:rPr>
              <a:t>When a partner-centered crisis, emerges, </a:t>
            </a:r>
            <a:r>
              <a:rPr lang="en-US" sz="1400" b="1" dirty="0">
                <a:solidFill>
                  <a:schemeClr val="tx1"/>
                </a:solidFill>
              </a:rPr>
              <a:t>Tia </a:t>
            </a:r>
            <a:r>
              <a:rPr lang="en-US" sz="1400" b="1" dirty="0" err="1">
                <a:solidFill>
                  <a:schemeClr val="tx1"/>
                </a:solidFill>
              </a:rPr>
              <a:t>Breakley</a:t>
            </a:r>
            <a:r>
              <a:rPr lang="en-US" sz="1400" b="1" dirty="0">
                <a:solidFill>
                  <a:schemeClr val="tx1"/>
                </a:solidFill>
              </a:rPr>
              <a:t> </a:t>
            </a:r>
            <a:r>
              <a:rPr lang="en-US" sz="1400" dirty="0">
                <a:solidFill>
                  <a:schemeClr val="tx1"/>
                </a:solidFill>
              </a:rPr>
              <a:t>will join the Crisis Communications Team. </a:t>
            </a:r>
          </a:p>
        </p:txBody>
      </p:sp>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a:xfrm>
            <a:off x="293353" y="277118"/>
            <a:ext cx="8932943" cy="396219"/>
          </a:xfrm>
        </p:spPr>
        <p:txBody>
          <a:bodyPr/>
          <a:lstStyle/>
          <a:p>
            <a:r>
              <a:rPr lang="en-US" dirty="0"/>
              <a:t>Within Each Category, Several Kinds of Conduct</a:t>
            </a:r>
          </a:p>
        </p:txBody>
      </p:sp>
      <p:sp>
        <p:nvSpPr>
          <p:cNvPr id="4" name="Footer Placeholder 3">
            <a:extLst>
              <a:ext uri="{FF2B5EF4-FFF2-40B4-BE49-F238E27FC236}">
                <a16:creationId xmlns:a16="http://schemas.microsoft.com/office/drawing/2014/main" id="{9C5B2DE1-98B1-402E-8421-59F8EFD34D2A}"/>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9</a:t>
            </a:fld>
            <a:endParaRPr lang="en-US" dirty="0"/>
          </a:p>
        </p:txBody>
      </p:sp>
      <p:sp>
        <p:nvSpPr>
          <p:cNvPr id="7" name="Text Placeholder 6">
            <a:extLst>
              <a:ext uri="{FF2B5EF4-FFF2-40B4-BE49-F238E27FC236}">
                <a16:creationId xmlns:a16="http://schemas.microsoft.com/office/drawing/2014/main" id="{AD949F0B-47A1-4843-AC2E-97FDC94750B8}"/>
              </a:ext>
            </a:extLst>
          </p:cNvPr>
          <p:cNvSpPr>
            <a:spLocks noGrp="1"/>
          </p:cNvSpPr>
          <p:nvPr>
            <p:ph type="body" sz="quarter" idx="14"/>
          </p:nvPr>
        </p:nvSpPr>
        <p:spPr>
          <a:xfrm>
            <a:off x="521953" y="6338890"/>
            <a:ext cx="8087977" cy="282598"/>
          </a:xfrm>
        </p:spPr>
        <p:txBody>
          <a:bodyPr/>
          <a:lstStyle/>
          <a:p>
            <a:endParaRPr lang="en-US" dirty="0"/>
          </a:p>
        </p:txBody>
      </p:sp>
      <p:sp>
        <p:nvSpPr>
          <p:cNvPr id="11" name="Content Placeholder 2">
            <a:extLst>
              <a:ext uri="{FF2B5EF4-FFF2-40B4-BE49-F238E27FC236}">
                <a16:creationId xmlns:a16="http://schemas.microsoft.com/office/drawing/2014/main" id="{AFD47696-B263-4F98-AD39-C40A81C3A774}"/>
              </a:ext>
            </a:extLst>
          </p:cNvPr>
          <p:cNvSpPr txBox="1">
            <a:spLocks/>
          </p:cNvSpPr>
          <p:nvPr/>
        </p:nvSpPr>
        <p:spPr>
          <a:xfrm>
            <a:off x="534070" y="2247319"/>
            <a:ext cx="11466576" cy="484120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0513" indent="-290513">
              <a:spcBef>
                <a:spcPts val="2400"/>
              </a:spcBef>
            </a:pPr>
            <a:endParaRPr lang="en-US" sz="2800" dirty="0"/>
          </a:p>
        </p:txBody>
      </p:sp>
      <p:sp>
        <p:nvSpPr>
          <p:cNvPr id="12" name="Rectangle 11">
            <a:extLst>
              <a:ext uri="{FF2B5EF4-FFF2-40B4-BE49-F238E27FC236}">
                <a16:creationId xmlns:a16="http://schemas.microsoft.com/office/drawing/2014/main" id="{3227357D-F7E0-4663-A5E4-9BACD59A19D0}"/>
              </a:ext>
            </a:extLst>
          </p:cNvPr>
          <p:cNvSpPr/>
          <p:nvPr/>
        </p:nvSpPr>
        <p:spPr>
          <a:xfrm>
            <a:off x="218949" y="2008427"/>
            <a:ext cx="2752150" cy="39424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400"/>
              </a:spcAft>
            </a:pPr>
            <a:endParaRPr lang="en-US" sz="1400" b="1" dirty="0">
              <a:solidFill>
                <a:schemeClr val="tx1"/>
              </a:solidFill>
            </a:endParaRPr>
          </a:p>
          <a:p>
            <a:pPr marL="182880" indent="-182880">
              <a:spcAft>
                <a:spcPts val="400"/>
              </a:spcAft>
              <a:buFont typeface="Arial" panose="020B0604020202020204" pitchFamily="34" charset="0"/>
              <a:buChar char="•"/>
            </a:pPr>
            <a:r>
              <a:rPr lang="en-US" sz="1400" dirty="0">
                <a:solidFill>
                  <a:schemeClr val="tx1"/>
                </a:solidFill>
              </a:rPr>
              <a:t>Personal statements or conduct by leaders/staff (may or may not  be related to Blue Meridian or its investments)</a:t>
            </a:r>
          </a:p>
          <a:p>
            <a:pPr marL="182880" indent="-182880">
              <a:spcAft>
                <a:spcPts val="400"/>
              </a:spcAft>
              <a:buFont typeface="Arial" panose="020B0604020202020204" pitchFamily="34" charset="0"/>
              <a:buChar char="•"/>
            </a:pPr>
            <a:r>
              <a:rPr lang="en-US" sz="1400" dirty="0">
                <a:solidFill>
                  <a:schemeClr val="tx1"/>
                </a:solidFill>
              </a:rPr>
              <a:t>Organizational mismanagement or scandal</a:t>
            </a:r>
          </a:p>
          <a:p>
            <a:pPr marL="182880" indent="-182880">
              <a:spcAft>
                <a:spcPts val="400"/>
              </a:spcAft>
              <a:buFont typeface="Arial" panose="020B0604020202020204" pitchFamily="34" charset="0"/>
              <a:buChar char="•"/>
            </a:pPr>
            <a:r>
              <a:rPr lang="en-US" sz="1400" dirty="0">
                <a:solidFill>
                  <a:schemeClr val="tx1"/>
                </a:solidFill>
              </a:rPr>
              <a:t>Tragic outcomes associated with a program supported by Blue Meridian</a:t>
            </a:r>
          </a:p>
          <a:p>
            <a:pPr marL="182880" indent="-182880">
              <a:spcAft>
                <a:spcPts val="400"/>
              </a:spcAft>
              <a:buFont typeface="Arial" panose="020B0604020202020204" pitchFamily="34" charset="0"/>
              <a:buChar char="•"/>
            </a:pPr>
            <a:r>
              <a:rPr lang="en-US" sz="1400" dirty="0">
                <a:solidFill>
                  <a:schemeClr val="tx1"/>
                </a:solidFill>
              </a:rPr>
              <a:t>When an investee-centered crisis emerges, </a:t>
            </a:r>
            <a:r>
              <a:rPr lang="en-US" sz="1400" b="1" dirty="0">
                <a:solidFill>
                  <a:schemeClr val="tx1"/>
                </a:solidFill>
              </a:rPr>
              <a:t>Jim Shelton </a:t>
            </a:r>
            <a:r>
              <a:rPr lang="en-US" sz="1400" dirty="0">
                <a:solidFill>
                  <a:schemeClr val="tx1"/>
                </a:solidFill>
              </a:rPr>
              <a:t>will join the Crisis Communications Team. </a:t>
            </a:r>
          </a:p>
          <a:p>
            <a:pPr>
              <a:spcAft>
                <a:spcPts val="400"/>
              </a:spcAft>
            </a:pPr>
            <a:endParaRPr lang="en-US" sz="1200" dirty="0">
              <a:solidFill>
                <a:schemeClr val="tx1"/>
              </a:solidFill>
            </a:endParaRPr>
          </a:p>
        </p:txBody>
      </p:sp>
      <p:sp>
        <p:nvSpPr>
          <p:cNvPr id="13" name="Rectangle 12">
            <a:extLst>
              <a:ext uri="{FF2B5EF4-FFF2-40B4-BE49-F238E27FC236}">
                <a16:creationId xmlns:a16="http://schemas.microsoft.com/office/drawing/2014/main" id="{0787BE9B-C01D-49AB-BBCC-F486C0727987}"/>
              </a:ext>
            </a:extLst>
          </p:cNvPr>
          <p:cNvSpPr/>
          <p:nvPr/>
        </p:nvSpPr>
        <p:spPr>
          <a:xfrm>
            <a:off x="224583" y="1813004"/>
            <a:ext cx="2740055" cy="3663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p>
        </p:txBody>
      </p:sp>
      <p:sp>
        <p:nvSpPr>
          <p:cNvPr id="14" name="Rectangle 13">
            <a:extLst>
              <a:ext uri="{FF2B5EF4-FFF2-40B4-BE49-F238E27FC236}">
                <a16:creationId xmlns:a16="http://schemas.microsoft.com/office/drawing/2014/main" id="{D1DFAEFB-5C9F-495E-AF46-358148EE4928}"/>
              </a:ext>
            </a:extLst>
          </p:cNvPr>
          <p:cNvSpPr/>
          <p:nvPr/>
        </p:nvSpPr>
        <p:spPr>
          <a:xfrm>
            <a:off x="3237983" y="1815480"/>
            <a:ext cx="2764416" cy="36512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Crises Involving Partners</a:t>
            </a:r>
          </a:p>
        </p:txBody>
      </p:sp>
      <p:sp>
        <p:nvSpPr>
          <p:cNvPr id="16" name="Rectangle 15">
            <a:extLst>
              <a:ext uri="{FF2B5EF4-FFF2-40B4-BE49-F238E27FC236}">
                <a16:creationId xmlns:a16="http://schemas.microsoft.com/office/drawing/2014/main" id="{933A6BC2-B36E-4D3E-ADE4-379698CD72D2}"/>
              </a:ext>
            </a:extLst>
          </p:cNvPr>
          <p:cNvSpPr/>
          <p:nvPr/>
        </p:nvSpPr>
        <p:spPr>
          <a:xfrm>
            <a:off x="6206063" y="1822088"/>
            <a:ext cx="2756743" cy="358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Crises Involving Corporate</a:t>
            </a:r>
          </a:p>
        </p:txBody>
      </p:sp>
      <p:sp>
        <p:nvSpPr>
          <p:cNvPr id="17" name="Rectangle 16">
            <a:extLst>
              <a:ext uri="{FF2B5EF4-FFF2-40B4-BE49-F238E27FC236}">
                <a16:creationId xmlns:a16="http://schemas.microsoft.com/office/drawing/2014/main" id="{24A968C7-F161-4E7F-9745-C195CE1D4195}"/>
              </a:ext>
            </a:extLst>
          </p:cNvPr>
          <p:cNvSpPr/>
          <p:nvPr/>
        </p:nvSpPr>
        <p:spPr>
          <a:xfrm>
            <a:off x="6206191" y="2166365"/>
            <a:ext cx="2754933" cy="380547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182880" indent="-182880">
              <a:spcAft>
                <a:spcPts val="400"/>
              </a:spcAft>
              <a:buFont typeface="Arial" panose="020B0604020202020204" pitchFamily="34" charset="0"/>
              <a:buChar char="•"/>
            </a:pPr>
            <a:r>
              <a:rPr lang="en-US" sz="1400" dirty="0">
                <a:solidFill>
                  <a:schemeClr val="tx1"/>
                </a:solidFill>
              </a:rPr>
              <a:t>Personal statements or conduct by leaders/staff (may or may not  be related to Blue Meridian or its investments)</a:t>
            </a:r>
          </a:p>
          <a:p>
            <a:pPr marL="182880" indent="-182880">
              <a:spcAft>
                <a:spcPts val="400"/>
              </a:spcAft>
              <a:buFont typeface="Arial" panose="020B0604020202020204" pitchFamily="34" charset="0"/>
              <a:buChar char="•"/>
            </a:pPr>
            <a:r>
              <a:rPr lang="en-US" sz="1400" dirty="0">
                <a:solidFill>
                  <a:schemeClr val="tx1"/>
                </a:solidFill>
              </a:rPr>
              <a:t>Organizational mismanagement or scandal</a:t>
            </a:r>
          </a:p>
          <a:p>
            <a:pPr marL="182880" indent="-182880">
              <a:spcAft>
                <a:spcPts val="400"/>
              </a:spcAft>
              <a:buFont typeface="Arial" panose="020B0604020202020204" pitchFamily="34" charset="0"/>
              <a:buChar char="•"/>
            </a:pPr>
            <a:r>
              <a:rPr lang="en-US" sz="1400" dirty="0">
                <a:solidFill>
                  <a:schemeClr val="tx1"/>
                </a:solidFill>
              </a:rPr>
              <a:t>Non-program related crisis that disrupts operations, such as a natural disaster or social media hack</a:t>
            </a:r>
          </a:p>
          <a:p>
            <a:pPr marL="182880" indent="-182880">
              <a:spcAft>
                <a:spcPts val="400"/>
              </a:spcAft>
              <a:buFont typeface="Arial" panose="020B0604020202020204" pitchFamily="34" charset="0"/>
              <a:buChar char="•"/>
            </a:pPr>
            <a:r>
              <a:rPr lang="en-US" sz="1400" dirty="0">
                <a:solidFill>
                  <a:schemeClr val="tx1"/>
                </a:solidFill>
              </a:rPr>
              <a:t>Legal or regulatory crisis</a:t>
            </a:r>
          </a:p>
          <a:p>
            <a:pPr marL="182880" indent="-182880">
              <a:spcAft>
                <a:spcPts val="400"/>
              </a:spcAft>
              <a:buFont typeface="Arial" panose="020B0604020202020204" pitchFamily="34" charset="0"/>
              <a:buChar char="•"/>
            </a:pPr>
            <a:r>
              <a:rPr lang="en-US" sz="1400" dirty="0">
                <a:solidFill>
                  <a:schemeClr val="tx1"/>
                </a:solidFill>
              </a:rPr>
              <a:t>When a corporate-centered crisis emerges, </a:t>
            </a:r>
            <a:r>
              <a:rPr lang="en-US" sz="1400" b="1" dirty="0">
                <a:solidFill>
                  <a:schemeClr val="tx1"/>
                </a:solidFill>
              </a:rPr>
              <a:t>Tiffany </a:t>
            </a:r>
            <a:r>
              <a:rPr lang="en-US" sz="1400" b="1" dirty="0" err="1">
                <a:solidFill>
                  <a:schemeClr val="tx1"/>
                </a:solidFill>
              </a:rPr>
              <a:t>Gueye</a:t>
            </a:r>
            <a:r>
              <a:rPr lang="en-US" sz="1400" b="1" dirty="0">
                <a:solidFill>
                  <a:schemeClr val="tx1"/>
                </a:solidFill>
              </a:rPr>
              <a:t> </a:t>
            </a:r>
            <a:r>
              <a:rPr lang="en-US" sz="1400" dirty="0">
                <a:solidFill>
                  <a:schemeClr val="tx1"/>
                </a:solidFill>
              </a:rPr>
              <a:t>will join the Crisis Communications Team. </a:t>
            </a:r>
          </a:p>
          <a:p>
            <a:pPr>
              <a:spcAft>
                <a:spcPts val="400"/>
              </a:spcAft>
            </a:pPr>
            <a:endParaRPr lang="en-US" sz="1200" dirty="0">
              <a:solidFill>
                <a:schemeClr val="tx1"/>
              </a:solidFill>
            </a:endParaRPr>
          </a:p>
        </p:txBody>
      </p:sp>
      <p:sp>
        <p:nvSpPr>
          <p:cNvPr id="18" name="Text Placeholder 5">
            <a:extLst>
              <a:ext uri="{FF2B5EF4-FFF2-40B4-BE49-F238E27FC236}">
                <a16:creationId xmlns:a16="http://schemas.microsoft.com/office/drawing/2014/main" id="{8DBF6CAF-2950-430C-9F2E-4A40C828EAF4}"/>
              </a:ext>
            </a:extLst>
          </p:cNvPr>
          <p:cNvSpPr>
            <a:spLocks noGrp="1"/>
          </p:cNvSpPr>
          <p:nvPr>
            <p:ph type="body" sz="quarter" idx="13"/>
          </p:nvPr>
        </p:nvSpPr>
        <p:spPr>
          <a:xfrm>
            <a:off x="521618" y="961658"/>
            <a:ext cx="8622382" cy="367392"/>
          </a:xfrm>
        </p:spPr>
        <p:txBody>
          <a:bodyPr/>
          <a:lstStyle/>
          <a:p>
            <a:r>
              <a:rPr lang="en-US" i="1" dirty="0"/>
              <a:t>Personal or organizational scandals can trigger crises anywhere, but some         crisis-precipitating activities are limited to a single category </a:t>
            </a:r>
          </a:p>
        </p:txBody>
      </p:sp>
      <p:sp>
        <p:nvSpPr>
          <p:cNvPr id="19" name="Rectangle 18">
            <a:extLst>
              <a:ext uri="{FF2B5EF4-FFF2-40B4-BE49-F238E27FC236}">
                <a16:creationId xmlns:a16="http://schemas.microsoft.com/office/drawing/2014/main" id="{1FF117DA-9759-4C33-90CE-CB54B0011744}"/>
              </a:ext>
            </a:extLst>
          </p:cNvPr>
          <p:cNvSpPr/>
          <p:nvPr/>
        </p:nvSpPr>
        <p:spPr>
          <a:xfrm>
            <a:off x="181194" y="1798974"/>
            <a:ext cx="2812723" cy="3673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Crises Involving Investees</a:t>
            </a:r>
          </a:p>
        </p:txBody>
      </p:sp>
    </p:spTree>
    <p:extLst>
      <p:ext uri="{BB962C8B-B14F-4D97-AF65-F5344CB8AC3E}">
        <p14:creationId xmlns:p14="http://schemas.microsoft.com/office/powerpoint/2010/main" val="3310453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9">
            <a:extLst>
              <a:ext uri="{FF2B5EF4-FFF2-40B4-BE49-F238E27FC236}">
                <a16:creationId xmlns:a16="http://schemas.microsoft.com/office/drawing/2014/main" id="{1CC655ED-447D-4131-B88E-3F4AA6CEDA11}"/>
              </a:ext>
            </a:extLst>
          </p:cNvPr>
          <p:cNvGraphicFramePr>
            <a:graphicFrameLocks noGrp="1"/>
          </p:cNvGraphicFramePr>
          <p:nvPr>
            <p:ph idx="1"/>
            <p:extLst>
              <p:ext uri="{D42A27DB-BD31-4B8C-83A1-F6EECF244321}">
                <p14:modId xmlns:p14="http://schemas.microsoft.com/office/powerpoint/2010/main" val="2377806136"/>
              </p:ext>
            </p:extLst>
          </p:nvPr>
        </p:nvGraphicFramePr>
        <p:xfrm>
          <a:off x="354048" y="1106625"/>
          <a:ext cx="8455520" cy="5103882"/>
        </p:xfrm>
        <a:graphic>
          <a:graphicData uri="http://schemas.openxmlformats.org/drawingml/2006/table">
            <a:tbl>
              <a:tblPr firstRow="1" bandRow="1">
                <a:tableStyleId>{5C22544A-7EE6-4342-B048-85BDC9FD1C3A}</a:tableStyleId>
              </a:tblPr>
              <a:tblGrid>
                <a:gridCol w="1730635">
                  <a:extLst>
                    <a:ext uri="{9D8B030D-6E8A-4147-A177-3AD203B41FA5}">
                      <a16:colId xmlns:a16="http://schemas.microsoft.com/office/drawing/2014/main" val="1995086627"/>
                    </a:ext>
                  </a:extLst>
                </a:gridCol>
                <a:gridCol w="3390698">
                  <a:extLst>
                    <a:ext uri="{9D8B030D-6E8A-4147-A177-3AD203B41FA5}">
                      <a16:colId xmlns:a16="http://schemas.microsoft.com/office/drawing/2014/main" val="3462466005"/>
                    </a:ext>
                  </a:extLst>
                </a:gridCol>
                <a:gridCol w="3334187">
                  <a:extLst>
                    <a:ext uri="{9D8B030D-6E8A-4147-A177-3AD203B41FA5}">
                      <a16:colId xmlns:a16="http://schemas.microsoft.com/office/drawing/2014/main" val="2606868505"/>
                    </a:ext>
                  </a:extLst>
                </a:gridCol>
              </a:tblGrid>
              <a:tr h="377090">
                <a:tc>
                  <a:txBody>
                    <a:bodyPr/>
                    <a:lstStyle/>
                    <a:p>
                      <a:r>
                        <a:rPr lang="en-US" dirty="0"/>
                        <a:t>  Crisis Level</a:t>
                      </a:r>
                    </a:p>
                  </a:txBody>
                  <a:tcPr/>
                </a:tc>
                <a:tc>
                  <a:txBody>
                    <a:bodyPr/>
                    <a:lstStyle/>
                    <a:p>
                      <a:r>
                        <a:rPr lang="en-US" dirty="0"/>
                        <a:t>Description</a:t>
                      </a:r>
                    </a:p>
                  </a:txBody>
                  <a:tcPr/>
                </a:tc>
                <a:tc>
                  <a:txBody>
                    <a:bodyPr/>
                    <a:lstStyle/>
                    <a:p>
                      <a:r>
                        <a:rPr lang="en-US" dirty="0"/>
                        <a:t>Communications Goal</a:t>
                      </a:r>
                    </a:p>
                  </a:txBody>
                  <a:tcPr/>
                </a:tc>
                <a:extLst>
                  <a:ext uri="{0D108BD9-81ED-4DB2-BD59-A6C34878D82A}">
                    <a16:rowId xmlns:a16="http://schemas.microsoft.com/office/drawing/2014/main" val="260984129"/>
                  </a:ext>
                </a:extLst>
              </a:tr>
              <a:tr h="659907">
                <a:tc>
                  <a:txBody>
                    <a:bodyPr/>
                    <a:lstStyle/>
                    <a:p>
                      <a:pPr algn="ctr"/>
                      <a:endParaRPr lang="en-US" sz="2100" b="1" dirty="0"/>
                    </a:p>
                    <a:p>
                      <a:pPr algn="ctr"/>
                      <a:r>
                        <a:rPr lang="en-US" sz="1200" b="1" dirty="0"/>
                        <a:t>           </a:t>
                      </a:r>
                      <a:r>
                        <a:rPr lang="en-US" sz="1500" b="1" dirty="0"/>
                        <a:t>Not Severe </a:t>
                      </a:r>
                    </a:p>
                  </a:txBody>
                  <a:tcPr/>
                </a:tc>
                <a:tc>
                  <a:txBody>
                    <a:bodyPr/>
                    <a:lstStyle/>
                    <a:p>
                      <a:r>
                        <a:rPr lang="en-US" sz="1200" dirty="0"/>
                        <a:t>Not a crisis. The issue does not significantly involve Blue Meridian and is unlikely to damage its standing. This crisis level includes national news events that many corporations and philanthropies are commenting on.</a:t>
                      </a:r>
                    </a:p>
                  </a:txBody>
                  <a:tcPr/>
                </a:tc>
                <a:tc>
                  <a:txBody>
                    <a:bodyPr/>
                    <a:lstStyle/>
                    <a:p>
                      <a:r>
                        <a:rPr lang="en-US" sz="1200" dirty="0"/>
                        <a:t>No requirement to get involved. May choose to engage if issue is aligned with core values and priorities. See slide 23 for further discussion of engaging in non-crises.</a:t>
                      </a:r>
                    </a:p>
                  </a:txBody>
                  <a:tcPr/>
                </a:tc>
                <a:extLst>
                  <a:ext uri="{0D108BD9-81ED-4DB2-BD59-A6C34878D82A}">
                    <a16:rowId xmlns:a16="http://schemas.microsoft.com/office/drawing/2014/main" val="3371876081"/>
                  </a:ext>
                </a:extLst>
              </a:tr>
              <a:tr h="877898">
                <a:tc>
                  <a:txBody>
                    <a:bodyPr/>
                    <a:lstStyle/>
                    <a:p>
                      <a:pPr algn="ctr"/>
                      <a:endParaRPr lang="en-US" sz="2000" b="1" dirty="0"/>
                    </a:p>
                    <a:p>
                      <a:pPr algn="ctr"/>
                      <a:r>
                        <a:rPr lang="en-US" sz="1200" b="1" dirty="0"/>
                        <a:t> </a:t>
                      </a:r>
                      <a:r>
                        <a:rPr lang="en-US" sz="1500" b="1" dirty="0"/>
                        <a:t>Minor</a:t>
                      </a:r>
                    </a:p>
                  </a:txBody>
                  <a:tcPr/>
                </a:tc>
                <a:tc>
                  <a:txBody>
                    <a:bodyPr/>
                    <a:lstStyle/>
                    <a:p>
                      <a:r>
                        <a:rPr lang="en-US" sz="1200" dirty="0"/>
                        <a:t>The crisis is unlikely to significantly damage Blue Meridian’s reputation, but the issue is serious enough that BMP may choose to respond</a:t>
                      </a:r>
                    </a:p>
                  </a:txBody>
                  <a:tcPr/>
                </a:tc>
                <a:tc>
                  <a:txBody>
                    <a:bodyPr/>
                    <a:lstStyle/>
                    <a:p>
                      <a:r>
                        <a:rPr lang="en-US" sz="1200" dirty="0"/>
                        <a:t>Respond only as necessary to quickly set out undisputed facts and dispatch issue. If investee or partner crisis, emphasize organizational values and avoid criticizing partners/investees.</a:t>
                      </a:r>
                    </a:p>
                  </a:txBody>
                  <a:tcPr/>
                </a:tc>
                <a:extLst>
                  <a:ext uri="{0D108BD9-81ED-4DB2-BD59-A6C34878D82A}">
                    <a16:rowId xmlns:a16="http://schemas.microsoft.com/office/drawing/2014/main" val="4119119714"/>
                  </a:ext>
                </a:extLst>
              </a:tr>
              <a:tr h="1037516">
                <a:tc>
                  <a:txBody>
                    <a:bodyPr/>
                    <a:lstStyle/>
                    <a:p>
                      <a:pPr algn="ctr"/>
                      <a:endParaRPr lang="en-US" sz="1200" b="1" dirty="0"/>
                    </a:p>
                    <a:p>
                      <a:pPr algn="ctr"/>
                      <a:endParaRPr lang="en-US" sz="1200" b="1" dirty="0"/>
                    </a:p>
                    <a:p>
                      <a:pPr algn="ctr"/>
                      <a:r>
                        <a:rPr lang="en-US" sz="1200" b="1" dirty="0"/>
                        <a:t>          </a:t>
                      </a:r>
                      <a:r>
                        <a:rPr lang="en-US" sz="1500" b="1" dirty="0"/>
                        <a:t>Moderate</a:t>
                      </a:r>
                    </a:p>
                  </a:txBody>
                  <a:tcPr/>
                </a:tc>
                <a:tc>
                  <a:txBody>
                    <a:bodyPr/>
                    <a:lstStyle/>
                    <a:p>
                      <a:r>
                        <a:rPr lang="en-US" sz="1200" dirty="0"/>
                        <a:t>The crisis may involve Blue Meridian and may affect its reputation, but key facts remain unknown.</a:t>
                      </a:r>
                    </a:p>
                  </a:txBody>
                  <a:tcPr/>
                </a:tc>
                <a:tc>
                  <a:txBody>
                    <a:bodyPr/>
                    <a:lstStyle/>
                    <a:p>
                      <a:r>
                        <a:rPr lang="en-US" sz="1200" dirty="0"/>
                        <a:t>Continue investigating but usually don’t get involved absent media/public interest. If a statement is required, signal strong concern, restate organizational values, and suggest that additional action may be warranted.</a:t>
                      </a:r>
                    </a:p>
                  </a:txBody>
                  <a:tcPr/>
                </a:tc>
                <a:extLst>
                  <a:ext uri="{0D108BD9-81ED-4DB2-BD59-A6C34878D82A}">
                    <a16:rowId xmlns:a16="http://schemas.microsoft.com/office/drawing/2014/main" val="3868070212"/>
                  </a:ext>
                </a:extLst>
              </a:tr>
              <a:tr h="558662">
                <a:tc>
                  <a:txBody>
                    <a:bodyPr/>
                    <a:lstStyle/>
                    <a:p>
                      <a:pPr algn="ctr"/>
                      <a:endParaRPr lang="en-US" sz="1200" b="1" dirty="0"/>
                    </a:p>
                    <a:p>
                      <a:pPr algn="ctr"/>
                      <a:r>
                        <a:rPr lang="en-US" sz="1200" b="1" dirty="0"/>
                        <a:t>     </a:t>
                      </a:r>
                      <a:r>
                        <a:rPr lang="en-US" sz="1500" b="1" dirty="0"/>
                        <a:t>Severe</a:t>
                      </a:r>
                    </a:p>
                  </a:txBody>
                  <a:tcPr/>
                </a:tc>
                <a:tc>
                  <a:txBody>
                    <a:bodyPr/>
                    <a:lstStyle/>
                    <a:p>
                      <a:r>
                        <a:rPr lang="en-US" sz="1200" dirty="0"/>
                        <a:t>The crisis is serious, involves Blue Meridian, and may damage its reputation and standing. Key facts are verified.</a:t>
                      </a:r>
                    </a:p>
                  </a:txBody>
                  <a:tcPr/>
                </a:tc>
                <a:tc>
                  <a:txBody>
                    <a:bodyPr/>
                    <a:lstStyle/>
                    <a:p>
                      <a:r>
                        <a:rPr lang="en-US" sz="1200" dirty="0"/>
                        <a:t>Get ahead of the story. Very likely to issue statement signaling strong concern and describing steps taken to address. </a:t>
                      </a:r>
                    </a:p>
                  </a:txBody>
                  <a:tcPr/>
                </a:tc>
                <a:extLst>
                  <a:ext uri="{0D108BD9-81ED-4DB2-BD59-A6C34878D82A}">
                    <a16:rowId xmlns:a16="http://schemas.microsoft.com/office/drawing/2014/main" val="2398871439"/>
                  </a:ext>
                </a:extLst>
              </a:tr>
              <a:tr h="1037516">
                <a:tc>
                  <a:txBody>
                    <a:bodyPr/>
                    <a:lstStyle/>
                    <a:p>
                      <a:pPr algn="ctr"/>
                      <a:endParaRPr lang="en-US" sz="1200" b="1" dirty="0"/>
                    </a:p>
                    <a:p>
                      <a:pPr algn="ctr"/>
                      <a:endParaRPr lang="en-US" sz="1200" b="1" dirty="0"/>
                    </a:p>
                    <a:p>
                      <a:pPr algn="ctr"/>
                      <a:r>
                        <a:rPr lang="en-US" sz="1200" b="1" dirty="0"/>
                        <a:t>           </a:t>
                      </a:r>
                      <a:r>
                        <a:rPr lang="en-US" sz="1400" b="1" dirty="0"/>
                        <a:t>Existential</a:t>
                      </a:r>
                    </a:p>
                  </a:txBody>
                  <a:tcPr/>
                </a:tc>
                <a:tc>
                  <a:txBody>
                    <a:bodyPr/>
                    <a:lstStyle/>
                    <a:p>
                      <a:r>
                        <a:rPr lang="en-US" sz="1200" dirty="0"/>
                        <a:t>The crisis is extremely serious and threatens significant damage to Blue Meridian’s standing and reputation. </a:t>
                      </a:r>
                    </a:p>
                  </a:txBody>
                  <a:tcPr/>
                </a:tc>
                <a:tc>
                  <a:txBody>
                    <a:bodyPr/>
                    <a:lstStyle/>
                    <a:p>
                      <a:r>
                        <a:rPr lang="en-US" sz="1200" dirty="0"/>
                        <a:t>Engagement is critical. Get ahead of the story. </a:t>
                      </a:r>
                      <a:br>
                        <a:rPr lang="en-US" sz="1200" dirty="0"/>
                      </a:br>
                      <a:r>
                        <a:rPr lang="en-US" sz="1200" dirty="0"/>
                        <a:t>When appropriate, acknowledge mistakes and describe actions taken to address. When confronting false attacks, push back and begin outlining defense/counter-arguments.</a:t>
                      </a:r>
                    </a:p>
                  </a:txBody>
                  <a:tcPr/>
                </a:tc>
                <a:extLst>
                  <a:ext uri="{0D108BD9-81ED-4DB2-BD59-A6C34878D82A}">
                    <a16:rowId xmlns:a16="http://schemas.microsoft.com/office/drawing/2014/main" val="4037831896"/>
                  </a:ext>
                </a:extLst>
              </a:tr>
            </a:tbl>
          </a:graphicData>
        </a:graphic>
      </p:graphicFrame>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a:xfrm>
            <a:off x="537649" y="378257"/>
            <a:ext cx="8088319" cy="396219"/>
          </a:xfrm>
        </p:spPr>
        <p:txBody>
          <a:bodyPr/>
          <a:lstStyle/>
          <a:p>
            <a:r>
              <a:rPr lang="en-US" dirty="0"/>
              <a:t>Crisis Level Evaluation Scale</a:t>
            </a:r>
          </a:p>
        </p:txBody>
      </p:sp>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a:xfrm>
            <a:off x="3028950" y="6452529"/>
            <a:ext cx="3086100" cy="365125"/>
          </a:xfrm>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a:xfrm>
            <a:off x="7494359" y="6440752"/>
            <a:ext cx="1131609" cy="365125"/>
          </a:xfrm>
        </p:spPr>
        <p:txBody>
          <a:bodyPr/>
          <a:lstStyle/>
          <a:p>
            <a:fld id="{D4F07938-7C1D-46C8-9535-2404A951C984}" type="slidenum">
              <a:rPr lang="en-US" smtClean="0"/>
              <a:t>10</a:t>
            </a:fld>
            <a:endParaRPr lang="en-US" dirty="0"/>
          </a:p>
        </p:txBody>
      </p:sp>
      <p:sp>
        <p:nvSpPr>
          <p:cNvPr id="3" name="TextBox 2">
            <a:extLst>
              <a:ext uri="{FF2B5EF4-FFF2-40B4-BE49-F238E27FC236}">
                <a16:creationId xmlns:a16="http://schemas.microsoft.com/office/drawing/2014/main" id="{606E1E24-CF88-4912-AF76-9EC6895F46D1}"/>
              </a:ext>
            </a:extLst>
          </p:cNvPr>
          <p:cNvSpPr txBox="1"/>
          <p:nvPr/>
        </p:nvSpPr>
        <p:spPr>
          <a:xfrm>
            <a:off x="437545" y="1656126"/>
            <a:ext cx="476853" cy="584775"/>
          </a:xfrm>
          <a:prstGeom prst="rect">
            <a:avLst/>
          </a:prstGeom>
          <a:noFill/>
        </p:spPr>
        <p:txBody>
          <a:bodyPr wrap="square" rtlCol="0">
            <a:spAutoFit/>
          </a:bodyPr>
          <a:lstStyle/>
          <a:p>
            <a:r>
              <a:rPr lang="en-US" sz="3200" dirty="0">
                <a:solidFill>
                  <a:schemeClr val="accent5">
                    <a:lumMod val="75000"/>
                    <a:lumOff val="25000"/>
                  </a:schemeClr>
                </a:solidFill>
              </a:rPr>
              <a:t>1</a:t>
            </a:r>
          </a:p>
        </p:txBody>
      </p:sp>
      <p:sp>
        <p:nvSpPr>
          <p:cNvPr id="9" name="TextBox 8">
            <a:extLst>
              <a:ext uri="{FF2B5EF4-FFF2-40B4-BE49-F238E27FC236}">
                <a16:creationId xmlns:a16="http://schemas.microsoft.com/office/drawing/2014/main" id="{864521B4-F7AA-4484-B286-3A9A34C4F10E}"/>
              </a:ext>
            </a:extLst>
          </p:cNvPr>
          <p:cNvSpPr txBox="1"/>
          <p:nvPr/>
        </p:nvSpPr>
        <p:spPr>
          <a:xfrm>
            <a:off x="434301" y="3534140"/>
            <a:ext cx="476853" cy="754053"/>
          </a:xfrm>
          <a:prstGeom prst="rect">
            <a:avLst/>
          </a:prstGeom>
          <a:noFill/>
        </p:spPr>
        <p:txBody>
          <a:bodyPr wrap="square" rtlCol="0">
            <a:spAutoFit/>
          </a:bodyPr>
          <a:lstStyle/>
          <a:p>
            <a:r>
              <a:rPr lang="en-US" sz="4300" dirty="0">
                <a:solidFill>
                  <a:srgbClr val="FFC000"/>
                </a:solidFill>
              </a:rPr>
              <a:t>3</a:t>
            </a:r>
          </a:p>
        </p:txBody>
      </p:sp>
      <p:sp>
        <p:nvSpPr>
          <p:cNvPr id="10" name="TextBox 9">
            <a:extLst>
              <a:ext uri="{FF2B5EF4-FFF2-40B4-BE49-F238E27FC236}">
                <a16:creationId xmlns:a16="http://schemas.microsoft.com/office/drawing/2014/main" id="{1738AFE1-A715-4635-9209-9F655C301486}"/>
              </a:ext>
            </a:extLst>
          </p:cNvPr>
          <p:cNvSpPr txBox="1"/>
          <p:nvPr/>
        </p:nvSpPr>
        <p:spPr>
          <a:xfrm>
            <a:off x="435923" y="2610030"/>
            <a:ext cx="476853" cy="661720"/>
          </a:xfrm>
          <a:prstGeom prst="rect">
            <a:avLst/>
          </a:prstGeom>
          <a:noFill/>
        </p:spPr>
        <p:txBody>
          <a:bodyPr wrap="square" rtlCol="0">
            <a:spAutoFit/>
          </a:bodyPr>
          <a:lstStyle/>
          <a:p>
            <a:r>
              <a:rPr lang="en-US" sz="3700" dirty="0">
                <a:solidFill>
                  <a:srgbClr val="FFFF00"/>
                </a:solidFill>
              </a:rPr>
              <a:t>2</a:t>
            </a:r>
          </a:p>
        </p:txBody>
      </p:sp>
      <p:sp>
        <p:nvSpPr>
          <p:cNvPr id="11" name="TextBox 10">
            <a:extLst>
              <a:ext uri="{FF2B5EF4-FFF2-40B4-BE49-F238E27FC236}">
                <a16:creationId xmlns:a16="http://schemas.microsoft.com/office/drawing/2014/main" id="{B5FBC1CF-7C92-4867-8DEC-CE69E9BD7A71}"/>
              </a:ext>
            </a:extLst>
          </p:cNvPr>
          <p:cNvSpPr txBox="1"/>
          <p:nvPr/>
        </p:nvSpPr>
        <p:spPr>
          <a:xfrm>
            <a:off x="409409" y="4307787"/>
            <a:ext cx="476853" cy="830997"/>
          </a:xfrm>
          <a:prstGeom prst="rect">
            <a:avLst/>
          </a:prstGeom>
          <a:noFill/>
        </p:spPr>
        <p:txBody>
          <a:bodyPr wrap="square" rtlCol="0">
            <a:spAutoFit/>
          </a:bodyPr>
          <a:lstStyle/>
          <a:p>
            <a:r>
              <a:rPr lang="en-US" sz="4800" b="1" dirty="0">
                <a:solidFill>
                  <a:srgbClr val="FF6600"/>
                </a:solidFill>
              </a:rPr>
              <a:t>4</a:t>
            </a:r>
          </a:p>
        </p:txBody>
      </p:sp>
      <p:sp>
        <p:nvSpPr>
          <p:cNvPr id="12" name="TextBox 11">
            <a:extLst>
              <a:ext uri="{FF2B5EF4-FFF2-40B4-BE49-F238E27FC236}">
                <a16:creationId xmlns:a16="http://schemas.microsoft.com/office/drawing/2014/main" id="{3805FC80-E685-4EB2-86B6-B99AC45E7E2B}"/>
              </a:ext>
            </a:extLst>
          </p:cNvPr>
          <p:cNvSpPr txBox="1"/>
          <p:nvPr/>
        </p:nvSpPr>
        <p:spPr>
          <a:xfrm>
            <a:off x="349045" y="4939755"/>
            <a:ext cx="476853" cy="1246495"/>
          </a:xfrm>
          <a:prstGeom prst="rect">
            <a:avLst/>
          </a:prstGeom>
          <a:noFill/>
        </p:spPr>
        <p:txBody>
          <a:bodyPr wrap="square" rtlCol="0">
            <a:spAutoFit/>
          </a:bodyPr>
          <a:lstStyle/>
          <a:p>
            <a:r>
              <a:rPr lang="en-US" sz="7500" b="1" dirty="0">
                <a:solidFill>
                  <a:srgbClr val="FF0000"/>
                </a:solidFill>
              </a:rPr>
              <a:t>5</a:t>
            </a:r>
          </a:p>
        </p:txBody>
      </p:sp>
    </p:spTree>
    <p:extLst>
      <p:ext uri="{BB962C8B-B14F-4D97-AF65-F5344CB8AC3E}">
        <p14:creationId xmlns:p14="http://schemas.microsoft.com/office/powerpoint/2010/main" val="3674444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9">
            <a:extLst>
              <a:ext uri="{FF2B5EF4-FFF2-40B4-BE49-F238E27FC236}">
                <a16:creationId xmlns:a16="http://schemas.microsoft.com/office/drawing/2014/main" id="{1CC655ED-447D-4131-B88E-3F4AA6CEDA11}"/>
              </a:ext>
            </a:extLst>
          </p:cNvPr>
          <p:cNvGraphicFramePr>
            <a:graphicFrameLocks noGrp="1"/>
          </p:cNvGraphicFramePr>
          <p:nvPr>
            <p:ph idx="1"/>
            <p:extLst>
              <p:ext uri="{D42A27DB-BD31-4B8C-83A1-F6EECF244321}">
                <p14:modId xmlns:p14="http://schemas.microsoft.com/office/powerpoint/2010/main" val="4203858837"/>
              </p:ext>
            </p:extLst>
          </p:nvPr>
        </p:nvGraphicFramePr>
        <p:xfrm>
          <a:off x="661615" y="897318"/>
          <a:ext cx="8088318" cy="5303520"/>
        </p:xfrm>
        <a:graphic>
          <a:graphicData uri="http://schemas.openxmlformats.org/drawingml/2006/table">
            <a:tbl>
              <a:tblPr firstRow="1" bandRow="1">
                <a:tableStyleId>{5C22544A-7EE6-4342-B048-85BDC9FD1C3A}</a:tableStyleId>
              </a:tblPr>
              <a:tblGrid>
                <a:gridCol w="1199056">
                  <a:extLst>
                    <a:ext uri="{9D8B030D-6E8A-4147-A177-3AD203B41FA5}">
                      <a16:colId xmlns:a16="http://schemas.microsoft.com/office/drawing/2014/main" val="1995086627"/>
                    </a:ext>
                  </a:extLst>
                </a:gridCol>
                <a:gridCol w="6050999">
                  <a:extLst>
                    <a:ext uri="{9D8B030D-6E8A-4147-A177-3AD203B41FA5}">
                      <a16:colId xmlns:a16="http://schemas.microsoft.com/office/drawing/2014/main" val="2606868505"/>
                    </a:ext>
                  </a:extLst>
                </a:gridCol>
                <a:gridCol w="838263">
                  <a:extLst>
                    <a:ext uri="{9D8B030D-6E8A-4147-A177-3AD203B41FA5}">
                      <a16:colId xmlns:a16="http://schemas.microsoft.com/office/drawing/2014/main" val="861983288"/>
                    </a:ext>
                  </a:extLst>
                </a:gridCol>
              </a:tblGrid>
              <a:tr h="516115">
                <a:tc>
                  <a:txBody>
                    <a:bodyPr/>
                    <a:lstStyle/>
                    <a:p>
                      <a:r>
                        <a:rPr lang="en-US" dirty="0"/>
                        <a:t>Crisis Type</a:t>
                      </a:r>
                    </a:p>
                  </a:txBody>
                  <a:tcPr/>
                </a:tc>
                <a:tc>
                  <a:txBody>
                    <a:bodyPr/>
                    <a:lstStyle/>
                    <a:p>
                      <a:r>
                        <a:rPr lang="en-US" dirty="0"/>
                        <a:t>Hypothetical Example</a:t>
                      </a:r>
                    </a:p>
                    <a:p>
                      <a:endParaRPr lang="en-US" dirty="0"/>
                    </a:p>
                  </a:txBody>
                  <a:tcPr/>
                </a:tc>
                <a:tc>
                  <a:txBody>
                    <a:bodyPr/>
                    <a:lstStyle/>
                    <a:p>
                      <a:r>
                        <a:rPr lang="en-US" dirty="0"/>
                        <a:t>Crisis Level</a:t>
                      </a:r>
                    </a:p>
                  </a:txBody>
                  <a:tcPr/>
                </a:tc>
                <a:extLst>
                  <a:ext uri="{0D108BD9-81ED-4DB2-BD59-A6C34878D82A}">
                    <a16:rowId xmlns:a16="http://schemas.microsoft.com/office/drawing/2014/main" val="260984129"/>
                  </a:ext>
                </a:extLst>
              </a:tr>
              <a:tr h="370840">
                <a:tc>
                  <a:txBody>
                    <a:bodyPr/>
                    <a:lstStyle/>
                    <a:p>
                      <a:r>
                        <a:rPr lang="en-US" sz="1200" b="1" dirty="0"/>
                        <a:t>Investee</a:t>
                      </a:r>
                    </a:p>
                  </a:txBody>
                  <a:tcPr>
                    <a:solidFill>
                      <a:schemeClr val="accent1">
                        <a:lumMod val="20000"/>
                        <a:lumOff val="80000"/>
                      </a:schemeClr>
                    </a:solidFill>
                  </a:tcPr>
                </a:tc>
                <a:tc>
                  <a:txBody>
                    <a:bodyPr/>
                    <a:lstStyle/>
                    <a:p>
                      <a:pPr lvl="0"/>
                      <a:r>
                        <a:rPr lang="en-US" sz="1200" i="0" dirty="0"/>
                        <a:t>Speaking at a protest on personal time, an investee leader advocates the total elimination of police departments and harshly criticizes all law enforcement officers.</a:t>
                      </a:r>
                    </a:p>
                  </a:txBody>
                  <a:tcPr>
                    <a:solidFill>
                      <a:schemeClr val="accent1">
                        <a:lumMod val="20000"/>
                        <a:lumOff val="80000"/>
                      </a:schemeClr>
                    </a:solidFill>
                  </a:tcPr>
                </a:tc>
                <a:tc>
                  <a:txBody>
                    <a:bodyPr/>
                    <a:lstStyle/>
                    <a:p>
                      <a:pPr lvl="0"/>
                      <a:r>
                        <a:rPr lang="en-US" sz="1200" i="0" dirty="0"/>
                        <a:t>1-2</a:t>
                      </a:r>
                    </a:p>
                  </a:txBody>
                  <a:tcPr>
                    <a:solidFill>
                      <a:schemeClr val="accent1">
                        <a:lumMod val="20000"/>
                        <a:lumOff val="80000"/>
                      </a:schemeClr>
                    </a:solidFill>
                  </a:tcPr>
                </a:tc>
                <a:extLst>
                  <a:ext uri="{0D108BD9-81ED-4DB2-BD59-A6C34878D82A}">
                    <a16:rowId xmlns:a16="http://schemas.microsoft.com/office/drawing/2014/main" val="3371876081"/>
                  </a:ext>
                </a:extLst>
              </a:tr>
              <a:tr h="370840">
                <a:tc>
                  <a:txBody>
                    <a:bodyPr/>
                    <a:lstStyle/>
                    <a:p>
                      <a:r>
                        <a:rPr lang="en-US" sz="1200" b="1" dirty="0"/>
                        <a:t>Investee</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The CEO of major investee is accused by employees of sexual harassment and maintaining a hostile work environment. The CEO denies the accusations.</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3</a:t>
                      </a:r>
                    </a:p>
                  </a:txBody>
                  <a:tcPr>
                    <a:solidFill>
                      <a:schemeClr val="accent1">
                        <a:lumMod val="20000"/>
                        <a:lumOff val="80000"/>
                      </a:schemeClr>
                    </a:solidFill>
                  </a:tcPr>
                </a:tc>
                <a:extLst>
                  <a:ext uri="{0D108BD9-81ED-4DB2-BD59-A6C34878D82A}">
                    <a16:rowId xmlns:a16="http://schemas.microsoft.com/office/drawing/2014/main" val="4119119714"/>
                  </a:ext>
                </a:extLst>
              </a:tr>
              <a:tr h="370840">
                <a:tc>
                  <a:txBody>
                    <a:bodyPr/>
                    <a:lstStyle/>
                    <a:p>
                      <a:r>
                        <a:rPr lang="en-US" sz="1200" b="1" dirty="0"/>
                        <a:t>Investee</a:t>
                      </a:r>
                    </a:p>
                  </a:txBody>
                  <a:tcPr>
                    <a:solidFill>
                      <a:schemeClr val="accent1">
                        <a:lumMod val="20000"/>
                        <a:lumOff val="80000"/>
                      </a:schemeClr>
                    </a:solidFill>
                  </a:tcPr>
                </a:tc>
                <a:tc>
                  <a:txBody>
                    <a:bodyPr/>
                    <a:lstStyle/>
                    <a:p>
                      <a:r>
                        <a:rPr lang="en-US" sz="1200" i="0" dirty="0"/>
                        <a:t>A teenager enrolled in a Youth Villages residential treatment program dies by suicide. Local media is aware of the death and media inquiries indicate concern about supervision practices. </a:t>
                      </a:r>
                    </a:p>
                  </a:txBody>
                  <a:tcPr>
                    <a:solidFill>
                      <a:schemeClr val="accent1">
                        <a:lumMod val="20000"/>
                        <a:lumOff val="80000"/>
                      </a:schemeClr>
                    </a:solidFill>
                  </a:tcPr>
                </a:tc>
                <a:tc>
                  <a:txBody>
                    <a:bodyPr/>
                    <a:lstStyle/>
                    <a:p>
                      <a:r>
                        <a:rPr lang="en-US" sz="1200" i="0" dirty="0"/>
                        <a:t>3-4</a:t>
                      </a:r>
                    </a:p>
                  </a:txBody>
                  <a:tcPr>
                    <a:solidFill>
                      <a:schemeClr val="accent1">
                        <a:lumMod val="20000"/>
                        <a:lumOff val="80000"/>
                      </a:schemeClr>
                    </a:solidFill>
                  </a:tcPr>
                </a:tc>
                <a:extLst>
                  <a:ext uri="{0D108BD9-81ED-4DB2-BD59-A6C34878D82A}">
                    <a16:rowId xmlns:a16="http://schemas.microsoft.com/office/drawing/2014/main" val="2398871439"/>
                  </a:ext>
                </a:extLst>
              </a:tr>
              <a:tr h="168562">
                <a:tc>
                  <a:txBody>
                    <a:bodyPr/>
                    <a:lstStyle/>
                    <a:p>
                      <a:r>
                        <a:rPr lang="en-US" sz="1200" b="1" dirty="0"/>
                        <a:t>Partner</a:t>
                      </a:r>
                    </a:p>
                  </a:txBody>
                  <a:tcPr>
                    <a:solidFill>
                      <a:schemeClr val="accent2">
                        <a:lumMod val="20000"/>
                        <a:lumOff val="80000"/>
                      </a:schemeClr>
                    </a:solidFill>
                  </a:tcPr>
                </a:tc>
                <a:tc>
                  <a:txBody>
                    <a:bodyPr/>
                    <a:lstStyle/>
                    <a:p>
                      <a:pPr lvl="0"/>
                      <a:r>
                        <a:rPr lang="en-US" sz="1200" i="0" dirty="0"/>
                        <a:t>In a media interview, a partner criticizes Black Lives Matter protests and downplays police violence and systemic racism in law enforcement generally.</a:t>
                      </a:r>
                    </a:p>
                  </a:txBody>
                  <a:tcPr>
                    <a:solidFill>
                      <a:schemeClr val="accent2">
                        <a:lumMod val="20000"/>
                        <a:lumOff val="80000"/>
                      </a:schemeClr>
                    </a:solidFill>
                  </a:tcPr>
                </a:tc>
                <a:tc>
                  <a:txBody>
                    <a:bodyPr/>
                    <a:lstStyle/>
                    <a:p>
                      <a:pPr lvl="0"/>
                      <a:r>
                        <a:rPr lang="en-US" sz="1200" i="0" dirty="0"/>
                        <a:t>2</a:t>
                      </a:r>
                    </a:p>
                  </a:txBody>
                  <a:tcPr>
                    <a:solidFill>
                      <a:schemeClr val="accent2">
                        <a:lumMod val="20000"/>
                        <a:lumOff val="80000"/>
                      </a:schemeClr>
                    </a:solidFill>
                  </a:tcPr>
                </a:tc>
                <a:extLst>
                  <a:ext uri="{0D108BD9-81ED-4DB2-BD59-A6C34878D82A}">
                    <a16:rowId xmlns:a16="http://schemas.microsoft.com/office/drawing/2014/main" val="4037831896"/>
                  </a:ext>
                </a:extLst>
              </a:tr>
              <a:tr h="0">
                <a:tc>
                  <a:txBody>
                    <a:bodyPr/>
                    <a:lstStyle/>
                    <a:p>
                      <a:r>
                        <a:rPr lang="en-US" sz="1200" b="1" dirty="0"/>
                        <a:t>Partner</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Criminal justice reform advocates learn that a Blue Meridian partner is a major investor in private prison operators and demand that Blue Meridian disassociate with the partner.</a:t>
                      </a:r>
                      <a:endParaRPr lang="en-US" sz="12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a:t>
                      </a:r>
                    </a:p>
                  </a:txBody>
                  <a:tcPr>
                    <a:solidFill>
                      <a:schemeClr val="accent2">
                        <a:lumMod val="20000"/>
                        <a:lumOff val="80000"/>
                      </a:schemeClr>
                    </a:solidFill>
                  </a:tcPr>
                </a:tc>
                <a:extLst>
                  <a:ext uri="{0D108BD9-81ED-4DB2-BD59-A6C34878D82A}">
                    <a16:rowId xmlns:a16="http://schemas.microsoft.com/office/drawing/2014/main" val="2396532348"/>
                  </a:ext>
                </a:extLst>
              </a:tr>
              <a:tr h="0">
                <a:tc>
                  <a:txBody>
                    <a:bodyPr/>
                    <a:lstStyle/>
                    <a:p>
                      <a:r>
                        <a:rPr lang="en-US" sz="1200" b="1" dirty="0"/>
                        <a:t>Partner</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Partner implicated in financial scandal by US regulators, raising questions about sources of contributions to Blue Meridian.</a:t>
                      </a:r>
                      <a:endParaRPr lang="en-US" sz="1200" dirty="0"/>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3-4</a:t>
                      </a:r>
                    </a:p>
                  </a:txBody>
                  <a:tcPr>
                    <a:solidFill>
                      <a:schemeClr val="accent2">
                        <a:lumMod val="20000"/>
                        <a:lumOff val="80000"/>
                      </a:schemeClr>
                    </a:solidFill>
                  </a:tcPr>
                </a:tc>
                <a:extLst>
                  <a:ext uri="{0D108BD9-81ED-4DB2-BD59-A6C34878D82A}">
                    <a16:rowId xmlns:a16="http://schemas.microsoft.com/office/drawing/2014/main" val="2832202856"/>
                  </a:ext>
                </a:extLst>
              </a:tr>
              <a:tr h="0">
                <a:tc>
                  <a:txBody>
                    <a:bodyPr/>
                    <a:lstStyle/>
                    <a:p>
                      <a:r>
                        <a:rPr lang="en-US" sz="1200" b="1" dirty="0"/>
                        <a:t>Corporate</a:t>
                      </a:r>
                    </a:p>
                  </a:txBody>
                  <a:tcPr>
                    <a:solidFill>
                      <a:schemeClr val="accent3">
                        <a:lumMod val="20000"/>
                        <a:lumOff val="80000"/>
                      </a:schemeClr>
                    </a:solidFill>
                  </a:tcPr>
                </a:tc>
                <a:tc>
                  <a:txBody>
                    <a:bodyPr/>
                    <a:lstStyle/>
                    <a:p>
                      <a:r>
                        <a:rPr lang="en-US" sz="1200" dirty="0"/>
                        <a:t>A partisan media outlet surfaces old social media posts by a Blue Meridian employee containing offensive remarks about members of Congress.</a:t>
                      </a:r>
                    </a:p>
                  </a:txBody>
                  <a:tcPr>
                    <a:solidFill>
                      <a:schemeClr val="accent3">
                        <a:lumMod val="20000"/>
                        <a:lumOff val="80000"/>
                      </a:schemeClr>
                    </a:solidFill>
                  </a:tcPr>
                </a:tc>
                <a:tc>
                  <a:txBody>
                    <a:bodyPr/>
                    <a:lstStyle/>
                    <a:p>
                      <a:r>
                        <a:rPr lang="en-US" sz="1200" dirty="0"/>
                        <a:t>1-2</a:t>
                      </a:r>
                    </a:p>
                  </a:txBody>
                  <a:tcPr>
                    <a:solidFill>
                      <a:schemeClr val="accent3">
                        <a:lumMod val="20000"/>
                        <a:lumOff val="80000"/>
                      </a:schemeClr>
                    </a:solidFill>
                  </a:tcPr>
                </a:tc>
                <a:extLst>
                  <a:ext uri="{0D108BD9-81ED-4DB2-BD59-A6C34878D82A}">
                    <a16:rowId xmlns:a16="http://schemas.microsoft.com/office/drawing/2014/main" val="1092644200"/>
                  </a:ext>
                </a:extLst>
              </a:tr>
              <a:tr h="0">
                <a:tc>
                  <a:txBody>
                    <a:bodyPr/>
                    <a:lstStyle/>
                    <a:p>
                      <a:r>
                        <a:rPr lang="en-US" sz="1200" b="1" dirty="0"/>
                        <a:t>Corporate</a:t>
                      </a:r>
                    </a:p>
                  </a:txBody>
                  <a:tcPr>
                    <a:solidFill>
                      <a:schemeClr val="accent3">
                        <a:lumMod val="20000"/>
                        <a:lumOff val="80000"/>
                      </a:schemeClr>
                    </a:solidFill>
                  </a:tcPr>
                </a:tc>
                <a:tc>
                  <a:txBody>
                    <a:bodyPr/>
                    <a:lstStyle/>
                    <a:p>
                      <a:r>
                        <a:rPr lang="en-US" sz="1200" dirty="0"/>
                        <a:t>A former employee publicly accuses a senior staff member of racial discrimination in hiring practices, contrasting with organization’s stated commitment to racial equity.</a:t>
                      </a:r>
                    </a:p>
                  </a:txBody>
                  <a:tcPr>
                    <a:solidFill>
                      <a:schemeClr val="accent3">
                        <a:lumMod val="20000"/>
                        <a:lumOff val="80000"/>
                      </a:schemeClr>
                    </a:solidFill>
                  </a:tcPr>
                </a:tc>
                <a:tc>
                  <a:txBody>
                    <a:bodyPr/>
                    <a:lstStyle/>
                    <a:p>
                      <a:r>
                        <a:rPr lang="en-US" sz="1200" dirty="0"/>
                        <a:t>3-4</a:t>
                      </a:r>
                    </a:p>
                  </a:txBody>
                  <a:tcPr>
                    <a:solidFill>
                      <a:schemeClr val="accent3">
                        <a:lumMod val="20000"/>
                        <a:lumOff val="80000"/>
                      </a:schemeClr>
                    </a:solidFill>
                  </a:tcPr>
                </a:tc>
                <a:extLst>
                  <a:ext uri="{0D108BD9-81ED-4DB2-BD59-A6C34878D82A}">
                    <a16:rowId xmlns:a16="http://schemas.microsoft.com/office/drawing/2014/main" val="839027105"/>
                  </a:ext>
                </a:extLst>
              </a:tr>
              <a:tr h="0">
                <a:tc>
                  <a:txBody>
                    <a:bodyPr/>
                    <a:lstStyle/>
                    <a:p>
                      <a:r>
                        <a:rPr lang="en-US" sz="1200" b="1" dirty="0"/>
                        <a:t>Corporate</a:t>
                      </a:r>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A Congressional committee announces an investigation into tax evasion schemes involving philanthropies. The Committee implies misconduct by Blue Meridian and other foundations and threatens to subpoena philanthropic leaders to testify. </a:t>
                      </a:r>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4-5</a:t>
                      </a:r>
                    </a:p>
                  </a:txBody>
                  <a:tcPr>
                    <a:solidFill>
                      <a:schemeClr val="accent3">
                        <a:lumMod val="20000"/>
                        <a:lumOff val="80000"/>
                      </a:schemeClr>
                    </a:solidFill>
                  </a:tcPr>
                </a:tc>
                <a:extLst>
                  <a:ext uri="{0D108BD9-81ED-4DB2-BD59-A6C34878D82A}">
                    <a16:rowId xmlns:a16="http://schemas.microsoft.com/office/drawing/2014/main" val="2419917019"/>
                  </a:ext>
                </a:extLst>
              </a:tr>
            </a:tbl>
          </a:graphicData>
        </a:graphic>
      </p:graphicFrame>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a:xfrm>
            <a:off x="363913" y="321892"/>
            <a:ext cx="9054407" cy="396219"/>
          </a:xfrm>
        </p:spPr>
        <p:txBody>
          <a:bodyPr/>
          <a:lstStyle/>
          <a:p>
            <a:r>
              <a:rPr lang="en-US" dirty="0"/>
              <a:t>Examples of potential crises, with severity ratings</a:t>
            </a:r>
          </a:p>
        </p:txBody>
      </p:sp>
    </p:spTree>
    <p:extLst>
      <p:ext uri="{BB962C8B-B14F-4D97-AF65-F5344CB8AC3E}">
        <p14:creationId xmlns:p14="http://schemas.microsoft.com/office/powerpoint/2010/main" val="1354627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01EEFF-E586-4889-ACDF-9D3A206DFD55}"/>
              </a:ext>
            </a:extLst>
          </p:cNvPr>
          <p:cNvSpPr>
            <a:spLocks noGrp="1"/>
          </p:cNvSpPr>
          <p:nvPr>
            <p:ph type="body" sz="quarter" idx="12"/>
          </p:nvPr>
        </p:nvSpPr>
        <p:spPr/>
        <p:txBody>
          <a:bodyPr/>
          <a:lstStyle/>
          <a:p>
            <a:r>
              <a:rPr lang="en-US" dirty="0"/>
              <a:t>Crisis Response Procedures</a:t>
            </a:r>
          </a:p>
        </p:txBody>
      </p:sp>
      <p:sp>
        <p:nvSpPr>
          <p:cNvPr id="4" name="Text Placeholder 3">
            <a:extLst>
              <a:ext uri="{FF2B5EF4-FFF2-40B4-BE49-F238E27FC236}">
                <a16:creationId xmlns:a16="http://schemas.microsoft.com/office/drawing/2014/main" id="{F2A405E1-31C2-4299-BBA0-5E165FA85CF9}"/>
              </a:ext>
            </a:extLst>
          </p:cNvPr>
          <p:cNvSpPr>
            <a:spLocks noGrp="1"/>
          </p:cNvSpPr>
          <p:nvPr>
            <p:ph type="body" sz="quarter" idx="13"/>
          </p:nvPr>
        </p:nvSpPr>
        <p:spPr/>
        <p:txBody>
          <a:bodyPr/>
          <a:lstStyle/>
          <a:p>
            <a:r>
              <a:rPr lang="en-US" dirty="0"/>
              <a:t>Roles &amp; Responsibilities</a:t>
            </a:r>
          </a:p>
        </p:txBody>
      </p:sp>
    </p:spTree>
    <p:extLst>
      <p:ext uri="{BB962C8B-B14F-4D97-AF65-F5344CB8AC3E}">
        <p14:creationId xmlns:p14="http://schemas.microsoft.com/office/powerpoint/2010/main" val="1269710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6872-44A9-4AA4-A3E4-BC0F1567D358}"/>
              </a:ext>
            </a:extLst>
          </p:cNvPr>
          <p:cNvSpPr>
            <a:spLocks noGrp="1"/>
          </p:cNvSpPr>
          <p:nvPr>
            <p:ph type="title"/>
          </p:nvPr>
        </p:nvSpPr>
        <p:spPr>
          <a:xfrm>
            <a:off x="308556" y="293158"/>
            <a:ext cx="8835444" cy="396219"/>
          </a:xfrm>
        </p:spPr>
        <p:txBody>
          <a:bodyPr/>
          <a:lstStyle/>
          <a:p>
            <a:r>
              <a:rPr lang="en-US" dirty="0"/>
              <a:t>At Center: The Crisis Communications Team (CCT)</a:t>
            </a:r>
          </a:p>
        </p:txBody>
      </p:sp>
      <p:sp>
        <p:nvSpPr>
          <p:cNvPr id="4" name="Footer Placeholder 3">
            <a:extLst>
              <a:ext uri="{FF2B5EF4-FFF2-40B4-BE49-F238E27FC236}">
                <a16:creationId xmlns:a16="http://schemas.microsoft.com/office/drawing/2014/main" id="{A632640C-F5B9-4952-9D0F-87295BE3C575}"/>
              </a:ext>
            </a:extLst>
          </p:cNvPr>
          <p:cNvSpPr>
            <a:spLocks noGrp="1"/>
          </p:cNvSpPr>
          <p:nvPr>
            <p:ph type="ftr" sz="quarter" idx="11"/>
          </p:nvPr>
        </p:nvSpPr>
        <p:spPr>
          <a:xfrm>
            <a:off x="3001672" y="6301363"/>
            <a:ext cx="3086100" cy="380184"/>
          </a:xfrm>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12F990FE-6BA8-46B2-9D48-6BD639926D41}"/>
              </a:ext>
            </a:extLst>
          </p:cNvPr>
          <p:cNvSpPr>
            <a:spLocks noGrp="1"/>
          </p:cNvSpPr>
          <p:nvPr>
            <p:ph type="sldNum" sz="quarter" idx="12"/>
          </p:nvPr>
        </p:nvSpPr>
        <p:spPr>
          <a:xfrm>
            <a:off x="7478663" y="6264767"/>
            <a:ext cx="1131609" cy="380184"/>
          </a:xfrm>
        </p:spPr>
        <p:txBody>
          <a:bodyPr/>
          <a:lstStyle/>
          <a:p>
            <a:fld id="{D4F07938-7C1D-46C8-9535-2404A951C984}" type="slidenum">
              <a:rPr lang="en-US" smtClean="0"/>
              <a:t>13</a:t>
            </a:fld>
            <a:endParaRPr lang="en-US" dirty="0"/>
          </a:p>
        </p:txBody>
      </p:sp>
      <p:sp>
        <p:nvSpPr>
          <p:cNvPr id="26" name="Rectangle 25">
            <a:extLst>
              <a:ext uri="{FF2B5EF4-FFF2-40B4-BE49-F238E27FC236}">
                <a16:creationId xmlns:a16="http://schemas.microsoft.com/office/drawing/2014/main" id="{CAF7149E-F4BE-44B4-AA0B-C237803A9A55}"/>
              </a:ext>
            </a:extLst>
          </p:cNvPr>
          <p:cNvSpPr/>
          <p:nvPr/>
        </p:nvSpPr>
        <p:spPr>
          <a:xfrm>
            <a:off x="308556" y="2970354"/>
            <a:ext cx="8541750" cy="99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880" indent="-182880">
              <a:spcAft>
                <a:spcPts val="400"/>
              </a:spcAft>
              <a:buFont typeface="Arial" panose="020B0604020202020204" pitchFamily="34" charset="0"/>
              <a:buChar char="•"/>
            </a:pPr>
            <a:r>
              <a:rPr lang="en-US" sz="1400" dirty="0">
                <a:solidFill>
                  <a:schemeClr val="tx1"/>
                </a:solidFill>
              </a:rPr>
              <a:t>Investigate the crisis</a:t>
            </a:r>
          </a:p>
          <a:p>
            <a:pPr marL="182880" indent="-182880">
              <a:spcAft>
                <a:spcPts val="400"/>
              </a:spcAft>
              <a:buFont typeface="Arial" panose="020B0604020202020204" pitchFamily="34" charset="0"/>
              <a:buChar char="•"/>
            </a:pPr>
            <a:r>
              <a:rPr lang="en-US" sz="1400" dirty="0">
                <a:solidFill>
                  <a:schemeClr val="tx1"/>
                </a:solidFill>
              </a:rPr>
              <a:t>Develop response strategy</a:t>
            </a:r>
          </a:p>
          <a:p>
            <a:pPr marL="182880" indent="-182880">
              <a:spcAft>
                <a:spcPts val="400"/>
              </a:spcAft>
              <a:buFont typeface="Arial" panose="020B0604020202020204" pitchFamily="34" charset="0"/>
              <a:buChar char="•"/>
            </a:pPr>
            <a:r>
              <a:rPr lang="en-US" sz="1400" dirty="0">
                <a:solidFill>
                  <a:schemeClr val="tx1"/>
                </a:solidFill>
              </a:rPr>
              <a:t>Implement response strategy and monitor results</a:t>
            </a:r>
          </a:p>
        </p:txBody>
      </p:sp>
      <p:sp>
        <p:nvSpPr>
          <p:cNvPr id="28" name="Rectangle 27">
            <a:extLst>
              <a:ext uri="{FF2B5EF4-FFF2-40B4-BE49-F238E27FC236}">
                <a16:creationId xmlns:a16="http://schemas.microsoft.com/office/drawing/2014/main" id="{D7E8783E-399D-48BD-9FC2-FC622AD0179F}"/>
              </a:ext>
            </a:extLst>
          </p:cNvPr>
          <p:cNvSpPr/>
          <p:nvPr/>
        </p:nvSpPr>
        <p:spPr>
          <a:xfrm>
            <a:off x="315647" y="2626914"/>
            <a:ext cx="8519797" cy="3446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Responsibilities of the CCT</a:t>
            </a:r>
          </a:p>
        </p:txBody>
      </p:sp>
      <p:sp>
        <p:nvSpPr>
          <p:cNvPr id="30" name="Rectangle 29">
            <a:extLst>
              <a:ext uri="{FF2B5EF4-FFF2-40B4-BE49-F238E27FC236}">
                <a16:creationId xmlns:a16="http://schemas.microsoft.com/office/drawing/2014/main" id="{582AACB4-4733-4771-B814-3DBA2B3D7DB1}"/>
              </a:ext>
            </a:extLst>
          </p:cNvPr>
          <p:cNvSpPr/>
          <p:nvPr/>
        </p:nvSpPr>
        <p:spPr>
          <a:xfrm>
            <a:off x="308556" y="1393725"/>
            <a:ext cx="8547364" cy="118870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300" dirty="0">
                <a:solidFill>
                  <a:schemeClr val="tx1"/>
                </a:solidFill>
              </a:rPr>
              <a:t>Branding &amp; Communications convenes the CCT when it identifies a situation that may escalate into a crisis.</a:t>
            </a:r>
          </a:p>
          <a:p>
            <a:pPr marL="171450" indent="-171450">
              <a:buFont typeface="Arial" panose="020B0604020202020204" pitchFamily="34" charset="0"/>
              <a:buChar char="•"/>
            </a:pPr>
            <a:r>
              <a:rPr lang="en-US" sz="1300" dirty="0">
                <a:solidFill>
                  <a:schemeClr val="tx1"/>
                </a:solidFill>
              </a:rPr>
              <a:t>The CCT includes “permanent” members from Branding &amp; Communications and senior leadership. Individual CCTs will be staffed additionally by “situational” members with knowledge of the precipitating event and staff members responsible for managing the most relevant partner and investee relationships.</a:t>
            </a:r>
          </a:p>
        </p:txBody>
      </p:sp>
      <p:sp>
        <p:nvSpPr>
          <p:cNvPr id="32" name="Rectangle 31">
            <a:extLst>
              <a:ext uri="{FF2B5EF4-FFF2-40B4-BE49-F238E27FC236}">
                <a16:creationId xmlns:a16="http://schemas.microsoft.com/office/drawing/2014/main" id="{652E75FC-5391-4A75-AF2E-16967883EE45}"/>
              </a:ext>
            </a:extLst>
          </p:cNvPr>
          <p:cNvSpPr/>
          <p:nvPr/>
        </p:nvSpPr>
        <p:spPr>
          <a:xfrm>
            <a:off x="308556" y="1035385"/>
            <a:ext cx="8547364" cy="34469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The Crisis Communications Team (CCT) is the Nerve Center of Crisis Response</a:t>
            </a:r>
          </a:p>
        </p:txBody>
      </p:sp>
      <p:sp>
        <p:nvSpPr>
          <p:cNvPr id="36" name="Rectangle 35">
            <a:extLst>
              <a:ext uri="{FF2B5EF4-FFF2-40B4-BE49-F238E27FC236}">
                <a16:creationId xmlns:a16="http://schemas.microsoft.com/office/drawing/2014/main" id="{B52EB238-D24B-46F3-BDA6-B9CC7EC19840}"/>
              </a:ext>
            </a:extLst>
          </p:cNvPr>
          <p:cNvSpPr/>
          <p:nvPr/>
        </p:nvSpPr>
        <p:spPr>
          <a:xfrm>
            <a:off x="315647" y="4275566"/>
            <a:ext cx="4177210" cy="35890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“Dos” for CCT Members</a:t>
            </a:r>
          </a:p>
        </p:txBody>
      </p:sp>
      <p:sp>
        <p:nvSpPr>
          <p:cNvPr id="40" name="Rectangle 39">
            <a:extLst>
              <a:ext uri="{FF2B5EF4-FFF2-40B4-BE49-F238E27FC236}">
                <a16:creationId xmlns:a16="http://schemas.microsoft.com/office/drawing/2014/main" id="{4C6A0518-096D-4585-B134-6ABF882D5B2F}"/>
              </a:ext>
            </a:extLst>
          </p:cNvPr>
          <p:cNvSpPr/>
          <p:nvPr/>
        </p:nvSpPr>
        <p:spPr>
          <a:xfrm>
            <a:off x="4681184" y="4275566"/>
            <a:ext cx="4177210" cy="358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“Don’ts” for CCT Members</a:t>
            </a:r>
          </a:p>
        </p:txBody>
      </p:sp>
      <p:sp>
        <p:nvSpPr>
          <p:cNvPr id="42" name="Rectangle 41">
            <a:extLst>
              <a:ext uri="{FF2B5EF4-FFF2-40B4-BE49-F238E27FC236}">
                <a16:creationId xmlns:a16="http://schemas.microsoft.com/office/drawing/2014/main" id="{1FF82D1D-8603-4976-8080-751384A672CA}"/>
              </a:ext>
            </a:extLst>
          </p:cNvPr>
          <p:cNvSpPr/>
          <p:nvPr/>
        </p:nvSpPr>
        <p:spPr>
          <a:xfrm>
            <a:off x="315647" y="4647290"/>
            <a:ext cx="4174467" cy="15066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Aft>
                <a:spcPts val="400"/>
              </a:spcAft>
              <a:buFont typeface="Arial" panose="020B0604020202020204" pitchFamily="34" charset="0"/>
              <a:buChar char="•"/>
            </a:pPr>
            <a:r>
              <a:rPr lang="en-US" sz="1400" dirty="0">
                <a:solidFill>
                  <a:schemeClr val="tx1"/>
                </a:solidFill>
              </a:rPr>
              <a:t>Make crisis response your top priority, reassigning or postponing other tasks as needed. </a:t>
            </a:r>
          </a:p>
          <a:p>
            <a:pPr marL="182880" indent="-182880">
              <a:spcAft>
                <a:spcPts val="400"/>
              </a:spcAft>
              <a:buFont typeface="Arial" panose="020B0604020202020204" pitchFamily="34" charset="0"/>
              <a:buChar char="•"/>
            </a:pPr>
            <a:r>
              <a:rPr lang="en-US" sz="1400" dirty="0">
                <a:solidFill>
                  <a:schemeClr val="tx1"/>
                </a:solidFill>
              </a:rPr>
              <a:t>Understand decisionmaking and implementation responsibilities per RAPID matrix.</a:t>
            </a:r>
          </a:p>
        </p:txBody>
      </p:sp>
      <p:sp>
        <p:nvSpPr>
          <p:cNvPr id="44" name="Rectangle 43">
            <a:extLst>
              <a:ext uri="{FF2B5EF4-FFF2-40B4-BE49-F238E27FC236}">
                <a16:creationId xmlns:a16="http://schemas.microsoft.com/office/drawing/2014/main" id="{38A4AC7A-B013-4720-8C4E-BAC9C6A0F7FE}"/>
              </a:ext>
            </a:extLst>
          </p:cNvPr>
          <p:cNvSpPr/>
          <p:nvPr/>
        </p:nvSpPr>
        <p:spPr>
          <a:xfrm>
            <a:off x="4681184" y="4647290"/>
            <a:ext cx="4174467" cy="15066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400"/>
              </a:spcAft>
              <a:buFont typeface="Arial" panose="020B0604020202020204" pitchFamily="34" charset="0"/>
              <a:buChar char="•"/>
            </a:pPr>
            <a:r>
              <a:rPr lang="en-US" sz="1400" dirty="0">
                <a:solidFill>
                  <a:schemeClr val="tx1"/>
                </a:solidFill>
              </a:rPr>
              <a:t>Share details about crises outside the CCT. Details about emerging crisis are confidential, and our understanding changes as additional facts emerge.</a:t>
            </a:r>
          </a:p>
        </p:txBody>
      </p:sp>
    </p:spTree>
    <p:extLst>
      <p:ext uri="{BB962C8B-B14F-4D97-AF65-F5344CB8AC3E}">
        <p14:creationId xmlns:p14="http://schemas.microsoft.com/office/powerpoint/2010/main" val="410503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p:txBody>
          <a:bodyPr/>
          <a:lstStyle/>
          <a:p>
            <a:r>
              <a:rPr lang="en-US" dirty="0"/>
              <a:t>Crisis Response: Process Summary</a:t>
            </a:r>
          </a:p>
        </p:txBody>
      </p:sp>
      <p:graphicFrame>
        <p:nvGraphicFramePr>
          <p:cNvPr id="8" name="Content Placeholder 7">
            <a:extLst>
              <a:ext uri="{FF2B5EF4-FFF2-40B4-BE49-F238E27FC236}">
                <a16:creationId xmlns:a16="http://schemas.microsoft.com/office/drawing/2014/main" id="{F15EF1B4-65E6-4F8D-9B19-315AFBD1A350}"/>
              </a:ext>
            </a:extLst>
          </p:cNvPr>
          <p:cNvGraphicFramePr>
            <a:graphicFrameLocks noGrp="1"/>
          </p:cNvGraphicFramePr>
          <p:nvPr>
            <p:ph idx="1"/>
            <p:extLst>
              <p:ext uri="{D42A27DB-BD31-4B8C-83A1-F6EECF244321}">
                <p14:modId xmlns:p14="http://schemas.microsoft.com/office/powerpoint/2010/main" val="3360195049"/>
              </p:ext>
            </p:extLst>
          </p:nvPr>
        </p:nvGraphicFramePr>
        <p:xfrm>
          <a:off x="643848" y="742949"/>
          <a:ext cx="8094662" cy="4391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14</a:t>
            </a:fld>
            <a:endParaRPr lang="en-US" dirty="0"/>
          </a:p>
        </p:txBody>
      </p:sp>
    </p:spTree>
    <p:extLst>
      <p:ext uri="{BB962C8B-B14F-4D97-AF65-F5344CB8AC3E}">
        <p14:creationId xmlns:p14="http://schemas.microsoft.com/office/powerpoint/2010/main" val="3886358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510C-E347-4394-AA9C-2E765C906BFD}"/>
              </a:ext>
            </a:extLst>
          </p:cNvPr>
          <p:cNvSpPr>
            <a:spLocks noGrp="1"/>
          </p:cNvSpPr>
          <p:nvPr>
            <p:ph type="title"/>
          </p:nvPr>
        </p:nvSpPr>
        <p:spPr/>
        <p:txBody>
          <a:bodyPr/>
          <a:lstStyle/>
          <a:p>
            <a:r>
              <a:rPr lang="en-US" dirty="0"/>
              <a:t>RAPID Matrix for Crisis Response</a:t>
            </a:r>
          </a:p>
        </p:txBody>
      </p:sp>
      <p:graphicFrame>
        <p:nvGraphicFramePr>
          <p:cNvPr id="8" name="Table 8">
            <a:extLst>
              <a:ext uri="{FF2B5EF4-FFF2-40B4-BE49-F238E27FC236}">
                <a16:creationId xmlns:a16="http://schemas.microsoft.com/office/drawing/2014/main" id="{F86C1714-20F3-4299-9DD6-3D620FCB9360}"/>
              </a:ext>
            </a:extLst>
          </p:cNvPr>
          <p:cNvGraphicFramePr>
            <a:graphicFrameLocks noGrp="1"/>
          </p:cNvGraphicFramePr>
          <p:nvPr>
            <p:ph idx="1"/>
            <p:extLst>
              <p:ext uri="{D42A27DB-BD31-4B8C-83A1-F6EECF244321}">
                <p14:modId xmlns:p14="http://schemas.microsoft.com/office/powerpoint/2010/main" val="747036006"/>
              </p:ext>
            </p:extLst>
          </p:nvPr>
        </p:nvGraphicFramePr>
        <p:xfrm>
          <a:off x="518032" y="934137"/>
          <a:ext cx="8406512" cy="5524276"/>
        </p:xfrm>
        <a:graphic>
          <a:graphicData uri="http://schemas.openxmlformats.org/drawingml/2006/table">
            <a:tbl>
              <a:tblPr firstRow="1" bandRow="1">
                <a:tableStyleId>{5C22544A-7EE6-4342-B048-85BDC9FD1C3A}</a:tableStyleId>
              </a:tblPr>
              <a:tblGrid>
                <a:gridCol w="4439073">
                  <a:extLst>
                    <a:ext uri="{9D8B030D-6E8A-4147-A177-3AD203B41FA5}">
                      <a16:colId xmlns:a16="http://schemas.microsoft.com/office/drawing/2014/main" val="4017805982"/>
                    </a:ext>
                  </a:extLst>
                </a:gridCol>
                <a:gridCol w="898381">
                  <a:extLst>
                    <a:ext uri="{9D8B030D-6E8A-4147-A177-3AD203B41FA5}">
                      <a16:colId xmlns:a16="http://schemas.microsoft.com/office/drawing/2014/main" val="1186158522"/>
                    </a:ext>
                  </a:extLst>
                </a:gridCol>
                <a:gridCol w="736942">
                  <a:extLst>
                    <a:ext uri="{9D8B030D-6E8A-4147-A177-3AD203B41FA5}">
                      <a16:colId xmlns:a16="http://schemas.microsoft.com/office/drawing/2014/main" val="3775434059"/>
                    </a:ext>
                  </a:extLst>
                </a:gridCol>
                <a:gridCol w="493915">
                  <a:extLst>
                    <a:ext uri="{9D8B030D-6E8A-4147-A177-3AD203B41FA5}">
                      <a16:colId xmlns:a16="http://schemas.microsoft.com/office/drawing/2014/main" val="4036696091"/>
                    </a:ext>
                  </a:extLst>
                </a:gridCol>
                <a:gridCol w="1348016">
                  <a:extLst>
                    <a:ext uri="{9D8B030D-6E8A-4147-A177-3AD203B41FA5}">
                      <a16:colId xmlns:a16="http://schemas.microsoft.com/office/drawing/2014/main" val="123155460"/>
                    </a:ext>
                  </a:extLst>
                </a:gridCol>
                <a:gridCol w="490185">
                  <a:extLst>
                    <a:ext uri="{9D8B030D-6E8A-4147-A177-3AD203B41FA5}">
                      <a16:colId xmlns:a16="http://schemas.microsoft.com/office/drawing/2014/main" val="837433424"/>
                    </a:ext>
                  </a:extLst>
                </a:gridCol>
              </a:tblGrid>
              <a:tr h="1469124">
                <a:tc>
                  <a:txBody>
                    <a:bodyPr/>
                    <a:lstStyle/>
                    <a:p>
                      <a:pPr algn="ctr"/>
                      <a:endParaRPr lang="en-US" dirty="0"/>
                    </a:p>
                    <a:p>
                      <a:pPr algn="ctr"/>
                      <a:endParaRPr lang="en-US" dirty="0"/>
                    </a:p>
                    <a:p>
                      <a:pPr algn="ctr"/>
                      <a:r>
                        <a:rPr lang="en-US" dirty="0"/>
                        <a:t>Tasks</a:t>
                      </a:r>
                    </a:p>
                  </a:txBody>
                  <a:tcPr/>
                </a:tc>
                <a:tc>
                  <a:txBody>
                    <a:bodyPr/>
                    <a:lstStyle/>
                    <a:p>
                      <a:endParaRPr lang="en-US" dirty="0"/>
                    </a:p>
                  </a:txBody>
                  <a:tcPr/>
                </a:tc>
                <a:tc>
                  <a:txBody>
                    <a:bodyPr/>
                    <a:lstStyle/>
                    <a:p>
                      <a:endParaRPr lang="en-US" dirty="0"/>
                    </a:p>
                    <a:p>
                      <a:endParaRPr lang="en-US" dirty="0"/>
                    </a:p>
                    <a:p>
                      <a:endParaRPr lang="en-US" dirty="0"/>
                    </a:p>
                    <a:p>
                      <a:endParaRPr lang="en-US" dirty="0"/>
                    </a:p>
                  </a:txBody>
                  <a:tcPr/>
                </a:tc>
                <a:tc>
                  <a:txBody>
                    <a:bodyPr/>
                    <a:lstStyle/>
                    <a:p>
                      <a:endParaRPr lang="en-US" dirty="0"/>
                    </a:p>
                    <a:p>
                      <a:endParaRPr lang="en-US" dirty="0"/>
                    </a:p>
                    <a:p>
                      <a:endParaRPr lang="en-US" dirty="0"/>
                    </a:p>
                    <a:p>
                      <a:endParaRPr lang="en-US" dirty="0"/>
                    </a:p>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35967273"/>
                  </a:ext>
                </a:extLst>
              </a:tr>
              <a:tr h="370983">
                <a:tc>
                  <a:txBody>
                    <a:bodyPr/>
                    <a:lstStyle/>
                    <a:p>
                      <a:r>
                        <a:rPr lang="en-US" dirty="0"/>
                        <a:t>Convene Crisis Communications Team</a:t>
                      </a:r>
                    </a:p>
                  </a:txBody>
                  <a:tcPr/>
                </a:tc>
                <a:tc>
                  <a:txBody>
                    <a:bodyPr/>
                    <a:lstStyle/>
                    <a:p>
                      <a:r>
                        <a:rPr lang="en-US" dirty="0"/>
                        <a:t>I</a:t>
                      </a:r>
                    </a:p>
                  </a:txBody>
                  <a:tcPr/>
                </a:tc>
                <a:tc>
                  <a:txBody>
                    <a:bodyPr/>
                    <a:lstStyle/>
                    <a:p>
                      <a:r>
                        <a:rPr lang="en-US" dirty="0"/>
                        <a:t>PD</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59350785"/>
                  </a:ext>
                </a:extLst>
              </a:tr>
              <a:tr h="370983">
                <a:tc>
                  <a:txBody>
                    <a:bodyPr/>
                    <a:lstStyle/>
                    <a:p>
                      <a:r>
                        <a:rPr lang="en-US" dirty="0"/>
                        <a:t>Assess Severity of Crisis (1-5 scale)</a:t>
                      </a:r>
                    </a:p>
                  </a:txBody>
                  <a:tcPr/>
                </a:tc>
                <a:tc>
                  <a:txBody>
                    <a:bodyPr/>
                    <a:lstStyle/>
                    <a:p>
                      <a:r>
                        <a:rPr lang="en-US" dirty="0"/>
                        <a:t>I</a:t>
                      </a:r>
                    </a:p>
                  </a:txBody>
                  <a:tcPr/>
                </a:tc>
                <a:tc>
                  <a:txBody>
                    <a:bodyPr/>
                    <a:lstStyle/>
                    <a:p>
                      <a:r>
                        <a:rPr lang="en-US" dirty="0"/>
                        <a:t>PD</a:t>
                      </a:r>
                    </a:p>
                  </a:txBody>
                  <a:tcPr/>
                </a:tc>
                <a:tc>
                  <a:txBody>
                    <a:bodyPr/>
                    <a:lstStyle/>
                    <a:p>
                      <a:endParaRPr lang="en-US" dirty="0"/>
                    </a:p>
                  </a:txBody>
                  <a:tcPr/>
                </a:tc>
                <a:tc>
                  <a:txBody>
                    <a:bodyPr/>
                    <a:lstStyle/>
                    <a:p>
                      <a:r>
                        <a:rPr lang="en-US" dirty="0"/>
                        <a:t>I</a:t>
                      </a:r>
                    </a:p>
                  </a:txBody>
                  <a:tcPr/>
                </a:tc>
                <a:tc>
                  <a:txBody>
                    <a:bodyPr/>
                    <a:lstStyle/>
                    <a:p>
                      <a:endParaRPr lang="en-US" dirty="0"/>
                    </a:p>
                  </a:txBody>
                  <a:tcPr/>
                </a:tc>
                <a:extLst>
                  <a:ext uri="{0D108BD9-81ED-4DB2-BD59-A6C34878D82A}">
                    <a16:rowId xmlns:a16="http://schemas.microsoft.com/office/drawing/2014/main" val="429579657"/>
                  </a:ext>
                </a:extLst>
              </a:tr>
              <a:tr h="370983">
                <a:tc>
                  <a:txBody>
                    <a:bodyPr/>
                    <a:lstStyle/>
                    <a:p>
                      <a:r>
                        <a:rPr lang="en-US" dirty="0"/>
                        <a:t>Gather Facts about Emerging Crisis</a:t>
                      </a:r>
                    </a:p>
                  </a:txBody>
                  <a:tcPr/>
                </a:tc>
                <a:tc>
                  <a:txBody>
                    <a:bodyPr/>
                    <a:lstStyle/>
                    <a:p>
                      <a:r>
                        <a:rPr lang="en-US" dirty="0"/>
                        <a:t>P</a:t>
                      </a:r>
                    </a:p>
                  </a:txBody>
                  <a:tcPr/>
                </a:tc>
                <a:tc>
                  <a:txBody>
                    <a:bodyPr/>
                    <a:lstStyle/>
                    <a:p>
                      <a:r>
                        <a:rPr lang="en-US" dirty="0"/>
                        <a:t>IP</a:t>
                      </a:r>
                    </a:p>
                  </a:txBody>
                  <a:tcPr/>
                </a:tc>
                <a:tc>
                  <a:txBody>
                    <a:bodyPr/>
                    <a:lstStyle/>
                    <a:p>
                      <a:r>
                        <a:rPr lang="en-US" dirty="0"/>
                        <a:t>I</a:t>
                      </a:r>
                    </a:p>
                  </a:txBody>
                  <a:tcPr/>
                </a:tc>
                <a:tc>
                  <a:txBody>
                    <a:bodyPr/>
                    <a:lstStyle/>
                    <a:p>
                      <a:r>
                        <a:rPr lang="en-US" dirty="0"/>
                        <a:t>D</a:t>
                      </a:r>
                    </a:p>
                  </a:txBody>
                  <a:tcPr/>
                </a:tc>
                <a:tc>
                  <a:txBody>
                    <a:bodyPr/>
                    <a:lstStyle/>
                    <a:p>
                      <a:endParaRPr lang="en-US" dirty="0"/>
                    </a:p>
                  </a:txBody>
                  <a:tcPr/>
                </a:tc>
                <a:extLst>
                  <a:ext uri="{0D108BD9-81ED-4DB2-BD59-A6C34878D82A}">
                    <a16:rowId xmlns:a16="http://schemas.microsoft.com/office/drawing/2014/main" val="2996462938"/>
                  </a:ext>
                </a:extLst>
              </a:tr>
              <a:tr h="370983">
                <a:tc>
                  <a:txBody>
                    <a:bodyPr/>
                    <a:lstStyle/>
                    <a:p>
                      <a:r>
                        <a:rPr lang="en-US" dirty="0"/>
                        <a:t>Create Response Strategy</a:t>
                      </a:r>
                    </a:p>
                  </a:txBody>
                  <a:tcPr/>
                </a:tc>
                <a:tc>
                  <a:txBody>
                    <a:bodyPr/>
                    <a:lstStyle/>
                    <a:p>
                      <a:r>
                        <a:rPr lang="en-US" dirty="0"/>
                        <a:t>IP</a:t>
                      </a:r>
                    </a:p>
                  </a:txBody>
                  <a:tcPr/>
                </a:tc>
                <a:tc>
                  <a:txBody>
                    <a:bodyPr/>
                    <a:lstStyle/>
                    <a:p>
                      <a:r>
                        <a:rPr lang="en-US" dirty="0"/>
                        <a:t>PD</a:t>
                      </a:r>
                    </a:p>
                  </a:txBody>
                  <a:tcPr/>
                </a:tc>
                <a:tc>
                  <a:txBody>
                    <a:bodyPr/>
                    <a:lstStyle/>
                    <a:p>
                      <a:r>
                        <a:rPr lang="en-US" dirty="0"/>
                        <a:t>I</a:t>
                      </a:r>
                    </a:p>
                  </a:txBody>
                  <a:tcPr/>
                </a:tc>
                <a:tc>
                  <a:txBody>
                    <a:bodyPr/>
                    <a:lstStyle/>
                    <a:p>
                      <a:r>
                        <a:rPr lang="en-US" dirty="0"/>
                        <a:t>I</a:t>
                      </a:r>
                    </a:p>
                  </a:txBody>
                  <a:tcPr/>
                </a:tc>
                <a:tc>
                  <a:txBody>
                    <a:bodyPr/>
                    <a:lstStyle/>
                    <a:p>
                      <a:r>
                        <a:rPr lang="en-US" dirty="0"/>
                        <a:t>A</a:t>
                      </a:r>
                    </a:p>
                  </a:txBody>
                  <a:tcPr/>
                </a:tc>
                <a:extLst>
                  <a:ext uri="{0D108BD9-81ED-4DB2-BD59-A6C34878D82A}">
                    <a16:rowId xmlns:a16="http://schemas.microsoft.com/office/drawing/2014/main" val="617635728"/>
                  </a:ext>
                </a:extLst>
              </a:tr>
              <a:tr h="642742">
                <a:tc>
                  <a:txBody>
                    <a:bodyPr/>
                    <a:lstStyle/>
                    <a:p>
                      <a:r>
                        <a:rPr lang="en-US" dirty="0"/>
                        <a:t>Draft/Distribute </a:t>
                      </a:r>
                      <a:r>
                        <a:rPr lang="en-US" i="1" dirty="0"/>
                        <a:t>Media</a:t>
                      </a:r>
                      <a:r>
                        <a:rPr lang="en-US" dirty="0"/>
                        <a:t> Outreach Statements</a:t>
                      </a:r>
                    </a:p>
                  </a:txBody>
                  <a:tcPr/>
                </a:tc>
                <a:tc>
                  <a:txBody>
                    <a:bodyPr/>
                    <a:lstStyle/>
                    <a:p>
                      <a:r>
                        <a:rPr lang="en-US" dirty="0"/>
                        <a:t>I</a:t>
                      </a:r>
                    </a:p>
                  </a:txBody>
                  <a:tcPr/>
                </a:tc>
                <a:tc>
                  <a:txBody>
                    <a:bodyPr/>
                    <a:lstStyle/>
                    <a:p>
                      <a:r>
                        <a:rPr lang="en-US" dirty="0"/>
                        <a:t>PD</a:t>
                      </a:r>
                    </a:p>
                  </a:txBody>
                  <a:tcPr/>
                </a:tc>
                <a:tc>
                  <a:txBody>
                    <a:bodyPr/>
                    <a:lstStyle/>
                    <a:p>
                      <a:r>
                        <a:rPr lang="en-US" dirty="0"/>
                        <a:t>I</a:t>
                      </a:r>
                    </a:p>
                  </a:txBody>
                  <a:tcPr/>
                </a:tc>
                <a:tc>
                  <a:txBody>
                    <a:bodyPr/>
                    <a:lstStyle/>
                    <a:p>
                      <a:r>
                        <a:rPr lang="en-US" dirty="0"/>
                        <a:t>I</a:t>
                      </a:r>
                    </a:p>
                  </a:txBody>
                  <a:tcPr/>
                </a:tc>
                <a:tc>
                  <a:txBody>
                    <a:bodyPr/>
                    <a:lstStyle/>
                    <a:p>
                      <a:r>
                        <a:rPr lang="en-US" dirty="0"/>
                        <a:t>A</a:t>
                      </a:r>
                    </a:p>
                  </a:txBody>
                  <a:tcPr/>
                </a:tc>
                <a:extLst>
                  <a:ext uri="{0D108BD9-81ED-4DB2-BD59-A6C34878D82A}">
                    <a16:rowId xmlns:a16="http://schemas.microsoft.com/office/drawing/2014/main" val="24836092"/>
                  </a:ext>
                </a:extLst>
              </a:tr>
              <a:tr h="642742">
                <a:tc>
                  <a:txBody>
                    <a:bodyPr/>
                    <a:lstStyle/>
                    <a:p>
                      <a:r>
                        <a:rPr lang="en-US" dirty="0"/>
                        <a:t>Draft/Distribute </a:t>
                      </a:r>
                      <a:r>
                        <a:rPr lang="en-US" i="1" dirty="0"/>
                        <a:t>Partner/Investee</a:t>
                      </a:r>
                      <a:r>
                        <a:rPr lang="en-US" i="0" dirty="0"/>
                        <a:t> Outreach Statements</a:t>
                      </a:r>
                      <a:endParaRPr lang="en-US" dirty="0"/>
                    </a:p>
                  </a:txBody>
                  <a:tcPr/>
                </a:tc>
                <a:tc>
                  <a:txBody>
                    <a:bodyPr/>
                    <a:lstStyle/>
                    <a:p>
                      <a:r>
                        <a:rPr lang="en-US" dirty="0"/>
                        <a:t>I</a:t>
                      </a:r>
                    </a:p>
                  </a:txBody>
                  <a:tcPr/>
                </a:tc>
                <a:tc>
                  <a:txBody>
                    <a:bodyPr/>
                    <a:lstStyle/>
                    <a:p>
                      <a:r>
                        <a:rPr lang="en-US" dirty="0"/>
                        <a:t>IRP</a:t>
                      </a:r>
                    </a:p>
                  </a:txBody>
                  <a:tcPr/>
                </a:tc>
                <a:tc>
                  <a:txBody>
                    <a:bodyPr/>
                    <a:lstStyle/>
                    <a:p>
                      <a:r>
                        <a:rPr lang="en-US" dirty="0"/>
                        <a:t>I</a:t>
                      </a:r>
                    </a:p>
                  </a:txBody>
                  <a:tcPr/>
                </a:tc>
                <a:tc>
                  <a:txBody>
                    <a:bodyPr/>
                    <a:lstStyle/>
                    <a:p>
                      <a:r>
                        <a:rPr lang="en-US" dirty="0"/>
                        <a:t>PD</a:t>
                      </a:r>
                    </a:p>
                  </a:txBody>
                  <a:tcPr/>
                </a:tc>
                <a:tc>
                  <a:txBody>
                    <a:bodyPr/>
                    <a:lstStyle/>
                    <a:p>
                      <a:r>
                        <a:rPr lang="en-US" dirty="0"/>
                        <a:t>A</a:t>
                      </a:r>
                    </a:p>
                  </a:txBody>
                  <a:tcPr/>
                </a:tc>
                <a:extLst>
                  <a:ext uri="{0D108BD9-81ED-4DB2-BD59-A6C34878D82A}">
                    <a16:rowId xmlns:a16="http://schemas.microsoft.com/office/drawing/2014/main" val="277847729"/>
                  </a:ext>
                </a:extLst>
              </a:tr>
              <a:tr h="370983">
                <a:tc>
                  <a:txBody>
                    <a:bodyPr/>
                    <a:lstStyle/>
                    <a:p>
                      <a:r>
                        <a:rPr lang="en-US" dirty="0"/>
                        <a:t>Monitor Situation and Dissolve CCT</a:t>
                      </a:r>
                    </a:p>
                  </a:txBody>
                  <a:tcPr/>
                </a:tc>
                <a:tc>
                  <a:txBody>
                    <a:bodyPr/>
                    <a:lstStyle/>
                    <a:p>
                      <a:r>
                        <a:rPr lang="en-US" dirty="0"/>
                        <a:t>I</a:t>
                      </a:r>
                    </a:p>
                  </a:txBody>
                  <a:tcPr/>
                </a:tc>
                <a:tc>
                  <a:txBody>
                    <a:bodyPr/>
                    <a:lstStyle/>
                    <a:p>
                      <a:r>
                        <a:rPr lang="en-US" dirty="0"/>
                        <a:t>PD</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09030287"/>
                  </a:ext>
                </a:extLst>
              </a:tr>
              <a:tr h="914753">
                <a:tc gridSpan="6">
                  <a:txBody>
                    <a:bodyPr/>
                    <a:lstStyle/>
                    <a:p>
                      <a:r>
                        <a:rPr lang="en-US" dirty="0"/>
                        <a:t>R = Recommend, A = Agree; P=Perform; I = Input; D = Decide</a:t>
                      </a:r>
                      <a:br>
                        <a:rPr lang="en-US" dirty="0"/>
                      </a:br>
                      <a:r>
                        <a:rPr lang="en-US" dirty="0"/>
                        <a:t>*Input from Legal Counsel as appropriate, may not be needed for all crises.</a:t>
                      </a:r>
                    </a:p>
                  </a:txBody>
                  <a:tcPr>
                    <a:solidFill>
                      <a:schemeClr val="tx2">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676835881"/>
                  </a:ext>
                </a:extLst>
              </a:tr>
            </a:tbl>
          </a:graphicData>
        </a:graphic>
      </p:graphicFrame>
      <p:sp>
        <p:nvSpPr>
          <p:cNvPr id="4" name="Footer Placeholder 3">
            <a:extLst>
              <a:ext uri="{FF2B5EF4-FFF2-40B4-BE49-F238E27FC236}">
                <a16:creationId xmlns:a16="http://schemas.microsoft.com/office/drawing/2014/main" id="{80560070-F384-4CEA-B666-F73154ED319E}"/>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8DFE4C40-F2CD-4E97-B8B3-EF1A2A3A471F}"/>
              </a:ext>
            </a:extLst>
          </p:cNvPr>
          <p:cNvSpPr>
            <a:spLocks noGrp="1"/>
          </p:cNvSpPr>
          <p:nvPr>
            <p:ph type="sldNum" sz="quarter" idx="12"/>
          </p:nvPr>
        </p:nvSpPr>
        <p:spPr/>
        <p:txBody>
          <a:bodyPr/>
          <a:lstStyle/>
          <a:p>
            <a:fld id="{D4F07938-7C1D-46C8-9535-2404A951C984}" type="slidenum">
              <a:rPr lang="en-US" smtClean="0"/>
              <a:t>15</a:t>
            </a:fld>
            <a:endParaRPr lang="en-US" dirty="0"/>
          </a:p>
        </p:txBody>
      </p:sp>
      <p:sp>
        <p:nvSpPr>
          <p:cNvPr id="9" name="TextBox 8">
            <a:extLst>
              <a:ext uri="{FF2B5EF4-FFF2-40B4-BE49-F238E27FC236}">
                <a16:creationId xmlns:a16="http://schemas.microsoft.com/office/drawing/2014/main" id="{1D85E6D8-CD0C-4DBF-889B-0BBA8B7CE783}"/>
              </a:ext>
            </a:extLst>
          </p:cNvPr>
          <p:cNvSpPr txBox="1"/>
          <p:nvPr/>
        </p:nvSpPr>
        <p:spPr>
          <a:xfrm rot="5400000">
            <a:off x="6968436" y="1167239"/>
            <a:ext cx="1517578" cy="1200329"/>
          </a:xfrm>
          <a:prstGeom prst="rect">
            <a:avLst/>
          </a:prstGeom>
          <a:noFill/>
        </p:spPr>
        <p:txBody>
          <a:bodyPr wrap="square" rtlCol="0">
            <a:spAutoFit/>
          </a:bodyPr>
          <a:lstStyle/>
          <a:p>
            <a:r>
              <a:rPr lang="en-US" dirty="0">
                <a:solidFill>
                  <a:schemeClr val="bg1"/>
                </a:solidFill>
              </a:rPr>
              <a:t>Function Team Lead (Jim, Tia, or Tiffany) </a:t>
            </a:r>
          </a:p>
        </p:txBody>
      </p:sp>
      <p:sp>
        <p:nvSpPr>
          <p:cNvPr id="10" name="TextBox 9">
            <a:extLst>
              <a:ext uri="{FF2B5EF4-FFF2-40B4-BE49-F238E27FC236}">
                <a16:creationId xmlns:a16="http://schemas.microsoft.com/office/drawing/2014/main" id="{1EC3B99D-7B05-4C8D-A7E9-ACED00E1202A}"/>
              </a:ext>
            </a:extLst>
          </p:cNvPr>
          <p:cNvSpPr txBox="1"/>
          <p:nvPr/>
        </p:nvSpPr>
        <p:spPr>
          <a:xfrm rot="5400000">
            <a:off x="5448997" y="1394856"/>
            <a:ext cx="1443308" cy="646331"/>
          </a:xfrm>
          <a:prstGeom prst="rect">
            <a:avLst/>
          </a:prstGeom>
          <a:noFill/>
        </p:spPr>
        <p:txBody>
          <a:bodyPr wrap="square" rtlCol="0">
            <a:spAutoFit/>
          </a:bodyPr>
          <a:lstStyle/>
          <a:p>
            <a:r>
              <a:rPr lang="en-US" dirty="0">
                <a:solidFill>
                  <a:schemeClr val="bg1"/>
                </a:solidFill>
              </a:rPr>
              <a:t>Comms &amp; Branding</a:t>
            </a:r>
          </a:p>
        </p:txBody>
      </p:sp>
      <p:sp>
        <p:nvSpPr>
          <p:cNvPr id="11" name="TextBox 10">
            <a:extLst>
              <a:ext uri="{FF2B5EF4-FFF2-40B4-BE49-F238E27FC236}">
                <a16:creationId xmlns:a16="http://schemas.microsoft.com/office/drawing/2014/main" id="{3E052A08-9F05-4F8E-8B5F-84A5B2C02DFC}"/>
              </a:ext>
            </a:extLst>
          </p:cNvPr>
          <p:cNvSpPr txBox="1"/>
          <p:nvPr/>
        </p:nvSpPr>
        <p:spPr>
          <a:xfrm rot="5400000">
            <a:off x="6191299" y="1630069"/>
            <a:ext cx="1517579" cy="353943"/>
          </a:xfrm>
          <a:prstGeom prst="rect">
            <a:avLst/>
          </a:prstGeom>
          <a:noFill/>
        </p:spPr>
        <p:txBody>
          <a:bodyPr wrap="square" rtlCol="0">
            <a:spAutoFit/>
          </a:bodyPr>
          <a:lstStyle/>
          <a:p>
            <a:r>
              <a:rPr lang="en-US" sz="1700" dirty="0">
                <a:solidFill>
                  <a:schemeClr val="bg1"/>
                </a:solidFill>
              </a:rPr>
              <a:t>Legal Counsel*</a:t>
            </a:r>
          </a:p>
        </p:txBody>
      </p:sp>
      <p:sp>
        <p:nvSpPr>
          <p:cNvPr id="12" name="TextBox 11">
            <a:extLst>
              <a:ext uri="{FF2B5EF4-FFF2-40B4-BE49-F238E27FC236}">
                <a16:creationId xmlns:a16="http://schemas.microsoft.com/office/drawing/2014/main" id="{5C3B4125-670F-408C-8C32-EB24A2B3FC76}"/>
              </a:ext>
            </a:extLst>
          </p:cNvPr>
          <p:cNvSpPr txBox="1"/>
          <p:nvPr/>
        </p:nvSpPr>
        <p:spPr>
          <a:xfrm rot="5400000">
            <a:off x="4800364" y="1370895"/>
            <a:ext cx="1443308" cy="615553"/>
          </a:xfrm>
          <a:prstGeom prst="rect">
            <a:avLst/>
          </a:prstGeom>
          <a:noFill/>
        </p:spPr>
        <p:txBody>
          <a:bodyPr wrap="square" rtlCol="0">
            <a:spAutoFit/>
          </a:bodyPr>
          <a:lstStyle/>
          <a:p>
            <a:r>
              <a:rPr lang="en-US" sz="1700" dirty="0">
                <a:solidFill>
                  <a:schemeClr val="bg1"/>
                </a:solidFill>
              </a:rPr>
              <a:t>First Reporter (usually MD)</a:t>
            </a:r>
          </a:p>
        </p:txBody>
      </p:sp>
      <p:sp>
        <p:nvSpPr>
          <p:cNvPr id="13" name="TextBox 12">
            <a:extLst>
              <a:ext uri="{FF2B5EF4-FFF2-40B4-BE49-F238E27FC236}">
                <a16:creationId xmlns:a16="http://schemas.microsoft.com/office/drawing/2014/main" id="{B5515202-C346-40DF-B958-6AC1EDC107AC}"/>
              </a:ext>
            </a:extLst>
          </p:cNvPr>
          <p:cNvSpPr txBox="1"/>
          <p:nvPr/>
        </p:nvSpPr>
        <p:spPr>
          <a:xfrm rot="5400000">
            <a:off x="7995547" y="1501700"/>
            <a:ext cx="1260840" cy="353943"/>
          </a:xfrm>
          <a:prstGeom prst="rect">
            <a:avLst/>
          </a:prstGeom>
          <a:noFill/>
        </p:spPr>
        <p:txBody>
          <a:bodyPr wrap="square" rtlCol="0">
            <a:spAutoFit/>
          </a:bodyPr>
          <a:lstStyle/>
          <a:p>
            <a:r>
              <a:rPr lang="en-US" sz="1700" dirty="0">
                <a:solidFill>
                  <a:schemeClr val="bg1"/>
                </a:solidFill>
              </a:rPr>
              <a:t>CEO</a:t>
            </a:r>
          </a:p>
        </p:txBody>
      </p:sp>
    </p:spTree>
    <p:extLst>
      <p:ext uri="{BB962C8B-B14F-4D97-AF65-F5344CB8AC3E}">
        <p14:creationId xmlns:p14="http://schemas.microsoft.com/office/powerpoint/2010/main" val="358082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p:txBody>
          <a:bodyPr/>
          <a:lstStyle/>
          <a:p>
            <a:r>
              <a:rPr lang="en-US" dirty="0"/>
              <a:t>Crisis Response: </a:t>
            </a:r>
            <a:r>
              <a:rPr lang="en-US" b="1" dirty="0"/>
              <a:t>Investee Case Example</a:t>
            </a:r>
          </a:p>
        </p:txBody>
      </p:sp>
      <p:graphicFrame>
        <p:nvGraphicFramePr>
          <p:cNvPr id="8" name="Content Placeholder 7">
            <a:extLst>
              <a:ext uri="{FF2B5EF4-FFF2-40B4-BE49-F238E27FC236}">
                <a16:creationId xmlns:a16="http://schemas.microsoft.com/office/drawing/2014/main" id="{F15EF1B4-65E6-4F8D-9B19-315AFBD1A350}"/>
              </a:ext>
            </a:extLst>
          </p:cNvPr>
          <p:cNvGraphicFramePr>
            <a:graphicFrameLocks noGrp="1"/>
          </p:cNvGraphicFramePr>
          <p:nvPr>
            <p:ph idx="1"/>
            <p:extLst>
              <p:ext uri="{D42A27DB-BD31-4B8C-83A1-F6EECF244321}">
                <p14:modId xmlns:p14="http://schemas.microsoft.com/office/powerpoint/2010/main" val="2132248140"/>
              </p:ext>
            </p:extLst>
          </p:nvPr>
        </p:nvGraphicFramePr>
        <p:xfrm>
          <a:off x="643848" y="574137"/>
          <a:ext cx="8094662" cy="4391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16</a:t>
            </a:fld>
            <a:endParaRPr lang="en-US" dirty="0"/>
          </a:p>
        </p:txBody>
      </p:sp>
      <p:sp>
        <p:nvSpPr>
          <p:cNvPr id="6" name="Rectangle 5">
            <a:extLst>
              <a:ext uri="{FF2B5EF4-FFF2-40B4-BE49-F238E27FC236}">
                <a16:creationId xmlns:a16="http://schemas.microsoft.com/office/drawing/2014/main" id="{FF083C8B-49C6-46E9-66F1-0BF7BB7A3695}"/>
              </a:ext>
            </a:extLst>
          </p:cNvPr>
          <p:cNvSpPr/>
          <p:nvPr/>
        </p:nvSpPr>
        <p:spPr>
          <a:xfrm>
            <a:off x="6977130" y="3648456"/>
            <a:ext cx="1847088" cy="22493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b="1" dirty="0">
                <a:solidFill>
                  <a:srgbClr val="FF0000"/>
                </a:solidFill>
              </a:rPr>
              <a:t>Scenario: </a:t>
            </a:r>
            <a:r>
              <a:rPr lang="en-US" sz="1300" i="0" dirty="0"/>
              <a:t>A teenager enrolled in a Youth Villages residential treatment program dies by suicide onsite. Local media is aware of the death and their inquiries indicate concern about supervision practices.</a:t>
            </a:r>
            <a:endParaRPr lang="en-US" sz="1300" b="1" dirty="0"/>
          </a:p>
        </p:txBody>
      </p:sp>
    </p:spTree>
    <p:extLst>
      <p:ext uri="{BB962C8B-B14F-4D97-AF65-F5344CB8AC3E}">
        <p14:creationId xmlns:p14="http://schemas.microsoft.com/office/powerpoint/2010/main" val="126740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p:txBody>
          <a:bodyPr/>
          <a:lstStyle/>
          <a:p>
            <a:r>
              <a:rPr lang="en-US" dirty="0"/>
              <a:t>Crisis Response: </a:t>
            </a:r>
            <a:r>
              <a:rPr lang="en-US" b="1" dirty="0"/>
              <a:t>Partner Case Example</a:t>
            </a:r>
          </a:p>
        </p:txBody>
      </p:sp>
      <p:graphicFrame>
        <p:nvGraphicFramePr>
          <p:cNvPr id="8" name="Content Placeholder 7">
            <a:extLst>
              <a:ext uri="{FF2B5EF4-FFF2-40B4-BE49-F238E27FC236}">
                <a16:creationId xmlns:a16="http://schemas.microsoft.com/office/drawing/2014/main" id="{F15EF1B4-65E6-4F8D-9B19-315AFBD1A350}"/>
              </a:ext>
            </a:extLst>
          </p:cNvPr>
          <p:cNvGraphicFramePr>
            <a:graphicFrameLocks noGrp="1"/>
          </p:cNvGraphicFramePr>
          <p:nvPr>
            <p:ph idx="1"/>
            <p:extLst>
              <p:ext uri="{D42A27DB-BD31-4B8C-83A1-F6EECF244321}">
                <p14:modId xmlns:p14="http://schemas.microsoft.com/office/powerpoint/2010/main" val="280859437"/>
              </p:ext>
            </p:extLst>
          </p:nvPr>
        </p:nvGraphicFramePr>
        <p:xfrm>
          <a:off x="643848" y="602271"/>
          <a:ext cx="8094662" cy="4391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17</a:t>
            </a:fld>
            <a:endParaRPr lang="en-US" dirty="0"/>
          </a:p>
        </p:txBody>
      </p:sp>
      <p:sp>
        <p:nvSpPr>
          <p:cNvPr id="6" name="Rectangle 5">
            <a:extLst>
              <a:ext uri="{FF2B5EF4-FFF2-40B4-BE49-F238E27FC236}">
                <a16:creationId xmlns:a16="http://schemas.microsoft.com/office/drawing/2014/main" id="{BD650EE8-9EBE-0E77-E761-87D28038E223}"/>
              </a:ext>
            </a:extLst>
          </p:cNvPr>
          <p:cNvSpPr/>
          <p:nvPr/>
        </p:nvSpPr>
        <p:spPr>
          <a:xfrm>
            <a:off x="367682" y="998490"/>
            <a:ext cx="1991469" cy="1644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0000"/>
                </a:solidFill>
              </a:rPr>
              <a:t>Scenario: </a:t>
            </a:r>
            <a:r>
              <a:rPr lang="en-US" sz="1200" i="0" dirty="0"/>
              <a:t>A partner is implicated in a financial scandal by the SEC. </a:t>
            </a:r>
            <a:r>
              <a:rPr lang="en-US" sz="1200" dirty="0"/>
              <a:t>This may raise </a:t>
            </a:r>
            <a:r>
              <a:rPr lang="en-US" sz="1200" i="0" dirty="0"/>
              <a:t>questions about the source of contributions to Blue Meridian.</a:t>
            </a:r>
            <a:endParaRPr lang="en-US" sz="1200" dirty="0"/>
          </a:p>
        </p:txBody>
      </p:sp>
    </p:spTree>
    <p:extLst>
      <p:ext uri="{BB962C8B-B14F-4D97-AF65-F5344CB8AC3E}">
        <p14:creationId xmlns:p14="http://schemas.microsoft.com/office/powerpoint/2010/main" val="3583929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p:txBody>
          <a:bodyPr/>
          <a:lstStyle/>
          <a:p>
            <a:r>
              <a:rPr lang="en-US" dirty="0"/>
              <a:t>Crisis Response: </a:t>
            </a:r>
            <a:r>
              <a:rPr lang="en-US" b="1" dirty="0"/>
              <a:t>Corporate Case Example</a:t>
            </a:r>
          </a:p>
        </p:txBody>
      </p:sp>
      <p:graphicFrame>
        <p:nvGraphicFramePr>
          <p:cNvPr id="8" name="Content Placeholder 7">
            <a:extLst>
              <a:ext uri="{FF2B5EF4-FFF2-40B4-BE49-F238E27FC236}">
                <a16:creationId xmlns:a16="http://schemas.microsoft.com/office/drawing/2014/main" id="{F15EF1B4-65E6-4F8D-9B19-315AFBD1A350}"/>
              </a:ext>
            </a:extLst>
          </p:cNvPr>
          <p:cNvGraphicFramePr>
            <a:graphicFrameLocks noGrp="1"/>
          </p:cNvGraphicFramePr>
          <p:nvPr>
            <p:ph idx="1"/>
            <p:extLst>
              <p:ext uri="{D42A27DB-BD31-4B8C-83A1-F6EECF244321}">
                <p14:modId xmlns:p14="http://schemas.microsoft.com/office/powerpoint/2010/main" val="4106375219"/>
              </p:ext>
            </p:extLst>
          </p:nvPr>
        </p:nvGraphicFramePr>
        <p:xfrm>
          <a:off x="643848" y="489732"/>
          <a:ext cx="8094662" cy="4391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18</a:t>
            </a:fld>
            <a:endParaRPr lang="en-US" dirty="0"/>
          </a:p>
        </p:txBody>
      </p:sp>
      <p:sp>
        <p:nvSpPr>
          <p:cNvPr id="7" name="Rectangle 6">
            <a:extLst>
              <a:ext uri="{FF2B5EF4-FFF2-40B4-BE49-F238E27FC236}">
                <a16:creationId xmlns:a16="http://schemas.microsoft.com/office/drawing/2014/main" id="{15F3EFB5-9A59-E77F-8439-E6E83290B7EF}"/>
              </a:ext>
            </a:extLst>
          </p:cNvPr>
          <p:cNvSpPr/>
          <p:nvPr/>
        </p:nvSpPr>
        <p:spPr>
          <a:xfrm>
            <a:off x="6620256" y="4262238"/>
            <a:ext cx="2359152" cy="2246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FF0000"/>
                </a:solidFill>
              </a:rPr>
              <a:t>Scenario: </a:t>
            </a:r>
            <a:r>
              <a:rPr lang="en-US" sz="1300" i="0" dirty="0"/>
              <a:t>A Congressional committee announces an investigation into tax evasion schemes involving philanthropies. The Committee implies misconduct by Blue Meridian and </a:t>
            </a:r>
            <a:r>
              <a:rPr lang="en-US" sz="1300" dirty="0"/>
              <a:t>other </a:t>
            </a:r>
            <a:r>
              <a:rPr lang="en-US" sz="1300" i="0" dirty="0"/>
              <a:t>philanthropies and threatens to subpoena foundation leaders to testify. </a:t>
            </a:r>
          </a:p>
        </p:txBody>
      </p:sp>
    </p:spTree>
    <p:extLst>
      <p:ext uri="{BB962C8B-B14F-4D97-AF65-F5344CB8AC3E}">
        <p14:creationId xmlns:p14="http://schemas.microsoft.com/office/powerpoint/2010/main" val="513148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B6872-44A9-4AA4-A3E4-BC0F1567D358}"/>
              </a:ext>
            </a:extLst>
          </p:cNvPr>
          <p:cNvSpPr>
            <a:spLocks noGrp="1"/>
          </p:cNvSpPr>
          <p:nvPr>
            <p:ph type="title"/>
          </p:nvPr>
        </p:nvSpPr>
        <p:spPr/>
        <p:txBody>
          <a:bodyPr/>
          <a:lstStyle/>
          <a:p>
            <a:r>
              <a:rPr lang="en-US" dirty="0"/>
              <a:t>The Critical Role of the CCT Lead</a:t>
            </a:r>
          </a:p>
        </p:txBody>
      </p:sp>
      <p:sp>
        <p:nvSpPr>
          <p:cNvPr id="4" name="Footer Placeholder 3">
            <a:extLst>
              <a:ext uri="{FF2B5EF4-FFF2-40B4-BE49-F238E27FC236}">
                <a16:creationId xmlns:a16="http://schemas.microsoft.com/office/drawing/2014/main" id="{A632640C-F5B9-4952-9D0F-87295BE3C575}"/>
              </a:ext>
            </a:extLst>
          </p:cNvPr>
          <p:cNvSpPr>
            <a:spLocks noGrp="1"/>
          </p:cNvSpPr>
          <p:nvPr>
            <p:ph type="ftr" sz="quarter" idx="11"/>
          </p:nvPr>
        </p:nvSpPr>
        <p:spPr>
          <a:xfrm>
            <a:off x="3001672" y="6301363"/>
            <a:ext cx="3086100" cy="380184"/>
          </a:xfrm>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12F990FE-6BA8-46B2-9D48-6BD639926D41}"/>
              </a:ext>
            </a:extLst>
          </p:cNvPr>
          <p:cNvSpPr>
            <a:spLocks noGrp="1"/>
          </p:cNvSpPr>
          <p:nvPr>
            <p:ph type="sldNum" sz="quarter" idx="12"/>
          </p:nvPr>
        </p:nvSpPr>
        <p:spPr>
          <a:xfrm>
            <a:off x="7478663" y="6264767"/>
            <a:ext cx="1131609" cy="380184"/>
          </a:xfrm>
        </p:spPr>
        <p:txBody>
          <a:bodyPr/>
          <a:lstStyle/>
          <a:p>
            <a:fld id="{D4F07938-7C1D-46C8-9535-2404A951C984}" type="slidenum">
              <a:rPr lang="en-US" smtClean="0"/>
              <a:t>19</a:t>
            </a:fld>
            <a:endParaRPr lang="en-US" dirty="0"/>
          </a:p>
        </p:txBody>
      </p:sp>
      <p:sp>
        <p:nvSpPr>
          <p:cNvPr id="26" name="Rectangle 25">
            <a:extLst>
              <a:ext uri="{FF2B5EF4-FFF2-40B4-BE49-F238E27FC236}">
                <a16:creationId xmlns:a16="http://schemas.microsoft.com/office/drawing/2014/main" id="{CAF7149E-F4BE-44B4-AA0B-C237803A9A55}"/>
              </a:ext>
            </a:extLst>
          </p:cNvPr>
          <p:cNvSpPr/>
          <p:nvPr/>
        </p:nvSpPr>
        <p:spPr>
          <a:xfrm>
            <a:off x="308556" y="2422439"/>
            <a:ext cx="8541750" cy="8633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880" indent="-182880">
              <a:spcAft>
                <a:spcPts val="400"/>
              </a:spcAft>
              <a:buFont typeface="Arial" panose="020B0604020202020204" pitchFamily="34" charset="0"/>
              <a:buChar char="•"/>
            </a:pPr>
            <a:r>
              <a:rPr lang="en-US" sz="1200" dirty="0">
                <a:solidFill>
                  <a:schemeClr val="tx1"/>
                </a:solidFill>
              </a:rPr>
              <a:t>After receiving alert from first reporter, CCT Lead determines if the situation is, or may escalate into, a crisis that requires convening the full Crisis Communications Team. </a:t>
            </a:r>
          </a:p>
          <a:p>
            <a:pPr marL="182880" indent="-182880">
              <a:spcAft>
                <a:spcPts val="400"/>
              </a:spcAft>
              <a:buFont typeface="Arial" panose="020B0604020202020204" pitchFamily="34" charset="0"/>
              <a:buChar char="•"/>
            </a:pPr>
            <a:r>
              <a:rPr lang="en-US" sz="1200" dirty="0">
                <a:solidFill>
                  <a:schemeClr val="tx1"/>
                </a:solidFill>
              </a:rPr>
              <a:t>Notifies all standing members of the CCT. Convenes and leads first meeting.</a:t>
            </a:r>
          </a:p>
        </p:txBody>
      </p:sp>
      <p:sp>
        <p:nvSpPr>
          <p:cNvPr id="28" name="Rectangle 27">
            <a:extLst>
              <a:ext uri="{FF2B5EF4-FFF2-40B4-BE49-F238E27FC236}">
                <a16:creationId xmlns:a16="http://schemas.microsoft.com/office/drawing/2014/main" id="{D7E8783E-399D-48BD-9FC2-FC622AD0179F}"/>
              </a:ext>
            </a:extLst>
          </p:cNvPr>
          <p:cNvSpPr/>
          <p:nvPr/>
        </p:nvSpPr>
        <p:spPr>
          <a:xfrm>
            <a:off x="315647" y="2092336"/>
            <a:ext cx="8547364" cy="3446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Responsibilities of CCT Lead</a:t>
            </a:r>
          </a:p>
        </p:txBody>
      </p:sp>
      <p:sp>
        <p:nvSpPr>
          <p:cNvPr id="30" name="Rectangle 29">
            <a:extLst>
              <a:ext uri="{FF2B5EF4-FFF2-40B4-BE49-F238E27FC236}">
                <a16:creationId xmlns:a16="http://schemas.microsoft.com/office/drawing/2014/main" id="{582AACB4-4733-4771-B814-3DBA2B3D7DB1}"/>
              </a:ext>
            </a:extLst>
          </p:cNvPr>
          <p:cNvSpPr/>
          <p:nvPr/>
        </p:nvSpPr>
        <p:spPr>
          <a:xfrm>
            <a:off x="308556" y="1393725"/>
            <a:ext cx="8547364" cy="50851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200" dirty="0">
                <a:solidFill>
                  <a:schemeClr val="tx1"/>
                </a:solidFill>
              </a:rPr>
              <a:t>Susan Promislo is the CCT lead. Micah Carr is the alternate and will fill Susan’s role if she is unavailable. Behr Communications can also help lead the CCT and perform and CCT lead activities when needed.</a:t>
            </a:r>
          </a:p>
        </p:txBody>
      </p:sp>
      <p:sp>
        <p:nvSpPr>
          <p:cNvPr id="32" name="Rectangle 31">
            <a:extLst>
              <a:ext uri="{FF2B5EF4-FFF2-40B4-BE49-F238E27FC236}">
                <a16:creationId xmlns:a16="http://schemas.microsoft.com/office/drawing/2014/main" id="{652E75FC-5391-4A75-AF2E-16967883EE45}"/>
              </a:ext>
            </a:extLst>
          </p:cNvPr>
          <p:cNvSpPr/>
          <p:nvPr/>
        </p:nvSpPr>
        <p:spPr>
          <a:xfrm>
            <a:off x="308556" y="1035385"/>
            <a:ext cx="8547364" cy="34469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The Crisis Communications Team Lead Is the COO of Crisis Response</a:t>
            </a:r>
          </a:p>
        </p:txBody>
      </p:sp>
      <p:sp>
        <p:nvSpPr>
          <p:cNvPr id="36" name="Rectangle 35">
            <a:extLst>
              <a:ext uri="{FF2B5EF4-FFF2-40B4-BE49-F238E27FC236}">
                <a16:creationId xmlns:a16="http://schemas.microsoft.com/office/drawing/2014/main" id="{B52EB238-D24B-46F3-BDA6-B9CC7EC19840}"/>
              </a:ext>
            </a:extLst>
          </p:cNvPr>
          <p:cNvSpPr/>
          <p:nvPr/>
        </p:nvSpPr>
        <p:spPr>
          <a:xfrm>
            <a:off x="315647" y="3558111"/>
            <a:ext cx="4177210" cy="35890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“Dos” for CCT Lead</a:t>
            </a:r>
          </a:p>
        </p:txBody>
      </p:sp>
      <p:sp>
        <p:nvSpPr>
          <p:cNvPr id="40" name="Rectangle 39">
            <a:extLst>
              <a:ext uri="{FF2B5EF4-FFF2-40B4-BE49-F238E27FC236}">
                <a16:creationId xmlns:a16="http://schemas.microsoft.com/office/drawing/2014/main" id="{4C6A0518-096D-4585-B134-6ABF882D5B2F}"/>
              </a:ext>
            </a:extLst>
          </p:cNvPr>
          <p:cNvSpPr/>
          <p:nvPr/>
        </p:nvSpPr>
        <p:spPr>
          <a:xfrm>
            <a:off x="4681184" y="3558111"/>
            <a:ext cx="4177210" cy="358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“Don’ts” for CCT Lead</a:t>
            </a:r>
          </a:p>
        </p:txBody>
      </p:sp>
      <p:sp>
        <p:nvSpPr>
          <p:cNvPr id="42" name="Rectangle 41">
            <a:extLst>
              <a:ext uri="{FF2B5EF4-FFF2-40B4-BE49-F238E27FC236}">
                <a16:creationId xmlns:a16="http://schemas.microsoft.com/office/drawing/2014/main" id="{1FF82D1D-8603-4976-8080-751384A672CA}"/>
              </a:ext>
            </a:extLst>
          </p:cNvPr>
          <p:cNvSpPr/>
          <p:nvPr/>
        </p:nvSpPr>
        <p:spPr>
          <a:xfrm>
            <a:off x="315647" y="3901699"/>
            <a:ext cx="4174467" cy="21896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Aft>
                <a:spcPts val="400"/>
              </a:spcAft>
              <a:buFont typeface="Arial" panose="020B0604020202020204" pitchFamily="34" charset="0"/>
              <a:buChar char="•"/>
            </a:pPr>
            <a:r>
              <a:rPr lang="en-US" sz="1200" dirty="0">
                <a:solidFill>
                  <a:schemeClr val="tx1"/>
                </a:solidFill>
              </a:rPr>
              <a:t>Upon receiving first report, assess whether situation has potential to become a crisis (may damage Blue Meridian’s reputation or standing as a philanthropic leader). </a:t>
            </a:r>
          </a:p>
          <a:p>
            <a:pPr marL="182880" indent="-182880">
              <a:spcAft>
                <a:spcPts val="400"/>
              </a:spcAft>
              <a:buFont typeface="Arial" panose="020B0604020202020204" pitchFamily="34" charset="0"/>
              <a:buChar char="•"/>
            </a:pPr>
            <a:r>
              <a:rPr lang="en-US" sz="1200" dirty="0">
                <a:solidFill>
                  <a:schemeClr val="tx1"/>
                </a:solidFill>
              </a:rPr>
              <a:t>Contact all permanent members of the CCT and convene meeting as soon as possible.</a:t>
            </a:r>
          </a:p>
          <a:p>
            <a:pPr marL="182880" indent="-182880">
              <a:spcAft>
                <a:spcPts val="400"/>
              </a:spcAft>
              <a:buFont typeface="Arial" panose="020B0604020202020204" pitchFamily="34" charset="0"/>
              <a:buChar char="•"/>
            </a:pPr>
            <a:r>
              <a:rPr lang="en-US" sz="1200" dirty="0">
                <a:solidFill>
                  <a:schemeClr val="tx1"/>
                </a:solidFill>
              </a:rPr>
              <a:t>Surface the holding statements most applicable to the emerging situation and update with relevant case details.</a:t>
            </a:r>
          </a:p>
        </p:txBody>
      </p:sp>
      <p:sp>
        <p:nvSpPr>
          <p:cNvPr id="44" name="Rectangle 43">
            <a:extLst>
              <a:ext uri="{FF2B5EF4-FFF2-40B4-BE49-F238E27FC236}">
                <a16:creationId xmlns:a16="http://schemas.microsoft.com/office/drawing/2014/main" id="{38A4AC7A-B013-4720-8C4E-BAC9C6A0F7FE}"/>
              </a:ext>
            </a:extLst>
          </p:cNvPr>
          <p:cNvSpPr/>
          <p:nvPr/>
        </p:nvSpPr>
        <p:spPr>
          <a:xfrm>
            <a:off x="4681184" y="3901699"/>
            <a:ext cx="4174467" cy="213923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400"/>
              </a:spcAft>
              <a:buFont typeface="Arial" panose="020B0604020202020204" pitchFamily="34" charset="0"/>
              <a:buChar char="•"/>
            </a:pPr>
            <a:r>
              <a:rPr lang="en-US" sz="1200" dirty="0">
                <a:solidFill>
                  <a:schemeClr val="tx1"/>
                </a:solidFill>
              </a:rPr>
              <a:t>Don’t wait! Treat an emerging crisis as an emergency.</a:t>
            </a:r>
          </a:p>
          <a:p>
            <a:pPr marL="171450" indent="-171450">
              <a:spcAft>
                <a:spcPts val="400"/>
              </a:spcAft>
              <a:buFont typeface="Arial" panose="020B0604020202020204" pitchFamily="34" charset="0"/>
              <a:buChar char="•"/>
            </a:pPr>
            <a:r>
              <a:rPr lang="en-US" sz="1200" dirty="0">
                <a:solidFill>
                  <a:schemeClr val="tx1"/>
                </a:solidFill>
              </a:rPr>
              <a:t>Respond to media inquiries until a response strategy is developed.  </a:t>
            </a:r>
          </a:p>
          <a:p>
            <a:pPr>
              <a:spcAft>
                <a:spcPts val="400"/>
              </a:spcAft>
            </a:pPr>
            <a:endParaRPr lang="en-US" sz="1200" dirty="0">
              <a:solidFill>
                <a:schemeClr val="tx1"/>
              </a:solidFill>
            </a:endParaRPr>
          </a:p>
        </p:txBody>
      </p:sp>
    </p:spTree>
    <p:extLst>
      <p:ext uri="{BB962C8B-B14F-4D97-AF65-F5344CB8AC3E}">
        <p14:creationId xmlns:p14="http://schemas.microsoft.com/office/powerpoint/2010/main" val="341649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7229E4-58B2-4571-99AE-C0FF1DA9BB3B}"/>
              </a:ext>
            </a:extLst>
          </p:cNvPr>
          <p:cNvSpPr/>
          <p:nvPr/>
        </p:nvSpPr>
        <p:spPr>
          <a:xfrm>
            <a:off x="1" y="6105378"/>
            <a:ext cx="9144000" cy="11578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AB6872-44A9-4AA4-A3E4-BC0F1567D358}"/>
              </a:ext>
            </a:extLst>
          </p:cNvPr>
          <p:cNvSpPr>
            <a:spLocks noGrp="1"/>
          </p:cNvSpPr>
          <p:nvPr>
            <p:ph type="title"/>
          </p:nvPr>
        </p:nvSpPr>
        <p:spPr/>
        <p:txBody>
          <a:bodyPr/>
          <a:lstStyle/>
          <a:p>
            <a:r>
              <a:rPr lang="en-US" dirty="0"/>
              <a:t>The Critical Role of First Reporters</a:t>
            </a:r>
          </a:p>
        </p:txBody>
      </p:sp>
      <p:sp>
        <p:nvSpPr>
          <p:cNvPr id="26" name="Rectangle 25">
            <a:extLst>
              <a:ext uri="{FF2B5EF4-FFF2-40B4-BE49-F238E27FC236}">
                <a16:creationId xmlns:a16="http://schemas.microsoft.com/office/drawing/2014/main" id="{CAF7149E-F4BE-44B4-AA0B-C237803A9A55}"/>
              </a:ext>
            </a:extLst>
          </p:cNvPr>
          <p:cNvSpPr/>
          <p:nvPr/>
        </p:nvSpPr>
        <p:spPr>
          <a:xfrm>
            <a:off x="308556" y="2568471"/>
            <a:ext cx="8541750" cy="115789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880" indent="-182880">
              <a:spcAft>
                <a:spcPts val="400"/>
              </a:spcAft>
              <a:buFont typeface="Arial" panose="020B0604020202020204" pitchFamily="34" charset="0"/>
              <a:buChar char="•"/>
            </a:pPr>
            <a:r>
              <a:rPr lang="en-US" sz="1200" dirty="0">
                <a:solidFill>
                  <a:schemeClr val="tx1"/>
                </a:solidFill>
              </a:rPr>
              <a:t>Notify Crisis Communication Team leads (Susan Promislo and Micah Carr) about the potential crisis immediately. If you don’t receive an immediate response, follow up right away.</a:t>
            </a:r>
          </a:p>
          <a:p>
            <a:pPr marL="182880" indent="-182880">
              <a:spcAft>
                <a:spcPts val="400"/>
              </a:spcAft>
              <a:buFont typeface="Arial" panose="020B0604020202020204" pitchFamily="34" charset="0"/>
              <a:buChar char="•"/>
            </a:pPr>
            <a:r>
              <a:rPr lang="en-US" sz="1200" dirty="0">
                <a:solidFill>
                  <a:schemeClr val="tx1"/>
                </a:solidFill>
              </a:rPr>
              <a:t>Gather and report key facts about the situation and complete the crisis incident fact sheet.</a:t>
            </a:r>
          </a:p>
          <a:p>
            <a:pPr marL="182880" indent="-182880">
              <a:spcAft>
                <a:spcPts val="400"/>
              </a:spcAft>
              <a:buFont typeface="Arial" panose="020B0604020202020204" pitchFamily="34" charset="0"/>
              <a:buChar char="•"/>
            </a:pPr>
            <a:r>
              <a:rPr lang="en-US" sz="1200" dirty="0">
                <a:solidFill>
                  <a:schemeClr val="tx1"/>
                </a:solidFill>
              </a:rPr>
              <a:t>Support investees to the extent possible. Emphasize that Blue Meridian values transparency and appreciates when investees reach out, especially when they have difficult news to report. </a:t>
            </a:r>
            <a:endParaRPr lang="en-US" sz="1200" dirty="0">
              <a:solidFill>
                <a:schemeClr val="tx1"/>
              </a:solidFill>
              <a:highlight>
                <a:srgbClr val="FFFF00"/>
              </a:highlight>
            </a:endParaRPr>
          </a:p>
        </p:txBody>
      </p:sp>
      <p:sp>
        <p:nvSpPr>
          <p:cNvPr id="28" name="Rectangle 27">
            <a:extLst>
              <a:ext uri="{FF2B5EF4-FFF2-40B4-BE49-F238E27FC236}">
                <a16:creationId xmlns:a16="http://schemas.microsoft.com/office/drawing/2014/main" id="{D7E8783E-399D-48BD-9FC2-FC622AD0179F}"/>
              </a:ext>
            </a:extLst>
          </p:cNvPr>
          <p:cNvSpPr/>
          <p:nvPr/>
        </p:nvSpPr>
        <p:spPr>
          <a:xfrm>
            <a:off x="315647" y="2280572"/>
            <a:ext cx="8547364" cy="3446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Responsibilities of First Reporters</a:t>
            </a:r>
          </a:p>
        </p:txBody>
      </p:sp>
      <p:sp>
        <p:nvSpPr>
          <p:cNvPr id="30" name="Rectangle 29">
            <a:extLst>
              <a:ext uri="{FF2B5EF4-FFF2-40B4-BE49-F238E27FC236}">
                <a16:creationId xmlns:a16="http://schemas.microsoft.com/office/drawing/2014/main" id="{582AACB4-4733-4771-B814-3DBA2B3D7DB1}"/>
              </a:ext>
            </a:extLst>
          </p:cNvPr>
          <p:cNvSpPr/>
          <p:nvPr/>
        </p:nvSpPr>
        <p:spPr>
          <a:xfrm>
            <a:off x="308556" y="1379656"/>
            <a:ext cx="8547364" cy="78245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200" dirty="0">
                <a:solidFill>
                  <a:schemeClr val="tx1"/>
                </a:solidFill>
              </a:rPr>
              <a:t>For crises involving investees, Managing Directors will likely be First Reporters, usually when notified by investees about a developing crisis. Development staff may be First Reporters for crises involving partners. Blue Meridian may also learn about a potential crisis through a news report or social media post. In these cases, the staffer who discovers the story will pass the information to the relevant MD, who becomes the First Reporter.</a:t>
            </a:r>
          </a:p>
        </p:txBody>
      </p:sp>
      <p:sp>
        <p:nvSpPr>
          <p:cNvPr id="32" name="Rectangle 31">
            <a:extLst>
              <a:ext uri="{FF2B5EF4-FFF2-40B4-BE49-F238E27FC236}">
                <a16:creationId xmlns:a16="http://schemas.microsoft.com/office/drawing/2014/main" id="{652E75FC-5391-4A75-AF2E-16967883EE45}"/>
              </a:ext>
            </a:extLst>
          </p:cNvPr>
          <p:cNvSpPr/>
          <p:nvPr/>
        </p:nvSpPr>
        <p:spPr>
          <a:xfrm>
            <a:off x="308556" y="1035385"/>
            <a:ext cx="8547364" cy="34469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The First Reporter Is the Blue Meridian Staff Member Who Discovers a Potential Crisis</a:t>
            </a:r>
          </a:p>
        </p:txBody>
      </p:sp>
      <p:sp>
        <p:nvSpPr>
          <p:cNvPr id="36" name="Rectangle 35">
            <a:extLst>
              <a:ext uri="{FF2B5EF4-FFF2-40B4-BE49-F238E27FC236}">
                <a16:creationId xmlns:a16="http://schemas.microsoft.com/office/drawing/2014/main" id="{B52EB238-D24B-46F3-BDA6-B9CC7EC19840}"/>
              </a:ext>
            </a:extLst>
          </p:cNvPr>
          <p:cNvSpPr/>
          <p:nvPr/>
        </p:nvSpPr>
        <p:spPr>
          <a:xfrm>
            <a:off x="315647" y="3872959"/>
            <a:ext cx="4177210" cy="35890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“Dos” for First Reporters</a:t>
            </a:r>
          </a:p>
        </p:txBody>
      </p:sp>
      <p:sp>
        <p:nvSpPr>
          <p:cNvPr id="40" name="Rectangle 39">
            <a:extLst>
              <a:ext uri="{FF2B5EF4-FFF2-40B4-BE49-F238E27FC236}">
                <a16:creationId xmlns:a16="http://schemas.microsoft.com/office/drawing/2014/main" id="{4C6A0518-096D-4585-B134-6ABF882D5B2F}"/>
              </a:ext>
            </a:extLst>
          </p:cNvPr>
          <p:cNvSpPr/>
          <p:nvPr/>
        </p:nvSpPr>
        <p:spPr>
          <a:xfrm>
            <a:off x="4681184" y="3872959"/>
            <a:ext cx="4177210" cy="3589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“Don’ts” for First Reporters</a:t>
            </a:r>
          </a:p>
        </p:txBody>
      </p:sp>
      <p:sp>
        <p:nvSpPr>
          <p:cNvPr id="42" name="Rectangle 41">
            <a:extLst>
              <a:ext uri="{FF2B5EF4-FFF2-40B4-BE49-F238E27FC236}">
                <a16:creationId xmlns:a16="http://schemas.microsoft.com/office/drawing/2014/main" id="{1FF82D1D-8603-4976-8080-751384A672CA}"/>
              </a:ext>
            </a:extLst>
          </p:cNvPr>
          <p:cNvSpPr/>
          <p:nvPr/>
        </p:nvSpPr>
        <p:spPr>
          <a:xfrm>
            <a:off x="315647" y="4226778"/>
            <a:ext cx="4174467" cy="28598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Aft>
                <a:spcPts val="400"/>
              </a:spcAft>
              <a:buFont typeface="Arial" panose="020B0604020202020204" pitchFamily="34" charset="0"/>
              <a:buChar char="•"/>
            </a:pPr>
            <a:r>
              <a:rPr lang="en-US" sz="1200" b="1" dirty="0">
                <a:solidFill>
                  <a:schemeClr val="tx1"/>
                </a:solidFill>
              </a:rPr>
              <a:t>Report the potential crisis as soon as possible. </a:t>
            </a:r>
            <a:r>
              <a:rPr lang="en-US" sz="1200" dirty="0">
                <a:solidFill>
                  <a:schemeClr val="tx1"/>
                </a:solidFill>
              </a:rPr>
              <a:t>When in doubt, err on the side of over-reporting.</a:t>
            </a:r>
          </a:p>
          <a:p>
            <a:pPr marL="182880" indent="-182880">
              <a:spcAft>
                <a:spcPts val="400"/>
              </a:spcAft>
              <a:buFont typeface="Arial" panose="020B0604020202020204" pitchFamily="34" charset="0"/>
              <a:buChar char="•"/>
            </a:pPr>
            <a:r>
              <a:rPr lang="en-US" sz="1200" dirty="0">
                <a:solidFill>
                  <a:schemeClr val="tx1"/>
                </a:solidFill>
              </a:rPr>
              <a:t>Ask questions to determine the essential facts and complete the crisis incident fact sheet:</a:t>
            </a:r>
          </a:p>
          <a:p>
            <a:pPr marL="640080" lvl="1" indent="-182880">
              <a:buFont typeface="Arial" panose="020B0604020202020204" pitchFamily="34" charset="0"/>
              <a:buChar char="•"/>
            </a:pPr>
            <a:r>
              <a:rPr lang="en-US" sz="1200" dirty="0">
                <a:solidFill>
                  <a:schemeClr val="tx1"/>
                </a:solidFill>
              </a:rPr>
              <a:t>What happened, when, and where?</a:t>
            </a:r>
          </a:p>
          <a:p>
            <a:pPr marL="640080" lvl="1" indent="-182880">
              <a:buFont typeface="Arial" panose="020B0604020202020204" pitchFamily="34" charset="0"/>
              <a:buChar char="•"/>
            </a:pPr>
            <a:r>
              <a:rPr lang="en-US" sz="1200" dirty="0">
                <a:solidFill>
                  <a:schemeClr val="tx1"/>
                </a:solidFill>
              </a:rPr>
              <a:t>What has been the response to date?</a:t>
            </a:r>
          </a:p>
          <a:p>
            <a:pPr marL="640080" lvl="1" indent="-182880">
              <a:buFont typeface="Arial" panose="020B0604020202020204" pitchFamily="34" charset="0"/>
              <a:buChar char="•"/>
            </a:pPr>
            <a:r>
              <a:rPr lang="en-US" sz="1200" dirty="0">
                <a:solidFill>
                  <a:schemeClr val="tx1"/>
                </a:solidFill>
              </a:rPr>
              <a:t>Confidence in reliability of existing information—is it rumor or fact? Identify facts that remain unclear.</a:t>
            </a:r>
          </a:p>
          <a:p>
            <a:pPr marL="640080" lvl="1" indent="-182880">
              <a:buFont typeface="Arial" panose="020B0604020202020204" pitchFamily="34" charset="0"/>
              <a:buChar char="•"/>
            </a:pPr>
            <a:r>
              <a:rPr lang="en-US" sz="1200" dirty="0">
                <a:solidFill>
                  <a:schemeClr val="tx1"/>
                </a:solidFill>
              </a:rPr>
              <a:t>Who knows about the situation, especially staff, public, and local media?</a:t>
            </a:r>
          </a:p>
          <a:p>
            <a:pPr marL="182880" indent="-182880">
              <a:spcAft>
                <a:spcPts val="400"/>
              </a:spcAft>
              <a:buFont typeface="Arial" panose="020B0604020202020204" pitchFamily="34" charset="0"/>
              <a:buChar char="•"/>
            </a:pPr>
            <a:r>
              <a:rPr lang="en-US" sz="1200" dirty="0">
                <a:solidFill>
                  <a:schemeClr val="tx1"/>
                </a:solidFill>
              </a:rPr>
              <a:t>Support investees and offer to connect them to local resources, including legal and PR counsel, if needed.</a:t>
            </a:r>
          </a:p>
        </p:txBody>
      </p:sp>
      <p:sp>
        <p:nvSpPr>
          <p:cNvPr id="44" name="Rectangle 43">
            <a:extLst>
              <a:ext uri="{FF2B5EF4-FFF2-40B4-BE49-F238E27FC236}">
                <a16:creationId xmlns:a16="http://schemas.microsoft.com/office/drawing/2014/main" id="{38A4AC7A-B013-4720-8C4E-BAC9C6A0F7FE}"/>
              </a:ext>
            </a:extLst>
          </p:cNvPr>
          <p:cNvSpPr/>
          <p:nvPr/>
        </p:nvSpPr>
        <p:spPr>
          <a:xfrm>
            <a:off x="4681184" y="4216546"/>
            <a:ext cx="4174467" cy="28598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400"/>
              </a:spcAft>
              <a:buFont typeface="Arial" panose="020B0604020202020204" pitchFamily="34" charset="0"/>
              <a:buChar char="•"/>
            </a:pPr>
            <a:r>
              <a:rPr lang="en-US" sz="1200" dirty="0">
                <a:solidFill>
                  <a:schemeClr val="tx1"/>
                </a:solidFill>
              </a:rPr>
              <a:t>Speak to media or offer to speak to media on behalf of investees.</a:t>
            </a:r>
          </a:p>
          <a:p>
            <a:pPr marL="171450" indent="-171450">
              <a:spcAft>
                <a:spcPts val="400"/>
              </a:spcAft>
              <a:buFont typeface="Arial" panose="020B0604020202020204" pitchFamily="34" charset="0"/>
              <a:buChar char="•"/>
            </a:pPr>
            <a:r>
              <a:rPr lang="en-US" sz="1200" dirty="0">
                <a:solidFill>
                  <a:schemeClr val="tx1"/>
                </a:solidFill>
              </a:rPr>
              <a:t>Offer legal advice. If an investee has legal questions, suggest they contact local counsel. Blue Meridian may be able to refer investees to an attorney if needed.</a:t>
            </a:r>
          </a:p>
          <a:p>
            <a:pPr marL="171450" indent="-171450">
              <a:spcAft>
                <a:spcPts val="400"/>
              </a:spcAft>
              <a:buFont typeface="Arial" panose="020B0604020202020204" pitchFamily="34" charset="0"/>
              <a:buChar char="•"/>
            </a:pPr>
            <a:r>
              <a:rPr lang="en-US" sz="1200" dirty="0">
                <a:solidFill>
                  <a:schemeClr val="tx1"/>
                </a:solidFill>
              </a:rPr>
              <a:t>Seek or accept confidential personal information, such as employment or health records. </a:t>
            </a:r>
          </a:p>
          <a:p>
            <a:pPr>
              <a:spcAft>
                <a:spcPts val="400"/>
              </a:spcAft>
            </a:pPr>
            <a:endParaRPr lang="en-US" sz="1200" dirty="0">
              <a:solidFill>
                <a:schemeClr val="tx1"/>
              </a:solidFill>
            </a:endParaRPr>
          </a:p>
        </p:txBody>
      </p:sp>
    </p:spTree>
    <p:extLst>
      <p:ext uri="{BB962C8B-B14F-4D97-AF65-F5344CB8AC3E}">
        <p14:creationId xmlns:p14="http://schemas.microsoft.com/office/powerpoint/2010/main" val="1491581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a:xfrm>
            <a:off x="324997" y="221721"/>
            <a:ext cx="8622054" cy="396219"/>
          </a:xfrm>
        </p:spPr>
        <p:txBody>
          <a:bodyPr/>
          <a:lstStyle/>
          <a:p>
            <a:r>
              <a:rPr lang="en-US" dirty="0"/>
              <a:t>Crisis Communications Team: Permanent Members</a:t>
            </a:r>
          </a:p>
        </p:txBody>
      </p:sp>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21</a:t>
            </a:fld>
            <a:endParaRPr lang="en-US" dirty="0"/>
          </a:p>
        </p:txBody>
      </p:sp>
      <p:sp>
        <p:nvSpPr>
          <p:cNvPr id="11" name="Text Placeholder 10">
            <a:extLst>
              <a:ext uri="{FF2B5EF4-FFF2-40B4-BE49-F238E27FC236}">
                <a16:creationId xmlns:a16="http://schemas.microsoft.com/office/drawing/2014/main" id="{84B348F5-B83F-44EC-BFDC-4CAA0383F009}"/>
              </a:ext>
            </a:extLst>
          </p:cNvPr>
          <p:cNvSpPr>
            <a:spLocks noGrp="1"/>
          </p:cNvSpPr>
          <p:nvPr>
            <p:ph type="body" sz="quarter" idx="15"/>
          </p:nvPr>
        </p:nvSpPr>
        <p:spPr/>
        <p:txBody>
          <a:bodyPr/>
          <a:lstStyle/>
          <a:p>
            <a:endParaRPr lang="en-US" dirty="0"/>
          </a:p>
        </p:txBody>
      </p:sp>
      <p:graphicFrame>
        <p:nvGraphicFramePr>
          <p:cNvPr id="7" name="Table 14">
            <a:extLst>
              <a:ext uri="{FF2B5EF4-FFF2-40B4-BE49-F238E27FC236}">
                <a16:creationId xmlns:a16="http://schemas.microsoft.com/office/drawing/2014/main" id="{573C98F2-E815-4B3A-AD29-5169566A9EC0}"/>
              </a:ext>
            </a:extLst>
          </p:cNvPr>
          <p:cNvGraphicFramePr>
            <a:graphicFrameLocks noGrp="1"/>
          </p:cNvGraphicFramePr>
          <p:nvPr>
            <p:ph sz="half" idx="22"/>
            <p:extLst>
              <p:ext uri="{D42A27DB-BD31-4B8C-83A1-F6EECF244321}">
                <p14:modId xmlns:p14="http://schemas.microsoft.com/office/powerpoint/2010/main" val="2078418286"/>
              </p:ext>
            </p:extLst>
          </p:nvPr>
        </p:nvGraphicFramePr>
        <p:xfrm>
          <a:off x="649223" y="1735234"/>
          <a:ext cx="8087977" cy="3922955"/>
        </p:xfrm>
        <a:graphic>
          <a:graphicData uri="http://schemas.openxmlformats.org/drawingml/2006/table">
            <a:tbl>
              <a:tblPr firstRow="1" bandRow="1">
                <a:tableStyleId>{5C22544A-7EE6-4342-B048-85BDC9FD1C3A}</a:tableStyleId>
              </a:tblPr>
              <a:tblGrid>
                <a:gridCol w="4082732">
                  <a:extLst>
                    <a:ext uri="{9D8B030D-6E8A-4147-A177-3AD203B41FA5}">
                      <a16:colId xmlns:a16="http://schemas.microsoft.com/office/drawing/2014/main" val="402976635"/>
                    </a:ext>
                  </a:extLst>
                </a:gridCol>
                <a:gridCol w="1900590">
                  <a:extLst>
                    <a:ext uri="{9D8B030D-6E8A-4147-A177-3AD203B41FA5}">
                      <a16:colId xmlns:a16="http://schemas.microsoft.com/office/drawing/2014/main" val="1631216248"/>
                    </a:ext>
                  </a:extLst>
                </a:gridCol>
                <a:gridCol w="2104655">
                  <a:extLst>
                    <a:ext uri="{9D8B030D-6E8A-4147-A177-3AD203B41FA5}">
                      <a16:colId xmlns:a16="http://schemas.microsoft.com/office/drawing/2014/main" val="1351283861"/>
                    </a:ext>
                  </a:extLst>
                </a:gridCol>
              </a:tblGrid>
              <a:tr h="372035">
                <a:tc gridSpan="3">
                  <a:txBody>
                    <a:bodyPr/>
                    <a:lstStyle/>
                    <a:p>
                      <a:r>
                        <a:rPr lang="en-US" sz="1400" b="0" dirty="0"/>
                        <a:t>CCT Standing Members/Roles                            Primary                      Alternate</a:t>
                      </a:r>
                    </a:p>
                  </a:txBody>
                  <a:tcPr>
                    <a:solidFill>
                      <a:schemeClr val="tx2">
                        <a:lumMod val="75000"/>
                      </a:schemeClr>
                    </a:solidFill>
                  </a:tcPr>
                </a:tc>
                <a:tc hMerge="1">
                  <a:txBody>
                    <a:bodyPr/>
                    <a:lstStyle/>
                    <a:p>
                      <a:endParaRPr lang="en-US" dirty="0"/>
                    </a:p>
                  </a:txBody>
                  <a:tcPr>
                    <a:solidFill>
                      <a:schemeClr val="tx2">
                        <a:lumMod val="75000"/>
                      </a:schemeClr>
                    </a:solidFill>
                  </a:tcPr>
                </a:tc>
                <a:tc hMerge="1">
                  <a:txBody>
                    <a:bodyPr/>
                    <a:lstStyle/>
                    <a:p>
                      <a:endParaRPr lang="en-US" dirty="0"/>
                    </a:p>
                  </a:txBody>
                  <a:tcPr>
                    <a:solidFill>
                      <a:schemeClr val="tx2">
                        <a:lumMod val="75000"/>
                      </a:schemeClr>
                    </a:solidFill>
                  </a:tcPr>
                </a:tc>
                <a:extLst>
                  <a:ext uri="{0D108BD9-81ED-4DB2-BD59-A6C34878D82A}">
                    <a16:rowId xmlns:a16="http://schemas.microsoft.com/office/drawing/2014/main" val="1000639373"/>
                  </a:ext>
                </a:extLst>
              </a:tr>
              <a:tr h="370840">
                <a:tc>
                  <a:txBody>
                    <a:bodyPr/>
                    <a:lstStyle/>
                    <a:p>
                      <a:r>
                        <a:rPr lang="en-US" sz="1200" b="1" dirty="0"/>
                        <a:t>CCT Lead</a:t>
                      </a:r>
                    </a:p>
                    <a:p>
                      <a:pPr marL="171450" indent="-171450">
                        <a:buFont typeface="Arial" panose="020B0604020202020204" pitchFamily="34" charset="0"/>
                        <a:buChar char="•"/>
                      </a:pPr>
                      <a:r>
                        <a:rPr lang="en-US" sz="1100" dirty="0"/>
                        <a:t>Receives initial report</a:t>
                      </a:r>
                    </a:p>
                    <a:p>
                      <a:pPr marL="171450" indent="-171450">
                        <a:buFont typeface="Arial" panose="020B0604020202020204" pitchFamily="34" charset="0"/>
                        <a:buChar char="•"/>
                      </a:pPr>
                      <a:r>
                        <a:rPr lang="en-US" sz="1100" dirty="0"/>
                        <a:t>Determines if situation meets crisis threshold</a:t>
                      </a:r>
                    </a:p>
                    <a:p>
                      <a:pPr marL="171450" indent="-171450">
                        <a:buFont typeface="Arial" panose="020B0604020202020204" pitchFamily="34" charset="0"/>
                        <a:buChar char="•"/>
                      </a:pPr>
                      <a:r>
                        <a:rPr lang="en-US" sz="1100" dirty="0"/>
                        <a:t>Guides overall response</a:t>
                      </a:r>
                    </a:p>
                    <a:p>
                      <a:pPr marL="171450" indent="-171450">
                        <a:buFont typeface="Arial" panose="020B0604020202020204" pitchFamily="34" charset="0"/>
                        <a:buChar char="•"/>
                      </a:pPr>
                      <a:r>
                        <a:rPr lang="en-US" sz="1100" dirty="0"/>
                        <a:t>May serve as spokesperson</a:t>
                      </a:r>
                    </a:p>
                  </a:txBody>
                  <a:tcPr/>
                </a:tc>
                <a:tc>
                  <a:txBody>
                    <a:bodyPr/>
                    <a:lstStyle/>
                    <a:p>
                      <a:r>
                        <a:rPr lang="en-US" sz="1100" dirty="0"/>
                        <a:t>Shari Arroyo-Brown</a:t>
                      </a:r>
                    </a:p>
                  </a:txBody>
                  <a:tcPr/>
                </a:tc>
                <a:tc>
                  <a:txBody>
                    <a:bodyPr/>
                    <a:lstStyle/>
                    <a:p>
                      <a:r>
                        <a:rPr lang="en-US" sz="1100" dirty="0"/>
                        <a:t>Micah Carr</a:t>
                      </a:r>
                    </a:p>
                  </a:txBody>
                  <a:tcPr/>
                </a:tc>
                <a:extLst>
                  <a:ext uri="{0D108BD9-81ED-4DB2-BD59-A6C34878D82A}">
                    <a16:rowId xmlns:a16="http://schemas.microsoft.com/office/drawing/2014/main" val="1757613322"/>
                  </a:ext>
                </a:extLst>
              </a:tr>
              <a:tr h="370840">
                <a:tc>
                  <a:txBody>
                    <a:bodyPr/>
                    <a:lstStyle/>
                    <a:p>
                      <a:r>
                        <a:rPr lang="en-US" sz="1200" b="1" dirty="0"/>
                        <a:t>Chief Branding Officer</a:t>
                      </a:r>
                    </a:p>
                    <a:p>
                      <a:pPr marL="171450" indent="-171450">
                        <a:buFont typeface="Arial" panose="020B0604020202020204" pitchFamily="34" charset="0"/>
                        <a:buChar char="•"/>
                      </a:pPr>
                      <a:r>
                        <a:rPr lang="en-US" sz="1100" dirty="0"/>
                        <a:t>Oversees response</a:t>
                      </a:r>
                    </a:p>
                    <a:p>
                      <a:pPr marL="171450" indent="-171450">
                        <a:buFont typeface="Arial" panose="020B0604020202020204" pitchFamily="34" charset="0"/>
                        <a:buChar char="•"/>
                      </a:pPr>
                      <a:r>
                        <a:rPr lang="en-US" sz="1100" dirty="0"/>
                        <a:t>Approves internal and external communications</a:t>
                      </a:r>
                    </a:p>
                    <a:p>
                      <a:pPr marL="171450" indent="-171450">
                        <a:buFont typeface="Arial" panose="020B0604020202020204" pitchFamily="34" charset="0"/>
                        <a:buChar char="•"/>
                      </a:pPr>
                      <a:r>
                        <a:rPr lang="en-US" sz="1100" dirty="0"/>
                        <a:t>Designates situational members to CCT</a:t>
                      </a:r>
                    </a:p>
                  </a:txBody>
                  <a:tcPr/>
                </a:tc>
                <a:tc>
                  <a:txBody>
                    <a:bodyPr/>
                    <a:lstStyle/>
                    <a:p>
                      <a:r>
                        <a:rPr lang="en-US" sz="1100" dirty="0"/>
                        <a:t>Micah Carr</a:t>
                      </a:r>
                    </a:p>
                  </a:txBody>
                  <a:tcPr/>
                </a:tc>
                <a:tc>
                  <a:txBody>
                    <a:bodyPr/>
                    <a:lstStyle/>
                    <a:p>
                      <a:r>
                        <a:rPr lang="en-US" sz="1100" dirty="0"/>
                        <a:t>Shari Arroyo-Brown</a:t>
                      </a:r>
                    </a:p>
                  </a:txBody>
                  <a:tcPr/>
                </a:tc>
                <a:extLst>
                  <a:ext uri="{0D108BD9-81ED-4DB2-BD59-A6C34878D82A}">
                    <a16:rowId xmlns:a16="http://schemas.microsoft.com/office/drawing/2014/main" val="1243376956"/>
                  </a:ext>
                </a:extLst>
              </a:tr>
              <a:tr h="370840">
                <a:tc>
                  <a:txBody>
                    <a:bodyPr/>
                    <a:lstStyle/>
                    <a:p>
                      <a:r>
                        <a:rPr lang="en-US" sz="1200" b="1" dirty="0"/>
                        <a:t>Crisis Communications Consultants</a:t>
                      </a:r>
                    </a:p>
                    <a:p>
                      <a:pPr marL="171450" indent="-171450">
                        <a:buFont typeface="Arial" panose="020B0604020202020204" pitchFamily="34" charset="0"/>
                        <a:buChar char="•"/>
                      </a:pPr>
                      <a:r>
                        <a:rPr lang="en-US" sz="1100" dirty="0"/>
                        <a:t>Advises on response strategy</a:t>
                      </a:r>
                    </a:p>
                    <a:p>
                      <a:pPr marL="171450" indent="-171450">
                        <a:buFont typeface="Arial" panose="020B0604020202020204" pitchFamily="34" charset="0"/>
                        <a:buChar char="•"/>
                      </a:pPr>
                      <a:r>
                        <a:rPr lang="en-US" sz="1100" dirty="0"/>
                        <a:t>Performs tasks directed by CCT Lead</a:t>
                      </a:r>
                    </a:p>
                  </a:txBody>
                  <a:tcPr/>
                </a:tc>
                <a:tc>
                  <a:txBody>
                    <a:bodyPr/>
                    <a:lstStyle/>
                    <a:p>
                      <a:r>
                        <a:rPr lang="en-US" sz="1100" dirty="0"/>
                        <a:t>Matthew Kagan</a:t>
                      </a:r>
                    </a:p>
                  </a:txBody>
                  <a:tcPr/>
                </a:tc>
                <a:tc>
                  <a:txBody>
                    <a:bodyPr/>
                    <a:lstStyle/>
                    <a:p>
                      <a:r>
                        <a:rPr lang="en-US" sz="1100" dirty="0"/>
                        <a:t>Brittany Crockett</a:t>
                      </a:r>
                    </a:p>
                    <a:p>
                      <a:r>
                        <a:rPr lang="en-US" sz="1100" dirty="0"/>
                        <a:t>Roy Behr</a:t>
                      </a:r>
                    </a:p>
                  </a:txBody>
                  <a:tcPr/>
                </a:tc>
                <a:extLst>
                  <a:ext uri="{0D108BD9-81ED-4DB2-BD59-A6C34878D82A}">
                    <a16:rowId xmlns:a16="http://schemas.microsoft.com/office/drawing/2014/main" val="1444954267"/>
                  </a:ext>
                </a:extLst>
              </a:tr>
              <a:tr h="370840">
                <a:tc>
                  <a:txBody>
                    <a:bodyPr/>
                    <a:lstStyle/>
                    <a:p>
                      <a:r>
                        <a:rPr lang="en-US" sz="1200" b="1" dirty="0"/>
                        <a:t>CEO</a:t>
                      </a:r>
                    </a:p>
                    <a:p>
                      <a:pPr marL="171450" indent="-171450">
                        <a:buFont typeface="Arial" panose="020B0604020202020204" pitchFamily="34" charset="0"/>
                        <a:buChar char="•"/>
                      </a:pPr>
                      <a:r>
                        <a:rPr lang="en-US" sz="1100" dirty="0"/>
                        <a:t>Approves highest priority communications</a:t>
                      </a:r>
                    </a:p>
                    <a:p>
                      <a:pPr marL="171450" indent="-171450">
                        <a:buFont typeface="Arial" panose="020B0604020202020204" pitchFamily="34" charset="0"/>
                        <a:buChar char="•"/>
                      </a:pPr>
                      <a:r>
                        <a:rPr lang="en-US" sz="1100" dirty="0"/>
                        <a:t>May serve as spokesperson</a:t>
                      </a:r>
                    </a:p>
                  </a:txBody>
                  <a:tcPr/>
                </a:tc>
                <a:tc>
                  <a:txBody>
                    <a:bodyPr/>
                    <a:lstStyle/>
                    <a:p>
                      <a:r>
                        <a:rPr lang="en-US" sz="1100" dirty="0"/>
                        <a:t>Nancy Roob</a:t>
                      </a:r>
                    </a:p>
                  </a:txBody>
                  <a:tcPr/>
                </a:tc>
                <a:tc>
                  <a:txBody>
                    <a:bodyPr/>
                    <a:lstStyle/>
                    <a:p>
                      <a:r>
                        <a:rPr lang="en-US" sz="1100" dirty="0"/>
                        <a:t>Tiffany Gueye/Albert Chung</a:t>
                      </a:r>
                    </a:p>
                  </a:txBody>
                  <a:tcPr/>
                </a:tc>
                <a:extLst>
                  <a:ext uri="{0D108BD9-81ED-4DB2-BD59-A6C34878D82A}">
                    <a16:rowId xmlns:a16="http://schemas.microsoft.com/office/drawing/2014/main" val="2562486940"/>
                  </a:ext>
                </a:extLst>
              </a:tr>
              <a:tr h="370840">
                <a:tc>
                  <a:txBody>
                    <a:bodyPr/>
                    <a:lstStyle/>
                    <a:p>
                      <a:r>
                        <a:rPr lang="en-US" sz="1200" b="1" dirty="0"/>
                        <a:t>Digital Communications</a:t>
                      </a:r>
                    </a:p>
                    <a:p>
                      <a:pPr marL="171450" indent="-171450">
                        <a:buFont typeface="Arial" panose="020B0604020202020204" pitchFamily="34" charset="0"/>
                        <a:buChar char="•"/>
                      </a:pPr>
                      <a:r>
                        <a:rPr lang="en-US" sz="1100" dirty="0"/>
                        <a:t>Monitors digital and traditional media</a:t>
                      </a:r>
                    </a:p>
                    <a:p>
                      <a:pPr marL="171450" indent="-171450">
                        <a:buFont typeface="Arial" panose="020B0604020202020204" pitchFamily="34" charset="0"/>
                        <a:buChar char="•"/>
                      </a:pPr>
                      <a:r>
                        <a:rPr lang="en-US" sz="1100" dirty="0"/>
                        <a:t>Posts responses on social media</a:t>
                      </a:r>
                    </a:p>
                  </a:txBody>
                  <a:tcPr/>
                </a:tc>
                <a:tc>
                  <a:txBody>
                    <a:bodyPr/>
                    <a:lstStyle/>
                    <a:p>
                      <a:r>
                        <a:rPr lang="en-US" sz="1100" dirty="0"/>
                        <a:t>Clea Bierman</a:t>
                      </a:r>
                    </a:p>
                  </a:txBody>
                  <a:tcPr/>
                </a:tc>
                <a:tc>
                  <a:txBody>
                    <a:bodyPr/>
                    <a:lstStyle/>
                    <a:p>
                      <a:r>
                        <a:rPr lang="en-US" sz="1100" dirty="0"/>
                        <a:t>Kerry Baumann</a:t>
                      </a:r>
                    </a:p>
                  </a:txBody>
                  <a:tcPr/>
                </a:tc>
                <a:extLst>
                  <a:ext uri="{0D108BD9-81ED-4DB2-BD59-A6C34878D82A}">
                    <a16:rowId xmlns:a16="http://schemas.microsoft.com/office/drawing/2014/main" val="2960595608"/>
                  </a:ext>
                </a:extLst>
              </a:tr>
            </a:tbl>
          </a:graphicData>
        </a:graphic>
      </p:graphicFrame>
      <p:sp>
        <p:nvSpPr>
          <p:cNvPr id="9" name="Text Placeholder 5">
            <a:extLst>
              <a:ext uri="{FF2B5EF4-FFF2-40B4-BE49-F238E27FC236}">
                <a16:creationId xmlns:a16="http://schemas.microsoft.com/office/drawing/2014/main" id="{F6020814-F1AF-4E88-8C9B-22E615A19163}"/>
              </a:ext>
            </a:extLst>
          </p:cNvPr>
          <p:cNvSpPr>
            <a:spLocks noGrp="1"/>
          </p:cNvSpPr>
          <p:nvPr>
            <p:ph type="body" sz="quarter" idx="13"/>
          </p:nvPr>
        </p:nvSpPr>
        <p:spPr>
          <a:xfrm>
            <a:off x="521952" y="959305"/>
            <a:ext cx="8396965" cy="367392"/>
          </a:xfrm>
        </p:spPr>
        <p:txBody>
          <a:bodyPr>
            <a:noAutofit/>
          </a:bodyPr>
          <a:lstStyle/>
          <a:p>
            <a:r>
              <a:rPr lang="en-US" sz="1800" dirty="0"/>
              <a:t>The </a:t>
            </a:r>
            <a:r>
              <a:rPr lang="en-US" sz="1800" i="1" dirty="0"/>
              <a:t>Crisis Communications Team includes permanent members, involved in responses to all crises, and situational members added on a case-by-case basis</a:t>
            </a:r>
          </a:p>
        </p:txBody>
      </p:sp>
    </p:spTree>
    <p:extLst>
      <p:ext uri="{BB962C8B-B14F-4D97-AF65-F5344CB8AC3E}">
        <p14:creationId xmlns:p14="http://schemas.microsoft.com/office/powerpoint/2010/main" val="1030451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93A2-3221-4B6D-A801-7CD1BDF357D9}"/>
              </a:ext>
            </a:extLst>
          </p:cNvPr>
          <p:cNvSpPr>
            <a:spLocks noGrp="1"/>
          </p:cNvSpPr>
          <p:nvPr>
            <p:ph type="title"/>
          </p:nvPr>
        </p:nvSpPr>
        <p:spPr>
          <a:xfrm>
            <a:off x="323557" y="265022"/>
            <a:ext cx="8820443" cy="396219"/>
          </a:xfrm>
        </p:spPr>
        <p:txBody>
          <a:bodyPr/>
          <a:lstStyle/>
          <a:p>
            <a:r>
              <a:rPr lang="en-US" dirty="0"/>
              <a:t>Crisis Communications Team: Situational Members</a:t>
            </a:r>
          </a:p>
        </p:txBody>
      </p:sp>
      <p:sp>
        <p:nvSpPr>
          <p:cNvPr id="4" name="Footer Placeholder 3">
            <a:extLst>
              <a:ext uri="{FF2B5EF4-FFF2-40B4-BE49-F238E27FC236}">
                <a16:creationId xmlns:a16="http://schemas.microsoft.com/office/drawing/2014/main" id="{60AB3553-708F-45CA-8D03-E44AFFE989DB}"/>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37AB5B72-D5E5-46FD-A40D-59F8FCE55EB1}"/>
              </a:ext>
            </a:extLst>
          </p:cNvPr>
          <p:cNvSpPr>
            <a:spLocks noGrp="1"/>
          </p:cNvSpPr>
          <p:nvPr>
            <p:ph type="sldNum" sz="quarter" idx="12"/>
          </p:nvPr>
        </p:nvSpPr>
        <p:spPr/>
        <p:txBody>
          <a:bodyPr/>
          <a:lstStyle/>
          <a:p>
            <a:fld id="{D4F07938-7C1D-46C8-9535-2404A951C984}" type="slidenum">
              <a:rPr lang="en-US" smtClean="0"/>
              <a:t>22</a:t>
            </a:fld>
            <a:endParaRPr lang="en-US" dirty="0"/>
          </a:p>
        </p:txBody>
      </p:sp>
      <p:sp>
        <p:nvSpPr>
          <p:cNvPr id="11" name="Text Placeholder 10">
            <a:extLst>
              <a:ext uri="{FF2B5EF4-FFF2-40B4-BE49-F238E27FC236}">
                <a16:creationId xmlns:a16="http://schemas.microsoft.com/office/drawing/2014/main" id="{84B348F5-B83F-44EC-BFDC-4CAA0383F009}"/>
              </a:ext>
            </a:extLst>
          </p:cNvPr>
          <p:cNvSpPr>
            <a:spLocks noGrp="1"/>
          </p:cNvSpPr>
          <p:nvPr>
            <p:ph type="body" sz="quarter" idx="15"/>
          </p:nvPr>
        </p:nvSpPr>
        <p:spPr/>
        <p:txBody>
          <a:bodyPr/>
          <a:lstStyle/>
          <a:p>
            <a:endParaRPr lang="en-US" dirty="0"/>
          </a:p>
        </p:txBody>
      </p:sp>
      <p:graphicFrame>
        <p:nvGraphicFramePr>
          <p:cNvPr id="7" name="Table 14">
            <a:extLst>
              <a:ext uri="{FF2B5EF4-FFF2-40B4-BE49-F238E27FC236}">
                <a16:creationId xmlns:a16="http://schemas.microsoft.com/office/drawing/2014/main" id="{573C98F2-E815-4B3A-AD29-5169566A9EC0}"/>
              </a:ext>
            </a:extLst>
          </p:cNvPr>
          <p:cNvGraphicFramePr>
            <a:graphicFrameLocks noGrp="1"/>
          </p:cNvGraphicFramePr>
          <p:nvPr>
            <p:ph sz="half" idx="22"/>
            <p:extLst>
              <p:ext uri="{D42A27DB-BD31-4B8C-83A1-F6EECF244321}">
                <p14:modId xmlns:p14="http://schemas.microsoft.com/office/powerpoint/2010/main" val="3196935563"/>
              </p:ext>
            </p:extLst>
          </p:nvPr>
        </p:nvGraphicFramePr>
        <p:xfrm>
          <a:off x="731520" y="1666875"/>
          <a:ext cx="7772400" cy="4160520"/>
        </p:xfrm>
        <a:graphic>
          <a:graphicData uri="http://schemas.openxmlformats.org/drawingml/2006/table">
            <a:tbl>
              <a:tblPr firstRow="1" bandRow="1">
                <a:tableStyleId>{5C22544A-7EE6-4342-B048-85BDC9FD1C3A}</a:tableStyleId>
              </a:tblPr>
              <a:tblGrid>
                <a:gridCol w="4678839">
                  <a:extLst>
                    <a:ext uri="{9D8B030D-6E8A-4147-A177-3AD203B41FA5}">
                      <a16:colId xmlns:a16="http://schemas.microsoft.com/office/drawing/2014/main" val="402976635"/>
                    </a:ext>
                  </a:extLst>
                </a:gridCol>
                <a:gridCol w="1628773">
                  <a:extLst>
                    <a:ext uri="{9D8B030D-6E8A-4147-A177-3AD203B41FA5}">
                      <a16:colId xmlns:a16="http://schemas.microsoft.com/office/drawing/2014/main" val="1631216248"/>
                    </a:ext>
                  </a:extLst>
                </a:gridCol>
                <a:gridCol w="1464788">
                  <a:extLst>
                    <a:ext uri="{9D8B030D-6E8A-4147-A177-3AD203B41FA5}">
                      <a16:colId xmlns:a16="http://schemas.microsoft.com/office/drawing/2014/main" val="1351283861"/>
                    </a:ext>
                  </a:extLst>
                </a:gridCol>
              </a:tblGrid>
              <a:tr h="0">
                <a:tc gridSpan="3">
                  <a:txBody>
                    <a:bodyPr/>
                    <a:lstStyle/>
                    <a:p>
                      <a:r>
                        <a:rPr lang="en-US" sz="1400" b="0" dirty="0"/>
                        <a:t>Crisis Communications Team</a:t>
                      </a:r>
                    </a:p>
                    <a:p>
                      <a:r>
                        <a:rPr lang="en-US" sz="1400" b="0" dirty="0"/>
                        <a:t>Situational Members/Roles                                  Primary               Alternate</a:t>
                      </a:r>
                    </a:p>
                  </a:txBody>
                  <a:tcPr>
                    <a:solidFill>
                      <a:schemeClr val="tx2">
                        <a:lumMod val="75000"/>
                      </a:schemeClr>
                    </a:solidFill>
                  </a:tcPr>
                </a:tc>
                <a:tc hMerge="1">
                  <a:txBody>
                    <a:bodyPr/>
                    <a:lstStyle/>
                    <a:p>
                      <a:endParaRPr lang="en-US" dirty="0"/>
                    </a:p>
                  </a:txBody>
                  <a:tcPr>
                    <a:solidFill>
                      <a:schemeClr val="tx2">
                        <a:lumMod val="75000"/>
                      </a:schemeClr>
                    </a:solidFill>
                  </a:tcPr>
                </a:tc>
                <a:tc hMerge="1">
                  <a:txBody>
                    <a:bodyPr/>
                    <a:lstStyle/>
                    <a:p>
                      <a:endParaRPr lang="en-US" dirty="0"/>
                    </a:p>
                  </a:txBody>
                  <a:tcPr>
                    <a:solidFill>
                      <a:schemeClr val="tx2">
                        <a:lumMod val="75000"/>
                      </a:schemeClr>
                    </a:solidFill>
                  </a:tcPr>
                </a:tc>
                <a:extLst>
                  <a:ext uri="{0D108BD9-81ED-4DB2-BD59-A6C34878D82A}">
                    <a16:rowId xmlns:a16="http://schemas.microsoft.com/office/drawing/2014/main" val="1000639373"/>
                  </a:ext>
                </a:extLst>
              </a:tr>
              <a:tr h="370840">
                <a:tc>
                  <a:txBody>
                    <a:bodyPr/>
                    <a:lstStyle/>
                    <a:p>
                      <a:r>
                        <a:rPr lang="en-US" sz="1200" b="1" dirty="0"/>
                        <a:t>“First Reporters” (Usually MDs)</a:t>
                      </a:r>
                    </a:p>
                    <a:p>
                      <a:pPr marL="171450" indent="-171450">
                        <a:buFont typeface="Arial" panose="020B0604020202020204" pitchFamily="34" charset="0"/>
                        <a:buChar char="•"/>
                      </a:pPr>
                      <a:r>
                        <a:rPr lang="en-US" sz="1100" dirty="0"/>
                        <a:t>First learns of potential crisis and reports ASAP to Susan/Micah via email and text</a:t>
                      </a:r>
                    </a:p>
                    <a:p>
                      <a:pPr marL="171450" indent="-171450">
                        <a:buFont typeface="Arial" panose="020B0604020202020204" pitchFamily="34" charset="0"/>
                        <a:buChar char="•"/>
                      </a:pPr>
                      <a:r>
                        <a:rPr lang="en-US" sz="1100" dirty="0"/>
                        <a:t>Gathers key facts and completes crisis incident fact sheet</a:t>
                      </a:r>
                    </a:p>
                    <a:p>
                      <a:pPr marL="171450" indent="-171450">
                        <a:buFont typeface="Arial" panose="020B0604020202020204" pitchFamily="34" charset="0"/>
                        <a:buChar char="•"/>
                      </a:pPr>
                      <a:r>
                        <a:rPr lang="en-US" sz="1100" dirty="0"/>
                        <a:t>Supports investees and connects with resources</a:t>
                      </a:r>
                    </a:p>
                  </a:txBody>
                  <a:tcPr/>
                </a:tc>
                <a:tc>
                  <a:txBody>
                    <a:bodyPr/>
                    <a:lstStyle/>
                    <a:p>
                      <a:r>
                        <a:rPr lang="en-US" sz="1100" dirty="0"/>
                        <a:t>Varies </a:t>
                      </a:r>
                    </a:p>
                    <a:p>
                      <a:r>
                        <a:rPr lang="en-US" sz="1100" dirty="0"/>
                        <a:t>(Usually MD)</a:t>
                      </a:r>
                    </a:p>
                    <a:p>
                      <a:endParaRPr lang="en-US" sz="1100" dirty="0"/>
                    </a:p>
                  </a:txBody>
                  <a:tcPr/>
                </a:tc>
                <a:tc>
                  <a:txBody>
                    <a:bodyPr/>
                    <a:lstStyle/>
                    <a:p>
                      <a:endParaRPr lang="en-US" sz="1100" dirty="0"/>
                    </a:p>
                  </a:txBody>
                  <a:tcPr/>
                </a:tc>
                <a:extLst>
                  <a:ext uri="{0D108BD9-81ED-4DB2-BD59-A6C34878D82A}">
                    <a16:rowId xmlns:a16="http://schemas.microsoft.com/office/drawing/2014/main" val="1757613322"/>
                  </a:ext>
                </a:extLst>
              </a:tr>
              <a:tr h="370840">
                <a:tc>
                  <a:txBody>
                    <a:bodyPr/>
                    <a:lstStyle/>
                    <a:p>
                      <a:pPr marL="0" indent="0">
                        <a:buFont typeface="Arial" panose="020B0604020202020204" pitchFamily="34" charset="0"/>
                        <a:buNone/>
                      </a:pPr>
                      <a:r>
                        <a:rPr lang="en-US" sz="1100" b="1" dirty="0"/>
                        <a:t>Function Team Leads</a:t>
                      </a:r>
                    </a:p>
                    <a:p>
                      <a:pPr marL="171450" indent="-171450">
                        <a:buFont typeface="Arial" panose="020B0604020202020204" pitchFamily="34" charset="0"/>
                        <a:buChar char="•"/>
                      </a:pPr>
                      <a:r>
                        <a:rPr lang="en-US" sz="1100" b="0" dirty="0"/>
                        <a:t>The individual designated to the CCT will vary, but one will always participate</a:t>
                      </a:r>
                    </a:p>
                  </a:txBody>
                  <a:tcPr/>
                </a:tc>
                <a:tc>
                  <a:txBody>
                    <a:bodyPr/>
                    <a:lstStyle/>
                    <a:p>
                      <a:r>
                        <a:rPr lang="en-US" sz="1100" dirty="0"/>
                        <a:t>Jim Shelton</a:t>
                      </a:r>
                    </a:p>
                    <a:p>
                      <a:r>
                        <a:rPr lang="en-US" sz="1100" dirty="0"/>
                        <a:t>Tiffany Gueye</a:t>
                      </a:r>
                    </a:p>
                    <a:p>
                      <a:r>
                        <a:rPr lang="en-US" sz="1100" dirty="0"/>
                        <a:t>Tia Breakley</a:t>
                      </a:r>
                    </a:p>
                  </a:txBody>
                  <a:tcPr/>
                </a:tc>
                <a:tc>
                  <a:txBody>
                    <a:bodyPr/>
                    <a:lstStyle/>
                    <a:p>
                      <a:endParaRPr lang="en-US" sz="1100" dirty="0"/>
                    </a:p>
                  </a:txBody>
                  <a:tcPr/>
                </a:tc>
                <a:extLst>
                  <a:ext uri="{0D108BD9-81ED-4DB2-BD59-A6C34878D82A}">
                    <a16:rowId xmlns:a16="http://schemas.microsoft.com/office/drawing/2014/main" val="2630180460"/>
                  </a:ext>
                </a:extLst>
              </a:tr>
              <a:tr h="370840">
                <a:tc>
                  <a:txBody>
                    <a:bodyPr/>
                    <a:lstStyle/>
                    <a:p>
                      <a:r>
                        <a:rPr lang="en-US" sz="1200" b="1" dirty="0"/>
                        <a:t>Legal Counsel</a:t>
                      </a:r>
                    </a:p>
                    <a:p>
                      <a:pPr marL="171450" indent="-171450">
                        <a:buFont typeface="Arial" panose="020B0604020202020204" pitchFamily="34" charset="0"/>
                        <a:buChar char="•"/>
                      </a:pPr>
                      <a:r>
                        <a:rPr lang="en-US" sz="1100" dirty="0"/>
                        <a:t>Advises on legal, compliance, and regulatory issues</a:t>
                      </a:r>
                    </a:p>
                  </a:txBody>
                  <a:tcPr/>
                </a:tc>
                <a:tc>
                  <a:txBody>
                    <a:bodyPr/>
                    <a:lstStyle/>
                    <a:p>
                      <a:r>
                        <a:rPr lang="en-US" sz="1100" b="0" dirty="0"/>
                        <a:t>Robin</a:t>
                      </a:r>
                    </a:p>
                  </a:txBody>
                  <a:tcPr/>
                </a:tc>
                <a:tc>
                  <a:txBody>
                    <a:bodyPr/>
                    <a:lstStyle/>
                    <a:p>
                      <a:r>
                        <a:rPr lang="en-US" sz="1100" dirty="0"/>
                        <a:t>Ralph Stefano</a:t>
                      </a:r>
                    </a:p>
                  </a:txBody>
                  <a:tcPr/>
                </a:tc>
                <a:extLst>
                  <a:ext uri="{0D108BD9-81ED-4DB2-BD59-A6C34878D82A}">
                    <a16:rowId xmlns:a16="http://schemas.microsoft.com/office/drawing/2014/main" val="1531689866"/>
                  </a:ext>
                </a:extLst>
              </a:tr>
              <a:tr h="370840">
                <a:tc>
                  <a:txBody>
                    <a:bodyPr/>
                    <a:lstStyle/>
                    <a:p>
                      <a:r>
                        <a:rPr lang="en-US" sz="1200" b="1" dirty="0"/>
                        <a:t>Investor Relations</a:t>
                      </a:r>
                    </a:p>
                    <a:p>
                      <a:pPr marL="171450" indent="-171450">
                        <a:buFont typeface="Arial" panose="020B0604020202020204" pitchFamily="34" charset="0"/>
                        <a:buChar char="•"/>
                      </a:pPr>
                      <a:r>
                        <a:rPr lang="en-US" sz="1100" dirty="0"/>
                        <a:t>Joins when crisis directly involves partners</a:t>
                      </a:r>
                    </a:p>
                    <a:p>
                      <a:pPr marL="171450" indent="-171450">
                        <a:buFont typeface="Arial" panose="020B0604020202020204" pitchFamily="34" charset="0"/>
                        <a:buChar char="•"/>
                      </a:pPr>
                      <a:r>
                        <a:rPr lang="en-US" sz="1100" dirty="0"/>
                        <a:t>Advises CEO on partner communications</a:t>
                      </a:r>
                    </a:p>
                  </a:txBody>
                  <a:tcPr/>
                </a:tc>
                <a:tc>
                  <a:txBody>
                    <a:bodyPr/>
                    <a:lstStyle/>
                    <a:p>
                      <a:r>
                        <a:rPr lang="en-US" sz="1100" dirty="0"/>
                        <a:t>Tia Breakley</a:t>
                      </a:r>
                    </a:p>
                  </a:txBody>
                  <a:tcPr/>
                </a:tc>
                <a:tc>
                  <a:txBody>
                    <a:bodyPr/>
                    <a:lstStyle/>
                    <a:p>
                      <a:r>
                        <a:rPr lang="en-US" sz="1100" dirty="0"/>
                        <a:t>TBD</a:t>
                      </a:r>
                    </a:p>
                  </a:txBody>
                  <a:tcPr/>
                </a:tc>
                <a:extLst>
                  <a:ext uri="{0D108BD9-81ED-4DB2-BD59-A6C34878D82A}">
                    <a16:rowId xmlns:a16="http://schemas.microsoft.com/office/drawing/2014/main" val="1243376956"/>
                  </a:ext>
                </a:extLst>
              </a:tr>
              <a:tr h="370840">
                <a:tc>
                  <a:txBody>
                    <a:bodyPr/>
                    <a:lstStyle/>
                    <a:p>
                      <a:r>
                        <a:rPr lang="en-US" sz="1200" b="1" dirty="0"/>
                        <a:t>Human Relations</a:t>
                      </a:r>
                    </a:p>
                    <a:p>
                      <a:pPr marL="171450" indent="-171450">
                        <a:buFont typeface="Arial" panose="020B0604020202020204" pitchFamily="34" charset="0"/>
                        <a:buChar char="•"/>
                      </a:pPr>
                      <a:r>
                        <a:rPr lang="en-US" sz="1100" dirty="0"/>
                        <a:t>Joins when crisis involves HR issues</a:t>
                      </a:r>
                    </a:p>
                  </a:txBody>
                  <a:tcPr/>
                </a:tc>
                <a:tc>
                  <a:txBody>
                    <a:bodyPr/>
                    <a:lstStyle/>
                    <a:p>
                      <a:r>
                        <a:rPr lang="en-US" sz="1100" dirty="0"/>
                        <a:t>Carol Pledger</a:t>
                      </a:r>
                    </a:p>
                  </a:txBody>
                  <a:tcPr/>
                </a:tc>
                <a:tc>
                  <a:txBody>
                    <a:bodyPr/>
                    <a:lstStyle/>
                    <a:p>
                      <a:endParaRPr lang="en-US" sz="1100" dirty="0"/>
                    </a:p>
                  </a:txBody>
                  <a:tcPr/>
                </a:tc>
                <a:extLst>
                  <a:ext uri="{0D108BD9-81ED-4DB2-BD59-A6C34878D82A}">
                    <a16:rowId xmlns:a16="http://schemas.microsoft.com/office/drawing/2014/main" val="3565063274"/>
                  </a:ext>
                </a:extLst>
              </a:tr>
              <a:tr h="370840">
                <a:tc>
                  <a:txBody>
                    <a:bodyPr/>
                    <a:lstStyle/>
                    <a:p>
                      <a:r>
                        <a:rPr lang="en-US" sz="1200" b="1" dirty="0"/>
                        <a:t>Administration/Finance</a:t>
                      </a:r>
                    </a:p>
                    <a:p>
                      <a:pPr marL="171450" indent="-171450">
                        <a:buFont typeface="Arial" panose="020B0604020202020204" pitchFamily="34" charset="0"/>
                        <a:buChar char="•"/>
                      </a:pPr>
                      <a:r>
                        <a:rPr lang="en-US" sz="1100" dirty="0"/>
                        <a:t>Joins when crisis involves financial/compliance issues or potential conflict with grant agreements</a:t>
                      </a:r>
                    </a:p>
                  </a:txBody>
                  <a:tcPr/>
                </a:tc>
                <a:tc>
                  <a:txBody>
                    <a:bodyPr/>
                    <a:lstStyle/>
                    <a:p>
                      <a:r>
                        <a:rPr lang="en-US" sz="1100" dirty="0"/>
                        <a:t>Ralph Stefano</a:t>
                      </a:r>
                    </a:p>
                  </a:txBody>
                  <a:tcPr/>
                </a:tc>
                <a:tc>
                  <a:txBody>
                    <a:bodyPr/>
                    <a:lstStyle/>
                    <a:p>
                      <a:r>
                        <a:rPr lang="en-US" sz="1100" dirty="0"/>
                        <a:t>Tiffany Gueye/ Carol Pledger</a:t>
                      </a:r>
                    </a:p>
                  </a:txBody>
                  <a:tcPr/>
                </a:tc>
                <a:extLst>
                  <a:ext uri="{0D108BD9-81ED-4DB2-BD59-A6C34878D82A}">
                    <a16:rowId xmlns:a16="http://schemas.microsoft.com/office/drawing/2014/main" val="1444954267"/>
                  </a:ext>
                </a:extLst>
              </a:tr>
            </a:tbl>
          </a:graphicData>
        </a:graphic>
      </p:graphicFrame>
      <p:sp>
        <p:nvSpPr>
          <p:cNvPr id="14" name="Text Placeholder 5">
            <a:extLst>
              <a:ext uri="{FF2B5EF4-FFF2-40B4-BE49-F238E27FC236}">
                <a16:creationId xmlns:a16="http://schemas.microsoft.com/office/drawing/2014/main" id="{504A5022-7DCA-4BAE-80E1-05A122728508}"/>
              </a:ext>
            </a:extLst>
          </p:cNvPr>
          <p:cNvSpPr>
            <a:spLocks noGrp="1"/>
          </p:cNvSpPr>
          <p:nvPr>
            <p:ph type="body" sz="quarter" idx="13"/>
          </p:nvPr>
        </p:nvSpPr>
        <p:spPr>
          <a:xfrm>
            <a:off x="521952" y="931169"/>
            <a:ext cx="8214079" cy="367392"/>
          </a:xfrm>
        </p:spPr>
        <p:txBody>
          <a:bodyPr>
            <a:noAutofit/>
          </a:bodyPr>
          <a:lstStyle/>
          <a:p>
            <a:r>
              <a:rPr lang="en-US" sz="1800" i="1" dirty="0"/>
              <a:t>The CCT will add members with specific knowledge of the situation or skills needed to inform the response</a:t>
            </a:r>
          </a:p>
        </p:txBody>
      </p:sp>
    </p:spTree>
    <p:extLst>
      <p:ext uri="{BB962C8B-B14F-4D97-AF65-F5344CB8AC3E}">
        <p14:creationId xmlns:p14="http://schemas.microsoft.com/office/powerpoint/2010/main" val="1421895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D0FE-8144-49FA-A7C6-C8D667D733B5}"/>
              </a:ext>
            </a:extLst>
          </p:cNvPr>
          <p:cNvSpPr>
            <a:spLocks noGrp="1"/>
          </p:cNvSpPr>
          <p:nvPr>
            <p:ph type="title"/>
          </p:nvPr>
        </p:nvSpPr>
        <p:spPr/>
        <p:txBody>
          <a:bodyPr/>
          <a:lstStyle/>
          <a:p>
            <a:r>
              <a:rPr lang="en-US" dirty="0"/>
              <a:t>Guidelines about When and How to Respond</a:t>
            </a:r>
          </a:p>
        </p:txBody>
      </p:sp>
      <p:sp>
        <p:nvSpPr>
          <p:cNvPr id="4" name="Footer Placeholder 3">
            <a:extLst>
              <a:ext uri="{FF2B5EF4-FFF2-40B4-BE49-F238E27FC236}">
                <a16:creationId xmlns:a16="http://schemas.microsoft.com/office/drawing/2014/main" id="{4789C1C2-424B-4B6E-ADD8-30A22F901E39}"/>
              </a:ext>
            </a:extLst>
          </p:cNvPr>
          <p:cNvSpPr>
            <a:spLocks noGrp="1"/>
          </p:cNvSpPr>
          <p:nvPr>
            <p:ph type="ftr" sz="quarter" idx="11"/>
          </p:nvPr>
        </p:nvSpPr>
        <p:spPr/>
        <p:txBody>
          <a:bodyPr/>
          <a:lstStyle/>
          <a:p>
            <a:pPr>
              <a:spcAft>
                <a:spcPts val="300"/>
              </a:spcAft>
            </a:pPr>
            <a:r>
              <a:rPr lang="en-US" dirty="0"/>
              <a:t>CONFIDENTIAL DO NOT DISTRIBUTE</a:t>
            </a:r>
            <a:endParaRPr lang="en-US" sz="800" dirty="0"/>
          </a:p>
        </p:txBody>
      </p:sp>
      <p:sp>
        <p:nvSpPr>
          <p:cNvPr id="5" name="Slide Number Placeholder 4">
            <a:extLst>
              <a:ext uri="{FF2B5EF4-FFF2-40B4-BE49-F238E27FC236}">
                <a16:creationId xmlns:a16="http://schemas.microsoft.com/office/drawing/2014/main" id="{05CC07F3-3B51-47FA-9D4A-C1CBBBD334D0}"/>
              </a:ext>
            </a:extLst>
          </p:cNvPr>
          <p:cNvSpPr>
            <a:spLocks noGrp="1"/>
          </p:cNvSpPr>
          <p:nvPr>
            <p:ph type="sldNum" sz="quarter" idx="12"/>
          </p:nvPr>
        </p:nvSpPr>
        <p:spPr/>
        <p:txBody>
          <a:bodyPr/>
          <a:lstStyle/>
          <a:p>
            <a:fld id="{D4F07938-7C1D-46C8-9535-2404A951C984}" type="slidenum">
              <a:rPr lang="en-US" smtClean="0"/>
              <a:t>23</a:t>
            </a:fld>
            <a:endParaRPr lang="en-US" dirty="0"/>
          </a:p>
        </p:txBody>
      </p:sp>
      <p:sp>
        <p:nvSpPr>
          <p:cNvPr id="6" name="Text Placeholder 5">
            <a:extLst>
              <a:ext uri="{FF2B5EF4-FFF2-40B4-BE49-F238E27FC236}">
                <a16:creationId xmlns:a16="http://schemas.microsoft.com/office/drawing/2014/main" id="{F789EEF6-ADC3-4EC2-9FB9-7176689EACBB}"/>
              </a:ext>
            </a:extLst>
          </p:cNvPr>
          <p:cNvSpPr>
            <a:spLocks noGrp="1"/>
          </p:cNvSpPr>
          <p:nvPr>
            <p:ph type="body" sz="quarter" idx="13"/>
          </p:nvPr>
        </p:nvSpPr>
        <p:spPr>
          <a:xfrm>
            <a:off x="521953" y="931169"/>
            <a:ext cx="8088312" cy="367392"/>
          </a:xfrm>
        </p:spPr>
        <p:txBody>
          <a:bodyPr/>
          <a:lstStyle/>
          <a:p>
            <a:r>
              <a:rPr lang="en-US" sz="1800" i="1" dirty="0"/>
              <a:t>Generally respond to any crisis rated 3-5 on assessment scale, although final decisions depend on severity and clarity of situation</a:t>
            </a:r>
          </a:p>
        </p:txBody>
      </p:sp>
      <p:sp>
        <p:nvSpPr>
          <p:cNvPr id="9" name="Rectangle 8">
            <a:extLst>
              <a:ext uri="{FF2B5EF4-FFF2-40B4-BE49-F238E27FC236}">
                <a16:creationId xmlns:a16="http://schemas.microsoft.com/office/drawing/2014/main" id="{2D11F995-6CC2-4644-B927-72C3C70283B5}"/>
              </a:ext>
            </a:extLst>
          </p:cNvPr>
          <p:cNvSpPr/>
          <p:nvPr/>
        </p:nvSpPr>
        <p:spPr>
          <a:xfrm>
            <a:off x="394790" y="1620901"/>
            <a:ext cx="4177210" cy="3962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DO respond when…</a:t>
            </a:r>
          </a:p>
        </p:txBody>
      </p:sp>
      <p:sp>
        <p:nvSpPr>
          <p:cNvPr id="10" name="Rectangle 9">
            <a:extLst>
              <a:ext uri="{FF2B5EF4-FFF2-40B4-BE49-F238E27FC236}">
                <a16:creationId xmlns:a16="http://schemas.microsoft.com/office/drawing/2014/main" id="{A2BB9C40-B199-4509-A41C-0D03CE434EC9}"/>
              </a:ext>
            </a:extLst>
          </p:cNvPr>
          <p:cNvSpPr/>
          <p:nvPr/>
        </p:nvSpPr>
        <p:spPr>
          <a:xfrm>
            <a:off x="4760327" y="1634969"/>
            <a:ext cx="4177210" cy="3673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DON’T respond when…</a:t>
            </a:r>
          </a:p>
        </p:txBody>
      </p:sp>
      <p:sp>
        <p:nvSpPr>
          <p:cNvPr id="11" name="Rectangle 10">
            <a:extLst>
              <a:ext uri="{FF2B5EF4-FFF2-40B4-BE49-F238E27FC236}">
                <a16:creationId xmlns:a16="http://schemas.microsoft.com/office/drawing/2014/main" id="{A53D34DC-DBFB-4C6E-8B0E-8F3C3ED29610}"/>
              </a:ext>
            </a:extLst>
          </p:cNvPr>
          <p:cNvSpPr/>
          <p:nvPr/>
        </p:nvSpPr>
        <p:spPr>
          <a:xfrm>
            <a:off x="394790" y="1992625"/>
            <a:ext cx="4174467" cy="407055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82880" indent="-182880">
              <a:spcBef>
                <a:spcPts val="600"/>
              </a:spcBef>
              <a:spcAft>
                <a:spcPts val="400"/>
              </a:spcAft>
              <a:buFont typeface="Arial" panose="020B0604020202020204" pitchFamily="34" charset="0"/>
              <a:buChar char="•"/>
            </a:pPr>
            <a:r>
              <a:rPr lang="en-US" sz="1300" dirty="0">
                <a:solidFill>
                  <a:schemeClr val="tx1"/>
                </a:solidFill>
              </a:rPr>
              <a:t>The crisis has the potential to damage Blue Meridian Partners’ reputation and standing as a philanthropic leader.</a:t>
            </a:r>
          </a:p>
          <a:p>
            <a:pPr marL="182880" indent="-182880">
              <a:spcBef>
                <a:spcPts val="600"/>
              </a:spcBef>
              <a:spcAft>
                <a:spcPts val="400"/>
              </a:spcAft>
              <a:buFont typeface="Arial" panose="020B0604020202020204" pitchFamily="34" charset="0"/>
              <a:buChar char="•"/>
            </a:pPr>
            <a:r>
              <a:rPr lang="en-US" sz="1300" dirty="0">
                <a:solidFill>
                  <a:schemeClr val="tx1"/>
                </a:solidFill>
              </a:rPr>
              <a:t>A misleading or incomplete narrative is emerging.</a:t>
            </a:r>
          </a:p>
          <a:p>
            <a:pPr marL="182880" indent="-182880">
              <a:spcBef>
                <a:spcPts val="600"/>
              </a:spcBef>
              <a:spcAft>
                <a:spcPts val="400"/>
              </a:spcAft>
              <a:buFont typeface="Arial" panose="020B0604020202020204" pitchFamily="34" charset="0"/>
              <a:buChar char="•"/>
            </a:pPr>
            <a:r>
              <a:rPr lang="en-US" sz="1300" dirty="0">
                <a:solidFill>
                  <a:schemeClr val="tx1"/>
                </a:solidFill>
              </a:rPr>
              <a:t>Media coverage involving Blue Meridian is imminent, even if published by a hostile source (may release abbreviated statement to hostile outlets).</a:t>
            </a:r>
          </a:p>
          <a:p>
            <a:pPr>
              <a:spcBef>
                <a:spcPts val="600"/>
              </a:spcBef>
              <a:spcAft>
                <a:spcPts val="400"/>
              </a:spcAft>
            </a:pPr>
            <a:r>
              <a:rPr lang="en-US" sz="1400" dirty="0">
                <a:solidFill>
                  <a:schemeClr val="tx1"/>
                </a:solidFill>
              </a:rPr>
              <a:t>If crisis is rated 1-2, consider responding when:</a:t>
            </a:r>
          </a:p>
          <a:p>
            <a:pPr marL="182880">
              <a:spcBef>
                <a:spcPts val="600"/>
              </a:spcBef>
              <a:spcAft>
                <a:spcPts val="400"/>
              </a:spcAft>
            </a:pPr>
            <a:r>
              <a:rPr lang="en-US" sz="1300" dirty="0">
                <a:solidFill>
                  <a:schemeClr val="tx1"/>
                </a:solidFill>
              </a:rPr>
              <a:t>Potential response supports issues Blue Meridian cares deeply about.</a:t>
            </a:r>
          </a:p>
          <a:p>
            <a:pPr marL="182880">
              <a:spcBef>
                <a:spcPts val="600"/>
              </a:spcBef>
              <a:spcAft>
                <a:spcPts val="400"/>
              </a:spcAft>
            </a:pPr>
            <a:r>
              <a:rPr lang="en-US" sz="1300" dirty="0">
                <a:solidFill>
                  <a:schemeClr val="tx1"/>
                </a:solidFill>
              </a:rPr>
              <a:t>Peers are responding, so a Blue Meridian non-response would be conspicuous.</a:t>
            </a:r>
          </a:p>
          <a:p>
            <a:pPr marL="182880">
              <a:spcBef>
                <a:spcPts val="600"/>
              </a:spcBef>
              <a:spcAft>
                <a:spcPts val="400"/>
              </a:spcAft>
            </a:pPr>
            <a:r>
              <a:rPr lang="en-US" sz="1300" dirty="0">
                <a:solidFill>
                  <a:schemeClr val="tx1"/>
                </a:solidFill>
              </a:rPr>
              <a:t>Response offers opportunity to support valued staff, partners, or investees, with little organizational risk.</a:t>
            </a:r>
          </a:p>
          <a:p>
            <a:pPr marL="182880" indent="-182880">
              <a:spcBef>
                <a:spcPts val="600"/>
              </a:spcBef>
              <a:spcAft>
                <a:spcPts val="400"/>
              </a:spcAft>
              <a:buFont typeface="Arial" panose="020B0604020202020204" pitchFamily="34" charset="0"/>
              <a:buChar char="•"/>
            </a:pPr>
            <a:endParaRPr lang="en-US" sz="1600" dirty="0">
              <a:solidFill>
                <a:schemeClr val="tx1"/>
              </a:solidFill>
            </a:endParaRPr>
          </a:p>
        </p:txBody>
      </p:sp>
      <p:sp>
        <p:nvSpPr>
          <p:cNvPr id="12" name="Rectangle 11">
            <a:extLst>
              <a:ext uri="{FF2B5EF4-FFF2-40B4-BE49-F238E27FC236}">
                <a16:creationId xmlns:a16="http://schemas.microsoft.com/office/drawing/2014/main" id="{F800D519-39C1-42B1-84E7-4945AB623C70}"/>
              </a:ext>
            </a:extLst>
          </p:cNvPr>
          <p:cNvSpPr/>
          <p:nvPr/>
        </p:nvSpPr>
        <p:spPr>
          <a:xfrm>
            <a:off x="4760327" y="1992624"/>
            <a:ext cx="4174467" cy="407055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Bef>
                <a:spcPts val="600"/>
              </a:spcBef>
              <a:spcAft>
                <a:spcPts val="400"/>
              </a:spcAft>
              <a:buFont typeface="Arial" panose="020B0604020202020204" pitchFamily="34" charset="0"/>
              <a:buChar char="•"/>
            </a:pPr>
            <a:r>
              <a:rPr lang="en-US" sz="1600" dirty="0">
                <a:solidFill>
                  <a:schemeClr val="tx1"/>
                </a:solidFill>
              </a:rPr>
              <a:t>Blue Meridian Partners is not involved and is unlikely to become involved. </a:t>
            </a:r>
          </a:p>
          <a:p>
            <a:pPr marL="171450" indent="-171450">
              <a:spcBef>
                <a:spcPts val="600"/>
              </a:spcBef>
              <a:spcAft>
                <a:spcPts val="400"/>
              </a:spcAft>
              <a:buFont typeface="Arial" panose="020B0604020202020204" pitchFamily="34" charset="0"/>
              <a:buChar char="•"/>
            </a:pPr>
            <a:r>
              <a:rPr lang="en-US" sz="1600" dirty="0">
                <a:solidFill>
                  <a:schemeClr val="tx1"/>
                </a:solidFill>
              </a:rPr>
              <a:t>Facts remain unclear </a:t>
            </a:r>
            <a:r>
              <a:rPr lang="en-US" sz="1600" i="1" u="sng" dirty="0">
                <a:solidFill>
                  <a:schemeClr val="tx1"/>
                </a:solidFill>
              </a:rPr>
              <a:t>and are likely to be clarified soon</a:t>
            </a:r>
            <a:r>
              <a:rPr lang="en-US" sz="1600" dirty="0">
                <a:solidFill>
                  <a:schemeClr val="tx1"/>
                </a:solidFill>
              </a:rPr>
              <a:t> (if ambiguity is likely to continue, plan to issue interim statement for serious crises).  </a:t>
            </a:r>
          </a:p>
          <a:p>
            <a:pPr marL="171450" indent="-171450">
              <a:spcBef>
                <a:spcPts val="600"/>
              </a:spcBef>
              <a:spcAft>
                <a:spcPts val="400"/>
              </a:spcAft>
              <a:buFont typeface="Arial" panose="020B0604020202020204" pitchFamily="34" charset="0"/>
              <a:buChar char="•"/>
            </a:pPr>
            <a:r>
              <a:rPr lang="en-US" sz="1600" dirty="0">
                <a:solidFill>
                  <a:schemeClr val="tx1"/>
                </a:solidFill>
              </a:rPr>
              <a:t>Statement would needlessly criticize partners or investees, jeopardizing important relationships. However, if the underlying statement or conduct is serious enough, Blue Meridian may be compelled to respond.</a:t>
            </a:r>
          </a:p>
          <a:p>
            <a:pPr>
              <a:spcAft>
                <a:spcPts val="400"/>
              </a:spcAft>
            </a:pPr>
            <a:endParaRPr lang="en-US" sz="1200" dirty="0">
              <a:solidFill>
                <a:schemeClr val="tx1"/>
              </a:solidFill>
            </a:endParaRPr>
          </a:p>
        </p:txBody>
      </p:sp>
    </p:spTree>
    <p:extLst>
      <p:ext uri="{BB962C8B-B14F-4D97-AF65-F5344CB8AC3E}">
        <p14:creationId xmlns:p14="http://schemas.microsoft.com/office/powerpoint/2010/main" val="1540255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01EEFF-E586-4889-ACDF-9D3A206DFD55}"/>
              </a:ext>
            </a:extLst>
          </p:cNvPr>
          <p:cNvSpPr>
            <a:spLocks noGrp="1"/>
          </p:cNvSpPr>
          <p:nvPr>
            <p:ph type="body" sz="quarter" idx="12"/>
          </p:nvPr>
        </p:nvSpPr>
        <p:spPr/>
        <p:txBody>
          <a:bodyPr/>
          <a:lstStyle/>
          <a:p>
            <a:r>
              <a:rPr lang="en-US" dirty="0"/>
              <a:t>Appendix</a:t>
            </a:r>
          </a:p>
        </p:txBody>
      </p:sp>
      <p:sp>
        <p:nvSpPr>
          <p:cNvPr id="4" name="Text Placeholder 3">
            <a:extLst>
              <a:ext uri="{FF2B5EF4-FFF2-40B4-BE49-F238E27FC236}">
                <a16:creationId xmlns:a16="http://schemas.microsoft.com/office/drawing/2014/main" id="{F2A405E1-31C2-4299-BBA0-5E165FA85CF9}"/>
              </a:ext>
            </a:extLst>
          </p:cNvPr>
          <p:cNvSpPr>
            <a:spLocks noGrp="1"/>
          </p:cNvSpPr>
          <p:nvPr>
            <p:ph type="body" sz="quarter" idx="13"/>
          </p:nvPr>
        </p:nvSpPr>
        <p:spPr/>
        <p:txBody>
          <a:bodyPr/>
          <a:lstStyle/>
          <a:p>
            <a:r>
              <a:rPr lang="en-US" dirty="0"/>
              <a:t>Holding Statements</a:t>
            </a:r>
          </a:p>
        </p:txBody>
      </p:sp>
    </p:spTree>
    <p:extLst>
      <p:ext uri="{BB962C8B-B14F-4D97-AF65-F5344CB8AC3E}">
        <p14:creationId xmlns:p14="http://schemas.microsoft.com/office/powerpoint/2010/main" val="1419615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0C0ACD24-11BD-47CD-BDF7-C60C420BA879}"/>
              </a:ext>
            </a:extLst>
          </p:cNvPr>
          <p:cNvGraphicFramePr>
            <a:graphicFrameLocks noGrp="1"/>
          </p:cNvGraphicFramePr>
          <p:nvPr>
            <p:ph idx="1"/>
            <p:extLst>
              <p:ext uri="{D42A27DB-BD31-4B8C-83A1-F6EECF244321}">
                <p14:modId xmlns:p14="http://schemas.microsoft.com/office/powerpoint/2010/main" val="1421221120"/>
              </p:ext>
            </p:extLst>
          </p:nvPr>
        </p:nvGraphicFramePr>
        <p:xfrm>
          <a:off x="977401" y="961187"/>
          <a:ext cx="7632027" cy="5379610"/>
        </p:xfrm>
        <a:graphic>
          <a:graphicData uri="http://schemas.openxmlformats.org/drawingml/2006/table">
            <a:tbl>
              <a:tblPr firstRow="1" bandRow="1">
                <a:tableStyleId>{5C22544A-7EE6-4342-B048-85BDC9FD1C3A}</a:tableStyleId>
              </a:tblPr>
              <a:tblGrid>
                <a:gridCol w="394619">
                  <a:extLst>
                    <a:ext uri="{9D8B030D-6E8A-4147-A177-3AD203B41FA5}">
                      <a16:colId xmlns:a16="http://schemas.microsoft.com/office/drawing/2014/main" val="1852555141"/>
                    </a:ext>
                  </a:extLst>
                </a:gridCol>
                <a:gridCol w="1420837">
                  <a:extLst>
                    <a:ext uri="{9D8B030D-6E8A-4147-A177-3AD203B41FA5}">
                      <a16:colId xmlns:a16="http://schemas.microsoft.com/office/drawing/2014/main" val="1973291041"/>
                    </a:ext>
                  </a:extLst>
                </a:gridCol>
                <a:gridCol w="716731">
                  <a:extLst>
                    <a:ext uri="{9D8B030D-6E8A-4147-A177-3AD203B41FA5}">
                      <a16:colId xmlns:a16="http://schemas.microsoft.com/office/drawing/2014/main" val="3212964993"/>
                    </a:ext>
                  </a:extLst>
                </a:gridCol>
                <a:gridCol w="5099840">
                  <a:extLst>
                    <a:ext uri="{9D8B030D-6E8A-4147-A177-3AD203B41FA5}">
                      <a16:colId xmlns:a16="http://schemas.microsoft.com/office/drawing/2014/main" val="2688451987"/>
                    </a:ext>
                  </a:extLst>
                </a:gridCol>
              </a:tblGrid>
              <a:tr h="370840">
                <a:tc>
                  <a:txBody>
                    <a:bodyPr/>
                    <a:lstStyle/>
                    <a:p>
                      <a:endParaRPr lang="en-US" sz="1200" dirty="0"/>
                    </a:p>
                  </a:txBody>
                  <a:tcPr/>
                </a:tc>
                <a:tc>
                  <a:txBody>
                    <a:bodyPr/>
                    <a:lstStyle/>
                    <a:p>
                      <a:r>
                        <a:rPr lang="en-US" sz="1200" dirty="0"/>
                        <a:t>Crisis Source</a:t>
                      </a:r>
                    </a:p>
                  </a:txBody>
                  <a:tcPr/>
                </a:tc>
                <a:tc>
                  <a:txBody>
                    <a:bodyPr/>
                    <a:lstStyle/>
                    <a:p>
                      <a:r>
                        <a:rPr lang="en-US" sz="1200" dirty="0"/>
                        <a:t>Severity</a:t>
                      </a:r>
                    </a:p>
                  </a:txBody>
                  <a:tcPr/>
                </a:tc>
                <a:tc>
                  <a:txBody>
                    <a:bodyPr/>
                    <a:lstStyle/>
                    <a:p>
                      <a:r>
                        <a:rPr lang="en-US" sz="1200" dirty="0"/>
                        <a:t>Hypothetical Activity</a:t>
                      </a:r>
                    </a:p>
                  </a:txBody>
                  <a:tcPr/>
                </a:tc>
                <a:extLst>
                  <a:ext uri="{0D108BD9-81ED-4DB2-BD59-A6C34878D82A}">
                    <a16:rowId xmlns:a16="http://schemas.microsoft.com/office/drawing/2014/main" val="893119840"/>
                  </a:ext>
                </a:extLst>
              </a:tr>
              <a:tr h="370840">
                <a:tc>
                  <a:txBody>
                    <a:bodyPr/>
                    <a:lstStyle/>
                    <a:p>
                      <a:pPr algn="ctr"/>
                      <a:r>
                        <a:rPr lang="en-US" sz="1200" dirty="0"/>
                        <a:t>1</a:t>
                      </a:r>
                    </a:p>
                  </a:txBody>
                  <a:tcPr/>
                </a:tc>
                <a:tc>
                  <a:txBody>
                    <a:bodyPr/>
                    <a:lstStyle/>
                    <a:p>
                      <a:r>
                        <a:rPr lang="en-US" sz="1200" dirty="0"/>
                        <a:t>Investee</a:t>
                      </a:r>
                    </a:p>
                  </a:txBody>
                  <a:tcPr/>
                </a:tc>
                <a:tc>
                  <a:txBody>
                    <a:bodyPr/>
                    <a:lstStyle/>
                    <a:p>
                      <a:r>
                        <a:rPr lang="en-US" sz="1200" dirty="0"/>
                        <a:t>2</a:t>
                      </a:r>
                    </a:p>
                  </a:txBody>
                  <a:tcPr/>
                </a:tc>
                <a:tc>
                  <a:txBody>
                    <a:bodyPr/>
                    <a:lstStyle/>
                    <a:p>
                      <a:r>
                        <a:rPr lang="en-US" sz="1200" dirty="0"/>
                        <a:t>Controversial personal statement by investee leader not related to Blue Meridian-funded activity (speech advocating total law enforcement abolition)</a:t>
                      </a:r>
                    </a:p>
                  </a:txBody>
                  <a:tcPr/>
                </a:tc>
                <a:extLst>
                  <a:ext uri="{0D108BD9-81ED-4DB2-BD59-A6C34878D82A}">
                    <a16:rowId xmlns:a16="http://schemas.microsoft.com/office/drawing/2014/main" val="1855489041"/>
                  </a:ext>
                </a:extLst>
              </a:tr>
              <a:tr h="370840">
                <a:tc>
                  <a:txBody>
                    <a:bodyPr/>
                    <a:lstStyle/>
                    <a:p>
                      <a:pPr algn="ctr"/>
                      <a:r>
                        <a:rPr lang="en-US" sz="1200" dirty="0"/>
                        <a:t>2</a:t>
                      </a:r>
                    </a:p>
                  </a:txBody>
                  <a:tcPr/>
                </a:tc>
                <a:tc>
                  <a:txBody>
                    <a:bodyPr/>
                    <a:lstStyle/>
                    <a:p>
                      <a:r>
                        <a:rPr lang="en-US" sz="1200" dirty="0"/>
                        <a:t>Investee</a:t>
                      </a:r>
                    </a:p>
                  </a:txBody>
                  <a:tcPr/>
                </a:tc>
                <a:tc>
                  <a:txBody>
                    <a:bodyPr/>
                    <a:lstStyle/>
                    <a:p>
                      <a:r>
                        <a:rPr lang="en-US" sz="1200" dirty="0"/>
                        <a:t>3</a:t>
                      </a:r>
                    </a:p>
                  </a:txBody>
                  <a:tcPr/>
                </a:tc>
                <a:tc>
                  <a:txBody>
                    <a:bodyPr/>
                    <a:lstStyle/>
                    <a:p>
                      <a:r>
                        <a:rPr lang="en-US" sz="1200" dirty="0"/>
                        <a:t>Potentially serious organizational mismanagement. Facts still unclear.</a:t>
                      </a:r>
                    </a:p>
                  </a:txBody>
                  <a:tcPr/>
                </a:tc>
                <a:extLst>
                  <a:ext uri="{0D108BD9-81ED-4DB2-BD59-A6C34878D82A}">
                    <a16:rowId xmlns:a16="http://schemas.microsoft.com/office/drawing/2014/main" val="1202574273"/>
                  </a:ext>
                </a:extLst>
              </a:tr>
              <a:tr h="330090">
                <a:tc>
                  <a:txBody>
                    <a:bodyPr/>
                    <a:lstStyle/>
                    <a:p>
                      <a:pPr algn="ctr"/>
                      <a:r>
                        <a:rPr lang="en-US" sz="1200" dirty="0"/>
                        <a:t>3</a:t>
                      </a:r>
                    </a:p>
                  </a:txBody>
                  <a:tcPr/>
                </a:tc>
                <a:tc>
                  <a:txBody>
                    <a:bodyPr/>
                    <a:lstStyle/>
                    <a:p>
                      <a:r>
                        <a:rPr lang="en-US" sz="1200" dirty="0"/>
                        <a:t>Investee</a:t>
                      </a:r>
                    </a:p>
                  </a:txBody>
                  <a:tcPr/>
                </a:tc>
                <a:tc>
                  <a:txBody>
                    <a:bodyPr/>
                    <a:lstStyle/>
                    <a:p>
                      <a:r>
                        <a:rPr lang="en-US" sz="1200" dirty="0"/>
                        <a:t>3-4</a:t>
                      </a:r>
                    </a:p>
                  </a:txBody>
                  <a:tcPr/>
                </a:tc>
                <a:tc>
                  <a:txBody>
                    <a:bodyPr/>
                    <a:lstStyle/>
                    <a:p>
                      <a:r>
                        <a:rPr lang="en-US" sz="1200" dirty="0"/>
                        <a:t>Serious management misconduct with corrective actions taken</a:t>
                      </a:r>
                    </a:p>
                  </a:txBody>
                  <a:tcPr/>
                </a:tc>
                <a:extLst>
                  <a:ext uri="{0D108BD9-81ED-4DB2-BD59-A6C34878D82A}">
                    <a16:rowId xmlns:a16="http://schemas.microsoft.com/office/drawing/2014/main" val="138381525"/>
                  </a:ext>
                </a:extLst>
              </a:tr>
              <a:tr h="370840">
                <a:tc>
                  <a:txBody>
                    <a:bodyPr/>
                    <a:lstStyle/>
                    <a:p>
                      <a:pPr algn="ctr"/>
                      <a:r>
                        <a:rPr lang="en-US" sz="1200" dirty="0"/>
                        <a:t>4</a:t>
                      </a:r>
                    </a:p>
                  </a:txBody>
                  <a:tcPr/>
                </a:tc>
                <a:tc>
                  <a:txBody>
                    <a:bodyPr/>
                    <a:lstStyle/>
                    <a:p>
                      <a:r>
                        <a:rPr lang="en-US" sz="1200" dirty="0"/>
                        <a:t>Investee</a:t>
                      </a:r>
                    </a:p>
                  </a:txBody>
                  <a:tcPr/>
                </a:tc>
                <a:tc>
                  <a:txBody>
                    <a:bodyPr/>
                    <a:lstStyle/>
                    <a:p>
                      <a:r>
                        <a:rPr lang="en-US" sz="1200" dirty="0"/>
                        <a:t>4</a:t>
                      </a:r>
                    </a:p>
                  </a:txBody>
                  <a:tcPr/>
                </a:tc>
                <a:tc>
                  <a:txBody>
                    <a:bodyPr/>
                    <a:lstStyle/>
                    <a:p>
                      <a:r>
                        <a:rPr lang="en-US" sz="1200" dirty="0"/>
                        <a:t>Program-related tragedy (Suicide at Youth Villages residential facility)</a:t>
                      </a:r>
                    </a:p>
                  </a:txBody>
                  <a:tcPr/>
                </a:tc>
                <a:extLst>
                  <a:ext uri="{0D108BD9-81ED-4DB2-BD59-A6C34878D82A}">
                    <a16:rowId xmlns:a16="http://schemas.microsoft.com/office/drawing/2014/main" val="2142909569"/>
                  </a:ext>
                </a:extLst>
              </a:tr>
              <a:tr h="370840">
                <a:tc>
                  <a:txBody>
                    <a:bodyPr/>
                    <a:lstStyle/>
                    <a:p>
                      <a:pPr algn="ctr"/>
                      <a:r>
                        <a:rPr lang="en-US" sz="1200" dirty="0"/>
                        <a:t>5</a:t>
                      </a:r>
                    </a:p>
                  </a:txBody>
                  <a:tcPr/>
                </a:tc>
                <a:tc>
                  <a:txBody>
                    <a:bodyPr/>
                    <a:lstStyle/>
                    <a:p>
                      <a:r>
                        <a:rPr lang="en-US" sz="1200" dirty="0"/>
                        <a:t>Partner</a:t>
                      </a:r>
                    </a:p>
                  </a:txBody>
                  <a:tcPr/>
                </a:tc>
                <a:tc>
                  <a:txBody>
                    <a:bodyPr/>
                    <a:lstStyle/>
                    <a:p>
                      <a:r>
                        <a:rPr lang="en-US" sz="1200" dirty="0"/>
                        <a:t>3</a:t>
                      </a:r>
                    </a:p>
                  </a:txBody>
                  <a:tcPr/>
                </a:tc>
                <a:tc>
                  <a:txBody>
                    <a:bodyPr/>
                    <a:lstStyle/>
                    <a:p>
                      <a:r>
                        <a:rPr lang="en-US" sz="1200" dirty="0"/>
                        <a:t>Personal statement/conduct inconsistent with Blue Meridian values or funding priorities. Investees/advocates demand disassociation, challenging Blue Meridian’s commitment to its stated values.</a:t>
                      </a:r>
                    </a:p>
                  </a:txBody>
                  <a:tcPr/>
                </a:tc>
                <a:extLst>
                  <a:ext uri="{0D108BD9-81ED-4DB2-BD59-A6C34878D82A}">
                    <a16:rowId xmlns:a16="http://schemas.microsoft.com/office/drawing/2014/main" val="3533902917"/>
                  </a:ext>
                </a:extLst>
              </a:tr>
              <a:tr h="370840">
                <a:tc>
                  <a:txBody>
                    <a:bodyPr/>
                    <a:lstStyle/>
                    <a:p>
                      <a:pPr algn="ctr"/>
                      <a:r>
                        <a:rPr lang="en-US" sz="1200" dirty="0"/>
                        <a:t>6</a:t>
                      </a:r>
                    </a:p>
                  </a:txBody>
                  <a:tcPr/>
                </a:tc>
                <a:tc>
                  <a:txBody>
                    <a:bodyPr/>
                    <a:lstStyle/>
                    <a:p>
                      <a:r>
                        <a:rPr lang="en-US" sz="1200" dirty="0"/>
                        <a:t>Partner</a:t>
                      </a:r>
                    </a:p>
                  </a:txBody>
                  <a:tcPr/>
                </a:tc>
                <a:tc>
                  <a:txBody>
                    <a:bodyPr/>
                    <a:lstStyle/>
                    <a:p>
                      <a:r>
                        <a:rPr lang="en-US" sz="1200" dirty="0"/>
                        <a:t>3-4</a:t>
                      </a:r>
                    </a:p>
                  </a:txBody>
                  <a:tcPr/>
                </a:tc>
                <a:tc>
                  <a:txBody>
                    <a:bodyPr/>
                    <a:lstStyle/>
                    <a:p>
                      <a:r>
                        <a:rPr lang="en-US" sz="1200" dirty="0"/>
                        <a:t>Business-related scandal raises questions about legality/legitimacy of Blue Meridian funding sources (SEC enforcement action).</a:t>
                      </a:r>
                    </a:p>
                  </a:txBody>
                  <a:tcPr/>
                </a:tc>
                <a:extLst>
                  <a:ext uri="{0D108BD9-81ED-4DB2-BD59-A6C34878D82A}">
                    <a16:rowId xmlns:a16="http://schemas.microsoft.com/office/drawing/2014/main" val="693738906"/>
                  </a:ext>
                </a:extLst>
              </a:tr>
              <a:tr h="370840">
                <a:tc>
                  <a:txBody>
                    <a:bodyPr/>
                    <a:lstStyle/>
                    <a:p>
                      <a:pPr algn="ctr"/>
                      <a:r>
                        <a:rPr lang="en-US" sz="1200" dirty="0"/>
                        <a:t>7</a:t>
                      </a:r>
                    </a:p>
                  </a:txBody>
                  <a:tcPr/>
                </a:tc>
                <a:tc>
                  <a:txBody>
                    <a:bodyPr/>
                    <a:lstStyle/>
                    <a:p>
                      <a:r>
                        <a:rPr lang="en-US" sz="1200" dirty="0"/>
                        <a:t>Corporate</a:t>
                      </a:r>
                    </a:p>
                  </a:txBody>
                  <a:tcPr/>
                </a:tc>
                <a:tc>
                  <a:txBody>
                    <a:bodyPr/>
                    <a:lstStyle/>
                    <a:p>
                      <a:r>
                        <a:rPr lang="en-US" sz="1200" dirty="0"/>
                        <a:t>2</a:t>
                      </a:r>
                    </a:p>
                  </a:txBody>
                  <a:tcPr/>
                </a:tc>
                <a:tc>
                  <a:txBody>
                    <a:bodyPr/>
                    <a:lstStyle/>
                    <a:p>
                      <a:r>
                        <a:rPr lang="en-US" sz="1200" dirty="0"/>
                        <a:t>Data breach/hack compromises Blue Meridian social feeds.</a:t>
                      </a:r>
                    </a:p>
                  </a:txBody>
                  <a:tcPr/>
                </a:tc>
                <a:extLst>
                  <a:ext uri="{0D108BD9-81ED-4DB2-BD59-A6C34878D82A}">
                    <a16:rowId xmlns:a16="http://schemas.microsoft.com/office/drawing/2014/main" val="595406075"/>
                  </a:ext>
                </a:extLst>
              </a:tr>
              <a:tr h="370840">
                <a:tc>
                  <a:txBody>
                    <a:bodyPr/>
                    <a:lstStyle/>
                    <a:p>
                      <a:pPr algn="ctr"/>
                      <a:r>
                        <a:rPr lang="en-US" sz="12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Corporate</a:t>
                      </a:r>
                    </a:p>
                  </a:txBody>
                  <a:tcPr/>
                </a:tc>
                <a:tc>
                  <a:txBody>
                    <a:bodyPr/>
                    <a:lstStyle/>
                    <a:p>
                      <a:r>
                        <a:rPr lang="en-US" sz="1200" dirty="0"/>
                        <a:t>2</a:t>
                      </a:r>
                    </a:p>
                  </a:txBody>
                  <a:tcPr/>
                </a:tc>
                <a:tc>
                  <a:txBody>
                    <a:bodyPr/>
                    <a:lstStyle/>
                    <a:p>
                      <a:r>
                        <a:rPr lang="en-US" sz="1200" dirty="0"/>
                        <a:t>Controversial personal statement/conduct by staff unrelated to Blue Meridian programming.</a:t>
                      </a:r>
                    </a:p>
                  </a:txBody>
                  <a:tcPr/>
                </a:tc>
                <a:extLst>
                  <a:ext uri="{0D108BD9-81ED-4DB2-BD59-A6C34878D82A}">
                    <a16:rowId xmlns:a16="http://schemas.microsoft.com/office/drawing/2014/main" val="1546866308"/>
                  </a:ext>
                </a:extLst>
              </a:tr>
              <a:tr h="370840">
                <a:tc>
                  <a:txBody>
                    <a:bodyPr/>
                    <a:lstStyle/>
                    <a:p>
                      <a:pPr algn="ctr"/>
                      <a:r>
                        <a:rPr lang="en-US" sz="1200"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Corporate</a:t>
                      </a:r>
                    </a:p>
                  </a:txBody>
                  <a:tcPr/>
                </a:tc>
                <a:tc>
                  <a:txBody>
                    <a:bodyPr/>
                    <a:lstStyle/>
                    <a:p>
                      <a:r>
                        <a:rPr lang="en-US" sz="1200" dirty="0"/>
                        <a:t>2</a:t>
                      </a:r>
                    </a:p>
                  </a:txBody>
                  <a:tcPr/>
                </a:tc>
                <a:tc>
                  <a:txBody>
                    <a:bodyPr/>
                    <a:lstStyle/>
                    <a:p>
                      <a:r>
                        <a:rPr lang="en-US" sz="1200" dirty="0"/>
                        <a:t>Natural disaster or other workplace disruption. May be related to Blue Meridian (e.g. workplace violence) or not (e.g. natural disaster).</a:t>
                      </a:r>
                    </a:p>
                  </a:txBody>
                  <a:tcPr/>
                </a:tc>
                <a:extLst>
                  <a:ext uri="{0D108BD9-81ED-4DB2-BD59-A6C34878D82A}">
                    <a16:rowId xmlns:a16="http://schemas.microsoft.com/office/drawing/2014/main" val="2870385163"/>
                  </a:ext>
                </a:extLst>
              </a:tr>
              <a:tr h="370840">
                <a:tc>
                  <a:txBody>
                    <a:bodyPr/>
                    <a:lstStyle/>
                    <a:p>
                      <a:pPr algn="ctr"/>
                      <a:r>
                        <a:rPr lang="en-US" sz="12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Corporate</a:t>
                      </a:r>
                    </a:p>
                  </a:txBody>
                  <a:tcPr/>
                </a:tc>
                <a:tc>
                  <a:txBody>
                    <a:bodyPr/>
                    <a:lstStyle/>
                    <a:p>
                      <a:r>
                        <a:rPr lang="en-US" sz="1200" dirty="0"/>
                        <a:t>3+</a:t>
                      </a:r>
                    </a:p>
                  </a:txBody>
                  <a:tcPr/>
                </a:tc>
                <a:tc>
                  <a:txBody>
                    <a:bodyPr/>
                    <a:lstStyle/>
                    <a:p>
                      <a:r>
                        <a:rPr lang="en-US" sz="1200" dirty="0"/>
                        <a:t>Allegations of organizational mismanagement/financial irregularities. Key facts still unknown.</a:t>
                      </a:r>
                    </a:p>
                  </a:txBody>
                  <a:tcPr/>
                </a:tc>
                <a:extLst>
                  <a:ext uri="{0D108BD9-81ED-4DB2-BD59-A6C34878D82A}">
                    <a16:rowId xmlns:a16="http://schemas.microsoft.com/office/drawing/2014/main" val="2679604877"/>
                  </a:ext>
                </a:extLst>
              </a:tr>
              <a:tr h="370840">
                <a:tc>
                  <a:txBody>
                    <a:bodyPr/>
                    <a:lstStyle/>
                    <a:p>
                      <a:pPr algn="ctr"/>
                      <a:r>
                        <a:rPr lang="en-US" sz="1200" dirty="0"/>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Corporate</a:t>
                      </a:r>
                    </a:p>
                  </a:txBody>
                  <a:tcPr/>
                </a:tc>
                <a:tc>
                  <a:txBody>
                    <a:bodyPr/>
                    <a:lstStyle/>
                    <a:p>
                      <a:r>
                        <a:rPr lang="en-US" sz="1200" dirty="0"/>
                        <a:t>4-5</a:t>
                      </a:r>
                    </a:p>
                  </a:txBody>
                  <a:tcPr/>
                </a:tc>
                <a:tc>
                  <a:txBody>
                    <a:bodyPr/>
                    <a:lstStyle/>
                    <a:p>
                      <a:r>
                        <a:rPr lang="en-US" sz="1200" dirty="0"/>
                        <a:t>Partisan regulatory/oversight investigation threatens Blue Meridian.</a:t>
                      </a:r>
                    </a:p>
                  </a:txBody>
                  <a:tcPr/>
                </a:tc>
                <a:extLst>
                  <a:ext uri="{0D108BD9-81ED-4DB2-BD59-A6C34878D82A}">
                    <a16:rowId xmlns:a16="http://schemas.microsoft.com/office/drawing/2014/main" val="2670073511"/>
                  </a:ext>
                </a:extLst>
              </a:tr>
            </a:tbl>
          </a:graphicData>
        </a:graphic>
      </p:graphicFrame>
      <p:sp>
        <p:nvSpPr>
          <p:cNvPr id="4" name="Title 3">
            <a:extLst>
              <a:ext uri="{FF2B5EF4-FFF2-40B4-BE49-F238E27FC236}">
                <a16:creationId xmlns:a16="http://schemas.microsoft.com/office/drawing/2014/main" id="{C2710C48-4B4B-47AA-B089-5E24A85D703A}"/>
              </a:ext>
            </a:extLst>
          </p:cNvPr>
          <p:cNvSpPr>
            <a:spLocks noGrp="1"/>
          </p:cNvSpPr>
          <p:nvPr>
            <p:ph type="title"/>
          </p:nvPr>
        </p:nvSpPr>
        <p:spPr>
          <a:xfrm>
            <a:off x="527840" y="241515"/>
            <a:ext cx="8088319" cy="396219"/>
          </a:xfrm>
        </p:spPr>
        <p:txBody>
          <a:bodyPr/>
          <a:lstStyle/>
          <a:p>
            <a:r>
              <a:rPr lang="en-US" dirty="0"/>
              <a:t>List of Holding Statements</a:t>
            </a:r>
          </a:p>
        </p:txBody>
      </p:sp>
    </p:spTree>
    <p:extLst>
      <p:ext uri="{BB962C8B-B14F-4D97-AF65-F5344CB8AC3E}">
        <p14:creationId xmlns:p14="http://schemas.microsoft.com/office/powerpoint/2010/main" val="2027947552"/>
      </p:ext>
    </p:extLst>
  </p:cSld>
  <p:clrMapOvr>
    <a:masterClrMapping/>
  </p:clrMapOvr>
  <p:transition spd="med">
    <p:fade/>
  </p:transition>
</p:sld>
</file>

<file path=ppt/theme/theme1.xml><?xml version="1.0" encoding="utf-8"?>
<a:theme xmlns:a="http://schemas.openxmlformats.org/drawingml/2006/main" name="BMP Theme 2019">
  <a:themeElements>
    <a:clrScheme name="BMP Color Palette">
      <a:dk1>
        <a:srgbClr val="000000"/>
      </a:dk1>
      <a:lt1>
        <a:srgbClr val="FFFFFF"/>
      </a:lt1>
      <a:dk2>
        <a:srgbClr val="1B3169"/>
      </a:dk2>
      <a:lt2>
        <a:srgbClr val="0091C8"/>
      </a:lt2>
      <a:accent1>
        <a:srgbClr val="0091C8"/>
      </a:accent1>
      <a:accent2>
        <a:srgbClr val="0033A4"/>
      </a:accent2>
      <a:accent3>
        <a:srgbClr val="783C96"/>
      </a:accent3>
      <a:accent4>
        <a:srgbClr val="009637"/>
      </a:accent4>
      <a:accent5>
        <a:srgbClr val="004B1B"/>
      </a:accent5>
      <a:accent6>
        <a:srgbClr val="545566"/>
      </a:accent6>
      <a:hlink>
        <a:srgbClr val="0563C1"/>
      </a:hlink>
      <a:folHlink>
        <a:srgbClr val="954F72"/>
      </a:folHlink>
    </a:clrScheme>
    <a:fontScheme name="Blue Meridian Fonts">
      <a:majorFont>
        <a:latin typeface="Le Monde Livre Std"/>
        <a:ea typeface=""/>
        <a:cs typeface=""/>
      </a:majorFont>
      <a:minorFont>
        <a:latin typeface="Camphor St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E40B07FA828848B1F1BA2E2F991B0F" ma:contentTypeVersion="24" ma:contentTypeDescription="Create a new document." ma:contentTypeScope="" ma:versionID="90c80b161cc286714fb20587df87a0f2">
  <xsd:schema xmlns:xsd="http://www.w3.org/2001/XMLSchema" xmlns:xs="http://www.w3.org/2001/XMLSchema" xmlns:p="http://schemas.microsoft.com/office/2006/metadata/properties" xmlns:ns2="94d5610c-944f-4bc8-8387-c7b2de6f3a9d" xmlns:ns3="aecdd74c-1124-4fd4-bdd6-7b8331f46d0d" targetNamespace="http://schemas.microsoft.com/office/2006/metadata/properties" ma:root="true" ma:fieldsID="7af8a95aff842a4df244503a8ad8b9d7" ns2:_="" ns3:_="">
    <xsd:import namespace="94d5610c-944f-4bc8-8387-c7b2de6f3a9d"/>
    <xsd:import namespace="aecdd74c-1124-4fd4-bdd6-7b8331f46d0d"/>
    <xsd:element name="properties">
      <xsd:complexType>
        <xsd:sequence>
          <xsd:element name="documentManagement">
            <xsd:complexType>
              <xsd:all>
                <xsd:element ref="ns2:Status" minOccurs="0"/>
                <xsd:element ref="ns2:Fund" minOccurs="0"/>
                <xsd:element ref="ns2:Document_x0020_Type" minOccurs="0"/>
                <xsd:element ref="ns2:Archive" minOccurs="0"/>
                <xsd:element ref="ns3:TaxCatchAll" minOccurs="0"/>
                <xsd:element ref="ns2:MediaServiceMetadata" minOccurs="0"/>
                <xsd:element ref="ns2:MediaServiceFastMetadata" minOccurs="0"/>
                <xsd:element ref="ns2:MediaServiceAutoKeyPoints" minOccurs="0"/>
                <xsd:element ref="ns2:MediaServiceKeyPoints" minOccurs="0"/>
                <xsd:element ref="ns2:Project"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d5610c-944f-4bc8-8387-c7b2de6f3a9d" elementFormDefault="qualified">
    <xsd:import namespace="http://schemas.microsoft.com/office/2006/documentManagement/types"/>
    <xsd:import namespace="http://schemas.microsoft.com/office/infopath/2007/PartnerControls"/>
    <xsd:element name="Status" ma:index="8" nillable="true" ma:displayName="Status" ma:format="Dropdown" ma:internalName="Status">
      <xsd:simpleType>
        <xsd:restriction base="dms:Choice">
          <xsd:enumeration value="Draft"/>
          <xsd:enumeration value="Final"/>
        </xsd:restriction>
      </xsd:simpleType>
    </xsd:element>
    <xsd:element name="Fund" ma:index="9" nillable="true" ma:displayName="Portfolio" ma:format="Dropdown" ma:internalName="Fund">
      <xsd:simpleType>
        <xsd:restriction base="dms:Choice">
          <xsd:enumeration value="Nationwide Solutions"/>
          <xsd:enumeration value="Place Matters"/>
          <xsd:enumeration value="Justice and Mobility"/>
          <xsd:enumeration value="The Studio"/>
          <xsd:enumeration value="Emergency Response"/>
        </xsd:restriction>
      </xsd:simpleType>
    </xsd:element>
    <xsd:element name="Document_x0020_Type" ma:index="10" nillable="true" ma:displayName="Document Type" ma:format="Dropdown" ma:internalName="Document_x0020_Type">
      <xsd:simpleType>
        <xsd:union memberTypes="dms:Text">
          <xsd:simpleType>
            <xsd:restriction base="dms:Choice">
              <xsd:enumeration value="Investment Reference Sheet"/>
            </xsd:restriction>
          </xsd:simpleType>
        </xsd:union>
      </xsd:simpleType>
    </xsd:element>
    <xsd:element name="Archive" ma:index="11" nillable="true" ma:displayName="Archive" ma:default="0" ma:internalName="Archiv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Project" ma:index="17" nillable="true" ma:displayName="Project" ma:format="Dropdown" ma:internalName="Project">
      <xsd:simpleType>
        <xsd:union memberTypes="dms:Text">
          <xsd:simpleType>
            <xsd:restriction base="dms:Choice">
              <xsd:enumeration value="Work Transformation Project"/>
            </xsd:restriction>
          </xsd:simpleType>
        </xsd:union>
      </xsd:simpleType>
    </xsd:element>
    <xsd:element name="MediaServiceAutoTags" ma:index="20" nillable="true" ma:displayName="Tags" ma:internalName="MediaServiceAutoTags"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DateTaken" ma:index="24" nillable="true" ma:displayName="MediaServiceDateTaken" ma:hidden="true" ma:internalName="MediaServiceDateTaken" ma:readOnly="true">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ecdd74c-1124-4fd4-bdd6-7b8331f46d0d"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6260018-33e1-449a-9141-95d14af812d9}" ma:internalName="TaxCatchAll" ma:showField="CatchAllData" ma:web="aecdd74c-1124-4fd4-bdd6-7b8331f46d0d">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ecdd74c-1124-4fd4-bdd6-7b8331f46d0d"/>
    <Document_x0020_Type xmlns="94d5610c-944f-4bc8-8387-c7b2de6f3a9d">94;b2a0b1ff-4592-4817-87cd-bc294869fa28</Document_x0020_Type>
    <Project xmlns="94d5610c-944f-4bc8-8387-c7b2de6f3a9d" xsi:nil="true"/>
    <Status xmlns="94d5610c-944f-4bc8-8387-c7b2de6f3a9d" xsi:nil="true"/>
    <Archive xmlns="94d5610c-944f-4bc8-8387-c7b2de6f3a9d">false</Archive>
    <Fund xmlns="94d5610c-944f-4bc8-8387-c7b2de6f3a9d" xsi:nil="true"/>
    <SharedWithUsers xmlns="aecdd74c-1124-4fd4-bdd6-7b8331f46d0d">
      <UserInfo>
        <DisplayName>Staff</DisplayName>
        <AccountId>40</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FAB27D-EC8F-447E-BD1D-EFCB7068E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4d5610c-944f-4bc8-8387-c7b2de6f3a9d"/>
    <ds:schemaRef ds:uri="aecdd74c-1124-4fd4-bdd6-7b8331f46d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5E01D3-E41C-4B5C-AB0A-A2213D0D0BD4}">
  <ds:schemaRefs>
    <ds:schemaRef ds:uri="http://schemas.microsoft.com/office/2006/metadata/properties"/>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http://www.w3.org/XML/1998/namespace"/>
    <ds:schemaRef ds:uri="aecdd74c-1124-4fd4-bdd6-7b8331f46d0d"/>
    <ds:schemaRef ds:uri="94d5610c-944f-4bc8-8387-c7b2de6f3a9d"/>
    <ds:schemaRef ds:uri="http://purl.org/dc/dcmitype/"/>
    <ds:schemaRef ds:uri="http://purl.org/dc/terms/"/>
  </ds:schemaRefs>
</ds:datastoreItem>
</file>

<file path=customXml/itemProps3.xml><?xml version="1.0" encoding="utf-8"?>
<ds:datastoreItem xmlns:ds="http://schemas.openxmlformats.org/officeDocument/2006/customXml" ds:itemID="{AF8B76A2-4977-4529-B2E8-842E40C925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14300</TotalTime>
  <Words>3967</Words>
  <Application>Microsoft Office PowerPoint</Application>
  <PresentationFormat>On-screen Show (4:3)</PresentationFormat>
  <Paragraphs>460</Paragraphs>
  <Slides>25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Camphor Std</vt:lpstr>
      <vt:lpstr>Courier New</vt:lpstr>
      <vt:lpstr>Le Monde Livre Std</vt:lpstr>
      <vt:lpstr>Open Sans</vt:lpstr>
      <vt:lpstr>Wingdings</vt:lpstr>
      <vt:lpstr>BMP Theme 2019</vt:lpstr>
      <vt:lpstr>Crisis Communications Plan </vt:lpstr>
      <vt:lpstr>Contents</vt:lpstr>
      <vt:lpstr>Goals of the Crisis Communications Plan</vt:lpstr>
      <vt:lpstr>What Is a Communications Crisis?</vt:lpstr>
      <vt:lpstr>Operating Principles for Crisis Response</vt:lpstr>
      <vt:lpstr>PowerPoint Presentation</vt:lpstr>
      <vt:lpstr>Blue Meridian Crisis Risks Are Low to Moderate</vt:lpstr>
      <vt:lpstr>Likely Crises Fall Into Three Broad Categories</vt:lpstr>
      <vt:lpstr>Within Each Category, Several Kinds of Conduct</vt:lpstr>
      <vt:lpstr>Crisis Level Evaluation Scale</vt:lpstr>
      <vt:lpstr>Examples of potential crises, with severity ratings</vt:lpstr>
      <vt:lpstr>PowerPoint Presentation</vt:lpstr>
      <vt:lpstr>At Center: The Crisis Communications Team (CCT)</vt:lpstr>
      <vt:lpstr>Crisis Response: Process Summary</vt:lpstr>
      <vt:lpstr>RAPID Matrix for Crisis Response</vt:lpstr>
      <vt:lpstr>Crisis Response: Investee Case Example</vt:lpstr>
      <vt:lpstr>Crisis Response: Partner Case Example</vt:lpstr>
      <vt:lpstr>Crisis Response: Corporate Case Example</vt:lpstr>
      <vt:lpstr>The Critical Role of the CCT Lead</vt:lpstr>
      <vt:lpstr>The Critical Role of First Reporters</vt:lpstr>
      <vt:lpstr>Crisis Communications Team: Permanent Members</vt:lpstr>
      <vt:lpstr>Crisis Communications Team: Situational Members</vt:lpstr>
      <vt:lpstr>Guidelines about When and How to Respond</vt:lpstr>
      <vt:lpstr>PowerPoint Presentation</vt:lpstr>
      <vt:lpstr>List of Holding Statements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Wiafe Mensah-Bonsu (Communications Temp)</dc:creator>
  <cp:lastModifiedBy>Shari Arroyo Brown</cp:lastModifiedBy>
  <cp:revision>28</cp:revision>
  <cp:lastPrinted>2021-01-14T20:32:29Z</cp:lastPrinted>
  <dcterms:created xsi:type="dcterms:W3CDTF">2019-05-10T19:12:38Z</dcterms:created>
  <dcterms:modified xsi:type="dcterms:W3CDTF">2025-05-30T18:52:57Z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0x010100CCE40B07FA828848B1F1BA2E2F991B0F</vt:lpwstr>
  </property>
  <property fmtid="{D5CDD505-2E9C-101B-9397-08002B2CF9AE}" pid="3" name="Year">
    <vt:lpwstr>173;#2021|a7d4e871-d06c-4f3d-af12-8f8a69f1db6c</vt:lpwstr>
  </property>
  <property fmtid="{D5CDD505-2E9C-101B-9397-08002B2CF9AE}" pid="4" name="Grantee">
    <vt:lpwstr/>
  </property>
  <property fmtid="{D5CDD505-2E9C-101B-9397-08002B2CF9AE}" pid="5" name="Domain">
    <vt:lpwstr>95;#Cross-Domain|a61ee2f0-e605-48c3-9b43-13deac567aba</vt:lpwstr>
  </property>
  <property fmtid="{D5CDD505-2E9C-101B-9397-08002B2CF9AE}" pid="6" name="Document Type">
    <vt:lpwstr>94;#Communications|b0637ae4-55ba-4c45-aa8a-2d573f1fdb8c</vt:lpwstr>
  </property>
  <property fmtid="{D5CDD505-2E9C-101B-9397-08002B2CF9AE}" pid="7" name="Partner">
    <vt:lpwstr/>
  </property>
  <property fmtid="{D5CDD505-2E9C-101B-9397-08002B2CF9AE}" pid="8" name="Order">
    <vt:r8>359700</vt:r8>
  </property>
  <property fmtid="{D5CDD505-2E9C-101B-9397-08002B2CF9AE}" pid="9" name="xd_Signature">
    <vt:bool>false</vt:bool>
  </property>
  <property fmtid="{D5CDD505-2E9C-101B-9397-08002B2CF9AE}" pid="10" name="xd_ProgID">
    <vt:lpwstr/>
  </property>
  <property fmtid="{D5CDD505-2E9C-101B-9397-08002B2CF9AE}" pid="11" name="_SourceUrl">
    <vt:lpwstr/>
  </property>
  <property fmtid="{D5CDD505-2E9C-101B-9397-08002B2CF9AE}" pid="12" name="_SharedFileIndex">
    <vt:lpwstr/>
  </property>
  <property fmtid="{D5CDD505-2E9C-101B-9397-08002B2CF9AE}" pid="13" name="ComplianceAssetId">
    <vt:lpwstr/>
  </property>
  <property fmtid="{D5CDD505-2E9C-101B-9397-08002B2CF9AE}" pid="14" name="TemplateUrl">
    <vt:lpwstr/>
  </property>
  <property fmtid="{D5CDD505-2E9C-101B-9397-08002B2CF9AE}" pid="15" name="Notes0">
    <vt:lpwstr>4x3 dimensions, for standard use. This is DEFAULT file to use for all staff.</vt:lpwstr>
  </property>
  <property fmtid="{D5CDD505-2E9C-101B-9397-08002B2CF9AE}" pid="16" name="Fiscal Year">
    <vt:lpwstr>2021</vt:lpwstr>
  </property>
  <property fmtid="{D5CDD505-2E9C-101B-9397-08002B2CF9AE}" pid="17" name="_ExtendedDescription">
    <vt:lpwstr/>
  </property>
  <property fmtid="{D5CDD505-2E9C-101B-9397-08002B2CF9AE}" pid="18" name="Other Document Type">
    <vt:lpwstr>Charter</vt:lpwstr>
  </property>
  <property fmtid="{D5CDD505-2E9C-101B-9397-08002B2CF9AE}" pid="19" name="Fund">
    <vt:lpwstr/>
  </property>
  <property fmtid="{D5CDD505-2E9C-101B-9397-08002B2CF9AE}" pid="20" name="SharedWithUsers">
    <vt:lpwstr>40;#Staff</vt:lpwstr>
  </property>
</Properties>
</file>