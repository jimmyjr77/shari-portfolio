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ags/tag1.xml" ContentType="application/vnd.openxmlformats-officedocument.presentationml.tags+xml"/>
  <Override PartName="/ppt/ink/ink1.xml" ContentType="application/inkml+xml"/>
  <Override PartName="/ppt/ink/ink2.xml" ContentType="application/inkml+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4"/>
  </p:sldMasterIdLst>
  <p:notesMasterIdLst>
    <p:notesMasterId r:id="rId48"/>
  </p:notesMasterIdLst>
  <p:handoutMasterIdLst>
    <p:handoutMasterId r:id="rId49"/>
  </p:handoutMasterIdLst>
  <p:sldIdLst>
    <p:sldId id="265" r:id="rId5"/>
    <p:sldId id="2147475924" r:id="rId6"/>
    <p:sldId id="2147475932" r:id="rId7"/>
    <p:sldId id="2147475903" r:id="rId8"/>
    <p:sldId id="2147475955" r:id="rId9"/>
    <p:sldId id="2147475949" r:id="rId10"/>
    <p:sldId id="2147475954" r:id="rId11"/>
    <p:sldId id="2147475935" r:id="rId12"/>
    <p:sldId id="2147475927" r:id="rId13"/>
    <p:sldId id="2147475830" r:id="rId14"/>
    <p:sldId id="2147475942" r:id="rId15"/>
    <p:sldId id="2147475969" r:id="rId16"/>
    <p:sldId id="2147475816" r:id="rId17"/>
    <p:sldId id="2147475957" r:id="rId18"/>
    <p:sldId id="2147475928" r:id="rId19"/>
    <p:sldId id="2147475910" r:id="rId20"/>
    <p:sldId id="2147475824" r:id="rId21"/>
    <p:sldId id="2147475971" r:id="rId22"/>
    <p:sldId id="2147475976" r:id="rId23"/>
    <p:sldId id="2147475933" r:id="rId24"/>
    <p:sldId id="2147475852" r:id="rId25"/>
    <p:sldId id="2147475799" r:id="rId26"/>
    <p:sldId id="2147475894" r:id="rId27"/>
    <p:sldId id="2147475972" r:id="rId28"/>
    <p:sldId id="2147475979" r:id="rId29"/>
    <p:sldId id="2147475980" r:id="rId30"/>
    <p:sldId id="2147475975" r:id="rId31"/>
    <p:sldId id="2147475906" r:id="rId32"/>
    <p:sldId id="2147475960" r:id="rId33"/>
    <p:sldId id="2147475904" r:id="rId34"/>
    <p:sldId id="2147475837" r:id="rId35"/>
    <p:sldId id="2147475944" r:id="rId36"/>
    <p:sldId id="2147475934" r:id="rId37"/>
    <p:sldId id="2147475962" r:id="rId38"/>
    <p:sldId id="2147475959" r:id="rId39"/>
    <p:sldId id="2147475912" r:id="rId40"/>
    <p:sldId id="2147475913" r:id="rId41"/>
    <p:sldId id="2147475921" r:id="rId42"/>
    <p:sldId id="2147475922" r:id="rId43"/>
    <p:sldId id="2147475930" r:id="rId44"/>
    <p:sldId id="2147475916" r:id="rId45"/>
    <p:sldId id="2147475917" r:id="rId46"/>
    <p:sldId id="2147475941"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DE2CE13-5EF6-0B9B-9CF2-0F478DA5CD85}" name="Guest User" initials="GU" userId="S::urn:spo:anon#272e4e715e1eb8a09b9dd1149c43739d9315c4cc44413437bab5a2b2bbbea19a::" providerId="AD"/>
  <p188:author id="{12D3CF27-96EE-673C-61CE-4E126AF53E13}" name="Jim Shelton" initials="JS" userId="S::jshelton@bluemeridian.org::388e3fdd-6bdf-4452-a3a6-c61a06d6060e" providerId="AD"/>
  <p188:author id="{C863294C-958B-16DA-E897-30295DC0AD8C}" name="Guest User" initials="GU" userId="S::urn:spo:anon#8a349c15cab4f7db40ddb14a9dfa826cd0f866da7e1f13abb40148ef93c9bb8f::" providerId="AD"/>
  <p188:author id="{4B558E57-2DF5-5347-E745-778F171AF71A}" name="Molly Finnegan (Porter Novelli)" initials="MF" userId="S::Molly.Finnegan@porternovelli.com::b0923f39-1fc6-4567-a12b-2c3c263b5672" providerId="AD"/>
  <p188:author id="{0BC5495A-7E0E-AE91-3C67-B5DDA277D074}" name="Clea Bierman" initials="CB" userId="S::cbierman@bettzedek.org::058e74b6-58df-4ebd-9e89-45c77226c686" providerId="AD"/>
  <p188:author id="{01753C72-BCD2-B01C-32A5-066C464CC0F8}" name="Jennifer Kerr (Porter Novelli)" initials="" userId="S::jennifer.kerr@porternovelli.com::9e54f3b2-03e2-4663-ae41-39414c6507c5" providerId="AD"/>
  <p188:author id="{E0D3D379-3022-3320-2C7E-E3CB522B6599}" name="Bill Furmanski" initials="BF" userId="S::bfurmanski@bluemeridian.org::0855eb36-44ba-46ce-a519-b92f96315a1a" providerId="AD"/>
  <p188:author id="{F549A17B-73F7-39C1-868E-D73144E214A4}" name="Guest User" initials="GU" userId="S::urn:spo:anon#ddea893f71e50c2d2450fed1ca3b781a1413c479c9e0f479721b7b864aefcfaf::" providerId="AD"/>
  <p188:author id="{E31C197E-03A9-AA5C-91A2-13CAC0D758B1}" name="Molly Finnegan (Porter Novelli)" initials="MN" userId="S::molly.finnegan@porternovelli.com::b0923f39-1fc6-4567-a12b-2c3c263b5672" providerId="AD"/>
  <p188:author id="{DB0A0B90-C1C4-AD69-4F20-A900F60C8E96}" name="Micah Carr" initials="MC" userId="S::mcarr@bluemeridian.org::a8f1e0c3-6a7c-47cd-96e9-e67a539c7eda" providerId="AD"/>
  <p188:author id="{8D58E094-C3CE-05DF-086B-1108F79D20D8}" name="Tiffanie Thomas (Porter Novelli)" initials="TT(N" userId="S::tiffanie.thomas@porternovelli.com::62847549-c625-4ec4-a79b-accaf8fc21b2" providerId="AD"/>
  <p188:author id="{6FFD56A5-3171-2639-00E9-739501FD9028}" name="Clea Bierman" initials="CB" userId="S::cbierman@bluemeridian.org::dd567464-b12b-4224-9850-7e7c158b4643" providerId="AD"/>
  <p188:author id="{2657A7A8-7E4B-D7DD-ACA7-E24FAC199DD2}" name="Meti Yemane" initials="MY" userId="S::myemane@bluemeridian.org::fe4aa4d9-a8fe-488c-afb5-c3acdc392db6" providerId="AD"/>
  <p188:author id="{A7BAE3CE-233B-3688-C853-EDB9D3761371}" name="Jennifer Kerr (Porter Novelli)" initials="JK" userId="S::Jennifer.Kerr@porternovelli.com::9e54f3b2-03e2-4663-ae41-39414c6507c5" providerId="AD"/>
  <p188:author id="{1A98FCD2-E1CB-78F3-0C19-CA96ACC6EAB9}" name="Gina Lindblad (Porter Novelli)" initials="" userId="S::Gina.Lindblad@porternovelli.com::2951ad8f-7606-47bd-b579-053bc5982cbf" providerId="AD"/>
  <p188:author id="{52B5C2FF-E7D3-72F5-487D-4E4F320419A0}" name="Shari Arroyo Brown" initials="SB" userId="S::sbrown@bluemeridian.org::3adb47b2-122e-4c53-95ea-0f102aafdf3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C3C8"/>
    <a:srgbClr val="0091C8"/>
    <a:srgbClr val="1B3169"/>
    <a:srgbClr val="783C96"/>
    <a:srgbClr val="A98D58"/>
    <a:srgbClr val="233F87"/>
    <a:srgbClr val="BF008F"/>
    <a:srgbClr val="0A2746"/>
    <a:srgbClr val="1B513A"/>
    <a:srgbClr val="C1E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404295-C72C-05F7-0238-0CEA14B06945}" v="306" dt="2025-05-01T17:04:19.9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264" y="306"/>
      </p:cViewPr>
      <p:guideLst>
        <p:guide orient="horz" pos="2208"/>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55"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132E68-9E76-4345-8E54-A8AE74795DD9}"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42189F61-B6ED-4DDD-A590-47DF6A2344F7}">
      <dgm:prSet phldr="0" custT="1"/>
      <dgm:spPr/>
      <dgm:t>
        <a:bodyPr/>
        <a:lstStyle/>
        <a:p>
          <a:pPr algn="l" rtl="0"/>
          <a:r>
            <a:rPr lang="en-US" sz="2800" b="1">
              <a:solidFill>
                <a:srgbClr val="000000"/>
              </a:solidFill>
              <a:latin typeface="Arial"/>
              <a:cs typeface="Arial"/>
            </a:rPr>
            <a:t>Observation</a:t>
          </a:r>
          <a:endParaRPr lang="en-US" sz="3200">
            <a:solidFill>
              <a:srgbClr val="000000"/>
            </a:solidFill>
            <a:latin typeface="Arial"/>
            <a:cs typeface="Arial"/>
          </a:endParaRPr>
        </a:p>
      </dgm:t>
    </dgm:pt>
    <dgm:pt modelId="{42FE62CB-4D35-4B04-BFF8-AAE43CCDEE81}" type="parTrans" cxnId="{67D55E8C-7290-43FD-B0CB-4022EFD27119}">
      <dgm:prSet/>
      <dgm:spPr/>
      <dgm:t>
        <a:bodyPr/>
        <a:lstStyle/>
        <a:p>
          <a:endParaRPr lang="en-US"/>
        </a:p>
      </dgm:t>
    </dgm:pt>
    <dgm:pt modelId="{8F99A81E-F5D3-4400-AF41-2EFC3B234EC9}" type="sibTrans" cxnId="{67D55E8C-7290-43FD-B0CB-4022EFD27119}">
      <dgm:prSet/>
      <dgm:spPr/>
      <dgm:t>
        <a:bodyPr/>
        <a:lstStyle/>
        <a:p>
          <a:endParaRPr lang="en-US"/>
        </a:p>
      </dgm:t>
    </dgm:pt>
    <dgm:pt modelId="{541C7ED0-6FDF-4ADB-9F4A-DA914136243A}">
      <dgm:prSet phldr="0"/>
      <dgm:spPr/>
      <dgm:t>
        <a:bodyPr/>
        <a:lstStyle/>
        <a:p>
          <a:pPr algn="l" rtl="0"/>
          <a:r>
            <a:rPr lang="en-US" b="1">
              <a:solidFill>
                <a:srgbClr val="000000"/>
              </a:solidFill>
              <a:latin typeface="Arial"/>
              <a:cs typeface="Arial"/>
            </a:rPr>
            <a:t>BMP's Potential Approach</a:t>
          </a:r>
          <a:r>
            <a:rPr lang="en-US">
              <a:solidFill>
                <a:srgbClr val="000000"/>
              </a:solidFill>
              <a:latin typeface="Arial"/>
              <a:cs typeface="Arial"/>
            </a:rPr>
            <a:t>: Quiet – no/extremely limited external comms (events, media, social); limited internal comms </a:t>
          </a:r>
        </a:p>
      </dgm:t>
    </dgm:pt>
    <dgm:pt modelId="{27FE6481-5101-47A0-AF90-EA42E7389B05}" type="parTrans" cxnId="{001124D6-F45F-49A7-A7BC-F01FEB26030E}">
      <dgm:prSet/>
      <dgm:spPr/>
      <dgm:t>
        <a:bodyPr/>
        <a:lstStyle/>
        <a:p>
          <a:endParaRPr lang="en-US"/>
        </a:p>
      </dgm:t>
    </dgm:pt>
    <dgm:pt modelId="{D900A5B3-3178-4D99-9252-D9A08C99BC69}" type="sibTrans" cxnId="{001124D6-F45F-49A7-A7BC-F01FEB26030E}">
      <dgm:prSet/>
      <dgm:spPr/>
      <dgm:t>
        <a:bodyPr/>
        <a:lstStyle/>
        <a:p>
          <a:endParaRPr lang="en-US"/>
        </a:p>
      </dgm:t>
    </dgm:pt>
    <dgm:pt modelId="{4BCE3FC3-2650-4ED3-9CF8-0C0C02C7D85C}">
      <dgm:prSet phldr="0"/>
      <dgm:spPr/>
      <dgm:t>
        <a:bodyPr/>
        <a:lstStyle/>
        <a:p>
          <a:pPr algn="l"/>
          <a:r>
            <a:rPr lang="en-US" b="1">
              <a:solidFill>
                <a:srgbClr val="000000"/>
              </a:solidFill>
              <a:latin typeface="Arial"/>
              <a:cs typeface="Arial"/>
            </a:rPr>
            <a:t>Potential Benefits:</a:t>
          </a:r>
          <a:r>
            <a:rPr lang="en-US">
              <a:solidFill>
                <a:srgbClr val="000000"/>
              </a:solidFill>
              <a:latin typeface="Arial"/>
              <a:cs typeface="Arial"/>
            </a:rPr>
            <a:t> Short term minimization of risk, protects us/our vulnerable stakeholders from unwanted scrutiny or targeting </a:t>
          </a:r>
        </a:p>
      </dgm:t>
    </dgm:pt>
    <dgm:pt modelId="{ABF19877-AD56-4043-A1EE-47B73F1A80DF}" type="parTrans" cxnId="{292696AF-B02E-4A13-830A-0D9C2622BE0F}">
      <dgm:prSet/>
      <dgm:spPr/>
      <dgm:t>
        <a:bodyPr/>
        <a:lstStyle/>
        <a:p>
          <a:endParaRPr lang="en-US"/>
        </a:p>
      </dgm:t>
    </dgm:pt>
    <dgm:pt modelId="{C758103B-EB76-4AE1-BB60-1A1ED9329AE7}" type="sibTrans" cxnId="{292696AF-B02E-4A13-830A-0D9C2622BE0F}">
      <dgm:prSet/>
      <dgm:spPr/>
      <dgm:t>
        <a:bodyPr/>
        <a:lstStyle/>
        <a:p>
          <a:endParaRPr lang="en-US"/>
        </a:p>
      </dgm:t>
    </dgm:pt>
    <dgm:pt modelId="{0237814C-C324-448F-9F3B-BA2E76AA5169}">
      <dgm:prSet phldr="0"/>
      <dgm:spPr/>
      <dgm:t>
        <a:bodyPr/>
        <a:lstStyle/>
        <a:p>
          <a:pPr algn="l" rtl="0"/>
          <a:r>
            <a:rPr lang="en-US" b="1">
              <a:solidFill>
                <a:srgbClr val="000000"/>
              </a:solidFill>
              <a:latin typeface="Arial"/>
              <a:cs typeface="Arial"/>
            </a:rPr>
            <a:t>Potential Risks</a:t>
          </a:r>
          <a:r>
            <a:rPr lang="en-US">
              <a:solidFill>
                <a:srgbClr val="000000"/>
              </a:solidFill>
              <a:latin typeface="Arial"/>
              <a:cs typeface="Arial"/>
            </a:rPr>
            <a:t>: Lost momentum in reaching longer term goals; stakeholders could question where we are </a:t>
          </a:r>
        </a:p>
      </dgm:t>
    </dgm:pt>
    <dgm:pt modelId="{9738512C-99C8-4F19-B1C9-B56CC98B2B16}" type="parTrans" cxnId="{84E4BA06-7311-48DF-846E-F9A8E708B9BB}">
      <dgm:prSet/>
      <dgm:spPr/>
      <dgm:t>
        <a:bodyPr/>
        <a:lstStyle/>
        <a:p>
          <a:endParaRPr lang="en-US"/>
        </a:p>
      </dgm:t>
    </dgm:pt>
    <dgm:pt modelId="{B9EAAD45-8A97-4FB1-9FFC-EF9AF35E7B39}" type="sibTrans" cxnId="{84E4BA06-7311-48DF-846E-F9A8E708B9BB}">
      <dgm:prSet/>
      <dgm:spPr/>
      <dgm:t>
        <a:bodyPr/>
        <a:lstStyle/>
        <a:p>
          <a:endParaRPr lang="en-US"/>
        </a:p>
      </dgm:t>
    </dgm:pt>
    <dgm:pt modelId="{77BA5395-4560-415A-88FC-5B365985072D}">
      <dgm:prSet phldr="0" custT="1"/>
      <dgm:spPr/>
      <dgm:t>
        <a:bodyPr/>
        <a:lstStyle/>
        <a:p>
          <a:pPr algn="l" rtl="0"/>
          <a:r>
            <a:rPr lang="en-US" sz="2800" b="1">
              <a:solidFill>
                <a:srgbClr val="000000"/>
              </a:solidFill>
              <a:latin typeface="Arial"/>
              <a:cs typeface="Arial"/>
            </a:rPr>
            <a:t>Careful Engagement</a:t>
          </a:r>
          <a:r>
            <a:rPr lang="en-US" sz="3200" b="1">
              <a:solidFill>
                <a:srgbClr val="000000"/>
              </a:solidFill>
              <a:latin typeface="Arial"/>
              <a:cs typeface="Arial"/>
            </a:rPr>
            <a:t> </a:t>
          </a:r>
          <a:endParaRPr lang="en-US" sz="3200">
            <a:solidFill>
              <a:srgbClr val="000000"/>
            </a:solidFill>
            <a:latin typeface="Arial"/>
            <a:cs typeface="Arial"/>
          </a:endParaRPr>
        </a:p>
      </dgm:t>
    </dgm:pt>
    <dgm:pt modelId="{FAF9054F-E6C9-472F-BD66-6684EA9E0F3D}" type="parTrans" cxnId="{A82D994D-B6C8-42AD-8BEA-E8047817FA35}">
      <dgm:prSet/>
      <dgm:spPr/>
      <dgm:t>
        <a:bodyPr/>
        <a:lstStyle/>
        <a:p>
          <a:endParaRPr lang="en-US"/>
        </a:p>
      </dgm:t>
    </dgm:pt>
    <dgm:pt modelId="{9BC719B8-FFF5-46F2-9C5E-F3F377E21590}" type="sibTrans" cxnId="{A82D994D-B6C8-42AD-8BEA-E8047817FA35}">
      <dgm:prSet/>
      <dgm:spPr/>
      <dgm:t>
        <a:bodyPr/>
        <a:lstStyle/>
        <a:p>
          <a:endParaRPr lang="en-US"/>
        </a:p>
      </dgm:t>
    </dgm:pt>
    <dgm:pt modelId="{D806235B-E7E2-4C05-AB8C-1B89B8CEBA4A}">
      <dgm:prSet phldr="0"/>
      <dgm:spPr/>
      <dgm:t>
        <a:bodyPr/>
        <a:lstStyle/>
        <a:p>
          <a:pPr algn="l" rtl="0"/>
          <a:r>
            <a:rPr lang="en-US" b="1">
              <a:solidFill>
                <a:srgbClr val="000000"/>
              </a:solidFill>
              <a:latin typeface="Arial"/>
              <a:cs typeface="Arial"/>
            </a:rPr>
            <a:t>BMP's Potential Approach:</a:t>
          </a:r>
          <a:r>
            <a:rPr lang="en-US">
              <a:solidFill>
                <a:srgbClr val="000000"/>
              </a:solidFill>
              <a:latin typeface="Arial"/>
              <a:cs typeface="Arial"/>
            </a:rPr>
            <a:t> Careful/intentional external engagement reinforcing mission, values, purpose; working in more controlled, risk averse channels; business as usual </a:t>
          </a:r>
        </a:p>
      </dgm:t>
    </dgm:pt>
    <dgm:pt modelId="{78B40BFE-FEDC-4A92-9E62-EFDA517A1620}" type="parTrans" cxnId="{4D7E91CF-22EC-409B-AD2C-7B2BBA72B7BF}">
      <dgm:prSet/>
      <dgm:spPr/>
      <dgm:t>
        <a:bodyPr/>
        <a:lstStyle/>
        <a:p>
          <a:endParaRPr lang="en-US"/>
        </a:p>
      </dgm:t>
    </dgm:pt>
    <dgm:pt modelId="{3FBCC214-7C76-43A6-BA59-FA1C5E45E5AA}" type="sibTrans" cxnId="{4D7E91CF-22EC-409B-AD2C-7B2BBA72B7BF}">
      <dgm:prSet/>
      <dgm:spPr/>
      <dgm:t>
        <a:bodyPr/>
        <a:lstStyle/>
        <a:p>
          <a:endParaRPr lang="en-US"/>
        </a:p>
      </dgm:t>
    </dgm:pt>
    <dgm:pt modelId="{2BBECF70-95FE-4576-807B-9726DECA7F21}">
      <dgm:prSet phldr="0"/>
      <dgm:spPr/>
      <dgm:t>
        <a:bodyPr/>
        <a:lstStyle/>
        <a:p>
          <a:pPr algn="l" rtl="0"/>
          <a:r>
            <a:rPr lang="en-US" b="1">
              <a:solidFill>
                <a:srgbClr val="000000"/>
              </a:solidFill>
              <a:latin typeface="Arial"/>
              <a:cs typeface="Arial"/>
            </a:rPr>
            <a:t>Potential Benefits</a:t>
          </a:r>
          <a:r>
            <a:rPr lang="en-US">
              <a:solidFill>
                <a:srgbClr val="000000"/>
              </a:solidFill>
              <a:latin typeface="Arial"/>
              <a:cs typeface="Arial"/>
            </a:rPr>
            <a:t>: Continued momentum toward reaching goals; opportunity to focus on mission regardless of VUCA </a:t>
          </a:r>
        </a:p>
      </dgm:t>
    </dgm:pt>
    <dgm:pt modelId="{3ED67DD8-A953-4FBD-9F99-ABCA62FAAC26}" type="parTrans" cxnId="{1F731EBA-B867-4FB8-BCDA-A369555FA3B4}">
      <dgm:prSet/>
      <dgm:spPr/>
      <dgm:t>
        <a:bodyPr/>
        <a:lstStyle/>
        <a:p>
          <a:endParaRPr lang="en-US"/>
        </a:p>
      </dgm:t>
    </dgm:pt>
    <dgm:pt modelId="{720184C4-18EA-49A7-BD19-FDFAC4D993BA}" type="sibTrans" cxnId="{1F731EBA-B867-4FB8-BCDA-A369555FA3B4}">
      <dgm:prSet/>
      <dgm:spPr/>
      <dgm:t>
        <a:bodyPr/>
        <a:lstStyle/>
        <a:p>
          <a:endParaRPr lang="en-US"/>
        </a:p>
      </dgm:t>
    </dgm:pt>
    <dgm:pt modelId="{23C44AB7-3A87-4264-BD93-D938EC1A040F}">
      <dgm:prSet phldr="0"/>
      <dgm:spPr/>
      <dgm:t>
        <a:bodyPr/>
        <a:lstStyle/>
        <a:p>
          <a:pPr algn="l"/>
          <a:r>
            <a:rPr lang="en-US" b="1">
              <a:solidFill>
                <a:srgbClr val="000000"/>
              </a:solidFill>
              <a:latin typeface="Arial"/>
              <a:cs typeface="Arial"/>
            </a:rPr>
            <a:t>Potential Risks</a:t>
          </a:r>
          <a:r>
            <a:rPr lang="en-US">
              <a:solidFill>
                <a:srgbClr val="000000"/>
              </a:solidFill>
              <a:latin typeface="Arial"/>
              <a:cs typeface="Arial"/>
            </a:rPr>
            <a:t>: Could attract unwanted attention; misinterpretations of actions </a:t>
          </a:r>
        </a:p>
      </dgm:t>
    </dgm:pt>
    <dgm:pt modelId="{CA8A1AD5-53B4-4C75-87A0-6EB20B299B90}" type="parTrans" cxnId="{26894154-A723-4C64-891C-8DF51FB3E40B}">
      <dgm:prSet/>
      <dgm:spPr/>
      <dgm:t>
        <a:bodyPr/>
        <a:lstStyle/>
        <a:p>
          <a:endParaRPr lang="en-US"/>
        </a:p>
      </dgm:t>
    </dgm:pt>
    <dgm:pt modelId="{387977BD-1061-4EA0-ABE7-322C5C1E1D56}" type="sibTrans" cxnId="{26894154-A723-4C64-891C-8DF51FB3E40B}">
      <dgm:prSet/>
      <dgm:spPr/>
      <dgm:t>
        <a:bodyPr/>
        <a:lstStyle/>
        <a:p>
          <a:endParaRPr lang="en-US"/>
        </a:p>
      </dgm:t>
    </dgm:pt>
    <dgm:pt modelId="{26246B42-917D-4E0E-9654-E3A55EC3462D}">
      <dgm:prSet phldr="0" custT="1"/>
      <dgm:spPr/>
      <dgm:t>
        <a:bodyPr/>
        <a:lstStyle/>
        <a:p>
          <a:pPr algn="l"/>
          <a:r>
            <a:rPr lang="en-US" sz="2800" b="1">
              <a:solidFill>
                <a:srgbClr val="000000"/>
              </a:solidFill>
              <a:latin typeface="Arial"/>
              <a:cs typeface="Arial"/>
            </a:rPr>
            <a:t>Activism</a:t>
          </a:r>
          <a:endParaRPr lang="en-US" sz="4500">
            <a:solidFill>
              <a:srgbClr val="000000"/>
            </a:solidFill>
            <a:latin typeface="Arial"/>
            <a:cs typeface="Arial"/>
          </a:endParaRPr>
        </a:p>
      </dgm:t>
    </dgm:pt>
    <dgm:pt modelId="{491B9EC6-91C9-4436-A0D9-18032F0AAC65}" type="parTrans" cxnId="{2AA3D2E6-8B99-42EE-AF7A-C92E828AC08C}">
      <dgm:prSet/>
      <dgm:spPr/>
      <dgm:t>
        <a:bodyPr/>
        <a:lstStyle/>
        <a:p>
          <a:endParaRPr lang="en-US"/>
        </a:p>
      </dgm:t>
    </dgm:pt>
    <dgm:pt modelId="{EB3C4349-0FCF-4932-B8B4-DCCD37D56321}" type="sibTrans" cxnId="{2AA3D2E6-8B99-42EE-AF7A-C92E828AC08C}">
      <dgm:prSet/>
      <dgm:spPr/>
      <dgm:t>
        <a:bodyPr/>
        <a:lstStyle/>
        <a:p>
          <a:endParaRPr lang="en-US"/>
        </a:p>
      </dgm:t>
    </dgm:pt>
    <dgm:pt modelId="{B39E598E-EE7A-4476-A9D5-1CDCB39E766D}">
      <dgm:prSet phldr="0"/>
      <dgm:spPr/>
      <dgm:t>
        <a:bodyPr/>
        <a:lstStyle/>
        <a:p>
          <a:pPr algn="l" rtl="0"/>
          <a:r>
            <a:rPr lang="en-US" b="1">
              <a:solidFill>
                <a:srgbClr val="000000"/>
              </a:solidFill>
              <a:latin typeface="Arial"/>
              <a:cs typeface="Arial"/>
            </a:rPr>
            <a:t>BMP's Potential Approach</a:t>
          </a:r>
          <a:r>
            <a:rPr lang="en-US">
              <a:solidFill>
                <a:srgbClr val="000000"/>
              </a:solidFill>
              <a:latin typeface="Arial"/>
              <a:cs typeface="Arial"/>
            </a:rPr>
            <a:t>: Proactive opposition to political challenges, speaking up for philanthropy and/or BMP via bold statements</a:t>
          </a:r>
        </a:p>
      </dgm:t>
    </dgm:pt>
    <dgm:pt modelId="{9671BB1A-6FF9-4976-B2FF-DC7F889CBC8E}" type="parTrans" cxnId="{1B144EEF-208C-48A3-82BA-5D0166579FC5}">
      <dgm:prSet/>
      <dgm:spPr/>
      <dgm:t>
        <a:bodyPr/>
        <a:lstStyle/>
        <a:p>
          <a:endParaRPr lang="en-US"/>
        </a:p>
      </dgm:t>
    </dgm:pt>
    <dgm:pt modelId="{CEE20E72-9C6E-4224-B7CE-01A69DC20FA2}" type="sibTrans" cxnId="{1B144EEF-208C-48A3-82BA-5D0166579FC5}">
      <dgm:prSet/>
      <dgm:spPr/>
      <dgm:t>
        <a:bodyPr/>
        <a:lstStyle/>
        <a:p>
          <a:endParaRPr lang="en-US"/>
        </a:p>
      </dgm:t>
    </dgm:pt>
    <dgm:pt modelId="{131493CF-6B2D-470C-A7A9-9941552D1AA6}">
      <dgm:prSet phldr="0"/>
      <dgm:spPr/>
      <dgm:t>
        <a:bodyPr/>
        <a:lstStyle/>
        <a:p>
          <a:pPr algn="l">
            <a:lnSpc>
              <a:spcPct val="100000"/>
            </a:lnSpc>
            <a:spcAft>
              <a:spcPts val="0"/>
            </a:spcAft>
          </a:pPr>
          <a:r>
            <a:rPr lang="en-US" b="1">
              <a:solidFill>
                <a:srgbClr val="000000"/>
              </a:solidFill>
              <a:latin typeface="Arial"/>
              <a:cs typeface="Arial"/>
            </a:rPr>
            <a:t>Potential Benefits</a:t>
          </a:r>
          <a:r>
            <a:rPr lang="en-US">
              <a:solidFill>
                <a:srgbClr val="000000"/>
              </a:solidFill>
              <a:latin typeface="Arial"/>
              <a:cs typeface="Arial"/>
            </a:rPr>
            <a:t>: </a:t>
          </a:r>
        </a:p>
        <a:p>
          <a:pPr algn="l">
            <a:lnSpc>
              <a:spcPct val="100000"/>
            </a:lnSpc>
            <a:spcAft>
              <a:spcPts val="0"/>
            </a:spcAft>
          </a:pPr>
          <a:r>
            <a:rPr lang="en-US">
              <a:solidFill>
                <a:srgbClr val="000000"/>
              </a:solidFill>
              <a:latin typeface="Arial"/>
              <a:cs typeface="Arial"/>
            </a:rPr>
            <a:t>Demonstrates leadership among peers, fights back against injustice and mis/disinformation</a:t>
          </a:r>
        </a:p>
      </dgm:t>
    </dgm:pt>
    <dgm:pt modelId="{0A16F81C-4949-4956-8CEB-CB7C7AA6C55B}" type="parTrans" cxnId="{57B0397A-B69E-4F14-8B1A-A90684110804}">
      <dgm:prSet/>
      <dgm:spPr/>
      <dgm:t>
        <a:bodyPr/>
        <a:lstStyle/>
        <a:p>
          <a:endParaRPr lang="en-US"/>
        </a:p>
      </dgm:t>
    </dgm:pt>
    <dgm:pt modelId="{701AEE54-A397-427D-96F1-F3D44E27E253}" type="sibTrans" cxnId="{57B0397A-B69E-4F14-8B1A-A90684110804}">
      <dgm:prSet/>
      <dgm:spPr/>
      <dgm:t>
        <a:bodyPr/>
        <a:lstStyle/>
        <a:p>
          <a:endParaRPr lang="en-US"/>
        </a:p>
      </dgm:t>
    </dgm:pt>
    <dgm:pt modelId="{47775D62-FB39-48E0-8ED8-7715D2A0A3A7}">
      <dgm:prSet phldr="0"/>
      <dgm:spPr/>
      <dgm:t>
        <a:bodyPr/>
        <a:lstStyle/>
        <a:p>
          <a:pPr algn="l"/>
          <a:r>
            <a:rPr lang="en-US" b="1">
              <a:solidFill>
                <a:srgbClr val="000000"/>
              </a:solidFill>
              <a:latin typeface="Arial"/>
              <a:cs typeface="Arial"/>
            </a:rPr>
            <a:t>Potential Risks</a:t>
          </a:r>
          <a:r>
            <a:rPr lang="en-US">
              <a:solidFill>
                <a:srgbClr val="000000"/>
              </a:solidFill>
              <a:latin typeface="Arial"/>
              <a:cs typeface="Arial"/>
            </a:rPr>
            <a:t>: Makes BMP a target, can put partners and investees at great risk </a:t>
          </a:r>
        </a:p>
      </dgm:t>
    </dgm:pt>
    <dgm:pt modelId="{2FBF2FB4-864B-497B-9FCA-7F57E7BD6139}" type="parTrans" cxnId="{7EFA6F49-D429-4EBE-ADE0-8DBD07D002F3}">
      <dgm:prSet/>
      <dgm:spPr/>
      <dgm:t>
        <a:bodyPr/>
        <a:lstStyle/>
        <a:p>
          <a:endParaRPr lang="en-US"/>
        </a:p>
      </dgm:t>
    </dgm:pt>
    <dgm:pt modelId="{7CF979B3-088C-43B8-8AD1-A2B237BA7F84}" type="sibTrans" cxnId="{7EFA6F49-D429-4EBE-ADE0-8DBD07D002F3}">
      <dgm:prSet/>
      <dgm:spPr/>
      <dgm:t>
        <a:bodyPr/>
        <a:lstStyle/>
        <a:p>
          <a:endParaRPr lang="en-US"/>
        </a:p>
      </dgm:t>
    </dgm:pt>
    <dgm:pt modelId="{0D26D083-7698-4415-8A1A-AA1665718203}" type="pres">
      <dgm:prSet presAssocID="{56132E68-9E76-4345-8E54-A8AE74795DD9}" presName="theList" presStyleCnt="0">
        <dgm:presLayoutVars>
          <dgm:dir/>
          <dgm:animLvl val="lvl"/>
          <dgm:resizeHandles val="exact"/>
        </dgm:presLayoutVars>
      </dgm:prSet>
      <dgm:spPr/>
    </dgm:pt>
    <dgm:pt modelId="{F26E396C-DFF8-4C08-BE7A-3CE1D03AEA12}" type="pres">
      <dgm:prSet presAssocID="{42189F61-B6ED-4DDD-A590-47DF6A2344F7}" presName="compNode" presStyleCnt="0"/>
      <dgm:spPr/>
    </dgm:pt>
    <dgm:pt modelId="{B47502FC-9C23-48C8-90CE-3136AA46406C}" type="pres">
      <dgm:prSet presAssocID="{42189F61-B6ED-4DDD-A590-47DF6A2344F7}" presName="aNode" presStyleLbl="bgShp" presStyleIdx="0" presStyleCnt="3" custScaleY="83209"/>
      <dgm:spPr/>
    </dgm:pt>
    <dgm:pt modelId="{197620B2-3F38-4813-88D8-83AF18B2A41B}" type="pres">
      <dgm:prSet presAssocID="{42189F61-B6ED-4DDD-A590-47DF6A2344F7}" presName="textNode" presStyleLbl="bgShp" presStyleIdx="0" presStyleCnt="3"/>
      <dgm:spPr/>
    </dgm:pt>
    <dgm:pt modelId="{B3ECE6EF-D224-47EF-994D-47E2DA2DA703}" type="pres">
      <dgm:prSet presAssocID="{42189F61-B6ED-4DDD-A590-47DF6A2344F7}" presName="compChildNode" presStyleCnt="0"/>
      <dgm:spPr/>
    </dgm:pt>
    <dgm:pt modelId="{6A6767F9-C95C-4395-AD34-C2107113663B}" type="pres">
      <dgm:prSet presAssocID="{42189F61-B6ED-4DDD-A590-47DF6A2344F7}" presName="theInnerList" presStyleCnt="0"/>
      <dgm:spPr/>
    </dgm:pt>
    <dgm:pt modelId="{D0282B8B-8DF3-4C29-AE9E-2CC3815F662B}" type="pres">
      <dgm:prSet presAssocID="{541C7ED0-6FDF-4ADB-9F4A-DA914136243A}" presName="childNode" presStyleLbl="node1" presStyleIdx="0" presStyleCnt="9">
        <dgm:presLayoutVars>
          <dgm:bulletEnabled val="1"/>
        </dgm:presLayoutVars>
      </dgm:prSet>
      <dgm:spPr/>
    </dgm:pt>
    <dgm:pt modelId="{3F392440-7E96-4322-82BF-6405EA137172}" type="pres">
      <dgm:prSet presAssocID="{541C7ED0-6FDF-4ADB-9F4A-DA914136243A}" presName="aSpace2" presStyleCnt="0"/>
      <dgm:spPr/>
    </dgm:pt>
    <dgm:pt modelId="{A7909746-3E02-4776-9E80-9D1D4C105524}" type="pres">
      <dgm:prSet presAssocID="{4BCE3FC3-2650-4ED3-9CF8-0C0C02C7D85C}" presName="childNode" presStyleLbl="node1" presStyleIdx="1" presStyleCnt="9">
        <dgm:presLayoutVars>
          <dgm:bulletEnabled val="1"/>
        </dgm:presLayoutVars>
      </dgm:prSet>
      <dgm:spPr/>
    </dgm:pt>
    <dgm:pt modelId="{2EBA5F37-1150-419B-B381-48D585B37D82}" type="pres">
      <dgm:prSet presAssocID="{4BCE3FC3-2650-4ED3-9CF8-0C0C02C7D85C}" presName="aSpace2" presStyleCnt="0"/>
      <dgm:spPr/>
    </dgm:pt>
    <dgm:pt modelId="{4DA8579A-BB55-4BFA-A7C8-C64B3051BF61}" type="pres">
      <dgm:prSet presAssocID="{0237814C-C324-448F-9F3B-BA2E76AA5169}" presName="childNode" presStyleLbl="node1" presStyleIdx="2" presStyleCnt="9">
        <dgm:presLayoutVars>
          <dgm:bulletEnabled val="1"/>
        </dgm:presLayoutVars>
      </dgm:prSet>
      <dgm:spPr/>
    </dgm:pt>
    <dgm:pt modelId="{C3D91B7C-3F81-4C4B-A687-925228472CEC}" type="pres">
      <dgm:prSet presAssocID="{42189F61-B6ED-4DDD-A590-47DF6A2344F7}" presName="aSpace" presStyleCnt="0"/>
      <dgm:spPr/>
    </dgm:pt>
    <dgm:pt modelId="{78463840-7291-49F5-BBE6-F56916979B10}" type="pres">
      <dgm:prSet presAssocID="{77BA5395-4560-415A-88FC-5B365985072D}" presName="compNode" presStyleCnt="0"/>
      <dgm:spPr/>
    </dgm:pt>
    <dgm:pt modelId="{BDA2DB64-B04F-4CCC-ABFD-D26ECDD182DC}" type="pres">
      <dgm:prSet presAssocID="{77BA5395-4560-415A-88FC-5B365985072D}" presName="aNode" presStyleLbl="bgShp" presStyleIdx="1" presStyleCnt="3" custScaleY="83209"/>
      <dgm:spPr/>
    </dgm:pt>
    <dgm:pt modelId="{142643A2-494D-4CF2-8949-2C407B577634}" type="pres">
      <dgm:prSet presAssocID="{77BA5395-4560-415A-88FC-5B365985072D}" presName="textNode" presStyleLbl="bgShp" presStyleIdx="1" presStyleCnt="3"/>
      <dgm:spPr/>
    </dgm:pt>
    <dgm:pt modelId="{E8C2301E-655B-40A0-B820-7661CF30465E}" type="pres">
      <dgm:prSet presAssocID="{77BA5395-4560-415A-88FC-5B365985072D}" presName="compChildNode" presStyleCnt="0"/>
      <dgm:spPr/>
    </dgm:pt>
    <dgm:pt modelId="{1360FF8A-2523-4296-879A-3DBB4CBF2DA9}" type="pres">
      <dgm:prSet presAssocID="{77BA5395-4560-415A-88FC-5B365985072D}" presName="theInnerList" presStyleCnt="0"/>
      <dgm:spPr/>
    </dgm:pt>
    <dgm:pt modelId="{2BBC7CE3-7C5B-42C4-9F55-50EBDB651E11}" type="pres">
      <dgm:prSet presAssocID="{D806235B-E7E2-4C05-AB8C-1B89B8CEBA4A}" presName="childNode" presStyleLbl="node1" presStyleIdx="3" presStyleCnt="9">
        <dgm:presLayoutVars>
          <dgm:bulletEnabled val="1"/>
        </dgm:presLayoutVars>
      </dgm:prSet>
      <dgm:spPr/>
    </dgm:pt>
    <dgm:pt modelId="{D1F5AA4C-898A-43EE-BC4D-8323CE36483D}" type="pres">
      <dgm:prSet presAssocID="{D806235B-E7E2-4C05-AB8C-1B89B8CEBA4A}" presName="aSpace2" presStyleCnt="0"/>
      <dgm:spPr/>
    </dgm:pt>
    <dgm:pt modelId="{13553385-6FB2-4FF0-BC91-2747D534B521}" type="pres">
      <dgm:prSet presAssocID="{2BBECF70-95FE-4576-807B-9726DECA7F21}" presName="childNode" presStyleLbl="node1" presStyleIdx="4" presStyleCnt="9">
        <dgm:presLayoutVars>
          <dgm:bulletEnabled val="1"/>
        </dgm:presLayoutVars>
      </dgm:prSet>
      <dgm:spPr/>
    </dgm:pt>
    <dgm:pt modelId="{5934314B-74CE-4AA6-BE53-57B25D64FA3F}" type="pres">
      <dgm:prSet presAssocID="{2BBECF70-95FE-4576-807B-9726DECA7F21}" presName="aSpace2" presStyleCnt="0"/>
      <dgm:spPr/>
    </dgm:pt>
    <dgm:pt modelId="{40547D7B-316D-4C10-9AA7-4381AED8190F}" type="pres">
      <dgm:prSet presAssocID="{23C44AB7-3A87-4264-BD93-D938EC1A040F}" presName="childNode" presStyleLbl="node1" presStyleIdx="5" presStyleCnt="9">
        <dgm:presLayoutVars>
          <dgm:bulletEnabled val="1"/>
        </dgm:presLayoutVars>
      </dgm:prSet>
      <dgm:spPr/>
    </dgm:pt>
    <dgm:pt modelId="{59594EB8-D667-4B8B-82DE-1C7067E47D67}" type="pres">
      <dgm:prSet presAssocID="{77BA5395-4560-415A-88FC-5B365985072D}" presName="aSpace" presStyleCnt="0"/>
      <dgm:spPr/>
    </dgm:pt>
    <dgm:pt modelId="{81E050D5-AFA1-46BD-81E8-61B9CD3356DE}" type="pres">
      <dgm:prSet presAssocID="{26246B42-917D-4E0E-9654-E3A55EC3462D}" presName="compNode" presStyleCnt="0"/>
      <dgm:spPr/>
    </dgm:pt>
    <dgm:pt modelId="{44ACC78E-0C25-4281-B3E0-CB374299D7DD}" type="pres">
      <dgm:prSet presAssocID="{26246B42-917D-4E0E-9654-E3A55EC3462D}" presName="aNode" presStyleLbl="bgShp" presStyleIdx="2" presStyleCnt="3" custScaleY="83209"/>
      <dgm:spPr/>
    </dgm:pt>
    <dgm:pt modelId="{DCB1B11F-4963-4524-90BE-0FDBA2821CC5}" type="pres">
      <dgm:prSet presAssocID="{26246B42-917D-4E0E-9654-E3A55EC3462D}" presName="textNode" presStyleLbl="bgShp" presStyleIdx="2" presStyleCnt="3"/>
      <dgm:spPr/>
    </dgm:pt>
    <dgm:pt modelId="{58F711D7-5179-46C4-9584-B60AB5174A7D}" type="pres">
      <dgm:prSet presAssocID="{26246B42-917D-4E0E-9654-E3A55EC3462D}" presName="compChildNode" presStyleCnt="0"/>
      <dgm:spPr/>
    </dgm:pt>
    <dgm:pt modelId="{7EAFA509-E0D3-4672-B50D-20376CB2207F}" type="pres">
      <dgm:prSet presAssocID="{26246B42-917D-4E0E-9654-E3A55EC3462D}" presName="theInnerList" presStyleCnt="0"/>
      <dgm:spPr/>
    </dgm:pt>
    <dgm:pt modelId="{DC8F1C1A-EFE6-488F-9B04-60547B0C5AC7}" type="pres">
      <dgm:prSet presAssocID="{B39E598E-EE7A-4476-A9D5-1CDCB39E766D}" presName="childNode" presStyleLbl="node1" presStyleIdx="6" presStyleCnt="9">
        <dgm:presLayoutVars>
          <dgm:bulletEnabled val="1"/>
        </dgm:presLayoutVars>
      </dgm:prSet>
      <dgm:spPr/>
    </dgm:pt>
    <dgm:pt modelId="{E697A943-DD2F-4156-B6F3-BE8321B6C194}" type="pres">
      <dgm:prSet presAssocID="{B39E598E-EE7A-4476-A9D5-1CDCB39E766D}" presName="aSpace2" presStyleCnt="0"/>
      <dgm:spPr/>
    </dgm:pt>
    <dgm:pt modelId="{A1F857F3-158E-4420-BC54-998D73E79EE4}" type="pres">
      <dgm:prSet presAssocID="{131493CF-6B2D-470C-A7A9-9941552D1AA6}" presName="childNode" presStyleLbl="node1" presStyleIdx="7" presStyleCnt="9">
        <dgm:presLayoutVars>
          <dgm:bulletEnabled val="1"/>
        </dgm:presLayoutVars>
      </dgm:prSet>
      <dgm:spPr/>
    </dgm:pt>
    <dgm:pt modelId="{5C4414E8-DBC8-402E-8646-22E7D592F51C}" type="pres">
      <dgm:prSet presAssocID="{131493CF-6B2D-470C-A7A9-9941552D1AA6}" presName="aSpace2" presStyleCnt="0"/>
      <dgm:spPr/>
    </dgm:pt>
    <dgm:pt modelId="{F6445C87-C4EC-40CE-B76B-2A4E6AAC29EA}" type="pres">
      <dgm:prSet presAssocID="{47775D62-FB39-48E0-8ED8-7715D2A0A3A7}" presName="childNode" presStyleLbl="node1" presStyleIdx="8" presStyleCnt="9">
        <dgm:presLayoutVars>
          <dgm:bulletEnabled val="1"/>
        </dgm:presLayoutVars>
      </dgm:prSet>
      <dgm:spPr/>
    </dgm:pt>
  </dgm:ptLst>
  <dgm:cxnLst>
    <dgm:cxn modelId="{24F46104-9FF2-44E1-8453-DEBB68995A41}" type="presOf" srcId="{23C44AB7-3A87-4264-BD93-D938EC1A040F}" destId="{40547D7B-316D-4C10-9AA7-4381AED8190F}" srcOrd="0" destOrd="0" presId="urn:microsoft.com/office/officeart/2005/8/layout/lProcess2"/>
    <dgm:cxn modelId="{84E4BA06-7311-48DF-846E-F9A8E708B9BB}" srcId="{42189F61-B6ED-4DDD-A590-47DF6A2344F7}" destId="{0237814C-C324-448F-9F3B-BA2E76AA5169}" srcOrd="2" destOrd="0" parTransId="{9738512C-99C8-4F19-B1C9-B56CC98B2B16}" sibTransId="{B9EAAD45-8A97-4FB1-9FFC-EF9AF35E7B39}"/>
    <dgm:cxn modelId="{D588730D-98DB-484E-8323-DFFF1A7D469B}" type="presOf" srcId="{4BCE3FC3-2650-4ED3-9CF8-0C0C02C7D85C}" destId="{A7909746-3E02-4776-9E80-9D1D4C105524}" srcOrd="0" destOrd="0" presId="urn:microsoft.com/office/officeart/2005/8/layout/lProcess2"/>
    <dgm:cxn modelId="{B9CABD14-1C62-4B9F-9C16-0E6B46F5931E}" type="presOf" srcId="{26246B42-917D-4E0E-9654-E3A55EC3462D}" destId="{44ACC78E-0C25-4281-B3E0-CB374299D7DD}" srcOrd="0" destOrd="0" presId="urn:microsoft.com/office/officeart/2005/8/layout/lProcess2"/>
    <dgm:cxn modelId="{2BD0AC1B-456E-46AE-8FDE-DAE892385C30}" type="presOf" srcId="{131493CF-6B2D-470C-A7A9-9941552D1AA6}" destId="{A1F857F3-158E-4420-BC54-998D73E79EE4}" srcOrd="0" destOrd="0" presId="urn:microsoft.com/office/officeart/2005/8/layout/lProcess2"/>
    <dgm:cxn modelId="{ABE3C524-773D-47C6-9E41-DAEFCB81393D}" type="presOf" srcId="{42189F61-B6ED-4DDD-A590-47DF6A2344F7}" destId="{197620B2-3F38-4813-88D8-83AF18B2A41B}" srcOrd="1" destOrd="0" presId="urn:microsoft.com/office/officeart/2005/8/layout/lProcess2"/>
    <dgm:cxn modelId="{A654DA5D-F089-4002-A487-0E1874849903}" type="presOf" srcId="{56132E68-9E76-4345-8E54-A8AE74795DD9}" destId="{0D26D083-7698-4415-8A1A-AA1665718203}" srcOrd="0" destOrd="0" presId="urn:microsoft.com/office/officeart/2005/8/layout/lProcess2"/>
    <dgm:cxn modelId="{7C2B2D46-890F-40FF-876F-CF3C9654E297}" type="presOf" srcId="{0237814C-C324-448F-9F3B-BA2E76AA5169}" destId="{4DA8579A-BB55-4BFA-A7C8-C64B3051BF61}" srcOrd="0" destOrd="0" presId="urn:microsoft.com/office/officeart/2005/8/layout/lProcess2"/>
    <dgm:cxn modelId="{7EFA6F49-D429-4EBE-ADE0-8DBD07D002F3}" srcId="{26246B42-917D-4E0E-9654-E3A55EC3462D}" destId="{47775D62-FB39-48E0-8ED8-7715D2A0A3A7}" srcOrd="2" destOrd="0" parTransId="{2FBF2FB4-864B-497B-9FCA-7F57E7BD6139}" sibTransId="{7CF979B3-088C-43B8-8AD1-A2B237BA7F84}"/>
    <dgm:cxn modelId="{A82D994D-B6C8-42AD-8BEA-E8047817FA35}" srcId="{56132E68-9E76-4345-8E54-A8AE74795DD9}" destId="{77BA5395-4560-415A-88FC-5B365985072D}" srcOrd="1" destOrd="0" parTransId="{FAF9054F-E6C9-472F-BD66-6684EA9E0F3D}" sibTransId="{9BC719B8-FFF5-46F2-9C5E-F3F377E21590}"/>
    <dgm:cxn modelId="{613E2D70-03F1-4287-9C75-F0B79DBAFBCC}" type="presOf" srcId="{47775D62-FB39-48E0-8ED8-7715D2A0A3A7}" destId="{F6445C87-C4EC-40CE-B76B-2A4E6AAC29EA}" srcOrd="0" destOrd="0" presId="urn:microsoft.com/office/officeart/2005/8/layout/lProcess2"/>
    <dgm:cxn modelId="{26894154-A723-4C64-891C-8DF51FB3E40B}" srcId="{77BA5395-4560-415A-88FC-5B365985072D}" destId="{23C44AB7-3A87-4264-BD93-D938EC1A040F}" srcOrd="2" destOrd="0" parTransId="{CA8A1AD5-53B4-4C75-87A0-6EB20B299B90}" sibTransId="{387977BD-1061-4EA0-ABE7-322C5C1E1D56}"/>
    <dgm:cxn modelId="{57B0397A-B69E-4F14-8B1A-A90684110804}" srcId="{26246B42-917D-4E0E-9654-E3A55EC3462D}" destId="{131493CF-6B2D-470C-A7A9-9941552D1AA6}" srcOrd="1" destOrd="0" parTransId="{0A16F81C-4949-4956-8CEB-CB7C7AA6C55B}" sibTransId="{701AEE54-A397-427D-96F1-F3D44E27E253}"/>
    <dgm:cxn modelId="{10953C7B-19FC-4412-A267-48CBBE773636}" type="presOf" srcId="{B39E598E-EE7A-4476-A9D5-1CDCB39E766D}" destId="{DC8F1C1A-EFE6-488F-9B04-60547B0C5AC7}" srcOrd="0" destOrd="0" presId="urn:microsoft.com/office/officeart/2005/8/layout/lProcess2"/>
    <dgm:cxn modelId="{83011189-D42C-4B46-B37F-575BCC056AD8}" type="presOf" srcId="{77BA5395-4560-415A-88FC-5B365985072D}" destId="{BDA2DB64-B04F-4CCC-ABFD-D26ECDD182DC}" srcOrd="0" destOrd="0" presId="urn:microsoft.com/office/officeart/2005/8/layout/lProcess2"/>
    <dgm:cxn modelId="{67D55E8C-7290-43FD-B0CB-4022EFD27119}" srcId="{56132E68-9E76-4345-8E54-A8AE74795DD9}" destId="{42189F61-B6ED-4DDD-A590-47DF6A2344F7}" srcOrd="0" destOrd="0" parTransId="{42FE62CB-4D35-4B04-BFF8-AAE43CCDEE81}" sibTransId="{8F99A81E-F5D3-4400-AF41-2EFC3B234EC9}"/>
    <dgm:cxn modelId="{3CCEC8A7-2A30-4C10-A563-F9C6A78FEB5F}" type="presOf" srcId="{541C7ED0-6FDF-4ADB-9F4A-DA914136243A}" destId="{D0282B8B-8DF3-4C29-AE9E-2CC3815F662B}" srcOrd="0" destOrd="0" presId="urn:microsoft.com/office/officeart/2005/8/layout/lProcess2"/>
    <dgm:cxn modelId="{292696AF-B02E-4A13-830A-0D9C2622BE0F}" srcId="{42189F61-B6ED-4DDD-A590-47DF6A2344F7}" destId="{4BCE3FC3-2650-4ED3-9CF8-0C0C02C7D85C}" srcOrd="1" destOrd="0" parTransId="{ABF19877-AD56-4043-A1EE-47B73F1A80DF}" sibTransId="{C758103B-EB76-4AE1-BB60-1A1ED9329AE7}"/>
    <dgm:cxn modelId="{926331B4-596D-4972-BC04-06FF521A7427}" type="presOf" srcId="{D806235B-E7E2-4C05-AB8C-1B89B8CEBA4A}" destId="{2BBC7CE3-7C5B-42C4-9F55-50EBDB651E11}" srcOrd="0" destOrd="0" presId="urn:microsoft.com/office/officeart/2005/8/layout/lProcess2"/>
    <dgm:cxn modelId="{1F731EBA-B867-4FB8-BCDA-A369555FA3B4}" srcId="{77BA5395-4560-415A-88FC-5B365985072D}" destId="{2BBECF70-95FE-4576-807B-9726DECA7F21}" srcOrd="1" destOrd="0" parTransId="{3ED67DD8-A953-4FBD-9F99-ABCA62FAAC26}" sibTransId="{720184C4-18EA-49A7-BD19-FDFAC4D993BA}"/>
    <dgm:cxn modelId="{11C7B8BD-FFC1-4426-9996-16503FC3A13C}" type="presOf" srcId="{77BA5395-4560-415A-88FC-5B365985072D}" destId="{142643A2-494D-4CF2-8949-2C407B577634}" srcOrd="1" destOrd="0" presId="urn:microsoft.com/office/officeart/2005/8/layout/lProcess2"/>
    <dgm:cxn modelId="{4D7E91CF-22EC-409B-AD2C-7B2BBA72B7BF}" srcId="{77BA5395-4560-415A-88FC-5B365985072D}" destId="{D806235B-E7E2-4C05-AB8C-1B89B8CEBA4A}" srcOrd="0" destOrd="0" parTransId="{78B40BFE-FEDC-4A92-9E62-EFDA517A1620}" sibTransId="{3FBCC214-7C76-43A6-BA59-FA1C5E45E5AA}"/>
    <dgm:cxn modelId="{001124D6-F45F-49A7-A7BC-F01FEB26030E}" srcId="{42189F61-B6ED-4DDD-A590-47DF6A2344F7}" destId="{541C7ED0-6FDF-4ADB-9F4A-DA914136243A}" srcOrd="0" destOrd="0" parTransId="{27FE6481-5101-47A0-AF90-EA42E7389B05}" sibTransId="{D900A5B3-3178-4D99-9252-D9A08C99BC69}"/>
    <dgm:cxn modelId="{46C7FBDE-15EC-4574-9C88-BC2EC6E5130A}" type="presOf" srcId="{2BBECF70-95FE-4576-807B-9726DECA7F21}" destId="{13553385-6FB2-4FF0-BC91-2747D534B521}" srcOrd="0" destOrd="0" presId="urn:microsoft.com/office/officeart/2005/8/layout/lProcess2"/>
    <dgm:cxn modelId="{2AA3D2E6-8B99-42EE-AF7A-C92E828AC08C}" srcId="{56132E68-9E76-4345-8E54-A8AE74795DD9}" destId="{26246B42-917D-4E0E-9654-E3A55EC3462D}" srcOrd="2" destOrd="0" parTransId="{491B9EC6-91C9-4436-A0D9-18032F0AAC65}" sibTransId="{EB3C4349-0FCF-4932-B8B4-DCCD37D56321}"/>
    <dgm:cxn modelId="{68BA46E9-DE78-4AB6-B921-6EF9D334B0DE}" type="presOf" srcId="{42189F61-B6ED-4DDD-A590-47DF6A2344F7}" destId="{B47502FC-9C23-48C8-90CE-3136AA46406C}" srcOrd="0" destOrd="0" presId="urn:microsoft.com/office/officeart/2005/8/layout/lProcess2"/>
    <dgm:cxn modelId="{91D668ED-991D-4B28-93BF-7776EEA4CE5F}" type="presOf" srcId="{26246B42-917D-4E0E-9654-E3A55EC3462D}" destId="{DCB1B11F-4963-4524-90BE-0FDBA2821CC5}" srcOrd="1" destOrd="0" presId="urn:microsoft.com/office/officeart/2005/8/layout/lProcess2"/>
    <dgm:cxn modelId="{1B144EEF-208C-48A3-82BA-5D0166579FC5}" srcId="{26246B42-917D-4E0E-9654-E3A55EC3462D}" destId="{B39E598E-EE7A-4476-A9D5-1CDCB39E766D}" srcOrd="0" destOrd="0" parTransId="{9671BB1A-6FF9-4976-B2FF-DC7F889CBC8E}" sibTransId="{CEE20E72-9C6E-4224-B7CE-01A69DC20FA2}"/>
    <dgm:cxn modelId="{1261986C-38EA-43EB-9B89-E80C9D67A7CE}" type="presParOf" srcId="{0D26D083-7698-4415-8A1A-AA1665718203}" destId="{F26E396C-DFF8-4C08-BE7A-3CE1D03AEA12}" srcOrd="0" destOrd="0" presId="urn:microsoft.com/office/officeart/2005/8/layout/lProcess2"/>
    <dgm:cxn modelId="{F31E791E-6449-4EC3-813E-6C40B806F0DD}" type="presParOf" srcId="{F26E396C-DFF8-4C08-BE7A-3CE1D03AEA12}" destId="{B47502FC-9C23-48C8-90CE-3136AA46406C}" srcOrd="0" destOrd="0" presId="urn:microsoft.com/office/officeart/2005/8/layout/lProcess2"/>
    <dgm:cxn modelId="{32ECE325-482B-44C6-B084-48474316D08B}" type="presParOf" srcId="{F26E396C-DFF8-4C08-BE7A-3CE1D03AEA12}" destId="{197620B2-3F38-4813-88D8-83AF18B2A41B}" srcOrd="1" destOrd="0" presId="urn:microsoft.com/office/officeart/2005/8/layout/lProcess2"/>
    <dgm:cxn modelId="{B315D905-0883-44F1-ACA2-BD5124CBE8DA}" type="presParOf" srcId="{F26E396C-DFF8-4C08-BE7A-3CE1D03AEA12}" destId="{B3ECE6EF-D224-47EF-994D-47E2DA2DA703}" srcOrd="2" destOrd="0" presId="urn:microsoft.com/office/officeart/2005/8/layout/lProcess2"/>
    <dgm:cxn modelId="{30FE3341-90B3-4324-81D3-32101977FF55}" type="presParOf" srcId="{B3ECE6EF-D224-47EF-994D-47E2DA2DA703}" destId="{6A6767F9-C95C-4395-AD34-C2107113663B}" srcOrd="0" destOrd="0" presId="urn:microsoft.com/office/officeart/2005/8/layout/lProcess2"/>
    <dgm:cxn modelId="{0D577B51-BB9A-483B-A694-011133D10D72}" type="presParOf" srcId="{6A6767F9-C95C-4395-AD34-C2107113663B}" destId="{D0282B8B-8DF3-4C29-AE9E-2CC3815F662B}" srcOrd="0" destOrd="0" presId="urn:microsoft.com/office/officeart/2005/8/layout/lProcess2"/>
    <dgm:cxn modelId="{8647DFB8-63DE-4C68-A957-ACC05DBAA9F8}" type="presParOf" srcId="{6A6767F9-C95C-4395-AD34-C2107113663B}" destId="{3F392440-7E96-4322-82BF-6405EA137172}" srcOrd="1" destOrd="0" presId="urn:microsoft.com/office/officeart/2005/8/layout/lProcess2"/>
    <dgm:cxn modelId="{9508AFC9-0A86-4AA6-B06A-C92249836F6E}" type="presParOf" srcId="{6A6767F9-C95C-4395-AD34-C2107113663B}" destId="{A7909746-3E02-4776-9E80-9D1D4C105524}" srcOrd="2" destOrd="0" presId="urn:microsoft.com/office/officeart/2005/8/layout/lProcess2"/>
    <dgm:cxn modelId="{A80B2A30-AFBE-41A1-AC3F-5EA01CBE5EDC}" type="presParOf" srcId="{6A6767F9-C95C-4395-AD34-C2107113663B}" destId="{2EBA5F37-1150-419B-B381-48D585B37D82}" srcOrd="3" destOrd="0" presId="urn:microsoft.com/office/officeart/2005/8/layout/lProcess2"/>
    <dgm:cxn modelId="{AACB29F1-675D-466B-9DE3-A73036A18BBD}" type="presParOf" srcId="{6A6767F9-C95C-4395-AD34-C2107113663B}" destId="{4DA8579A-BB55-4BFA-A7C8-C64B3051BF61}" srcOrd="4" destOrd="0" presId="urn:microsoft.com/office/officeart/2005/8/layout/lProcess2"/>
    <dgm:cxn modelId="{DA056837-1EC4-4CD7-AF50-01C0D68ACB9C}" type="presParOf" srcId="{0D26D083-7698-4415-8A1A-AA1665718203}" destId="{C3D91B7C-3F81-4C4B-A687-925228472CEC}" srcOrd="1" destOrd="0" presId="urn:microsoft.com/office/officeart/2005/8/layout/lProcess2"/>
    <dgm:cxn modelId="{91D89479-39E1-4D44-A98C-0F068A402B24}" type="presParOf" srcId="{0D26D083-7698-4415-8A1A-AA1665718203}" destId="{78463840-7291-49F5-BBE6-F56916979B10}" srcOrd="2" destOrd="0" presId="urn:microsoft.com/office/officeart/2005/8/layout/lProcess2"/>
    <dgm:cxn modelId="{00CAA96E-66F3-4878-92D2-86C8D2B0BC7C}" type="presParOf" srcId="{78463840-7291-49F5-BBE6-F56916979B10}" destId="{BDA2DB64-B04F-4CCC-ABFD-D26ECDD182DC}" srcOrd="0" destOrd="0" presId="urn:microsoft.com/office/officeart/2005/8/layout/lProcess2"/>
    <dgm:cxn modelId="{52A8DEFD-5D07-48DF-B7E7-5DEC2B4B4DB3}" type="presParOf" srcId="{78463840-7291-49F5-BBE6-F56916979B10}" destId="{142643A2-494D-4CF2-8949-2C407B577634}" srcOrd="1" destOrd="0" presId="urn:microsoft.com/office/officeart/2005/8/layout/lProcess2"/>
    <dgm:cxn modelId="{A4C3090A-43E8-42D5-9814-952B292AEFF9}" type="presParOf" srcId="{78463840-7291-49F5-BBE6-F56916979B10}" destId="{E8C2301E-655B-40A0-B820-7661CF30465E}" srcOrd="2" destOrd="0" presId="urn:microsoft.com/office/officeart/2005/8/layout/lProcess2"/>
    <dgm:cxn modelId="{EA5FA82D-8A18-4239-82FE-FBA1255798D9}" type="presParOf" srcId="{E8C2301E-655B-40A0-B820-7661CF30465E}" destId="{1360FF8A-2523-4296-879A-3DBB4CBF2DA9}" srcOrd="0" destOrd="0" presId="urn:microsoft.com/office/officeart/2005/8/layout/lProcess2"/>
    <dgm:cxn modelId="{8E96DDDA-D1ED-4D81-ABC7-0E72959D4D5C}" type="presParOf" srcId="{1360FF8A-2523-4296-879A-3DBB4CBF2DA9}" destId="{2BBC7CE3-7C5B-42C4-9F55-50EBDB651E11}" srcOrd="0" destOrd="0" presId="urn:microsoft.com/office/officeart/2005/8/layout/lProcess2"/>
    <dgm:cxn modelId="{A415BD42-3E4C-48A4-8255-DCD6397484ED}" type="presParOf" srcId="{1360FF8A-2523-4296-879A-3DBB4CBF2DA9}" destId="{D1F5AA4C-898A-43EE-BC4D-8323CE36483D}" srcOrd="1" destOrd="0" presId="urn:microsoft.com/office/officeart/2005/8/layout/lProcess2"/>
    <dgm:cxn modelId="{771167DD-0B7C-4061-9F6D-6C12C1EAD391}" type="presParOf" srcId="{1360FF8A-2523-4296-879A-3DBB4CBF2DA9}" destId="{13553385-6FB2-4FF0-BC91-2747D534B521}" srcOrd="2" destOrd="0" presId="urn:microsoft.com/office/officeart/2005/8/layout/lProcess2"/>
    <dgm:cxn modelId="{855F2339-8FAC-4EB7-9EDC-33AA9759F22D}" type="presParOf" srcId="{1360FF8A-2523-4296-879A-3DBB4CBF2DA9}" destId="{5934314B-74CE-4AA6-BE53-57B25D64FA3F}" srcOrd="3" destOrd="0" presId="urn:microsoft.com/office/officeart/2005/8/layout/lProcess2"/>
    <dgm:cxn modelId="{DC71D03E-D017-43C5-8BA9-4BC2A57472CC}" type="presParOf" srcId="{1360FF8A-2523-4296-879A-3DBB4CBF2DA9}" destId="{40547D7B-316D-4C10-9AA7-4381AED8190F}" srcOrd="4" destOrd="0" presId="urn:microsoft.com/office/officeart/2005/8/layout/lProcess2"/>
    <dgm:cxn modelId="{E2333E5C-5166-45E8-AFB2-44F187BEC6B0}" type="presParOf" srcId="{0D26D083-7698-4415-8A1A-AA1665718203}" destId="{59594EB8-D667-4B8B-82DE-1C7067E47D67}" srcOrd="3" destOrd="0" presId="urn:microsoft.com/office/officeart/2005/8/layout/lProcess2"/>
    <dgm:cxn modelId="{4C9E1905-19DE-4938-9689-1D6426419DFD}" type="presParOf" srcId="{0D26D083-7698-4415-8A1A-AA1665718203}" destId="{81E050D5-AFA1-46BD-81E8-61B9CD3356DE}" srcOrd="4" destOrd="0" presId="urn:microsoft.com/office/officeart/2005/8/layout/lProcess2"/>
    <dgm:cxn modelId="{690AA4F1-3365-4D30-80B2-6F4D3B3F8F3A}" type="presParOf" srcId="{81E050D5-AFA1-46BD-81E8-61B9CD3356DE}" destId="{44ACC78E-0C25-4281-B3E0-CB374299D7DD}" srcOrd="0" destOrd="0" presId="urn:microsoft.com/office/officeart/2005/8/layout/lProcess2"/>
    <dgm:cxn modelId="{79EB9FF5-1B3E-46A7-AF9D-F2D2DFEBD0F7}" type="presParOf" srcId="{81E050D5-AFA1-46BD-81E8-61B9CD3356DE}" destId="{DCB1B11F-4963-4524-90BE-0FDBA2821CC5}" srcOrd="1" destOrd="0" presId="urn:microsoft.com/office/officeart/2005/8/layout/lProcess2"/>
    <dgm:cxn modelId="{E8BE5A9B-457D-425D-A066-01BD840B95E9}" type="presParOf" srcId="{81E050D5-AFA1-46BD-81E8-61B9CD3356DE}" destId="{58F711D7-5179-46C4-9584-B60AB5174A7D}" srcOrd="2" destOrd="0" presId="urn:microsoft.com/office/officeart/2005/8/layout/lProcess2"/>
    <dgm:cxn modelId="{A36284B7-5A23-4DB1-B64D-AFF74B5B9A5A}" type="presParOf" srcId="{58F711D7-5179-46C4-9584-B60AB5174A7D}" destId="{7EAFA509-E0D3-4672-B50D-20376CB2207F}" srcOrd="0" destOrd="0" presId="urn:microsoft.com/office/officeart/2005/8/layout/lProcess2"/>
    <dgm:cxn modelId="{505699CF-7CA4-4D99-866C-C6AAAEE478E2}" type="presParOf" srcId="{7EAFA509-E0D3-4672-B50D-20376CB2207F}" destId="{DC8F1C1A-EFE6-488F-9B04-60547B0C5AC7}" srcOrd="0" destOrd="0" presId="urn:microsoft.com/office/officeart/2005/8/layout/lProcess2"/>
    <dgm:cxn modelId="{EF3DBCA7-CAC3-43A1-B82E-79029C5F6C6A}" type="presParOf" srcId="{7EAFA509-E0D3-4672-B50D-20376CB2207F}" destId="{E697A943-DD2F-4156-B6F3-BE8321B6C194}" srcOrd="1" destOrd="0" presId="urn:microsoft.com/office/officeart/2005/8/layout/lProcess2"/>
    <dgm:cxn modelId="{E49AA62A-8C86-43A3-B97D-C58E72AB7108}" type="presParOf" srcId="{7EAFA509-E0D3-4672-B50D-20376CB2207F}" destId="{A1F857F3-158E-4420-BC54-998D73E79EE4}" srcOrd="2" destOrd="0" presId="urn:microsoft.com/office/officeart/2005/8/layout/lProcess2"/>
    <dgm:cxn modelId="{02FA9AE5-79D6-4F77-A4DD-8F80615B1EEB}" type="presParOf" srcId="{7EAFA509-E0D3-4672-B50D-20376CB2207F}" destId="{5C4414E8-DBC8-402E-8646-22E7D592F51C}" srcOrd="3" destOrd="0" presId="urn:microsoft.com/office/officeart/2005/8/layout/lProcess2"/>
    <dgm:cxn modelId="{7CCEEEFD-12A5-4FD5-A760-C1CD0CAC7DAB}" type="presParOf" srcId="{7EAFA509-E0D3-4672-B50D-20376CB2207F}" destId="{F6445C87-C4EC-40CE-B76B-2A4E6AAC29EA}"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7502FC-9C23-48C8-90CE-3136AA46406C}">
      <dsp:nvSpPr>
        <dsp:cNvPr id="0" name=""/>
        <dsp:cNvSpPr/>
      </dsp:nvSpPr>
      <dsp:spPr>
        <a:xfrm>
          <a:off x="1063" y="322011"/>
          <a:ext cx="2764323" cy="39979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n-US" sz="2800" b="1" kern="1200">
              <a:solidFill>
                <a:srgbClr val="000000"/>
              </a:solidFill>
              <a:latin typeface="Arial"/>
              <a:cs typeface="Arial"/>
            </a:rPr>
            <a:t>Observation</a:t>
          </a:r>
          <a:endParaRPr lang="en-US" sz="3200" kern="1200">
            <a:solidFill>
              <a:srgbClr val="000000"/>
            </a:solidFill>
            <a:latin typeface="Arial"/>
            <a:cs typeface="Arial"/>
          </a:endParaRPr>
        </a:p>
      </dsp:txBody>
      <dsp:txXfrm>
        <a:off x="1063" y="322011"/>
        <a:ext cx="2764323" cy="1199381"/>
      </dsp:txXfrm>
    </dsp:sp>
    <dsp:sp modelId="{D0282B8B-8DF3-4C29-AE9E-2CC3815F662B}">
      <dsp:nvSpPr>
        <dsp:cNvPr id="0" name=""/>
        <dsp:cNvSpPr/>
      </dsp:nvSpPr>
      <dsp:spPr>
        <a:xfrm>
          <a:off x="277495" y="1360452"/>
          <a:ext cx="2211458" cy="94393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l" defTabSz="444500" rtl="0">
            <a:lnSpc>
              <a:spcPct val="90000"/>
            </a:lnSpc>
            <a:spcBef>
              <a:spcPct val="0"/>
            </a:spcBef>
            <a:spcAft>
              <a:spcPct val="35000"/>
            </a:spcAft>
            <a:buNone/>
          </a:pPr>
          <a:r>
            <a:rPr lang="en-US" sz="1000" b="1" kern="1200">
              <a:solidFill>
                <a:srgbClr val="000000"/>
              </a:solidFill>
              <a:latin typeface="Arial"/>
              <a:cs typeface="Arial"/>
            </a:rPr>
            <a:t>BMP's Potential Approach</a:t>
          </a:r>
          <a:r>
            <a:rPr lang="en-US" sz="1000" kern="1200">
              <a:solidFill>
                <a:srgbClr val="000000"/>
              </a:solidFill>
              <a:latin typeface="Arial"/>
              <a:cs typeface="Arial"/>
            </a:rPr>
            <a:t>: Quiet – no/extremely limited external comms (events, media, social); limited internal comms </a:t>
          </a:r>
        </a:p>
      </dsp:txBody>
      <dsp:txXfrm>
        <a:off x="305142" y="1388099"/>
        <a:ext cx="2156164" cy="888636"/>
      </dsp:txXfrm>
    </dsp:sp>
    <dsp:sp modelId="{A7909746-3E02-4776-9E80-9D1D4C105524}">
      <dsp:nvSpPr>
        <dsp:cNvPr id="0" name=""/>
        <dsp:cNvSpPr/>
      </dsp:nvSpPr>
      <dsp:spPr>
        <a:xfrm>
          <a:off x="277495" y="2449602"/>
          <a:ext cx="2211458" cy="94393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l" defTabSz="444500">
            <a:lnSpc>
              <a:spcPct val="90000"/>
            </a:lnSpc>
            <a:spcBef>
              <a:spcPct val="0"/>
            </a:spcBef>
            <a:spcAft>
              <a:spcPct val="35000"/>
            </a:spcAft>
            <a:buNone/>
          </a:pPr>
          <a:r>
            <a:rPr lang="en-US" sz="1000" b="1" kern="1200">
              <a:solidFill>
                <a:srgbClr val="000000"/>
              </a:solidFill>
              <a:latin typeface="Arial"/>
              <a:cs typeface="Arial"/>
            </a:rPr>
            <a:t>Potential Benefits:</a:t>
          </a:r>
          <a:r>
            <a:rPr lang="en-US" sz="1000" kern="1200">
              <a:solidFill>
                <a:srgbClr val="000000"/>
              </a:solidFill>
              <a:latin typeface="Arial"/>
              <a:cs typeface="Arial"/>
            </a:rPr>
            <a:t> Short term minimization of risk, protects us/our vulnerable stakeholders from unwanted scrutiny or targeting </a:t>
          </a:r>
        </a:p>
      </dsp:txBody>
      <dsp:txXfrm>
        <a:off x="305142" y="2477249"/>
        <a:ext cx="2156164" cy="888636"/>
      </dsp:txXfrm>
    </dsp:sp>
    <dsp:sp modelId="{4DA8579A-BB55-4BFA-A7C8-C64B3051BF61}">
      <dsp:nvSpPr>
        <dsp:cNvPr id="0" name=""/>
        <dsp:cNvSpPr/>
      </dsp:nvSpPr>
      <dsp:spPr>
        <a:xfrm>
          <a:off x="277495" y="3538753"/>
          <a:ext cx="2211458" cy="94393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l" defTabSz="444500" rtl="0">
            <a:lnSpc>
              <a:spcPct val="90000"/>
            </a:lnSpc>
            <a:spcBef>
              <a:spcPct val="0"/>
            </a:spcBef>
            <a:spcAft>
              <a:spcPct val="35000"/>
            </a:spcAft>
            <a:buNone/>
          </a:pPr>
          <a:r>
            <a:rPr lang="en-US" sz="1000" b="1" kern="1200">
              <a:solidFill>
                <a:srgbClr val="000000"/>
              </a:solidFill>
              <a:latin typeface="Arial"/>
              <a:cs typeface="Arial"/>
            </a:rPr>
            <a:t>Potential Risks</a:t>
          </a:r>
          <a:r>
            <a:rPr lang="en-US" sz="1000" kern="1200">
              <a:solidFill>
                <a:srgbClr val="000000"/>
              </a:solidFill>
              <a:latin typeface="Arial"/>
              <a:cs typeface="Arial"/>
            </a:rPr>
            <a:t>: Lost momentum in reaching longer term goals; stakeholders could question where we are </a:t>
          </a:r>
        </a:p>
      </dsp:txBody>
      <dsp:txXfrm>
        <a:off x="305142" y="3566400"/>
        <a:ext cx="2156164" cy="888636"/>
      </dsp:txXfrm>
    </dsp:sp>
    <dsp:sp modelId="{BDA2DB64-B04F-4CCC-ABFD-D26ECDD182DC}">
      <dsp:nvSpPr>
        <dsp:cNvPr id="0" name=""/>
        <dsp:cNvSpPr/>
      </dsp:nvSpPr>
      <dsp:spPr>
        <a:xfrm>
          <a:off x="2972710" y="322011"/>
          <a:ext cx="2764323" cy="39979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n-US" sz="2800" b="1" kern="1200">
              <a:solidFill>
                <a:srgbClr val="000000"/>
              </a:solidFill>
              <a:latin typeface="Arial"/>
              <a:cs typeface="Arial"/>
            </a:rPr>
            <a:t>Careful Engagement</a:t>
          </a:r>
          <a:r>
            <a:rPr lang="en-US" sz="3200" b="1" kern="1200">
              <a:solidFill>
                <a:srgbClr val="000000"/>
              </a:solidFill>
              <a:latin typeface="Arial"/>
              <a:cs typeface="Arial"/>
            </a:rPr>
            <a:t> </a:t>
          </a:r>
          <a:endParaRPr lang="en-US" sz="3200" kern="1200">
            <a:solidFill>
              <a:srgbClr val="000000"/>
            </a:solidFill>
            <a:latin typeface="Arial"/>
            <a:cs typeface="Arial"/>
          </a:endParaRPr>
        </a:p>
      </dsp:txBody>
      <dsp:txXfrm>
        <a:off x="2972710" y="322011"/>
        <a:ext cx="2764323" cy="1199381"/>
      </dsp:txXfrm>
    </dsp:sp>
    <dsp:sp modelId="{2BBC7CE3-7C5B-42C4-9F55-50EBDB651E11}">
      <dsp:nvSpPr>
        <dsp:cNvPr id="0" name=""/>
        <dsp:cNvSpPr/>
      </dsp:nvSpPr>
      <dsp:spPr>
        <a:xfrm>
          <a:off x="3249142" y="1360452"/>
          <a:ext cx="2211458" cy="94393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l" defTabSz="444500" rtl="0">
            <a:lnSpc>
              <a:spcPct val="90000"/>
            </a:lnSpc>
            <a:spcBef>
              <a:spcPct val="0"/>
            </a:spcBef>
            <a:spcAft>
              <a:spcPct val="35000"/>
            </a:spcAft>
            <a:buNone/>
          </a:pPr>
          <a:r>
            <a:rPr lang="en-US" sz="1000" b="1" kern="1200">
              <a:solidFill>
                <a:srgbClr val="000000"/>
              </a:solidFill>
              <a:latin typeface="Arial"/>
              <a:cs typeface="Arial"/>
            </a:rPr>
            <a:t>BMP's Potential Approach:</a:t>
          </a:r>
          <a:r>
            <a:rPr lang="en-US" sz="1000" kern="1200">
              <a:solidFill>
                <a:srgbClr val="000000"/>
              </a:solidFill>
              <a:latin typeface="Arial"/>
              <a:cs typeface="Arial"/>
            </a:rPr>
            <a:t> Careful/intentional external engagement reinforcing mission, values, purpose; working in more controlled, risk averse channels; business as usual </a:t>
          </a:r>
        </a:p>
      </dsp:txBody>
      <dsp:txXfrm>
        <a:off x="3276789" y="1388099"/>
        <a:ext cx="2156164" cy="888636"/>
      </dsp:txXfrm>
    </dsp:sp>
    <dsp:sp modelId="{13553385-6FB2-4FF0-BC91-2747D534B521}">
      <dsp:nvSpPr>
        <dsp:cNvPr id="0" name=""/>
        <dsp:cNvSpPr/>
      </dsp:nvSpPr>
      <dsp:spPr>
        <a:xfrm>
          <a:off x="3249142" y="2449602"/>
          <a:ext cx="2211458" cy="94393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l" defTabSz="444500" rtl="0">
            <a:lnSpc>
              <a:spcPct val="90000"/>
            </a:lnSpc>
            <a:spcBef>
              <a:spcPct val="0"/>
            </a:spcBef>
            <a:spcAft>
              <a:spcPct val="35000"/>
            </a:spcAft>
            <a:buNone/>
          </a:pPr>
          <a:r>
            <a:rPr lang="en-US" sz="1000" b="1" kern="1200">
              <a:solidFill>
                <a:srgbClr val="000000"/>
              </a:solidFill>
              <a:latin typeface="Arial"/>
              <a:cs typeface="Arial"/>
            </a:rPr>
            <a:t>Potential Benefits</a:t>
          </a:r>
          <a:r>
            <a:rPr lang="en-US" sz="1000" kern="1200">
              <a:solidFill>
                <a:srgbClr val="000000"/>
              </a:solidFill>
              <a:latin typeface="Arial"/>
              <a:cs typeface="Arial"/>
            </a:rPr>
            <a:t>: Continued momentum toward reaching goals; opportunity to focus on mission regardless of VUCA </a:t>
          </a:r>
        </a:p>
      </dsp:txBody>
      <dsp:txXfrm>
        <a:off x="3276789" y="2477249"/>
        <a:ext cx="2156164" cy="888636"/>
      </dsp:txXfrm>
    </dsp:sp>
    <dsp:sp modelId="{40547D7B-316D-4C10-9AA7-4381AED8190F}">
      <dsp:nvSpPr>
        <dsp:cNvPr id="0" name=""/>
        <dsp:cNvSpPr/>
      </dsp:nvSpPr>
      <dsp:spPr>
        <a:xfrm>
          <a:off x="3249142" y="3538753"/>
          <a:ext cx="2211458" cy="94393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l" defTabSz="444500">
            <a:lnSpc>
              <a:spcPct val="90000"/>
            </a:lnSpc>
            <a:spcBef>
              <a:spcPct val="0"/>
            </a:spcBef>
            <a:spcAft>
              <a:spcPct val="35000"/>
            </a:spcAft>
            <a:buNone/>
          </a:pPr>
          <a:r>
            <a:rPr lang="en-US" sz="1000" b="1" kern="1200">
              <a:solidFill>
                <a:srgbClr val="000000"/>
              </a:solidFill>
              <a:latin typeface="Arial"/>
              <a:cs typeface="Arial"/>
            </a:rPr>
            <a:t>Potential Risks</a:t>
          </a:r>
          <a:r>
            <a:rPr lang="en-US" sz="1000" kern="1200">
              <a:solidFill>
                <a:srgbClr val="000000"/>
              </a:solidFill>
              <a:latin typeface="Arial"/>
              <a:cs typeface="Arial"/>
            </a:rPr>
            <a:t>: Could attract unwanted attention; misinterpretations of actions </a:t>
          </a:r>
        </a:p>
      </dsp:txBody>
      <dsp:txXfrm>
        <a:off x="3276789" y="3566400"/>
        <a:ext cx="2156164" cy="888636"/>
      </dsp:txXfrm>
    </dsp:sp>
    <dsp:sp modelId="{44ACC78E-0C25-4281-B3E0-CB374299D7DD}">
      <dsp:nvSpPr>
        <dsp:cNvPr id="0" name=""/>
        <dsp:cNvSpPr/>
      </dsp:nvSpPr>
      <dsp:spPr>
        <a:xfrm>
          <a:off x="5944357" y="322011"/>
          <a:ext cx="2764323" cy="39979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a:solidFill>
                <a:srgbClr val="000000"/>
              </a:solidFill>
              <a:latin typeface="Arial"/>
              <a:cs typeface="Arial"/>
            </a:rPr>
            <a:t>Activism</a:t>
          </a:r>
          <a:endParaRPr lang="en-US" sz="4500" kern="1200">
            <a:solidFill>
              <a:srgbClr val="000000"/>
            </a:solidFill>
            <a:latin typeface="Arial"/>
            <a:cs typeface="Arial"/>
          </a:endParaRPr>
        </a:p>
      </dsp:txBody>
      <dsp:txXfrm>
        <a:off x="5944357" y="322011"/>
        <a:ext cx="2764323" cy="1199381"/>
      </dsp:txXfrm>
    </dsp:sp>
    <dsp:sp modelId="{DC8F1C1A-EFE6-488F-9B04-60547B0C5AC7}">
      <dsp:nvSpPr>
        <dsp:cNvPr id="0" name=""/>
        <dsp:cNvSpPr/>
      </dsp:nvSpPr>
      <dsp:spPr>
        <a:xfrm>
          <a:off x="6220790" y="1360452"/>
          <a:ext cx="2211458" cy="94393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l" defTabSz="444500" rtl="0">
            <a:lnSpc>
              <a:spcPct val="90000"/>
            </a:lnSpc>
            <a:spcBef>
              <a:spcPct val="0"/>
            </a:spcBef>
            <a:spcAft>
              <a:spcPct val="35000"/>
            </a:spcAft>
            <a:buNone/>
          </a:pPr>
          <a:r>
            <a:rPr lang="en-US" sz="1000" b="1" kern="1200">
              <a:solidFill>
                <a:srgbClr val="000000"/>
              </a:solidFill>
              <a:latin typeface="Arial"/>
              <a:cs typeface="Arial"/>
            </a:rPr>
            <a:t>BMP's Potential Approach</a:t>
          </a:r>
          <a:r>
            <a:rPr lang="en-US" sz="1000" kern="1200">
              <a:solidFill>
                <a:srgbClr val="000000"/>
              </a:solidFill>
              <a:latin typeface="Arial"/>
              <a:cs typeface="Arial"/>
            </a:rPr>
            <a:t>: Proactive opposition to political challenges, speaking up for philanthropy and/or BMP via bold statements</a:t>
          </a:r>
        </a:p>
      </dsp:txBody>
      <dsp:txXfrm>
        <a:off x="6248437" y="1388099"/>
        <a:ext cx="2156164" cy="888636"/>
      </dsp:txXfrm>
    </dsp:sp>
    <dsp:sp modelId="{A1F857F3-158E-4420-BC54-998D73E79EE4}">
      <dsp:nvSpPr>
        <dsp:cNvPr id="0" name=""/>
        <dsp:cNvSpPr/>
      </dsp:nvSpPr>
      <dsp:spPr>
        <a:xfrm>
          <a:off x="6220790" y="2449602"/>
          <a:ext cx="2211458" cy="94393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l" defTabSz="444500">
            <a:lnSpc>
              <a:spcPct val="100000"/>
            </a:lnSpc>
            <a:spcBef>
              <a:spcPct val="0"/>
            </a:spcBef>
            <a:spcAft>
              <a:spcPts val="0"/>
            </a:spcAft>
            <a:buNone/>
          </a:pPr>
          <a:r>
            <a:rPr lang="en-US" sz="1000" b="1" kern="1200">
              <a:solidFill>
                <a:srgbClr val="000000"/>
              </a:solidFill>
              <a:latin typeface="Arial"/>
              <a:cs typeface="Arial"/>
            </a:rPr>
            <a:t>Potential Benefits</a:t>
          </a:r>
          <a:r>
            <a:rPr lang="en-US" sz="1000" kern="1200">
              <a:solidFill>
                <a:srgbClr val="000000"/>
              </a:solidFill>
              <a:latin typeface="Arial"/>
              <a:cs typeface="Arial"/>
            </a:rPr>
            <a:t>: </a:t>
          </a:r>
        </a:p>
        <a:p>
          <a:pPr marL="0" lvl="0" indent="0" algn="l" defTabSz="444500">
            <a:lnSpc>
              <a:spcPct val="100000"/>
            </a:lnSpc>
            <a:spcBef>
              <a:spcPct val="0"/>
            </a:spcBef>
            <a:spcAft>
              <a:spcPts val="0"/>
            </a:spcAft>
            <a:buNone/>
          </a:pPr>
          <a:r>
            <a:rPr lang="en-US" sz="1000" kern="1200">
              <a:solidFill>
                <a:srgbClr val="000000"/>
              </a:solidFill>
              <a:latin typeface="Arial"/>
              <a:cs typeface="Arial"/>
            </a:rPr>
            <a:t>Demonstrates leadership among peers, fights back against injustice and mis/disinformation</a:t>
          </a:r>
        </a:p>
      </dsp:txBody>
      <dsp:txXfrm>
        <a:off x="6248437" y="2477249"/>
        <a:ext cx="2156164" cy="888636"/>
      </dsp:txXfrm>
    </dsp:sp>
    <dsp:sp modelId="{F6445C87-C4EC-40CE-B76B-2A4E6AAC29EA}">
      <dsp:nvSpPr>
        <dsp:cNvPr id="0" name=""/>
        <dsp:cNvSpPr/>
      </dsp:nvSpPr>
      <dsp:spPr>
        <a:xfrm>
          <a:off x="6220790" y="3538753"/>
          <a:ext cx="2211458" cy="94393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19050" rIns="25400" bIns="19050" numCol="1" spcCol="1270" anchor="ctr" anchorCtr="0">
          <a:noAutofit/>
        </a:bodyPr>
        <a:lstStyle/>
        <a:p>
          <a:pPr marL="0" lvl="0" indent="0" algn="l" defTabSz="444500">
            <a:lnSpc>
              <a:spcPct val="90000"/>
            </a:lnSpc>
            <a:spcBef>
              <a:spcPct val="0"/>
            </a:spcBef>
            <a:spcAft>
              <a:spcPct val="35000"/>
            </a:spcAft>
            <a:buNone/>
          </a:pPr>
          <a:r>
            <a:rPr lang="en-US" sz="1000" b="1" kern="1200">
              <a:solidFill>
                <a:srgbClr val="000000"/>
              </a:solidFill>
              <a:latin typeface="Arial"/>
              <a:cs typeface="Arial"/>
            </a:rPr>
            <a:t>Potential Risks</a:t>
          </a:r>
          <a:r>
            <a:rPr lang="en-US" sz="1000" kern="1200">
              <a:solidFill>
                <a:srgbClr val="000000"/>
              </a:solidFill>
              <a:latin typeface="Arial"/>
              <a:cs typeface="Arial"/>
            </a:rPr>
            <a:t>: Makes BMP a target, can put partners and investees at great risk </a:t>
          </a:r>
        </a:p>
      </dsp:txBody>
      <dsp:txXfrm>
        <a:off x="6248437" y="3566400"/>
        <a:ext cx="2156164" cy="888636"/>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AD54A77-C525-4121-90D6-C50F4C84189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2430044-545C-411E-856E-A3660212090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7772B81-2025-4288-9018-9AFB78050B90}" type="datetimeFigureOut">
              <a:rPr lang="en-US" smtClean="0"/>
              <a:t>5/30/2025</a:t>
            </a:fld>
            <a:endParaRPr lang="en-US"/>
          </a:p>
        </p:txBody>
      </p:sp>
      <p:sp>
        <p:nvSpPr>
          <p:cNvPr id="4" name="Footer Placeholder 3">
            <a:extLst>
              <a:ext uri="{FF2B5EF4-FFF2-40B4-BE49-F238E27FC236}">
                <a16:creationId xmlns:a16="http://schemas.microsoft.com/office/drawing/2014/main" id="{4AF4EF79-EA61-4535-B28A-36AF03F832C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9676F1E-DB9C-4038-A309-A51325A1F75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66679AA-7504-456E-9B63-0A75FCAAD3ED}" type="slidenum">
              <a:rPr lang="en-US" smtClean="0"/>
              <a:t>‹#›</a:t>
            </a:fld>
            <a:endParaRPr lang="en-US"/>
          </a:p>
        </p:txBody>
      </p:sp>
    </p:spTree>
    <p:extLst>
      <p:ext uri="{BB962C8B-B14F-4D97-AF65-F5344CB8AC3E}">
        <p14:creationId xmlns:p14="http://schemas.microsoft.com/office/powerpoint/2010/main" val="306600196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8-28T23:42:02.429"/>
    </inkml:context>
    <inkml:brush xml:id="br0">
      <inkml:brushProperty name="width" value="0.03333" units="cm"/>
      <inkml:brushProperty name="height" value="0.03333" units="cm"/>
    </inkml:brush>
  </inkml:definitions>
  <inkml:trace contextRef="#ctx0" brushRef="#br0">7369 786 2001,'0'0'-32,"0"0"-432,0 0-529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7-08-30T20:58:18.568"/>
    </inkml:context>
    <inkml:brush xml:id="br0">
      <inkml:brushProperty name="width" value="0.03333" units="cm"/>
      <inkml:brushProperty name="height" value="0.03333" units="cm"/>
    </inkml:brush>
  </inkml:definitions>
  <inkml:trace contextRef="#ctx0" brushRef="#br0">7369 786 2001,'0'0'-32,"0"0"-432,0 0-529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1572A1-F0DA-4DFC-8202-617522652DC6}" type="datetimeFigureOut">
              <a:rPr lang="en-US" smtClean="0"/>
              <a:t>5/30/2025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9BA2B4-6C97-457E-AFF3-A5F0F4E4A448}" type="slidenum">
              <a:rPr lang="en-US" smtClean="0"/>
              <a:t>‹#›</a:t>
            </a:fld>
            <a:endParaRPr lang="en-US"/>
          </a:p>
        </p:txBody>
      </p:sp>
    </p:spTree>
    <p:extLst>
      <p:ext uri="{BB962C8B-B14F-4D97-AF65-F5344CB8AC3E}">
        <p14:creationId xmlns:p14="http://schemas.microsoft.com/office/powerpoint/2010/main" val="747349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a:t>TITLE PAGE</a:t>
            </a:r>
          </a:p>
        </p:txBody>
      </p:sp>
      <p:sp>
        <p:nvSpPr>
          <p:cNvPr id="4" name="Slide Number Placeholder 3"/>
          <p:cNvSpPr>
            <a:spLocks noGrp="1"/>
          </p:cNvSpPr>
          <p:nvPr>
            <p:ph type="sldNum" sz="quarter" idx="5"/>
          </p:nvPr>
        </p:nvSpPr>
        <p:spPr/>
        <p:txBody>
          <a:bodyPr/>
          <a:lstStyle/>
          <a:p>
            <a:fld id="{449BA2B4-6C97-457E-AFF3-A5F0F4E4A448}" type="slidenum">
              <a:rPr lang="en-US" smtClean="0"/>
              <a:t>1</a:t>
            </a:fld>
            <a:endParaRPr lang="en-US"/>
          </a:p>
        </p:txBody>
      </p:sp>
    </p:spTree>
    <p:extLst>
      <p:ext uri="{BB962C8B-B14F-4D97-AF65-F5344CB8AC3E}">
        <p14:creationId xmlns:p14="http://schemas.microsoft.com/office/powerpoint/2010/main" val="1932022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Sans-Serif"/>
              <a:buChar char="•"/>
            </a:pPr>
            <a:r>
              <a:rPr lang="en-US" b="1"/>
              <a:t>Observation</a:t>
            </a:r>
            <a:endParaRPr lang="en-US"/>
          </a:p>
          <a:p>
            <a:pPr marL="742950" lvl="1" indent="-285750">
              <a:buFont typeface="Courier New,monospace"/>
              <a:buChar char="•"/>
            </a:pPr>
            <a:r>
              <a:rPr lang="en-US"/>
              <a:t>What this looks like: No external comms – events, media, social engage; limited internal comms </a:t>
            </a:r>
          </a:p>
          <a:p>
            <a:pPr marL="742950" lvl="1" indent="-285750">
              <a:buFont typeface="Courier New,monospace"/>
              <a:buChar char="•"/>
            </a:pPr>
            <a:r>
              <a:rPr lang="en-US"/>
              <a:t>Potential benefits: Short term minimization of risk, protects us/our vulnerable stakeholders from unwanted scrutiny or targeting </a:t>
            </a:r>
          </a:p>
          <a:p>
            <a:pPr marL="742950" lvl="1" indent="-285750">
              <a:buFont typeface="Courier New,monospace"/>
              <a:buChar char="•"/>
            </a:pPr>
            <a:r>
              <a:rPr lang="en-US"/>
              <a:t>Potential risks: Lost momentum in reaching goals longer term, stakeholders could question where we are </a:t>
            </a:r>
          </a:p>
          <a:p>
            <a:pPr marL="285750" indent="-285750">
              <a:buFont typeface="Arial,Sans-Serif"/>
              <a:buChar char="•"/>
            </a:pPr>
            <a:r>
              <a:rPr lang="en-US" b="1"/>
              <a:t>Careful Engagement (RECOMMENDED APPROACH)</a:t>
            </a:r>
            <a:endParaRPr lang="en-US"/>
          </a:p>
          <a:p>
            <a:pPr marL="742950" lvl="1" indent="-285750">
              <a:buFont typeface="Courier New,monospace"/>
              <a:buChar char="•"/>
            </a:pPr>
            <a:r>
              <a:rPr lang="en-US"/>
              <a:t>What this looks like: Intentional/careful external engagement; more owned channel activations to allow for more control; business as usual </a:t>
            </a:r>
          </a:p>
          <a:p>
            <a:pPr marL="742950" lvl="1" indent="-285750">
              <a:buFont typeface="Courier New,monospace"/>
              <a:buChar char="•"/>
            </a:pPr>
            <a:r>
              <a:rPr lang="en-US"/>
              <a:t>Potential Benefits: Continued momentum towards reaching goals; shows strength in model/approach that is able to meet the moment</a:t>
            </a:r>
          </a:p>
          <a:p>
            <a:pPr marL="742950" lvl="1" indent="-285750">
              <a:buFont typeface="Courier New,monospace"/>
              <a:buChar char="•"/>
            </a:pPr>
            <a:r>
              <a:rPr lang="en-US"/>
              <a:t>Potential Risks: Could attract unwanted attention; misinterpretations of actions </a:t>
            </a:r>
          </a:p>
          <a:p>
            <a:pPr marL="285750" indent="-285750">
              <a:buFont typeface="Arial,Sans-Serif"/>
              <a:buChar char="•"/>
            </a:pPr>
            <a:r>
              <a:rPr lang="en-US" b="1"/>
              <a:t>Activism</a:t>
            </a:r>
            <a:endParaRPr lang="en-US"/>
          </a:p>
          <a:p>
            <a:pPr marL="742950" lvl="1" indent="-285750">
              <a:buFont typeface="Courier New,monospace"/>
              <a:buChar char="•"/>
            </a:pPr>
            <a:r>
              <a:rPr lang="en-US"/>
              <a:t>What this looks like: aggressive opposition to political challenges, speaking up for philanthropy </a:t>
            </a:r>
          </a:p>
          <a:p>
            <a:pPr marL="742950" lvl="1" indent="-285750">
              <a:buFont typeface="Courier New,monospace"/>
              <a:buChar char="•"/>
            </a:pPr>
            <a:r>
              <a:rPr lang="en-US"/>
              <a:t>Potential Benefits: Demonstrates leadership amongst peers, fights back against injustice and mis/disinformation, </a:t>
            </a:r>
          </a:p>
          <a:p>
            <a:pPr marL="742950" lvl="1" indent="-285750">
              <a:buFont typeface="Courier New,monospace"/>
              <a:buChar char="•"/>
            </a:pPr>
            <a:r>
              <a:rPr lang="en-US"/>
              <a:t>Potential Risks: Makes BMP a target, can put partners and investees at risk </a:t>
            </a:r>
          </a:p>
          <a:p>
            <a:pPr marL="285750" indent="-285750">
              <a:buFont typeface="Arial,Sans-Serif"/>
              <a:buChar char="•"/>
            </a:pPr>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449BA2B4-6C97-457E-AFF3-A5F0F4E4A448}" type="slidenum">
              <a:rPr lang="en-US" smtClean="0"/>
              <a:t>4</a:t>
            </a:fld>
            <a:endParaRPr lang="en-US"/>
          </a:p>
        </p:txBody>
      </p:sp>
    </p:spTree>
    <p:extLst>
      <p:ext uri="{BB962C8B-B14F-4D97-AF65-F5344CB8AC3E}">
        <p14:creationId xmlns:p14="http://schemas.microsoft.com/office/powerpoint/2010/main" val="469366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F01CF-D76E-8C29-66AF-8FE750B8D6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4C149-0844-D85A-D696-357C96572F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08B4DF-172E-35FD-360B-139A7611167F}"/>
              </a:ext>
            </a:extLst>
          </p:cNvPr>
          <p:cNvSpPr>
            <a:spLocks noGrp="1"/>
          </p:cNvSpPr>
          <p:nvPr>
            <p:ph type="body" idx="1"/>
          </p:nvPr>
        </p:nvSpPr>
        <p:spPr/>
        <p:txBody>
          <a:bodyPr/>
          <a:lstStyle/>
          <a:p>
            <a:pPr marL="285750" indent="-285750">
              <a:buFont typeface="Arial,Sans-Serif"/>
              <a:buChar char="•"/>
            </a:pPr>
            <a:r>
              <a:rPr lang="en-US" b="1"/>
              <a:t>Observation</a:t>
            </a:r>
            <a:endParaRPr lang="en-US"/>
          </a:p>
          <a:p>
            <a:pPr marL="742950" lvl="1" indent="-285750">
              <a:buFont typeface="Courier New,monospace"/>
              <a:buChar char="•"/>
            </a:pPr>
            <a:r>
              <a:rPr lang="en-US"/>
              <a:t>What this looks like: No external comms – events, media, social engage; limited internal comms </a:t>
            </a:r>
          </a:p>
          <a:p>
            <a:pPr marL="742950" lvl="1" indent="-285750">
              <a:buFont typeface="Courier New,monospace"/>
              <a:buChar char="•"/>
            </a:pPr>
            <a:r>
              <a:rPr lang="en-US"/>
              <a:t>Potential benefits: Short term minimization of risk, protects us/our vulnerable stakeholders from unwanted scrutiny or targeting </a:t>
            </a:r>
          </a:p>
          <a:p>
            <a:pPr marL="742950" lvl="1" indent="-285750">
              <a:buFont typeface="Courier New,monospace"/>
              <a:buChar char="•"/>
            </a:pPr>
            <a:r>
              <a:rPr lang="en-US"/>
              <a:t>Potential risks: Lost momentum in reaching goals longer term, stakeholders could question where we are </a:t>
            </a:r>
          </a:p>
          <a:p>
            <a:pPr marL="285750" indent="-285750">
              <a:buFont typeface="Arial,Sans-Serif"/>
              <a:buChar char="•"/>
            </a:pPr>
            <a:r>
              <a:rPr lang="en-US" b="1"/>
              <a:t>Careful Engagement (RECOMMENDED APPROACH)</a:t>
            </a:r>
            <a:endParaRPr lang="en-US"/>
          </a:p>
          <a:p>
            <a:pPr marL="742950" lvl="1" indent="-285750">
              <a:buFont typeface="Courier New,monospace"/>
              <a:buChar char="•"/>
            </a:pPr>
            <a:r>
              <a:rPr lang="en-US"/>
              <a:t>What this looks like: Intentional/careful external engagement; more owned channel activations to allow for more control; business as usual </a:t>
            </a:r>
          </a:p>
          <a:p>
            <a:pPr marL="742950" lvl="1" indent="-285750">
              <a:buFont typeface="Courier New,monospace"/>
              <a:buChar char="•"/>
            </a:pPr>
            <a:r>
              <a:rPr lang="en-US"/>
              <a:t>Potential Benefits: Continued momentum towards reaching goals; shows strength in model/approach that is able to meet the moment</a:t>
            </a:r>
          </a:p>
          <a:p>
            <a:pPr marL="742950" lvl="1" indent="-285750">
              <a:buFont typeface="Courier New,monospace"/>
              <a:buChar char="•"/>
            </a:pPr>
            <a:r>
              <a:rPr lang="en-US"/>
              <a:t>Potential Risks: Could attract unwanted attention; misinterpretations of actions </a:t>
            </a:r>
          </a:p>
          <a:p>
            <a:pPr marL="285750" indent="-285750">
              <a:buFont typeface="Arial,Sans-Serif"/>
              <a:buChar char="•"/>
            </a:pPr>
            <a:r>
              <a:rPr lang="en-US" b="1"/>
              <a:t>Activism</a:t>
            </a:r>
            <a:endParaRPr lang="en-US"/>
          </a:p>
          <a:p>
            <a:pPr marL="742950" lvl="1" indent="-285750">
              <a:buFont typeface="Courier New,monospace"/>
              <a:buChar char="•"/>
            </a:pPr>
            <a:r>
              <a:rPr lang="en-US"/>
              <a:t>What this looks like: aggressive opposition to political challenges, speaking up for philanthropy </a:t>
            </a:r>
          </a:p>
          <a:p>
            <a:pPr marL="742950" lvl="1" indent="-285750">
              <a:buFont typeface="Courier New,monospace"/>
              <a:buChar char="•"/>
            </a:pPr>
            <a:r>
              <a:rPr lang="en-US"/>
              <a:t>Potential Benefits: Demonstrates leadership amongst peers, fights back against injustice and mis/disinformation, </a:t>
            </a:r>
          </a:p>
          <a:p>
            <a:pPr marL="742950" lvl="1" indent="-285750">
              <a:buFont typeface="Courier New,monospace"/>
              <a:buChar char="•"/>
            </a:pPr>
            <a:r>
              <a:rPr lang="en-US"/>
              <a:t>Potential Risks: Makes BMP a target, can put partners and investees at risk </a:t>
            </a:r>
          </a:p>
          <a:p>
            <a:pPr marL="285750" indent="-285750">
              <a:buFont typeface="Arial,Sans-Serif"/>
              <a:buChar char="•"/>
            </a:pPr>
            <a:endParaRPr lang="en-US"/>
          </a:p>
          <a:p>
            <a:endParaRPr lang="en-US">
              <a:ea typeface="Calibri"/>
              <a:cs typeface="Calibri"/>
            </a:endParaRPr>
          </a:p>
        </p:txBody>
      </p:sp>
      <p:sp>
        <p:nvSpPr>
          <p:cNvPr id="4" name="Slide Number Placeholder 3">
            <a:extLst>
              <a:ext uri="{FF2B5EF4-FFF2-40B4-BE49-F238E27FC236}">
                <a16:creationId xmlns:a16="http://schemas.microsoft.com/office/drawing/2014/main" id="{9E2978C1-583E-4753-DC8C-4761CF93D732}"/>
              </a:ext>
            </a:extLst>
          </p:cNvPr>
          <p:cNvSpPr>
            <a:spLocks noGrp="1"/>
          </p:cNvSpPr>
          <p:nvPr>
            <p:ph type="sldNum" sz="quarter" idx="5"/>
          </p:nvPr>
        </p:nvSpPr>
        <p:spPr/>
        <p:txBody>
          <a:bodyPr/>
          <a:lstStyle/>
          <a:p>
            <a:fld id="{449BA2B4-6C97-457E-AFF3-A5F0F4E4A448}" type="slidenum">
              <a:rPr lang="en-US" smtClean="0"/>
              <a:t>6</a:t>
            </a:fld>
            <a:endParaRPr lang="en-US"/>
          </a:p>
        </p:txBody>
      </p:sp>
    </p:spTree>
    <p:extLst>
      <p:ext uri="{BB962C8B-B14F-4D97-AF65-F5344CB8AC3E}">
        <p14:creationId xmlns:p14="http://schemas.microsoft.com/office/powerpoint/2010/main" val="37741511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9BA2B4-6C97-457E-AFF3-A5F0F4E4A448}" type="slidenum">
              <a:rPr lang="en-US" smtClean="0"/>
              <a:t>11</a:t>
            </a:fld>
            <a:endParaRPr lang="en-US"/>
          </a:p>
        </p:txBody>
      </p:sp>
    </p:spTree>
    <p:extLst>
      <p:ext uri="{BB962C8B-B14F-4D97-AF65-F5344CB8AC3E}">
        <p14:creationId xmlns:p14="http://schemas.microsoft.com/office/powerpoint/2010/main" val="18088493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9BA2B4-6C97-457E-AFF3-A5F0F4E4A448}" type="slidenum">
              <a:rPr lang="en-US" smtClean="0"/>
              <a:t>17</a:t>
            </a:fld>
            <a:endParaRPr lang="en-US"/>
          </a:p>
        </p:txBody>
      </p:sp>
    </p:spTree>
    <p:extLst>
      <p:ext uri="{BB962C8B-B14F-4D97-AF65-F5344CB8AC3E}">
        <p14:creationId xmlns:p14="http://schemas.microsoft.com/office/powerpoint/2010/main" val="207976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ED83A-08F7-3C34-FBDC-FC8E02029A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C28AEF-4509-2D34-DBA6-2C39DECE32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FDCF6F-C2E0-C87E-E982-1A5C8DAA9AE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D2D8DE9-BAFF-7C26-9658-00E89A0AB37D}"/>
              </a:ext>
            </a:extLst>
          </p:cNvPr>
          <p:cNvSpPr>
            <a:spLocks noGrp="1"/>
          </p:cNvSpPr>
          <p:nvPr>
            <p:ph type="sldNum" sz="quarter" idx="5"/>
          </p:nvPr>
        </p:nvSpPr>
        <p:spPr/>
        <p:txBody>
          <a:bodyPr/>
          <a:lstStyle/>
          <a:p>
            <a:fld id="{449BA2B4-6C97-457E-AFF3-A5F0F4E4A448}" type="slidenum">
              <a:rPr lang="en-US" smtClean="0"/>
              <a:t>18</a:t>
            </a:fld>
            <a:endParaRPr lang="en-US"/>
          </a:p>
        </p:txBody>
      </p:sp>
    </p:spTree>
    <p:extLst>
      <p:ext uri="{BB962C8B-B14F-4D97-AF65-F5344CB8AC3E}">
        <p14:creationId xmlns:p14="http://schemas.microsoft.com/office/powerpoint/2010/main" val="18158973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C501D-677E-F276-B63E-28376EA7A6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AF6B69-3B21-24F0-6BD4-EDBD2E7C1E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9D0795-190C-EC59-56A7-A51FA09B426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EF63A2E-4EC4-8ED8-F2EF-42C13ADC1DD9}"/>
              </a:ext>
            </a:extLst>
          </p:cNvPr>
          <p:cNvSpPr>
            <a:spLocks noGrp="1"/>
          </p:cNvSpPr>
          <p:nvPr>
            <p:ph type="sldNum" sz="quarter" idx="5"/>
          </p:nvPr>
        </p:nvSpPr>
        <p:spPr/>
        <p:txBody>
          <a:bodyPr/>
          <a:lstStyle/>
          <a:p>
            <a:fld id="{449BA2B4-6C97-457E-AFF3-A5F0F4E4A448}" type="slidenum">
              <a:rPr lang="en-US" smtClean="0"/>
              <a:t>19</a:t>
            </a:fld>
            <a:endParaRPr lang="en-US"/>
          </a:p>
        </p:txBody>
      </p:sp>
    </p:spTree>
    <p:extLst>
      <p:ext uri="{BB962C8B-B14F-4D97-AF65-F5344CB8AC3E}">
        <p14:creationId xmlns:p14="http://schemas.microsoft.com/office/powerpoint/2010/main" val="17140315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1088234" rtl="0" eaLnBrk="1" fontAlgn="auto" latinLnBrk="0" hangingPunct="1">
              <a:lnSpc>
                <a:spcPct val="100000"/>
              </a:lnSpc>
              <a:spcBef>
                <a:spcPts val="0"/>
              </a:spcBef>
              <a:spcAft>
                <a:spcPts val="0"/>
              </a:spcAft>
              <a:buClrTx/>
              <a:buSzTx/>
              <a:buFontTx/>
              <a:buNone/>
              <a:tabLst/>
              <a:defRPr/>
            </a:pPr>
            <a:fld id="{EB883764-5E15-5F48-99FD-BA80AEC11330}" type="slidenum">
              <a:rPr kumimoji="0" lang="en-US" sz="1200" b="0" i="0" u="none" strike="noStrike" kern="1200" cap="none" spc="0" normalizeH="0" baseline="0" noProof="0" smtClean="0">
                <a:ln>
                  <a:noFill/>
                </a:ln>
                <a:solidFill>
                  <a:prstClr val="black"/>
                </a:solidFill>
                <a:effectLst/>
                <a:uLnTx/>
                <a:uFillTx/>
                <a:latin typeface="Bahnschrift Light Condensed" panose="020B0502040204020203" pitchFamily="34" charset="0"/>
                <a:ea typeface="+mn-ea"/>
                <a:cs typeface="+mn-cs"/>
              </a:rPr>
              <a:pPr marL="0" marR="0" lvl="0" indent="0" algn="r" defTabSz="1088234"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Bahnschrift Light Condensed" panose="020B0502040204020203" pitchFamily="34" charset="0"/>
              <a:ea typeface="+mn-ea"/>
              <a:cs typeface="+mn-cs"/>
            </a:endParaRPr>
          </a:p>
        </p:txBody>
      </p:sp>
    </p:spTree>
    <p:extLst>
      <p:ext uri="{BB962C8B-B14F-4D97-AF65-F5344CB8AC3E}">
        <p14:creationId xmlns:p14="http://schemas.microsoft.com/office/powerpoint/2010/main" val="35614553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8F15D-08EC-5787-5503-B787C05531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28F1ED-F0F4-DDE5-D676-3C212292FB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4364C-4168-C22B-5223-0A288DE06A6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442653B-A216-04BA-873C-76B57F85D9EE}"/>
              </a:ext>
            </a:extLst>
          </p:cNvPr>
          <p:cNvSpPr>
            <a:spLocks noGrp="1"/>
          </p:cNvSpPr>
          <p:nvPr>
            <p:ph type="sldNum" sz="quarter" idx="5"/>
          </p:nvPr>
        </p:nvSpPr>
        <p:spPr/>
        <p:txBody>
          <a:bodyPr/>
          <a:lstStyle/>
          <a:p>
            <a:pPr marL="0" marR="0" lvl="0" indent="0" algn="r" defTabSz="1088234" rtl="0" eaLnBrk="1" fontAlgn="auto" latinLnBrk="0" hangingPunct="1">
              <a:lnSpc>
                <a:spcPct val="100000"/>
              </a:lnSpc>
              <a:spcBef>
                <a:spcPts val="0"/>
              </a:spcBef>
              <a:spcAft>
                <a:spcPts val="0"/>
              </a:spcAft>
              <a:buClrTx/>
              <a:buSzTx/>
              <a:buFontTx/>
              <a:buNone/>
              <a:tabLst/>
              <a:defRPr/>
            </a:pPr>
            <a:fld id="{EB883764-5E15-5F48-99FD-BA80AEC11330}" type="slidenum">
              <a:rPr kumimoji="0" lang="en-US" sz="1200" b="0" i="0" u="none" strike="noStrike" kern="1200" cap="none" spc="0" normalizeH="0" baseline="0" noProof="0" smtClean="0">
                <a:ln>
                  <a:noFill/>
                </a:ln>
                <a:solidFill>
                  <a:prstClr val="black"/>
                </a:solidFill>
                <a:effectLst/>
                <a:uLnTx/>
                <a:uFillTx/>
                <a:latin typeface="Bahnschrift Light Condensed" panose="020B0502040204020203" pitchFamily="34" charset="0"/>
                <a:ea typeface="+mn-ea"/>
                <a:cs typeface="+mn-cs"/>
              </a:rPr>
              <a:pPr marL="0" marR="0" lvl="0" indent="0" algn="r" defTabSz="1088234"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Bahnschrift Light Condensed" panose="020B0502040204020203" pitchFamily="34" charset="0"/>
              <a:ea typeface="+mn-ea"/>
              <a:cs typeface="+mn-cs"/>
            </a:endParaRPr>
          </a:p>
        </p:txBody>
      </p:sp>
    </p:spTree>
    <p:extLst>
      <p:ext uri="{BB962C8B-B14F-4D97-AF65-F5344CB8AC3E}">
        <p14:creationId xmlns:p14="http://schemas.microsoft.com/office/powerpoint/2010/main" val="33855982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rgbClr val="3F3F3F"/>
                </a:solidFill>
                <a:effectLst/>
                <a:latin typeface="Helvetica" pitchFamily="2" charset="0"/>
              </a:rPr>
              <a:t>Consider Alana Semuels from TIME as alt</a:t>
            </a:r>
          </a:p>
          <a:p>
            <a:endParaRPr lang="en-US"/>
          </a:p>
        </p:txBody>
      </p:sp>
      <p:sp>
        <p:nvSpPr>
          <p:cNvPr id="4" name="Slide Number Placeholder 3"/>
          <p:cNvSpPr>
            <a:spLocks noGrp="1"/>
          </p:cNvSpPr>
          <p:nvPr>
            <p:ph type="sldNum" sz="quarter" idx="5"/>
          </p:nvPr>
        </p:nvSpPr>
        <p:spPr/>
        <p:txBody>
          <a:bodyPr/>
          <a:lstStyle/>
          <a:p>
            <a:fld id="{449BA2B4-6C97-457E-AFF3-A5F0F4E4A448}" type="slidenum">
              <a:rPr lang="en-US" smtClean="0"/>
              <a:t>37</a:t>
            </a:fld>
            <a:endParaRPr lang="en-US"/>
          </a:p>
        </p:txBody>
      </p:sp>
    </p:spTree>
    <p:extLst>
      <p:ext uri="{BB962C8B-B14F-4D97-AF65-F5344CB8AC3E}">
        <p14:creationId xmlns:p14="http://schemas.microsoft.com/office/powerpoint/2010/main" val="2370140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10.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xml"/><Relationship Id="rId1" Type="http://schemas.openxmlformats.org/officeDocument/2006/relationships/slideMaster" Target="../slideMasters/slideMaster1.xml"/><Relationship Id="rId4" Type="http://schemas.openxmlformats.org/officeDocument/2006/relationships/customXml" Target="../ink/ink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2508899" y="6356350"/>
            <a:ext cx="1392252" cy="365125"/>
          </a:xfrm>
          <a:prstGeom prst="rect">
            <a:avLst/>
          </a:prstGeom>
        </p:spPr>
        <p:txBody>
          <a:bodyPr anchor="ctr"/>
          <a:lstStyle>
            <a:lvl1pPr>
              <a:defRPr sz="1200">
                <a:solidFill>
                  <a:schemeClr val="bg1"/>
                </a:solidFill>
                <a:latin typeface="Camphor Std" panose="020B0504030404020204" pitchFamily="34" charset="0"/>
              </a:defRPr>
            </a:lvl1pPr>
          </a:lstStyle>
          <a:p>
            <a:fld id="{C764DE79-268F-4C1A-8933-263129D2AF90}" type="datetimeFigureOut">
              <a:rPr lang="en-US" smtClean="0"/>
              <a:pPr/>
              <a:t>5/30/2025</a:t>
            </a:fld>
            <a:endParaRPr lang="en-US"/>
          </a:p>
        </p:txBody>
      </p:sp>
      <p:sp>
        <p:nvSpPr>
          <p:cNvPr id="5" name="Footer Placeholder 4"/>
          <p:cNvSpPr>
            <a:spLocks noGrp="1"/>
          </p:cNvSpPr>
          <p:nvPr>
            <p:ph type="ftr" sz="quarter" idx="11"/>
          </p:nvPr>
        </p:nvSpPr>
        <p:spPr/>
        <p:txBody>
          <a:bodyPr/>
          <a:lstStyle/>
          <a:p>
            <a:r>
              <a:rPr lang="en-US"/>
              <a:t>CONFIDENTIAL DO NOT DISTRIBUTE</a:t>
            </a:r>
          </a:p>
        </p:txBody>
      </p:sp>
      <p:sp>
        <p:nvSpPr>
          <p:cNvPr id="6" name="Slide Number Placeholder 5"/>
          <p:cNvSpPr>
            <a:spLocks noGrp="1"/>
          </p:cNvSpPr>
          <p:nvPr>
            <p:ph type="sldNum" sz="quarter" idx="12"/>
          </p:nvPr>
        </p:nvSpPr>
        <p:spPr/>
        <p:txBody>
          <a:bodyPr/>
          <a:lstStyle/>
          <a:p>
            <a:pPr algn="l"/>
            <a:fld id="{0912C858-1055-4C3E-824D-0BEBDD89C316}" type="slidenum">
              <a:rPr lang="en-US" smtClean="0"/>
              <a:pPr algn="l"/>
              <a:t>‹#›</a:t>
            </a:fld>
            <a:endParaRPr lang="en-US"/>
          </a:p>
        </p:txBody>
      </p:sp>
    </p:spTree>
    <p:extLst>
      <p:ext uri="{BB962C8B-B14F-4D97-AF65-F5344CB8AC3E}">
        <p14:creationId xmlns:p14="http://schemas.microsoft.com/office/powerpoint/2010/main" val="3108168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7880" y="319406"/>
            <a:ext cx="10515600" cy="541094"/>
          </a:xfrm>
        </p:spPr>
        <p:txBody>
          <a:bodyPr>
            <a:noAutofit/>
          </a:bodyPr>
          <a:lstStyle>
            <a:lvl1pPr>
              <a:defRPr sz="4000"/>
            </a:lvl1pPr>
          </a:lstStyle>
          <a:p>
            <a:r>
              <a:rPr lang="en-US"/>
              <a:t>Click to edit Master title style</a:t>
            </a:r>
          </a:p>
        </p:txBody>
      </p:sp>
      <p:sp>
        <p:nvSpPr>
          <p:cNvPr id="3" name="Content Placeholder 2"/>
          <p:cNvSpPr>
            <a:spLocks noGrp="1"/>
          </p:cNvSpPr>
          <p:nvPr>
            <p:ph idx="1"/>
          </p:nvPr>
        </p:nvSpPr>
        <p:spPr>
          <a:xfrm>
            <a:off x="838200" y="1275080"/>
            <a:ext cx="10541000" cy="49018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508899" y="6356350"/>
            <a:ext cx="1392252" cy="365125"/>
          </a:xfrm>
          <a:prstGeom prst="rect">
            <a:avLst/>
          </a:prstGeom>
        </p:spPr>
        <p:txBody>
          <a:bodyPr anchor="ctr"/>
          <a:lstStyle>
            <a:lvl1pPr>
              <a:defRPr sz="1200">
                <a:solidFill>
                  <a:schemeClr val="bg1"/>
                </a:solidFill>
                <a:latin typeface="Camphor Std" panose="020B0504030404020204" pitchFamily="34" charset="0"/>
              </a:defRPr>
            </a:lvl1pPr>
          </a:lstStyle>
          <a:p>
            <a:fld id="{C764DE79-268F-4C1A-8933-263129D2AF90}" type="datetimeFigureOut">
              <a:rPr lang="en-US" smtClean="0"/>
              <a:pPr/>
              <a:t>5/30/2025</a:t>
            </a:fld>
            <a:endParaRPr lang="en-US"/>
          </a:p>
        </p:txBody>
      </p:sp>
      <p:sp>
        <p:nvSpPr>
          <p:cNvPr id="5" name="Footer Placeholder 4"/>
          <p:cNvSpPr>
            <a:spLocks noGrp="1"/>
          </p:cNvSpPr>
          <p:nvPr>
            <p:ph type="ftr" sz="quarter" idx="11"/>
          </p:nvPr>
        </p:nvSpPr>
        <p:spPr/>
        <p:txBody>
          <a:bodyPr/>
          <a:lstStyle/>
          <a:p>
            <a:r>
              <a:rPr lang="en-US"/>
              <a:t>CONFIDENTIAL DO NOT DISTRIBUTE</a:t>
            </a:r>
          </a:p>
        </p:txBody>
      </p:sp>
      <p:sp>
        <p:nvSpPr>
          <p:cNvPr id="6" name="Slide Number Placeholder 5"/>
          <p:cNvSpPr>
            <a:spLocks noGrp="1"/>
          </p:cNvSpPr>
          <p:nvPr>
            <p:ph type="sldNum" sz="quarter" idx="12"/>
          </p:nvPr>
        </p:nvSpPr>
        <p:spPr/>
        <p:txBody>
          <a:bodyPr/>
          <a:lstStyle>
            <a:lvl1pPr algn="r">
              <a:defRPr/>
            </a:lvl1pPr>
          </a:lstStyle>
          <a:p>
            <a:fld id="{0912C858-1055-4C3E-824D-0BEBDD89C316}" type="slidenum">
              <a:rPr lang="en-US" smtClean="0"/>
              <a:pPr/>
              <a:t>‹#›</a:t>
            </a:fld>
            <a:endParaRPr lang="en-US"/>
          </a:p>
        </p:txBody>
      </p:sp>
      <p:sp>
        <p:nvSpPr>
          <p:cNvPr id="7" name="Freeform: Shape 6">
            <a:extLst>
              <a:ext uri="{FF2B5EF4-FFF2-40B4-BE49-F238E27FC236}">
                <a16:creationId xmlns:a16="http://schemas.microsoft.com/office/drawing/2014/main" id="{E2557750-0C8E-4F7A-865E-EE1ABE7FD3BA}"/>
              </a:ext>
            </a:extLst>
          </p:cNvPr>
          <p:cNvSpPr>
            <a:spLocks noChangeArrowheads="1"/>
          </p:cNvSpPr>
          <p:nvPr userDrawn="1"/>
        </p:nvSpPr>
        <p:spPr bwMode="auto">
          <a:xfrm>
            <a:off x="812800" y="941780"/>
            <a:ext cx="11374117" cy="45719"/>
          </a:xfrm>
          <a:custGeom>
            <a:avLst/>
            <a:gdLst>
              <a:gd name="connsiteX0" fmla="*/ 0 w 10621513"/>
              <a:gd name="connsiteY0" fmla="*/ 0 h 61287"/>
              <a:gd name="connsiteX1" fmla="*/ 33868 w 10621513"/>
              <a:gd name="connsiteY1" fmla="*/ 0 h 61287"/>
              <a:gd name="connsiteX2" fmla="*/ 10587645 w 10621513"/>
              <a:gd name="connsiteY2" fmla="*/ 0 h 61287"/>
              <a:gd name="connsiteX3" fmla="*/ 10621513 w 10621513"/>
              <a:gd name="connsiteY3" fmla="*/ 0 h 61287"/>
              <a:gd name="connsiteX4" fmla="*/ 10621513 w 10621513"/>
              <a:gd name="connsiteY4" fmla="*/ 61287 h 61287"/>
              <a:gd name="connsiteX5" fmla="*/ 10587645 w 10621513"/>
              <a:gd name="connsiteY5" fmla="*/ 61287 h 61287"/>
              <a:gd name="connsiteX6" fmla="*/ 33868 w 10621513"/>
              <a:gd name="connsiteY6" fmla="*/ 61287 h 61287"/>
              <a:gd name="connsiteX7" fmla="*/ 0 w 10621513"/>
              <a:gd name="connsiteY7" fmla="*/ 61287 h 6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21513" h="61287">
                <a:moveTo>
                  <a:pt x="0" y="0"/>
                </a:moveTo>
                <a:lnTo>
                  <a:pt x="33868" y="0"/>
                </a:lnTo>
                <a:lnTo>
                  <a:pt x="10587645" y="0"/>
                </a:lnTo>
                <a:lnTo>
                  <a:pt x="10621513" y="0"/>
                </a:lnTo>
                <a:lnTo>
                  <a:pt x="10621513" y="61287"/>
                </a:lnTo>
                <a:lnTo>
                  <a:pt x="10587645" y="61287"/>
                </a:lnTo>
                <a:lnTo>
                  <a:pt x="33868" y="61287"/>
                </a:lnTo>
                <a:lnTo>
                  <a:pt x="0" y="6128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a:endParaRPr lang="en-US" sz="1800"/>
          </a:p>
        </p:txBody>
      </p:sp>
    </p:spTree>
    <p:extLst>
      <p:ext uri="{BB962C8B-B14F-4D97-AF65-F5344CB8AC3E}">
        <p14:creationId xmlns:p14="http://schemas.microsoft.com/office/powerpoint/2010/main" val="552417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2508899" y="6356350"/>
            <a:ext cx="1392252" cy="365125"/>
          </a:xfrm>
          <a:prstGeom prst="rect">
            <a:avLst/>
          </a:prstGeom>
        </p:spPr>
        <p:txBody>
          <a:bodyPr/>
          <a:lstStyle/>
          <a:p>
            <a:fld id="{C764DE79-268F-4C1A-8933-263129D2AF90}" type="datetimeFigureOut">
              <a:rPr lang="en-US" dirty="0"/>
              <a:t>5/30/2025</a:t>
            </a:fld>
            <a:endParaRPr lang="en-US"/>
          </a:p>
        </p:txBody>
      </p:sp>
      <p:sp>
        <p:nvSpPr>
          <p:cNvPr id="5" name="Footer Placeholder 4"/>
          <p:cNvSpPr>
            <a:spLocks noGrp="1"/>
          </p:cNvSpPr>
          <p:nvPr>
            <p:ph type="ftr" sz="quarter" idx="11"/>
          </p:nvPr>
        </p:nvSpPr>
        <p:spPr/>
        <p:txBody>
          <a:bodyPr/>
          <a:lstStyle/>
          <a:p>
            <a:r>
              <a:rPr lang="en-US"/>
              <a:t>CONFIDENTIAL DO NOT DISTRIBUTE</a:t>
            </a:r>
          </a:p>
        </p:txBody>
      </p:sp>
      <p:sp>
        <p:nvSpPr>
          <p:cNvPr id="6" name="Slide Number Placeholder 5"/>
          <p:cNvSpPr>
            <a:spLocks noGrp="1"/>
          </p:cNvSpPr>
          <p:nvPr>
            <p:ph type="sldNum" sz="quarter" idx="12"/>
          </p:nvPr>
        </p:nvSpPr>
        <p:spPr/>
        <p:txBody>
          <a:bodyPr/>
          <a:lstStyle/>
          <a:p>
            <a:pPr algn="l"/>
            <a:fld id="{0912C858-1055-4C3E-824D-0BEBDD89C316}" type="slidenum">
              <a:rPr lang="en-US" smtClean="0"/>
              <a:pPr algn="l"/>
              <a:t>‹#›</a:t>
            </a:fld>
            <a:endParaRPr lang="en-US"/>
          </a:p>
        </p:txBody>
      </p:sp>
    </p:spTree>
    <p:extLst>
      <p:ext uri="{BB962C8B-B14F-4D97-AF65-F5344CB8AC3E}">
        <p14:creationId xmlns:p14="http://schemas.microsoft.com/office/powerpoint/2010/main" val="4107850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2508899" y="6356350"/>
            <a:ext cx="1392252" cy="365125"/>
          </a:xfrm>
          <a:prstGeom prst="rect">
            <a:avLst/>
          </a:prstGeom>
        </p:spPr>
        <p:txBody>
          <a:bodyPr/>
          <a:lstStyle/>
          <a:p>
            <a:fld id="{C764DE79-268F-4C1A-8933-263129D2AF90}" type="datetimeFigureOut">
              <a:rPr lang="en-US" dirty="0"/>
              <a:t>5/30/2025</a:t>
            </a:fld>
            <a:endParaRPr lang="en-US"/>
          </a:p>
        </p:txBody>
      </p:sp>
      <p:sp>
        <p:nvSpPr>
          <p:cNvPr id="6" name="Footer Placeholder 5"/>
          <p:cNvSpPr>
            <a:spLocks noGrp="1"/>
          </p:cNvSpPr>
          <p:nvPr>
            <p:ph type="ftr" sz="quarter" idx="11"/>
          </p:nvPr>
        </p:nvSpPr>
        <p:spPr/>
        <p:txBody>
          <a:bodyPr/>
          <a:lstStyle/>
          <a:p>
            <a:r>
              <a:rPr lang="en-US"/>
              <a:t>CONFIDENTIAL DO NOT DISTRIBUTE</a:t>
            </a:r>
          </a:p>
        </p:txBody>
      </p:sp>
      <p:sp>
        <p:nvSpPr>
          <p:cNvPr id="7" name="Slide Number Placeholder 6"/>
          <p:cNvSpPr>
            <a:spLocks noGrp="1"/>
          </p:cNvSpPr>
          <p:nvPr>
            <p:ph type="sldNum" sz="quarter" idx="12"/>
          </p:nvPr>
        </p:nvSpPr>
        <p:spPr/>
        <p:txBody>
          <a:bodyPr/>
          <a:lstStyle/>
          <a:p>
            <a:pPr algn="l"/>
            <a:fld id="{0912C858-1055-4C3E-824D-0BEBDD89C316}" type="slidenum">
              <a:rPr lang="en-US" smtClean="0"/>
              <a:pPr algn="l"/>
              <a:t>‹#›</a:t>
            </a:fld>
            <a:endParaRPr lang="en-US"/>
          </a:p>
        </p:txBody>
      </p:sp>
    </p:spTree>
    <p:extLst>
      <p:ext uri="{BB962C8B-B14F-4D97-AF65-F5344CB8AC3E}">
        <p14:creationId xmlns:p14="http://schemas.microsoft.com/office/powerpoint/2010/main" val="43084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2508899" y="6356350"/>
            <a:ext cx="1392252" cy="365125"/>
          </a:xfrm>
          <a:prstGeom prst="rect">
            <a:avLst/>
          </a:prstGeom>
        </p:spPr>
        <p:txBody>
          <a:bodyPr/>
          <a:lstStyle/>
          <a:p>
            <a:fld id="{C764DE79-268F-4C1A-8933-263129D2AF90}" type="datetimeFigureOut">
              <a:rPr lang="en-US" dirty="0"/>
              <a:t>5/30/2025</a:t>
            </a:fld>
            <a:endParaRPr lang="en-US"/>
          </a:p>
        </p:txBody>
      </p:sp>
      <p:sp>
        <p:nvSpPr>
          <p:cNvPr id="8" name="Footer Placeholder 7"/>
          <p:cNvSpPr>
            <a:spLocks noGrp="1"/>
          </p:cNvSpPr>
          <p:nvPr>
            <p:ph type="ftr" sz="quarter" idx="11"/>
          </p:nvPr>
        </p:nvSpPr>
        <p:spPr/>
        <p:txBody>
          <a:bodyPr/>
          <a:lstStyle/>
          <a:p>
            <a:r>
              <a:rPr lang="en-US"/>
              <a:t>CONFIDENTIAL DO NOT DISTRIBUTE</a:t>
            </a:r>
          </a:p>
        </p:txBody>
      </p:sp>
      <p:sp>
        <p:nvSpPr>
          <p:cNvPr id="9" name="Slide Number Placeholder 8"/>
          <p:cNvSpPr>
            <a:spLocks noGrp="1"/>
          </p:cNvSpPr>
          <p:nvPr>
            <p:ph type="sldNum" sz="quarter" idx="12"/>
          </p:nvPr>
        </p:nvSpPr>
        <p:spPr/>
        <p:txBody>
          <a:bodyPr/>
          <a:lstStyle/>
          <a:p>
            <a:pPr algn="l"/>
            <a:fld id="{0912C858-1055-4C3E-824D-0BEBDD89C316}" type="slidenum">
              <a:rPr lang="en-US" smtClean="0"/>
              <a:pPr algn="l"/>
              <a:t>‹#›</a:t>
            </a:fld>
            <a:endParaRPr lang="en-US"/>
          </a:p>
        </p:txBody>
      </p:sp>
    </p:spTree>
    <p:extLst>
      <p:ext uri="{BB962C8B-B14F-4D97-AF65-F5344CB8AC3E}">
        <p14:creationId xmlns:p14="http://schemas.microsoft.com/office/powerpoint/2010/main" val="588680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2508899" y="6356350"/>
            <a:ext cx="1392252" cy="365125"/>
          </a:xfrm>
          <a:prstGeom prst="rect">
            <a:avLst/>
          </a:prstGeom>
        </p:spPr>
        <p:txBody>
          <a:bodyPr/>
          <a:lstStyle/>
          <a:p>
            <a:fld id="{C764DE79-268F-4C1A-8933-263129D2AF90}" type="datetimeFigureOut">
              <a:rPr lang="en-US" dirty="0"/>
              <a:t>5/30/2025</a:t>
            </a:fld>
            <a:endParaRPr lang="en-US"/>
          </a:p>
        </p:txBody>
      </p:sp>
      <p:sp>
        <p:nvSpPr>
          <p:cNvPr id="4" name="Footer Placeholder 3"/>
          <p:cNvSpPr>
            <a:spLocks noGrp="1"/>
          </p:cNvSpPr>
          <p:nvPr>
            <p:ph type="ftr" sz="quarter" idx="11"/>
          </p:nvPr>
        </p:nvSpPr>
        <p:spPr/>
        <p:txBody>
          <a:bodyPr/>
          <a:lstStyle/>
          <a:p>
            <a:r>
              <a:rPr lang="en-US"/>
              <a:t>CONFIDENTIAL DO NOT DISTRIBUTE</a:t>
            </a:r>
          </a:p>
        </p:txBody>
      </p:sp>
      <p:sp>
        <p:nvSpPr>
          <p:cNvPr id="5" name="Slide Number Placeholder 4"/>
          <p:cNvSpPr>
            <a:spLocks noGrp="1"/>
          </p:cNvSpPr>
          <p:nvPr>
            <p:ph type="sldNum" sz="quarter" idx="12"/>
          </p:nvPr>
        </p:nvSpPr>
        <p:spPr/>
        <p:txBody>
          <a:bodyPr/>
          <a:lstStyle/>
          <a:p>
            <a:pPr algn="l"/>
            <a:fld id="{0912C858-1055-4C3E-824D-0BEBDD89C316}" type="slidenum">
              <a:rPr lang="en-US" smtClean="0"/>
              <a:pPr algn="l"/>
              <a:t>‹#›</a:t>
            </a:fld>
            <a:endParaRPr lang="en-US"/>
          </a:p>
        </p:txBody>
      </p:sp>
    </p:spTree>
    <p:extLst>
      <p:ext uri="{BB962C8B-B14F-4D97-AF65-F5344CB8AC3E}">
        <p14:creationId xmlns:p14="http://schemas.microsoft.com/office/powerpoint/2010/main" val="41212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2508899" y="6356350"/>
            <a:ext cx="1392252" cy="365125"/>
          </a:xfrm>
          <a:prstGeom prst="rect">
            <a:avLst/>
          </a:prstGeom>
        </p:spPr>
        <p:txBody>
          <a:bodyPr/>
          <a:lstStyle/>
          <a:p>
            <a:fld id="{C764DE79-268F-4C1A-8933-263129D2AF90}" type="datetimeFigureOut">
              <a:rPr lang="en-US" dirty="0"/>
              <a:t>5/30/2025</a:t>
            </a:fld>
            <a:endParaRPr lang="en-US"/>
          </a:p>
        </p:txBody>
      </p:sp>
      <p:sp>
        <p:nvSpPr>
          <p:cNvPr id="3" name="Footer Placeholder 2"/>
          <p:cNvSpPr>
            <a:spLocks noGrp="1"/>
          </p:cNvSpPr>
          <p:nvPr>
            <p:ph type="ftr" sz="quarter" idx="11"/>
          </p:nvPr>
        </p:nvSpPr>
        <p:spPr/>
        <p:txBody>
          <a:bodyPr/>
          <a:lstStyle/>
          <a:p>
            <a:r>
              <a:rPr lang="en-US"/>
              <a:t>CONFIDENTIAL DO NOT DISTRIBUTE</a:t>
            </a:r>
          </a:p>
        </p:txBody>
      </p:sp>
      <p:sp>
        <p:nvSpPr>
          <p:cNvPr id="4" name="Slide Number Placeholder 3"/>
          <p:cNvSpPr>
            <a:spLocks noGrp="1"/>
          </p:cNvSpPr>
          <p:nvPr>
            <p:ph type="sldNum" sz="quarter" idx="12"/>
          </p:nvPr>
        </p:nvSpPr>
        <p:spPr/>
        <p:txBody>
          <a:bodyPr/>
          <a:lstStyle/>
          <a:p>
            <a:pPr algn="l"/>
            <a:fld id="{0912C858-1055-4C3E-824D-0BEBDD89C316}" type="slidenum">
              <a:rPr lang="en-US" smtClean="0"/>
              <a:pPr algn="l"/>
              <a:t>‹#›</a:t>
            </a:fld>
            <a:endParaRPr lang="en-US"/>
          </a:p>
        </p:txBody>
      </p:sp>
    </p:spTree>
    <p:extLst>
      <p:ext uri="{BB962C8B-B14F-4D97-AF65-F5344CB8AC3E}">
        <p14:creationId xmlns:p14="http://schemas.microsoft.com/office/powerpoint/2010/main" val="152006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2508899" y="6356350"/>
            <a:ext cx="1392252" cy="365125"/>
          </a:xfrm>
          <a:prstGeom prst="rect">
            <a:avLst/>
          </a:prstGeom>
        </p:spPr>
        <p:txBody>
          <a:bodyPr/>
          <a:lstStyle/>
          <a:p>
            <a:fld id="{C764DE79-268F-4C1A-8933-263129D2AF90}" type="datetimeFigureOut">
              <a:rPr lang="en-US" dirty="0"/>
              <a:t>5/30/2025</a:t>
            </a:fld>
            <a:endParaRPr lang="en-US"/>
          </a:p>
        </p:txBody>
      </p:sp>
      <p:sp>
        <p:nvSpPr>
          <p:cNvPr id="6" name="Footer Placeholder 5"/>
          <p:cNvSpPr>
            <a:spLocks noGrp="1"/>
          </p:cNvSpPr>
          <p:nvPr>
            <p:ph type="ftr" sz="quarter" idx="11"/>
          </p:nvPr>
        </p:nvSpPr>
        <p:spPr/>
        <p:txBody>
          <a:bodyPr/>
          <a:lstStyle/>
          <a:p>
            <a:r>
              <a:rPr lang="en-US"/>
              <a:t>CONFIDENTIAL DO NOT DISTRIBUTE</a:t>
            </a:r>
          </a:p>
        </p:txBody>
      </p:sp>
      <p:sp>
        <p:nvSpPr>
          <p:cNvPr id="7" name="Slide Number Placeholder 6"/>
          <p:cNvSpPr>
            <a:spLocks noGrp="1"/>
          </p:cNvSpPr>
          <p:nvPr>
            <p:ph type="sldNum" sz="quarter" idx="12"/>
          </p:nvPr>
        </p:nvSpPr>
        <p:spPr/>
        <p:txBody>
          <a:bodyPr/>
          <a:lstStyle/>
          <a:p>
            <a:pPr algn="l"/>
            <a:fld id="{0912C858-1055-4C3E-824D-0BEBDD89C316}" type="slidenum">
              <a:rPr lang="en-US" smtClean="0"/>
              <a:pPr algn="l"/>
              <a:t>‹#›</a:t>
            </a:fld>
            <a:endParaRPr lang="en-US"/>
          </a:p>
        </p:txBody>
      </p:sp>
    </p:spTree>
    <p:extLst>
      <p:ext uri="{BB962C8B-B14F-4D97-AF65-F5344CB8AC3E}">
        <p14:creationId xmlns:p14="http://schemas.microsoft.com/office/powerpoint/2010/main" val="3446690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2508899" y="6356350"/>
            <a:ext cx="1392252" cy="365125"/>
          </a:xfrm>
          <a:prstGeom prst="rect">
            <a:avLst/>
          </a:prstGeom>
        </p:spPr>
        <p:txBody>
          <a:bodyPr/>
          <a:lstStyle/>
          <a:p>
            <a:fld id="{C764DE79-268F-4C1A-8933-263129D2AF90}" type="datetimeFigureOut">
              <a:rPr lang="en-US" dirty="0"/>
              <a:t>5/30/2025</a:t>
            </a:fld>
            <a:endParaRPr lang="en-US"/>
          </a:p>
        </p:txBody>
      </p:sp>
      <p:sp>
        <p:nvSpPr>
          <p:cNvPr id="6" name="Footer Placeholder 5"/>
          <p:cNvSpPr>
            <a:spLocks noGrp="1"/>
          </p:cNvSpPr>
          <p:nvPr>
            <p:ph type="ftr" sz="quarter" idx="11"/>
          </p:nvPr>
        </p:nvSpPr>
        <p:spPr/>
        <p:txBody>
          <a:bodyPr/>
          <a:lstStyle/>
          <a:p>
            <a:r>
              <a:rPr lang="en-US"/>
              <a:t>CONFIDENTIAL DO NOT DISTRIBUTE</a:t>
            </a:r>
          </a:p>
        </p:txBody>
      </p:sp>
      <p:sp>
        <p:nvSpPr>
          <p:cNvPr id="7" name="Slide Number Placeholder 6"/>
          <p:cNvSpPr>
            <a:spLocks noGrp="1"/>
          </p:cNvSpPr>
          <p:nvPr>
            <p:ph type="sldNum" sz="quarter" idx="12"/>
          </p:nvPr>
        </p:nvSpPr>
        <p:spPr/>
        <p:txBody>
          <a:bodyPr/>
          <a:lstStyle/>
          <a:p>
            <a:pPr algn="l"/>
            <a:fld id="{0912C858-1055-4C3E-824D-0BEBDD89C316}" type="slidenum">
              <a:rPr lang="en-US" smtClean="0"/>
              <a:pPr algn="l"/>
              <a:t>‹#›</a:t>
            </a:fld>
            <a:endParaRPr lang="en-US"/>
          </a:p>
        </p:txBody>
      </p:sp>
    </p:spTree>
    <p:extLst>
      <p:ext uri="{BB962C8B-B14F-4D97-AF65-F5344CB8AC3E}">
        <p14:creationId xmlns:p14="http://schemas.microsoft.com/office/powerpoint/2010/main" val="1467679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508899" y="6356350"/>
            <a:ext cx="1392252" cy="365125"/>
          </a:xfrm>
          <a:prstGeom prst="rect">
            <a:avLst/>
          </a:prstGeom>
        </p:spPr>
        <p:txBody>
          <a:bodyPr/>
          <a:lstStyle/>
          <a:p>
            <a:fld id="{C764DE79-268F-4C1A-8933-263129D2AF90}" type="datetimeFigureOut">
              <a:rPr lang="en-US" dirty="0"/>
              <a:t>5/30/2025</a:t>
            </a:fld>
            <a:endParaRPr lang="en-US"/>
          </a:p>
        </p:txBody>
      </p:sp>
      <p:sp>
        <p:nvSpPr>
          <p:cNvPr id="5" name="Footer Placeholder 4"/>
          <p:cNvSpPr>
            <a:spLocks noGrp="1"/>
          </p:cNvSpPr>
          <p:nvPr>
            <p:ph type="ftr" sz="quarter" idx="11"/>
          </p:nvPr>
        </p:nvSpPr>
        <p:spPr/>
        <p:txBody>
          <a:bodyPr/>
          <a:lstStyle/>
          <a:p>
            <a:r>
              <a:rPr lang="en-US"/>
              <a:t>CONFIDENTIAL DO NOT DISTRIBUTE</a:t>
            </a:r>
          </a:p>
        </p:txBody>
      </p:sp>
      <p:sp>
        <p:nvSpPr>
          <p:cNvPr id="6" name="Slide Number Placeholder 5"/>
          <p:cNvSpPr>
            <a:spLocks noGrp="1"/>
          </p:cNvSpPr>
          <p:nvPr>
            <p:ph type="sldNum" sz="quarter" idx="12"/>
          </p:nvPr>
        </p:nvSpPr>
        <p:spPr/>
        <p:txBody>
          <a:bodyPr/>
          <a:lstStyle/>
          <a:p>
            <a:pPr algn="l"/>
            <a:fld id="{0912C858-1055-4C3E-824D-0BEBDD89C316}" type="slidenum">
              <a:rPr lang="en-US" smtClean="0"/>
              <a:pPr algn="l"/>
              <a:t>‹#›</a:t>
            </a:fld>
            <a:endParaRPr lang="en-US"/>
          </a:p>
        </p:txBody>
      </p:sp>
    </p:spTree>
    <p:extLst>
      <p:ext uri="{BB962C8B-B14F-4D97-AF65-F5344CB8AC3E}">
        <p14:creationId xmlns:p14="http://schemas.microsoft.com/office/powerpoint/2010/main" val="2548577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508899" y="6356350"/>
            <a:ext cx="1392252" cy="365125"/>
          </a:xfrm>
          <a:prstGeom prst="rect">
            <a:avLst/>
          </a:prstGeom>
        </p:spPr>
        <p:txBody>
          <a:bodyPr/>
          <a:lstStyle/>
          <a:p>
            <a:fld id="{C764DE79-268F-4C1A-8933-263129D2AF90}" type="datetimeFigureOut">
              <a:rPr lang="en-US" dirty="0"/>
              <a:t>5/30/2025</a:t>
            </a:fld>
            <a:endParaRPr lang="en-US"/>
          </a:p>
        </p:txBody>
      </p:sp>
      <p:sp>
        <p:nvSpPr>
          <p:cNvPr id="5" name="Footer Placeholder 4"/>
          <p:cNvSpPr>
            <a:spLocks noGrp="1"/>
          </p:cNvSpPr>
          <p:nvPr>
            <p:ph type="ftr" sz="quarter" idx="11"/>
          </p:nvPr>
        </p:nvSpPr>
        <p:spPr/>
        <p:txBody>
          <a:bodyPr/>
          <a:lstStyle/>
          <a:p>
            <a:r>
              <a:rPr lang="en-US"/>
              <a:t>CONFIDENTIAL DO NOT DISTRIBUTE</a:t>
            </a:r>
          </a:p>
        </p:txBody>
      </p:sp>
      <p:sp>
        <p:nvSpPr>
          <p:cNvPr id="6" name="Slide Number Placeholder 5"/>
          <p:cNvSpPr>
            <a:spLocks noGrp="1"/>
          </p:cNvSpPr>
          <p:nvPr>
            <p:ph type="sldNum" sz="quarter" idx="12"/>
          </p:nvPr>
        </p:nvSpPr>
        <p:spPr/>
        <p:txBody>
          <a:bodyPr/>
          <a:lstStyle/>
          <a:p>
            <a:pPr algn="l"/>
            <a:fld id="{0912C858-1055-4C3E-824D-0BEBDD89C316}" type="slidenum">
              <a:rPr lang="en-US" smtClean="0"/>
              <a:pPr algn="l"/>
              <a:t>‹#›</a:t>
            </a:fld>
            <a:endParaRPr lang="en-US"/>
          </a:p>
        </p:txBody>
      </p:sp>
    </p:spTree>
    <p:extLst>
      <p:ext uri="{BB962C8B-B14F-4D97-AF65-F5344CB8AC3E}">
        <p14:creationId xmlns:p14="http://schemas.microsoft.com/office/powerpoint/2010/main" val="13450196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2_Title Slide">
    <p:bg>
      <p:bgPr>
        <a:solidFill>
          <a:schemeClr val="tx2"/>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E852145A-0952-497D-BB69-4402CF7D921D}"/>
              </a:ext>
            </a:extLst>
          </p:cNvPr>
          <p:cNvSpPr/>
          <p:nvPr userDrawn="1"/>
        </p:nvSpPr>
        <p:spPr>
          <a:xfrm>
            <a:off x="2" y="-5538"/>
            <a:ext cx="12191999" cy="34345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1" name="Text Placeholder 51">
            <a:extLst>
              <a:ext uri="{FF2B5EF4-FFF2-40B4-BE49-F238E27FC236}">
                <a16:creationId xmlns:a16="http://schemas.microsoft.com/office/drawing/2014/main" id="{274850B0-51CB-4B57-967E-B096614EBF4C}"/>
              </a:ext>
            </a:extLst>
          </p:cNvPr>
          <p:cNvSpPr>
            <a:spLocks noGrp="1"/>
          </p:cNvSpPr>
          <p:nvPr>
            <p:ph type="body" sz="quarter" idx="16" hasCustomPrompt="1"/>
          </p:nvPr>
        </p:nvSpPr>
        <p:spPr>
          <a:xfrm>
            <a:off x="1296357" y="2653418"/>
            <a:ext cx="8691380" cy="258266"/>
          </a:xfrm>
        </p:spPr>
        <p:txBody>
          <a:bodyPr>
            <a:noAutofit/>
          </a:bodyPr>
          <a:lstStyle>
            <a:lvl1pPr marL="0" indent="0" algn="l">
              <a:buNone/>
              <a:defRPr sz="1600">
                <a:solidFill>
                  <a:schemeClr val="tx1"/>
                </a:solidFill>
              </a:defRPr>
            </a:lvl1pPr>
          </a:lstStyle>
          <a:p>
            <a:pPr lvl="0"/>
            <a:r>
              <a:rPr lang="en-US"/>
              <a:t>Speaker Name, Speaker Title</a:t>
            </a:r>
          </a:p>
        </p:txBody>
      </p:sp>
      <p:sp>
        <p:nvSpPr>
          <p:cNvPr id="33" name="Text Placeholder 51">
            <a:extLst>
              <a:ext uri="{FF2B5EF4-FFF2-40B4-BE49-F238E27FC236}">
                <a16:creationId xmlns:a16="http://schemas.microsoft.com/office/drawing/2014/main" id="{E74D8F16-BD0A-4457-A89C-20AFB72744ED}"/>
              </a:ext>
            </a:extLst>
          </p:cNvPr>
          <p:cNvSpPr>
            <a:spLocks noGrp="1"/>
          </p:cNvSpPr>
          <p:nvPr>
            <p:ph type="body" sz="quarter" idx="18" hasCustomPrompt="1"/>
          </p:nvPr>
        </p:nvSpPr>
        <p:spPr>
          <a:xfrm>
            <a:off x="1296357" y="2922513"/>
            <a:ext cx="3634740" cy="253232"/>
          </a:xfrm>
        </p:spPr>
        <p:txBody>
          <a:bodyPr>
            <a:noAutofit/>
          </a:bodyPr>
          <a:lstStyle>
            <a:lvl1pPr marL="0" indent="0" algn="l">
              <a:buNone/>
              <a:defRPr sz="1600">
                <a:solidFill>
                  <a:schemeClr val="tx1"/>
                </a:solidFill>
              </a:defRPr>
            </a:lvl1pPr>
          </a:lstStyle>
          <a:p>
            <a:pPr lvl="0"/>
            <a:r>
              <a:rPr lang="en-US"/>
              <a:t>April 26, 2019</a:t>
            </a:r>
          </a:p>
        </p:txBody>
      </p:sp>
      <p:sp>
        <p:nvSpPr>
          <p:cNvPr id="38" name="Title 37">
            <a:extLst>
              <a:ext uri="{FF2B5EF4-FFF2-40B4-BE49-F238E27FC236}">
                <a16:creationId xmlns:a16="http://schemas.microsoft.com/office/drawing/2014/main" id="{CA014115-3360-4C1B-B191-3BFD4F488D63}"/>
              </a:ext>
            </a:extLst>
          </p:cNvPr>
          <p:cNvSpPr>
            <a:spLocks noGrp="1"/>
          </p:cNvSpPr>
          <p:nvPr>
            <p:ph type="title" hasCustomPrompt="1"/>
          </p:nvPr>
        </p:nvSpPr>
        <p:spPr>
          <a:xfrm>
            <a:off x="1296357" y="475657"/>
            <a:ext cx="7344723" cy="2178219"/>
          </a:xfrm>
          <a:prstGeom prst="rect">
            <a:avLst/>
          </a:prstGeom>
          <a:noFill/>
        </p:spPr>
        <p:txBody>
          <a:bodyPr anchor="ctr" anchorCtr="0">
            <a:normAutofit/>
          </a:bodyPr>
          <a:lstStyle>
            <a:lvl1pPr algn="l">
              <a:defRPr lang="en-US" sz="5400" dirty="0">
                <a:solidFill>
                  <a:schemeClr val="bg1"/>
                </a:solidFill>
              </a:defRPr>
            </a:lvl1pPr>
          </a:lstStyle>
          <a:p>
            <a:r>
              <a:rPr lang="en-US"/>
              <a:t>Click to edit </a:t>
            </a:r>
            <a:br>
              <a:rPr lang="en-US"/>
            </a:br>
            <a:r>
              <a:rPr lang="en-US"/>
              <a:t>Master title style</a:t>
            </a:r>
          </a:p>
        </p:txBody>
      </p:sp>
      <p:sp>
        <p:nvSpPr>
          <p:cNvPr id="11" name="Freeform: Shape 10">
            <a:extLst>
              <a:ext uri="{FF2B5EF4-FFF2-40B4-BE49-F238E27FC236}">
                <a16:creationId xmlns:a16="http://schemas.microsoft.com/office/drawing/2014/main" id="{CF93C7E9-933E-4616-934D-B9382BA4CB2B}"/>
              </a:ext>
            </a:extLst>
          </p:cNvPr>
          <p:cNvSpPr>
            <a:spLocks noChangeArrowheads="1"/>
          </p:cNvSpPr>
          <p:nvPr userDrawn="1"/>
        </p:nvSpPr>
        <p:spPr bwMode="auto">
          <a:xfrm>
            <a:off x="0" y="5090025"/>
            <a:ext cx="10515600" cy="48090"/>
          </a:xfrm>
          <a:custGeom>
            <a:avLst/>
            <a:gdLst>
              <a:gd name="connsiteX0" fmla="*/ 0 w 10621513"/>
              <a:gd name="connsiteY0" fmla="*/ 0 h 61287"/>
              <a:gd name="connsiteX1" fmla="*/ 33868 w 10621513"/>
              <a:gd name="connsiteY1" fmla="*/ 0 h 61287"/>
              <a:gd name="connsiteX2" fmla="*/ 10587645 w 10621513"/>
              <a:gd name="connsiteY2" fmla="*/ 0 h 61287"/>
              <a:gd name="connsiteX3" fmla="*/ 10621513 w 10621513"/>
              <a:gd name="connsiteY3" fmla="*/ 0 h 61287"/>
              <a:gd name="connsiteX4" fmla="*/ 10621513 w 10621513"/>
              <a:gd name="connsiteY4" fmla="*/ 61287 h 61287"/>
              <a:gd name="connsiteX5" fmla="*/ 10587645 w 10621513"/>
              <a:gd name="connsiteY5" fmla="*/ 61287 h 61287"/>
              <a:gd name="connsiteX6" fmla="*/ 33868 w 10621513"/>
              <a:gd name="connsiteY6" fmla="*/ 61287 h 61287"/>
              <a:gd name="connsiteX7" fmla="*/ 0 w 10621513"/>
              <a:gd name="connsiteY7" fmla="*/ 61287 h 6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21513" h="61287">
                <a:moveTo>
                  <a:pt x="0" y="0"/>
                </a:moveTo>
                <a:lnTo>
                  <a:pt x="33868" y="0"/>
                </a:lnTo>
                <a:lnTo>
                  <a:pt x="10587645" y="0"/>
                </a:lnTo>
                <a:lnTo>
                  <a:pt x="10621513" y="0"/>
                </a:lnTo>
                <a:lnTo>
                  <a:pt x="10621513" y="61287"/>
                </a:lnTo>
                <a:lnTo>
                  <a:pt x="10587645" y="61287"/>
                </a:lnTo>
                <a:lnTo>
                  <a:pt x="33868" y="61287"/>
                </a:lnTo>
                <a:lnTo>
                  <a:pt x="0" y="6128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a:endParaRPr lang="en-US" sz="1620">
              <a:solidFill>
                <a:schemeClr val="lt1"/>
              </a:solidFill>
            </a:endParaRPr>
          </a:p>
        </p:txBody>
      </p:sp>
      <p:sp>
        <p:nvSpPr>
          <p:cNvPr id="3" name="Footer Placeholder 2">
            <a:extLst>
              <a:ext uri="{FF2B5EF4-FFF2-40B4-BE49-F238E27FC236}">
                <a16:creationId xmlns:a16="http://schemas.microsoft.com/office/drawing/2014/main" id="{B8D50C28-069E-46D3-A309-14E6E00E6C14}"/>
              </a:ext>
            </a:extLst>
          </p:cNvPr>
          <p:cNvSpPr>
            <a:spLocks noGrp="1"/>
          </p:cNvSpPr>
          <p:nvPr>
            <p:ph type="ftr" sz="quarter" idx="19"/>
          </p:nvPr>
        </p:nvSpPr>
        <p:spPr/>
        <p:txBody>
          <a:bodyPr/>
          <a:lstStyle>
            <a:lvl1pPr>
              <a:defRPr>
                <a:solidFill>
                  <a:schemeClr val="bg1"/>
                </a:solidFill>
              </a:defRPr>
            </a:lvl1pPr>
          </a:lstStyle>
          <a:p>
            <a:r>
              <a:rPr lang="en-US"/>
              <a:t>CONFIDENTIAL DO NOT DISTRIBUTE</a:t>
            </a:r>
          </a:p>
        </p:txBody>
      </p:sp>
      <p:pic>
        <p:nvPicPr>
          <p:cNvPr id="9" name="BMP Logo Extended">
            <a:extLst>
              <a:ext uri="{FF2B5EF4-FFF2-40B4-BE49-F238E27FC236}">
                <a16:creationId xmlns:a16="http://schemas.microsoft.com/office/drawing/2014/main" id="{FE5279F1-7235-414D-8FAB-928D97D2EF1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35174" y="4083253"/>
            <a:ext cx="4681624" cy="2061633"/>
          </a:xfrm>
          <a:prstGeom prst="rect">
            <a:avLst/>
          </a:prstGeom>
        </p:spPr>
      </p:pic>
    </p:spTree>
    <p:extLst>
      <p:ext uri="{BB962C8B-B14F-4D97-AF65-F5344CB8AC3E}">
        <p14:creationId xmlns:p14="http://schemas.microsoft.com/office/powerpoint/2010/main" val="1930048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2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500"/>
                                        <p:tgtEl>
                                          <p:spTgt spid="9"/>
                                        </p:tgtEl>
                                      </p:cBhvr>
                                    </p:animEffect>
                                  </p:childTnLst>
                                </p:cTn>
                              </p:par>
                              <p:par>
                                <p:cTn id="8" presetID="35" presetClass="path" presetSubtype="0" decel="100000" fill="hold" nodeType="withEffect">
                                  <p:stCondLst>
                                    <p:cond delay="1150"/>
                                  </p:stCondLst>
                                  <p:childTnLst>
                                    <p:animMotion origin="layout" path="M 2.08333E-6 -1.85185E-6 L -0.02748 -1.85185E-6 " pathEditMode="relative" rAng="0" ptsTypes="AA">
                                      <p:cBhvr>
                                        <p:cTn id="9" dur="1500" spd="-100000" fill="hold"/>
                                        <p:tgtEl>
                                          <p:spTgt spid="9"/>
                                        </p:tgtEl>
                                        <p:attrNameLst>
                                          <p:attrName>ppt_x</p:attrName>
                                          <p:attrName>ppt_y</p:attrName>
                                        </p:attrNameLst>
                                      </p:cBhvr>
                                      <p:rCtr x="-1380" y="0"/>
                                    </p:animMotion>
                                  </p:childTnLst>
                                </p:cTn>
                              </p:par>
                              <p:par>
                                <p:cTn id="10" presetID="2" presetClass="entr" presetSubtype="8" decel="10000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2750" fill="hold"/>
                                        <p:tgtEl>
                                          <p:spTgt spid="11"/>
                                        </p:tgtEl>
                                        <p:attrNameLst>
                                          <p:attrName>ppt_x</p:attrName>
                                        </p:attrNameLst>
                                      </p:cBhvr>
                                      <p:tavLst>
                                        <p:tav tm="0">
                                          <p:val>
                                            <p:strVal val="0-#ppt_w/2"/>
                                          </p:val>
                                        </p:tav>
                                        <p:tav tm="100000">
                                          <p:val>
                                            <p:strVal val="#ppt_x"/>
                                          </p:val>
                                        </p:tav>
                                      </p:tavLst>
                                    </p:anim>
                                    <p:anim calcmode="lin" valueType="num">
                                      <p:cBhvr additive="base">
                                        <p:cTn id="13" dur="2750" fill="hold"/>
                                        <p:tgtEl>
                                          <p:spTgt spid="11"/>
                                        </p:tgtEl>
                                        <p:attrNameLst>
                                          <p:attrName>ppt_y</p:attrName>
                                        </p:attrNameLst>
                                      </p:cBhvr>
                                      <p:tavLst>
                                        <p:tav tm="0">
                                          <p:val>
                                            <p:strVal val="#ppt_y"/>
                                          </p:val>
                                        </p:tav>
                                        <p:tav tm="100000">
                                          <p:val>
                                            <p:strVal val="#ppt_y"/>
                                          </p:val>
                                        </p:tav>
                                      </p:tavLst>
                                    </p:anim>
                                  </p:childTnLst>
                                </p:cTn>
                              </p:par>
                            </p:childTnLst>
                          </p:cTn>
                        </p:par>
                        <p:par>
                          <p:cTn id="14" fill="hold">
                            <p:stCondLst>
                              <p:cond delay="2750"/>
                            </p:stCondLst>
                            <p:childTnLst>
                              <p:par>
                                <p:cTn id="15" presetID="22" presetClass="entr" presetSubtype="1" fill="hold" grpId="0" nodeType="after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wipe(up)">
                                      <p:cBhvr>
                                        <p:cTn id="17" dur="1000"/>
                                        <p:tgtEl>
                                          <p:spTgt spid="39"/>
                                        </p:tgtEl>
                                      </p:cBhvr>
                                    </p:animEffect>
                                  </p:childTnLst>
                                </p:cTn>
                              </p:par>
                              <p:par>
                                <p:cTn id="18" presetID="2" presetClass="entr" presetSubtype="1" fill="hold" grpId="0" nodeType="withEffect">
                                  <p:stCondLst>
                                    <p:cond delay="0"/>
                                  </p:stCondLst>
                                  <p:childTnLst>
                                    <p:set>
                                      <p:cBhvr>
                                        <p:cTn id="19" dur="1" fill="hold">
                                          <p:stCondLst>
                                            <p:cond delay="0"/>
                                          </p:stCondLst>
                                        </p:cTn>
                                        <p:tgtEl>
                                          <p:spTgt spid="38"/>
                                        </p:tgtEl>
                                        <p:attrNameLst>
                                          <p:attrName>style.visibility</p:attrName>
                                        </p:attrNameLst>
                                      </p:cBhvr>
                                      <p:to>
                                        <p:strVal val="visible"/>
                                      </p:to>
                                    </p:set>
                                    <p:anim calcmode="lin" valueType="num">
                                      <p:cBhvr additive="base">
                                        <p:cTn id="20" dur="2000" fill="hold"/>
                                        <p:tgtEl>
                                          <p:spTgt spid="38"/>
                                        </p:tgtEl>
                                        <p:attrNameLst>
                                          <p:attrName>ppt_x</p:attrName>
                                        </p:attrNameLst>
                                      </p:cBhvr>
                                      <p:tavLst>
                                        <p:tav tm="0">
                                          <p:val>
                                            <p:strVal val="#ppt_x"/>
                                          </p:val>
                                        </p:tav>
                                        <p:tav tm="100000">
                                          <p:val>
                                            <p:strVal val="#ppt_x"/>
                                          </p:val>
                                        </p:tav>
                                      </p:tavLst>
                                    </p:anim>
                                    <p:anim calcmode="lin" valueType="num">
                                      <p:cBhvr additive="base">
                                        <p:cTn id="21" dur="2000" fill="hold"/>
                                        <p:tgtEl>
                                          <p:spTgt spid="38"/>
                                        </p:tgtEl>
                                        <p:attrNameLst>
                                          <p:attrName>ppt_y</p:attrName>
                                        </p:attrNameLst>
                                      </p:cBhvr>
                                      <p:tavLst>
                                        <p:tav tm="0">
                                          <p:val>
                                            <p:strVal val="0-#ppt_h/2"/>
                                          </p:val>
                                        </p:tav>
                                        <p:tav tm="100000">
                                          <p:val>
                                            <p:strVal val="#ppt_y"/>
                                          </p:val>
                                        </p:tav>
                                      </p:tavLst>
                                    </p:anim>
                                  </p:childTnLst>
                                </p:cTn>
                              </p:par>
                            </p:childTnLst>
                          </p:cTn>
                        </p:par>
                        <p:par>
                          <p:cTn id="22" fill="hold">
                            <p:stCondLst>
                              <p:cond delay="4750"/>
                            </p:stCondLst>
                            <p:childTnLst>
                              <p:par>
                                <p:cTn id="23" presetID="1" presetClass="entr" presetSubtype="0" fill="hold" grpId="0" nodeType="afterEffect">
                                  <p:stCondLst>
                                    <p:cond delay="750"/>
                                  </p:stCondLst>
                                  <p:childTnLst>
                                    <p:set>
                                      <p:cBhvr>
                                        <p:cTn id="24" dur="1" fill="hold">
                                          <p:stCondLst>
                                            <p:cond delay="499"/>
                                          </p:stCondLst>
                                        </p:cTn>
                                        <p:tgtEl>
                                          <p:spTgt spid="31">
                                            <p:txEl>
                                              <p:pRg st="0" end="0"/>
                                            </p:txEl>
                                          </p:spTgt>
                                        </p:tgtEl>
                                        <p:attrNameLst>
                                          <p:attrName>style.visibility</p:attrName>
                                        </p:attrNameLst>
                                      </p:cBhvr>
                                      <p:to>
                                        <p:strVal val="visible"/>
                                      </p:to>
                                    </p:set>
                                  </p:childTnLst>
                                </p:cTn>
                              </p:par>
                              <p:par>
                                <p:cTn id="25" presetID="1" presetClass="entr" presetSubtype="0" fill="hold" grpId="0" nodeType="withEffect">
                                  <p:stCondLst>
                                    <p:cond delay="750"/>
                                  </p:stCondLst>
                                  <p:childTnLst>
                                    <p:set>
                                      <p:cBhvr>
                                        <p:cTn id="26" dur="1" fill="hold">
                                          <p:stCondLst>
                                            <p:cond delay="499"/>
                                          </p:stCondLst>
                                        </p:cTn>
                                        <p:tgtEl>
                                          <p:spTgt spid="3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31" grpId="0" build="p">
        <p:tmplLst>
          <p:tmpl lvl="1">
            <p:tnLst>
              <p:par>
                <p:cTn presetID="1" presetClass="entr" presetSubtype="0" fill="hold" nodeType="afterEffect">
                  <p:stCondLst>
                    <p:cond delay="750"/>
                  </p:stCondLst>
                  <p:childTnLst>
                    <p:set>
                      <p:cBhvr>
                        <p:cTn dur="1" fill="hold">
                          <p:stCondLst>
                            <p:cond delay="499"/>
                          </p:stCondLst>
                        </p:cTn>
                        <p:tgtEl>
                          <p:spTgt spid="31"/>
                        </p:tgtEl>
                        <p:attrNameLst>
                          <p:attrName>style.visibility</p:attrName>
                        </p:attrNameLst>
                      </p:cBhvr>
                      <p:to>
                        <p:strVal val="visible"/>
                      </p:to>
                    </p:set>
                  </p:childTnLst>
                </p:cTn>
              </p:par>
            </p:tnLst>
          </p:tmpl>
        </p:tmplLst>
      </p:bldP>
      <p:bldP spid="33" grpId="0" build="p">
        <p:tmplLst>
          <p:tmpl lvl="1">
            <p:tnLst>
              <p:par>
                <p:cTn presetID="1" presetClass="entr" presetSubtype="0" fill="hold" nodeType="withEffect">
                  <p:stCondLst>
                    <p:cond delay="750"/>
                  </p:stCondLst>
                  <p:childTnLst>
                    <p:set>
                      <p:cBhvr>
                        <p:cTn dur="1" fill="hold">
                          <p:stCondLst>
                            <p:cond delay="499"/>
                          </p:stCondLst>
                        </p:cTn>
                        <p:tgtEl>
                          <p:spTgt spid="33"/>
                        </p:tgtEl>
                        <p:attrNameLst>
                          <p:attrName>style.visibility</p:attrName>
                        </p:attrNameLst>
                      </p:cBhvr>
                      <p:to>
                        <p:strVal val="visible"/>
                      </p:to>
                    </p:set>
                  </p:childTnLst>
                </p:cTn>
              </p:par>
            </p:tnLst>
          </p:tmpl>
        </p:tmplLst>
      </p:bldP>
      <p:bldP spid="38" grpId="0"/>
      <p:bldP spid="11" grpId="0" animBg="1"/>
    </p:bldLst>
  </p:timing>
  <p:extLst>
    <p:ext uri="{DCECCB84-F9BA-43D5-87BE-67443E8EF086}">
      <p15:sldGuideLst xmlns:p15="http://schemas.microsoft.com/office/powerpoint/2012/main">
        <p15:guide id="1" pos="81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sp>
        <p:nvSpPr>
          <p:cNvPr id="31" name="Text Placeholder 51">
            <a:extLst>
              <a:ext uri="{FF2B5EF4-FFF2-40B4-BE49-F238E27FC236}">
                <a16:creationId xmlns:a16="http://schemas.microsoft.com/office/drawing/2014/main" id="{274850B0-51CB-4B57-967E-B096614EBF4C}"/>
              </a:ext>
            </a:extLst>
          </p:cNvPr>
          <p:cNvSpPr>
            <a:spLocks noGrp="1"/>
          </p:cNvSpPr>
          <p:nvPr>
            <p:ph type="body" sz="quarter" idx="16" hasCustomPrompt="1"/>
          </p:nvPr>
        </p:nvSpPr>
        <p:spPr>
          <a:xfrm>
            <a:off x="1227326" y="2321544"/>
            <a:ext cx="3634740" cy="258266"/>
          </a:xfrm>
        </p:spPr>
        <p:txBody>
          <a:bodyPr>
            <a:noAutofit/>
          </a:bodyPr>
          <a:lstStyle>
            <a:lvl1pPr marL="0" indent="0" algn="l">
              <a:buNone/>
              <a:defRPr sz="1600">
                <a:solidFill>
                  <a:schemeClr val="accent6"/>
                </a:solidFill>
              </a:defRPr>
            </a:lvl1pPr>
          </a:lstStyle>
          <a:p>
            <a:pPr lvl="0"/>
            <a:r>
              <a:rPr lang="en-US"/>
              <a:t>Speaker Name</a:t>
            </a:r>
          </a:p>
        </p:txBody>
      </p:sp>
      <p:sp>
        <p:nvSpPr>
          <p:cNvPr id="32" name="Text Placeholder 51">
            <a:extLst>
              <a:ext uri="{FF2B5EF4-FFF2-40B4-BE49-F238E27FC236}">
                <a16:creationId xmlns:a16="http://schemas.microsoft.com/office/drawing/2014/main" id="{D9C27675-D398-4304-ACE8-63B492C12D0B}"/>
              </a:ext>
            </a:extLst>
          </p:cNvPr>
          <p:cNvSpPr>
            <a:spLocks noGrp="1"/>
          </p:cNvSpPr>
          <p:nvPr>
            <p:ph type="body" sz="quarter" idx="17" hasCustomPrompt="1"/>
          </p:nvPr>
        </p:nvSpPr>
        <p:spPr>
          <a:xfrm>
            <a:off x="1227326" y="2584445"/>
            <a:ext cx="3634740" cy="258266"/>
          </a:xfrm>
        </p:spPr>
        <p:txBody>
          <a:bodyPr>
            <a:noAutofit/>
          </a:bodyPr>
          <a:lstStyle>
            <a:lvl1pPr marL="0" indent="0" algn="l">
              <a:buNone/>
              <a:defRPr sz="1600">
                <a:solidFill>
                  <a:schemeClr val="accent6"/>
                </a:solidFill>
              </a:defRPr>
            </a:lvl1pPr>
          </a:lstStyle>
          <a:p>
            <a:pPr lvl="0"/>
            <a:r>
              <a:rPr lang="en-US"/>
              <a:t>Speaker Title</a:t>
            </a:r>
          </a:p>
        </p:txBody>
      </p:sp>
      <p:sp>
        <p:nvSpPr>
          <p:cNvPr id="33" name="Text Placeholder 51">
            <a:extLst>
              <a:ext uri="{FF2B5EF4-FFF2-40B4-BE49-F238E27FC236}">
                <a16:creationId xmlns:a16="http://schemas.microsoft.com/office/drawing/2014/main" id="{E74D8F16-BD0A-4457-A89C-20AFB72744ED}"/>
              </a:ext>
            </a:extLst>
          </p:cNvPr>
          <p:cNvSpPr>
            <a:spLocks noGrp="1"/>
          </p:cNvSpPr>
          <p:nvPr>
            <p:ph type="body" sz="quarter" idx="18" hasCustomPrompt="1"/>
          </p:nvPr>
        </p:nvSpPr>
        <p:spPr>
          <a:xfrm>
            <a:off x="1227326" y="3020019"/>
            <a:ext cx="3634740" cy="253232"/>
          </a:xfrm>
        </p:spPr>
        <p:txBody>
          <a:bodyPr>
            <a:noAutofit/>
          </a:bodyPr>
          <a:lstStyle>
            <a:lvl1pPr marL="0" indent="0" algn="l">
              <a:buNone/>
              <a:defRPr sz="1600">
                <a:solidFill>
                  <a:schemeClr val="accent6"/>
                </a:solidFill>
              </a:defRPr>
            </a:lvl1pPr>
          </a:lstStyle>
          <a:p>
            <a:pPr lvl="0"/>
            <a:r>
              <a:rPr lang="en-US"/>
              <a:t>April 26, 2019</a:t>
            </a:r>
          </a:p>
        </p:txBody>
      </p:sp>
      <p:sp>
        <p:nvSpPr>
          <p:cNvPr id="34" name="Freeform: Shape 33">
            <a:extLst>
              <a:ext uri="{FF2B5EF4-FFF2-40B4-BE49-F238E27FC236}">
                <a16:creationId xmlns:a16="http://schemas.microsoft.com/office/drawing/2014/main" id="{6338112A-38B8-4C07-B6E4-016E10087322}"/>
              </a:ext>
            </a:extLst>
          </p:cNvPr>
          <p:cNvSpPr>
            <a:spLocks noChangeArrowheads="1"/>
          </p:cNvSpPr>
          <p:nvPr userDrawn="1"/>
        </p:nvSpPr>
        <p:spPr bwMode="auto">
          <a:xfrm>
            <a:off x="0" y="4988898"/>
            <a:ext cx="10728960" cy="52899"/>
          </a:xfrm>
          <a:custGeom>
            <a:avLst/>
            <a:gdLst>
              <a:gd name="connsiteX0" fmla="*/ 0 w 10621513"/>
              <a:gd name="connsiteY0" fmla="*/ 0 h 61287"/>
              <a:gd name="connsiteX1" fmla="*/ 33868 w 10621513"/>
              <a:gd name="connsiteY1" fmla="*/ 0 h 61287"/>
              <a:gd name="connsiteX2" fmla="*/ 10587645 w 10621513"/>
              <a:gd name="connsiteY2" fmla="*/ 0 h 61287"/>
              <a:gd name="connsiteX3" fmla="*/ 10621513 w 10621513"/>
              <a:gd name="connsiteY3" fmla="*/ 0 h 61287"/>
              <a:gd name="connsiteX4" fmla="*/ 10621513 w 10621513"/>
              <a:gd name="connsiteY4" fmla="*/ 61287 h 61287"/>
              <a:gd name="connsiteX5" fmla="*/ 10587645 w 10621513"/>
              <a:gd name="connsiteY5" fmla="*/ 61287 h 61287"/>
              <a:gd name="connsiteX6" fmla="*/ 33868 w 10621513"/>
              <a:gd name="connsiteY6" fmla="*/ 61287 h 61287"/>
              <a:gd name="connsiteX7" fmla="*/ 0 w 10621513"/>
              <a:gd name="connsiteY7" fmla="*/ 61287 h 6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21513" h="61287">
                <a:moveTo>
                  <a:pt x="0" y="0"/>
                </a:moveTo>
                <a:lnTo>
                  <a:pt x="33868" y="0"/>
                </a:lnTo>
                <a:lnTo>
                  <a:pt x="10587645" y="0"/>
                </a:lnTo>
                <a:lnTo>
                  <a:pt x="10621513" y="0"/>
                </a:lnTo>
                <a:lnTo>
                  <a:pt x="10621513" y="61287"/>
                </a:lnTo>
                <a:lnTo>
                  <a:pt x="10587645" y="61287"/>
                </a:lnTo>
                <a:lnTo>
                  <a:pt x="33868" y="61287"/>
                </a:lnTo>
                <a:lnTo>
                  <a:pt x="0" y="6128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a:endParaRPr lang="en-US" sz="1620">
              <a:solidFill>
                <a:schemeClr val="lt1"/>
              </a:solidFill>
            </a:endParaRPr>
          </a:p>
        </p:txBody>
      </p:sp>
      <p:pic>
        <p:nvPicPr>
          <p:cNvPr id="36" name="BMP Logo Extended">
            <a:extLst>
              <a:ext uri="{FF2B5EF4-FFF2-40B4-BE49-F238E27FC236}">
                <a16:creationId xmlns:a16="http://schemas.microsoft.com/office/drawing/2014/main" id="{FBD397E1-FABC-492F-9C3F-E816C68451D6}"/>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0254" t="13443" r="11404" b="16507"/>
          <a:stretch/>
        </p:blipFill>
        <p:spPr>
          <a:xfrm>
            <a:off x="5755609" y="4197509"/>
            <a:ext cx="5377627" cy="1588092"/>
          </a:xfrm>
          <a:prstGeom prst="rect">
            <a:avLst/>
          </a:prstGeom>
        </p:spPr>
      </p:pic>
      <p:sp>
        <p:nvSpPr>
          <p:cNvPr id="38" name="Title 37">
            <a:extLst>
              <a:ext uri="{FF2B5EF4-FFF2-40B4-BE49-F238E27FC236}">
                <a16:creationId xmlns:a16="http://schemas.microsoft.com/office/drawing/2014/main" id="{CA014115-3360-4C1B-B191-3BFD4F488D63}"/>
              </a:ext>
            </a:extLst>
          </p:cNvPr>
          <p:cNvSpPr>
            <a:spLocks noGrp="1"/>
          </p:cNvSpPr>
          <p:nvPr>
            <p:ph type="title" hasCustomPrompt="1"/>
          </p:nvPr>
        </p:nvSpPr>
        <p:spPr>
          <a:xfrm>
            <a:off x="1213556" y="817951"/>
            <a:ext cx="9332421" cy="1443719"/>
          </a:xfrm>
          <a:prstGeom prst="rect">
            <a:avLst/>
          </a:prstGeom>
          <a:noFill/>
        </p:spPr>
        <p:txBody>
          <a:bodyPr>
            <a:noAutofit/>
          </a:bodyPr>
          <a:lstStyle>
            <a:lvl1pPr algn="l">
              <a:defRPr lang="en-US" sz="4800" dirty="0">
                <a:solidFill>
                  <a:schemeClr val="tx1"/>
                </a:solidFill>
              </a:defRPr>
            </a:lvl1pPr>
          </a:lstStyle>
          <a:p>
            <a:r>
              <a:rPr lang="en-US"/>
              <a:t>Click to edit </a:t>
            </a:r>
            <a:br>
              <a:rPr lang="en-US"/>
            </a:br>
            <a:r>
              <a:rPr lang="en-US"/>
              <a:t>Master title style</a:t>
            </a:r>
          </a:p>
        </p:txBody>
      </p:sp>
      <p:sp>
        <p:nvSpPr>
          <p:cNvPr id="42" name="Footer Placeholder 41">
            <a:extLst>
              <a:ext uri="{FF2B5EF4-FFF2-40B4-BE49-F238E27FC236}">
                <a16:creationId xmlns:a16="http://schemas.microsoft.com/office/drawing/2014/main" id="{B218595E-05F5-4758-A9DD-7F72361C0099}"/>
              </a:ext>
            </a:extLst>
          </p:cNvPr>
          <p:cNvSpPr>
            <a:spLocks noGrp="1"/>
          </p:cNvSpPr>
          <p:nvPr>
            <p:ph type="ftr" sz="quarter" idx="19"/>
          </p:nvPr>
        </p:nvSpPr>
        <p:spPr/>
        <p:txBody>
          <a:bodyPr/>
          <a:lstStyle/>
          <a:p>
            <a:r>
              <a:rPr lang="en-US"/>
              <a:t>CONFIDENTIAL DO NOT DISTRIBUTE</a:t>
            </a:r>
          </a:p>
        </p:txBody>
      </p:sp>
    </p:spTree>
    <p:extLst>
      <p:ext uri="{BB962C8B-B14F-4D97-AF65-F5344CB8AC3E}">
        <p14:creationId xmlns:p14="http://schemas.microsoft.com/office/powerpoint/2010/main" val="2268356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decel="10000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2750" fill="hold"/>
                                        <p:tgtEl>
                                          <p:spTgt spid="34"/>
                                        </p:tgtEl>
                                        <p:attrNameLst>
                                          <p:attrName>ppt_x</p:attrName>
                                        </p:attrNameLst>
                                      </p:cBhvr>
                                      <p:tavLst>
                                        <p:tav tm="0">
                                          <p:val>
                                            <p:strVal val="0-#ppt_w/2"/>
                                          </p:val>
                                        </p:tav>
                                        <p:tav tm="100000">
                                          <p:val>
                                            <p:strVal val="#ppt_x"/>
                                          </p:val>
                                        </p:tav>
                                      </p:tavLst>
                                    </p:anim>
                                    <p:anim calcmode="lin" valueType="num">
                                      <p:cBhvr additive="base">
                                        <p:cTn id="8" dur="2750" fill="hold"/>
                                        <p:tgtEl>
                                          <p:spTgt spid="34"/>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125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1500"/>
                                        <p:tgtEl>
                                          <p:spTgt spid="36"/>
                                        </p:tgtEl>
                                      </p:cBhvr>
                                    </p:animEffect>
                                  </p:childTnLst>
                                </p:cTn>
                              </p:par>
                              <p:par>
                                <p:cTn id="12" presetID="35" presetClass="path" presetSubtype="0" decel="100000" fill="hold" nodeType="withEffect">
                                  <p:stCondLst>
                                    <p:cond delay="1200"/>
                                  </p:stCondLst>
                                  <p:childTnLst>
                                    <p:animMotion origin="layout" path="M -4.72222E-6 2.22222E-6 L -0.02743 2.22222E-6 " pathEditMode="relative" rAng="0" ptsTypes="AA">
                                      <p:cBhvr>
                                        <p:cTn id="13" dur="1500" spd="-100000" fill="hold"/>
                                        <p:tgtEl>
                                          <p:spTgt spid="36"/>
                                        </p:tgtEl>
                                        <p:attrNameLst>
                                          <p:attrName>ppt_x</p:attrName>
                                          <p:attrName>ppt_y</p:attrName>
                                        </p:attrNameLst>
                                      </p:cBhvr>
                                      <p:rCtr x="-1372" y="0"/>
                                    </p:animMotion>
                                  </p:childTnLst>
                                </p:cTn>
                              </p:par>
                            </p:childTnLst>
                          </p:cTn>
                        </p:par>
                        <p:par>
                          <p:cTn id="14" fill="hold">
                            <p:stCondLst>
                              <p:cond delay="2750"/>
                            </p:stCondLst>
                            <p:childTnLst>
                              <p:par>
                                <p:cTn id="15" presetID="47" presetClass="entr" presetSubtype="0" fill="hold" grpId="0" nodeType="after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1500"/>
                                        <p:tgtEl>
                                          <p:spTgt spid="38"/>
                                        </p:tgtEl>
                                      </p:cBhvr>
                                    </p:animEffect>
                                    <p:anim calcmode="lin" valueType="num">
                                      <p:cBhvr>
                                        <p:cTn id="18" dur="1500" fill="hold"/>
                                        <p:tgtEl>
                                          <p:spTgt spid="38"/>
                                        </p:tgtEl>
                                        <p:attrNameLst>
                                          <p:attrName>ppt_x</p:attrName>
                                        </p:attrNameLst>
                                      </p:cBhvr>
                                      <p:tavLst>
                                        <p:tav tm="0">
                                          <p:val>
                                            <p:strVal val="#ppt_x"/>
                                          </p:val>
                                        </p:tav>
                                        <p:tav tm="100000">
                                          <p:val>
                                            <p:strVal val="#ppt_x"/>
                                          </p:val>
                                        </p:tav>
                                      </p:tavLst>
                                    </p:anim>
                                    <p:anim calcmode="lin" valueType="num">
                                      <p:cBhvr>
                                        <p:cTn id="19" dur="1500" fill="hold"/>
                                        <p:tgtEl>
                                          <p:spTgt spid="38"/>
                                        </p:tgtEl>
                                        <p:attrNameLst>
                                          <p:attrName>ppt_y</p:attrName>
                                        </p:attrNameLst>
                                      </p:cBhvr>
                                      <p:tavLst>
                                        <p:tav tm="0">
                                          <p:val>
                                            <p:strVal val="#ppt_y-.1"/>
                                          </p:val>
                                        </p:tav>
                                        <p:tav tm="100000">
                                          <p:val>
                                            <p:strVal val="#ppt_y"/>
                                          </p:val>
                                        </p:tav>
                                      </p:tavLst>
                                    </p:anim>
                                  </p:childTnLst>
                                </p:cTn>
                              </p:par>
                              <p:par>
                                <p:cTn id="20" presetID="10" presetClass="entr" presetSubtype="0"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1500"/>
                                        <p:tgtEl>
                                          <p:spTgt spid="31"/>
                                        </p:tgtEl>
                                      </p:cBhvr>
                                    </p:animEffect>
                                  </p:childTnLst>
                                </p:cTn>
                              </p:par>
                              <p:par>
                                <p:cTn id="23" presetID="35" presetClass="path" presetSubtype="0" decel="100000" fill="hold" grpId="1" nodeType="withEffect">
                                  <p:stCondLst>
                                    <p:cond delay="0"/>
                                  </p:stCondLst>
                                  <p:childTnLst>
                                    <p:animMotion origin="layout" path="M -2.77778E-6 4.07407E-6 L -0.02743 4.07407E-6 " pathEditMode="relative" rAng="0" ptsTypes="AA">
                                      <p:cBhvr>
                                        <p:cTn id="24" dur="1500" spd="-100000" fill="hold"/>
                                        <p:tgtEl>
                                          <p:spTgt spid="31"/>
                                        </p:tgtEl>
                                        <p:attrNameLst>
                                          <p:attrName>ppt_x</p:attrName>
                                          <p:attrName>ppt_y</p:attrName>
                                        </p:attrNameLst>
                                      </p:cBhvr>
                                      <p:rCtr x="-1372" y="0"/>
                                    </p:animMotion>
                                  </p:childTnLst>
                                </p:cTn>
                              </p:par>
                              <p:par>
                                <p:cTn id="25" presetID="10"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1500"/>
                                        <p:tgtEl>
                                          <p:spTgt spid="32"/>
                                        </p:tgtEl>
                                      </p:cBhvr>
                                    </p:animEffect>
                                  </p:childTnLst>
                                </p:cTn>
                              </p:par>
                              <p:par>
                                <p:cTn id="28" presetID="35" presetClass="path" presetSubtype="0" decel="100000" fill="hold" grpId="1" nodeType="withEffect">
                                  <p:stCondLst>
                                    <p:cond delay="0"/>
                                  </p:stCondLst>
                                  <p:childTnLst>
                                    <p:animMotion origin="layout" path="M -2.77778E-6 -1.85185E-6 L -0.02743 -1.85185E-6 " pathEditMode="relative" rAng="0" ptsTypes="AA">
                                      <p:cBhvr>
                                        <p:cTn id="29" dur="1500" spd="-100000" fill="hold"/>
                                        <p:tgtEl>
                                          <p:spTgt spid="32"/>
                                        </p:tgtEl>
                                        <p:attrNameLst>
                                          <p:attrName>ppt_x</p:attrName>
                                          <p:attrName>ppt_y</p:attrName>
                                        </p:attrNameLst>
                                      </p:cBhvr>
                                      <p:rCtr x="-1372" y="0"/>
                                    </p:animMotion>
                                  </p:childTnLst>
                                </p:cTn>
                              </p:par>
                              <p:par>
                                <p:cTn id="30" presetID="10" presetClass="entr" presetSubtype="0"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1500"/>
                                        <p:tgtEl>
                                          <p:spTgt spid="33"/>
                                        </p:tgtEl>
                                      </p:cBhvr>
                                    </p:animEffect>
                                  </p:childTnLst>
                                </p:cTn>
                              </p:par>
                              <p:par>
                                <p:cTn id="33" presetID="35" presetClass="path" presetSubtype="0" decel="100000" fill="hold" grpId="1" nodeType="withEffect">
                                  <p:stCondLst>
                                    <p:cond delay="0"/>
                                  </p:stCondLst>
                                  <p:childTnLst>
                                    <p:animMotion origin="layout" path="M -2.77778E-6 3.7037E-6 L -0.02743 3.7037E-6 " pathEditMode="relative" rAng="0" ptsTypes="AA">
                                      <p:cBhvr>
                                        <p:cTn id="34" dur="1500" spd="-100000" fill="hold"/>
                                        <p:tgtEl>
                                          <p:spTgt spid="33"/>
                                        </p:tgtEl>
                                        <p:attrNameLst>
                                          <p:attrName>ppt_x</p:attrName>
                                          <p:attrName>ppt_y</p:attrName>
                                        </p:attrNameLst>
                                      </p:cBhvr>
                                      <p:rCtr x="-1372"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tmplLst>
          <p:tmpl>
            <p:tnLst>
              <p:par>
                <p:cTn presetID="10" presetClass="entr" presetSubtype="0"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1500"/>
                        <p:tgtEl>
                          <p:spTgt spid="31"/>
                        </p:tgtEl>
                      </p:cBhvr>
                    </p:animEffect>
                  </p:childTnLst>
                </p:cTn>
              </p:par>
            </p:tnLst>
          </p:tmpl>
        </p:tmplLst>
      </p:bldP>
      <p:bldP spid="31" grpId="1">
        <p:tmplLst>
          <p:tmpl>
            <p:tnLst>
              <p:par>
                <p:cTn presetID="35" presetClass="path" presetSubtype="0" decel="100000" fill="hold" nodeType="withEffect">
                  <p:stCondLst>
                    <p:cond delay="0"/>
                  </p:stCondLst>
                  <p:childTnLst>
                    <p:animMotion origin="layout" path="M -2.77778E-6 4.07407E-6 L -0.02743 4.07407E-6 " pathEditMode="relative" rAng="0" ptsTypes="AA">
                      <p:cBhvr>
                        <p:cTn dur="1500" spd="-100000" fill="hold"/>
                        <p:tgtEl>
                          <p:spTgt spid="31"/>
                        </p:tgtEl>
                        <p:attrNameLst>
                          <p:attrName>ppt_x</p:attrName>
                          <p:attrName>ppt_y</p:attrName>
                        </p:attrNameLst>
                      </p:cBhvr>
                      <p:rCtr x="-1372" y="0"/>
                    </p:animMotion>
                  </p:childTnLst>
                </p:cTn>
              </p:par>
            </p:tnLst>
          </p:tmpl>
        </p:tmplLst>
      </p:bldP>
      <p:bldP spid="32" grpId="0">
        <p:tmplLst>
          <p:tmpl>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1500"/>
                        <p:tgtEl>
                          <p:spTgt spid="32"/>
                        </p:tgtEl>
                      </p:cBhvr>
                    </p:animEffect>
                  </p:childTnLst>
                </p:cTn>
              </p:par>
            </p:tnLst>
          </p:tmpl>
        </p:tmplLst>
      </p:bldP>
      <p:bldP spid="32" grpId="1">
        <p:tmplLst>
          <p:tmpl>
            <p:tnLst>
              <p:par>
                <p:cTn presetID="35" presetClass="path" presetSubtype="0" decel="100000" fill="hold" nodeType="withEffect">
                  <p:stCondLst>
                    <p:cond delay="0"/>
                  </p:stCondLst>
                  <p:childTnLst>
                    <p:animMotion origin="layout" path="M -2.77778E-6 -1.85185E-6 L -0.02743 -1.85185E-6 " pathEditMode="relative" rAng="0" ptsTypes="AA">
                      <p:cBhvr>
                        <p:cTn dur="1500" spd="-100000" fill="hold"/>
                        <p:tgtEl>
                          <p:spTgt spid="32"/>
                        </p:tgtEl>
                        <p:attrNameLst>
                          <p:attrName>ppt_x</p:attrName>
                          <p:attrName>ppt_y</p:attrName>
                        </p:attrNameLst>
                      </p:cBhvr>
                      <p:rCtr x="-1372" y="0"/>
                    </p:animMotion>
                  </p:childTnLst>
                </p:cTn>
              </p:par>
            </p:tnLst>
          </p:tmpl>
        </p:tmplLst>
      </p:bldP>
      <p:bldP spid="33" grpId="0">
        <p:tmplLst>
          <p:tmpl>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1500"/>
                        <p:tgtEl>
                          <p:spTgt spid="33"/>
                        </p:tgtEl>
                      </p:cBhvr>
                    </p:animEffect>
                  </p:childTnLst>
                </p:cTn>
              </p:par>
            </p:tnLst>
          </p:tmpl>
        </p:tmplLst>
      </p:bldP>
      <p:bldP spid="33" grpId="1">
        <p:tmplLst>
          <p:tmpl>
            <p:tnLst>
              <p:par>
                <p:cTn presetID="35" presetClass="path" presetSubtype="0" decel="100000" fill="hold" nodeType="withEffect">
                  <p:stCondLst>
                    <p:cond delay="0"/>
                  </p:stCondLst>
                  <p:childTnLst>
                    <p:animMotion origin="layout" path="M -2.77778E-6 3.7037E-6 L -0.02743 3.7037E-6 " pathEditMode="relative" rAng="0" ptsTypes="AA">
                      <p:cBhvr>
                        <p:cTn dur="1500" spd="-100000" fill="hold"/>
                        <p:tgtEl>
                          <p:spTgt spid="33"/>
                        </p:tgtEl>
                        <p:attrNameLst>
                          <p:attrName>ppt_x</p:attrName>
                          <p:attrName>ppt_y</p:attrName>
                        </p:attrNameLst>
                      </p:cBhvr>
                      <p:rCtr x="-1372" y="0"/>
                    </p:animMotion>
                  </p:childTnLst>
                </p:cTn>
              </p:par>
            </p:tnLst>
          </p:tmpl>
        </p:tmplLst>
      </p:bldP>
      <p:bldP spid="34" grpId="0" animBg="1"/>
      <p:bldP spid="38" grpId="0"/>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795" y="1825625"/>
            <a:ext cx="5251456" cy="4141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27744" y="1825625"/>
            <a:ext cx="5251456" cy="4141788"/>
          </a:xfrm>
        </p:spPr>
        <p:txBody>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a:extLst>
              <a:ext uri="{FF2B5EF4-FFF2-40B4-BE49-F238E27FC236}">
                <a16:creationId xmlns:a16="http://schemas.microsoft.com/office/drawing/2014/main" id="{AAF04AF9-B270-4820-8E61-772451C93305}"/>
              </a:ext>
            </a:extLst>
          </p:cNvPr>
          <p:cNvSpPr>
            <a:spLocks noGrp="1"/>
          </p:cNvSpPr>
          <p:nvPr>
            <p:ph type="title"/>
          </p:nvPr>
        </p:nvSpPr>
        <p:spPr>
          <a:xfrm>
            <a:off x="685795" y="365127"/>
            <a:ext cx="10693405" cy="1325563"/>
          </a:xfrm>
          <a:prstGeom prst="rect">
            <a:avLst/>
          </a:prstGeom>
        </p:spPr>
        <p:txBody>
          <a:bodyPr/>
          <a:lstStyle/>
          <a:p>
            <a:r>
              <a:rPr lang="en-US"/>
              <a:t>Click to edit Master title style</a:t>
            </a:r>
          </a:p>
        </p:txBody>
      </p:sp>
      <p:sp>
        <p:nvSpPr>
          <p:cNvPr id="11" name="Footer Placeholder 10">
            <a:extLst>
              <a:ext uri="{FF2B5EF4-FFF2-40B4-BE49-F238E27FC236}">
                <a16:creationId xmlns:a16="http://schemas.microsoft.com/office/drawing/2014/main" id="{FE4B2BD6-F83D-430B-A28A-E98CF64D8EFE}"/>
              </a:ext>
            </a:extLst>
          </p:cNvPr>
          <p:cNvSpPr>
            <a:spLocks noGrp="1"/>
          </p:cNvSpPr>
          <p:nvPr>
            <p:ph type="ftr" sz="quarter" idx="10"/>
          </p:nvPr>
        </p:nvSpPr>
        <p:spPr/>
        <p:txBody>
          <a:bodyPr/>
          <a:lstStyle/>
          <a:p>
            <a:r>
              <a:rPr lang="en-US"/>
              <a:t>CONFIDENTIAL DO NOT DISTRIBUTE</a:t>
            </a:r>
          </a:p>
        </p:txBody>
      </p:sp>
      <p:sp>
        <p:nvSpPr>
          <p:cNvPr id="12" name="Slide Number Placeholder 11">
            <a:extLst>
              <a:ext uri="{FF2B5EF4-FFF2-40B4-BE49-F238E27FC236}">
                <a16:creationId xmlns:a16="http://schemas.microsoft.com/office/drawing/2014/main" id="{40D4798E-74BC-4821-AAB1-FC0116593AEA}"/>
              </a:ext>
            </a:extLst>
          </p:cNvPr>
          <p:cNvSpPr>
            <a:spLocks noGrp="1"/>
          </p:cNvSpPr>
          <p:nvPr>
            <p:ph type="sldNum" sz="quarter" idx="11"/>
          </p:nvPr>
        </p:nvSpPr>
        <p:spPr/>
        <p:txBody>
          <a:bodyPr/>
          <a:lstStyle/>
          <a:p>
            <a:pPr algn="l"/>
            <a:fld id="{0912C858-1055-4C3E-824D-0BEBDD89C316}" type="slidenum">
              <a:rPr lang="en-US" smtClean="0"/>
              <a:pPr algn="l"/>
              <a:t>‹#›</a:t>
            </a:fld>
            <a:endParaRPr lang="en-US"/>
          </a:p>
        </p:txBody>
      </p:sp>
    </p:spTree>
    <p:extLst>
      <p:ext uri="{BB962C8B-B14F-4D97-AF65-F5344CB8AC3E}">
        <p14:creationId xmlns:p14="http://schemas.microsoft.com/office/powerpoint/2010/main" val="19351066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3_Title and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7C0D94F-C1F9-4F81-A765-7C8520E14126}"/>
              </a:ext>
            </a:extLst>
          </p:cNvPr>
          <p:cNvSpPr/>
          <p:nvPr userDrawn="1"/>
        </p:nvSpPr>
        <p:spPr>
          <a:xfrm>
            <a:off x="0" y="0"/>
            <a:ext cx="12192000" cy="914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Content Placeholder 2"/>
          <p:cNvSpPr>
            <a:spLocks noGrp="1"/>
          </p:cNvSpPr>
          <p:nvPr>
            <p:ph idx="1"/>
          </p:nvPr>
        </p:nvSpPr>
        <p:spPr>
          <a:xfrm>
            <a:off x="675931" y="1719264"/>
            <a:ext cx="10703269" cy="42624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675FC381-55DE-4960-9297-6C7B210D2281}"/>
              </a:ext>
            </a:extLst>
          </p:cNvPr>
          <p:cNvSpPr>
            <a:spLocks noGrp="1"/>
          </p:cNvSpPr>
          <p:nvPr>
            <p:ph type="ftr" sz="quarter" idx="10"/>
          </p:nvPr>
        </p:nvSpPr>
        <p:spPr/>
        <p:txBody>
          <a:bodyPr/>
          <a:lstStyle/>
          <a:p>
            <a:r>
              <a:rPr lang="en-US"/>
              <a:t>CONFIDENTIAL DO NOT DISTRIBUTE</a:t>
            </a:r>
          </a:p>
        </p:txBody>
      </p:sp>
      <p:sp>
        <p:nvSpPr>
          <p:cNvPr id="8" name="Slide Number Placeholder 7">
            <a:extLst>
              <a:ext uri="{FF2B5EF4-FFF2-40B4-BE49-F238E27FC236}">
                <a16:creationId xmlns:a16="http://schemas.microsoft.com/office/drawing/2014/main" id="{6981D676-4EAC-4191-84E5-3B9118ABC2DB}"/>
              </a:ext>
            </a:extLst>
          </p:cNvPr>
          <p:cNvSpPr>
            <a:spLocks noGrp="1"/>
          </p:cNvSpPr>
          <p:nvPr>
            <p:ph type="sldNum" sz="quarter" idx="11"/>
          </p:nvPr>
        </p:nvSpPr>
        <p:spPr>
          <a:xfrm>
            <a:off x="708381" y="6449484"/>
            <a:ext cx="2743200" cy="365125"/>
          </a:xfrm>
        </p:spPr>
        <p:txBody>
          <a:bodyPr/>
          <a:lstStyle/>
          <a:p>
            <a:pPr algn="l"/>
            <a:fld id="{0912C858-1055-4C3E-824D-0BEBDD89C316}" type="slidenum">
              <a:rPr lang="en-US" smtClean="0"/>
              <a:pPr algn="l"/>
              <a:t>‹#›</a:t>
            </a:fld>
            <a:endParaRPr lang="en-US"/>
          </a:p>
        </p:txBody>
      </p:sp>
      <p:sp>
        <p:nvSpPr>
          <p:cNvPr id="9" name="Title 8">
            <a:extLst>
              <a:ext uri="{FF2B5EF4-FFF2-40B4-BE49-F238E27FC236}">
                <a16:creationId xmlns:a16="http://schemas.microsoft.com/office/drawing/2014/main" id="{3A41BCAE-404B-4CC1-9735-4033924DDB34}"/>
              </a:ext>
            </a:extLst>
          </p:cNvPr>
          <p:cNvSpPr>
            <a:spLocks noGrp="1"/>
          </p:cNvSpPr>
          <p:nvPr>
            <p:ph type="title"/>
          </p:nvPr>
        </p:nvSpPr>
        <p:spPr>
          <a:xfrm>
            <a:off x="681584" y="347661"/>
            <a:ext cx="10697529" cy="512064"/>
          </a:xfrm>
          <a:prstGeom prst="rect">
            <a:avLst/>
          </a:prstGeom>
        </p:spPr>
        <p:txBody>
          <a:bodyPr anchor="t" anchorCtr="0"/>
          <a:lstStyle>
            <a:lvl1pPr>
              <a:defRPr lang="en-US" dirty="0">
                <a:solidFill>
                  <a:schemeClr val="bg1"/>
                </a:solidFill>
              </a:defRPr>
            </a:lvl1pPr>
          </a:lstStyle>
          <a:p>
            <a:r>
              <a:rPr lang="en-US"/>
              <a:t>Click to edit Master title style</a:t>
            </a:r>
          </a:p>
        </p:txBody>
      </p:sp>
      <p:sp>
        <p:nvSpPr>
          <p:cNvPr id="10" name="Text Placeholder 5">
            <a:extLst>
              <a:ext uri="{FF2B5EF4-FFF2-40B4-BE49-F238E27FC236}">
                <a16:creationId xmlns:a16="http://schemas.microsoft.com/office/drawing/2014/main" id="{D95D4AA7-0562-4075-94BE-72A8F3E4C55A}"/>
              </a:ext>
            </a:extLst>
          </p:cNvPr>
          <p:cNvSpPr>
            <a:spLocks noGrp="1"/>
          </p:cNvSpPr>
          <p:nvPr>
            <p:ph type="subTitle" idx="12" hasCustomPrompt="1"/>
          </p:nvPr>
        </p:nvSpPr>
        <p:spPr>
          <a:xfrm>
            <a:off x="681584" y="945454"/>
            <a:ext cx="10697529" cy="651485"/>
          </a:xfrm>
        </p:spPr>
        <p:txBody>
          <a:bodyPr>
            <a:normAutofit/>
          </a:bodyPr>
          <a:lstStyle>
            <a:lvl1pPr marL="0" indent="0">
              <a:buNone/>
              <a:defRPr sz="2000">
                <a:solidFill>
                  <a:schemeClr val="bg2"/>
                </a:solidFill>
              </a:defRPr>
            </a:lvl1pPr>
            <a:lvl3pPr marL="914400" indent="0">
              <a:buFont typeface="Arial" panose="020B0604020202020204" pitchFamily="34" charset="0"/>
              <a:buNone/>
              <a:defRPr/>
            </a:lvl3pPr>
          </a:lstStyle>
          <a:p>
            <a:pPr lvl="0"/>
            <a:r>
              <a:rPr lang="en-US"/>
              <a:t>Optional subtitle placeholder 2 lines</a:t>
            </a:r>
            <a:br>
              <a:rPr lang="en-US"/>
            </a:br>
            <a:r>
              <a:rPr lang="en-US"/>
              <a:t>That run on</a:t>
            </a:r>
          </a:p>
        </p:txBody>
      </p:sp>
    </p:spTree>
    <p:extLst>
      <p:ext uri="{BB962C8B-B14F-4D97-AF65-F5344CB8AC3E}">
        <p14:creationId xmlns:p14="http://schemas.microsoft.com/office/powerpoint/2010/main" val="1961132730"/>
      </p:ext>
    </p:extLst>
  </p:cSld>
  <p:clrMapOvr>
    <a:masterClrMapping/>
  </p:clrMapOvr>
  <p:extLst>
    <p:ext uri="{DCECCB84-F9BA-43D5-87BE-67443E8EF086}">
      <p15:sldGuideLst xmlns:p15="http://schemas.microsoft.com/office/powerpoint/2012/main">
        <p15:guide id="1" orient="horz" pos="3768" userDrawn="1">
          <p15:clr>
            <a:srgbClr val="FBAE40"/>
          </p15:clr>
        </p15:guide>
        <p15:guide id="2" orient="horz" pos="19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5_Title and Content">
    <p:spTree>
      <p:nvGrpSpPr>
        <p:cNvPr id="1" name=""/>
        <p:cNvGrpSpPr/>
        <p:nvPr/>
      </p:nvGrpSpPr>
      <p:grpSpPr>
        <a:xfrm>
          <a:off x="0" y="0"/>
          <a:ext cx="0" cy="0"/>
          <a:chOff x="0" y="0"/>
          <a:chExt cx="0" cy="0"/>
        </a:xfrm>
      </p:grpSpPr>
      <p:pic>
        <p:nvPicPr>
          <p:cNvPr id="11" name="Logo">
            <a:extLst>
              <a:ext uri="{FF2B5EF4-FFF2-40B4-BE49-F238E27FC236}">
                <a16:creationId xmlns:a16="http://schemas.microsoft.com/office/drawing/2014/main" id="{7A6910FA-1123-417D-9BE0-BFDECE6BC76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26" y="5989427"/>
            <a:ext cx="11642724" cy="868680"/>
          </a:xfrm>
          <a:prstGeom prst="rect">
            <a:avLst/>
          </a:prstGeom>
        </p:spPr>
      </p:pic>
      <p:sp>
        <p:nvSpPr>
          <p:cNvPr id="7" name="Footer Placeholder 6">
            <a:extLst>
              <a:ext uri="{FF2B5EF4-FFF2-40B4-BE49-F238E27FC236}">
                <a16:creationId xmlns:a16="http://schemas.microsoft.com/office/drawing/2014/main" id="{675FC381-55DE-4960-9297-6C7B210D2281}"/>
              </a:ext>
            </a:extLst>
          </p:cNvPr>
          <p:cNvSpPr>
            <a:spLocks noGrp="1"/>
          </p:cNvSpPr>
          <p:nvPr>
            <p:ph type="ftr" sz="quarter" idx="10"/>
          </p:nvPr>
        </p:nvSpPr>
        <p:spPr>
          <a:xfrm>
            <a:off x="4038600" y="6477884"/>
            <a:ext cx="4114800" cy="365125"/>
          </a:xfrm>
        </p:spPr>
        <p:txBody>
          <a:bodyPr/>
          <a:lstStyle>
            <a:lvl1pPr>
              <a:defRPr b="0">
                <a:solidFill>
                  <a:schemeClr val="bg1"/>
                </a:solidFill>
              </a:defRPr>
            </a:lvl1pPr>
          </a:lstStyle>
          <a:p>
            <a:r>
              <a:rPr lang="en-US"/>
              <a:t>CONFIDENTIAL DO NOT DISTRIBUTE</a:t>
            </a:r>
          </a:p>
        </p:txBody>
      </p:sp>
      <p:sp>
        <p:nvSpPr>
          <p:cNvPr id="8" name="Slide Number Placeholder 7">
            <a:extLst>
              <a:ext uri="{FF2B5EF4-FFF2-40B4-BE49-F238E27FC236}">
                <a16:creationId xmlns:a16="http://schemas.microsoft.com/office/drawing/2014/main" id="{6981D676-4EAC-4191-84E5-3B9118ABC2DB}"/>
              </a:ext>
            </a:extLst>
          </p:cNvPr>
          <p:cNvSpPr>
            <a:spLocks noGrp="1"/>
          </p:cNvSpPr>
          <p:nvPr>
            <p:ph type="sldNum" sz="quarter" idx="11"/>
          </p:nvPr>
        </p:nvSpPr>
        <p:spPr>
          <a:xfrm>
            <a:off x="697093" y="6477884"/>
            <a:ext cx="2743200" cy="365125"/>
          </a:xfrm>
        </p:spPr>
        <p:txBody>
          <a:bodyPr/>
          <a:lstStyle>
            <a:lvl1pPr>
              <a:defRPr b="0">
                <a:solidFill>
                  <a:schemeClr val="bg1"/>
                </a:solidFill>
              </a:defRPr>
            </a:lvl1pPr>
          </a:lstStyle>
          <a:p>
            <a:pPr algn="l"/>
            <a:fld id="{0912C858-1055-4C3E-824D-0BEBDD89C316}" type="slidenum">
              <a:rPr lang="en-US" smtClean="0"/>
              <a:pPr algn="l"/>
              <a:t>‹#›</a:t>
            </a:fld>
            <a:endParaRPr lang="en-US"/>
          </a:p>
        </p:txBody>
      </p:sp>
      <p:sp>
        <p:nvSpPr>
          <p:cNvPr id="3" name="Content Placeholder 2"/>
          <p:cNvSpPr>
            <a:spLocks noGrp="1"/>
          </p:cNvSpPr>
          <p:nvPr>
            <p:ph idx="1"/>
          </p:nvPr>
        </p:nvSpPr>
        <p:spPr>
          <a:xfrm>
            <a:off x="685795" y="1423989"/>
            <a:ext cx="10693405" cy="44950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8">
            <a:extLst>
              <a:ext uri="{FF2B5EF4-FFF2-40B4-BE49-F238E27FC236}">
                <a16:creationId xmlns:a16="http://schemas.microsoft.com/office/drawing/2014/main" id="{3A41BCAE-404B-4CC1-9735-4033924DDB34}"/>
              </a:ext>
            </a:extLst>
          </p:cNvPr>
          <p:cNvSpPr>
            <a:spLocks noGrp="1"/>
          </p:cNvSpPr>
          <p:nvPr>
            <p:ph type="title"/>
          </p:nvPr>
        </p:nvSpPr>
        <p:spPr>
          <a:xfrm>
            <a:off x="685795" y="304801"/>
            <a:ext cx="10693405" cy="515407"/>
          </a:xfrm>
          <a:prstGeom prst="rect">
            <a:avLst/>
          </a:prstGeom>
        </p:spPr>
        <p:txBody>
          <a:bodyPr/>
          <a:lstStyle/>
          <a:p>
            <a:r>
              <a:rPr lang="en-US"/>
              <a:t>Click to edit Master title style</a:t>
            </a:r>
          </a:p>
        </p:txBody>
      </p:sp>
      <p:sp>
        <p:nvSpPr>
          <p:cNvPr id="4" name="Text Placeholder 3">
            <a:extLst>
              <a:ext uri="{FF2B5EF4-FFF2-40B4-BE49-F238E27FC236}">
                <a16:creationId xmlns:a16="http://schemas.microsoft.com/office/drawing/2014/main" id="{DF6D163A-4D7B-4B89-8D66-CFBE9F967478}"/>
              </a:ext>
            </a:extLst>
          </p:cNvPr>
          <p:cNvSpPr>
            <a:spLocks noGrp="1"/>
          </p:cNvSpPr>
          <p:nvPr>
            <p:ph type="body" sz="quarter" idx="12"/>
          </p:nvPr>
        </p:nvSpPr>
        <p:spPr>
          <a:xfrm>
            <a:off x="685795" y="827616"/>
            <a:ext cx="10693405" cy="438149"/>
          </a:xfrm>
        </p:spPr>
        <p:txBody>
          <a:bodyPr>
            <a:normAutofit/>
          </a:bodyPr>
          <a:lstStyle>
            <a:lvl1pPr marL="0" indent="0">
              <a:buNone/>
              <a:defRPr sz="2200">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946666664"/>
      </p:ext>
    </p:extLst>
  </p:cSld>
  <p:clrMapOvr>
    <a:masterClrMapping/>
  </p:clrMapOvr>
  <p:extLst>
    <p:ext uri="{DCECCB84-F9BA-43D5-87BE-67443E8EF086}">
      <p15:sldGuideLst xmlns:p15="http://schemas.microsoft.com/office/powerpoint/2012/main">
        <p15:guide id="1" orient="horz" pos="19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itle 9">
            <a:extLst>
              <a:ext uri="{FF2B5EF4-FFF2-40B4-BE49-F238E27FC236}">
                <a16:creationId xmlns:a16="http://schemas.microsoft.com/office/drawing/2014/main" id="{65A49774-8467-4D65-B3CC-10CA64B8945A}"/>
              </a:ext>
            </a:extLst>
          </p:cNvPr>
          <p:cNvSpPr>
            <a:spLocks noGrp="1"/>
          </p:cNvSpPr>
          <p:nvPr>
            <p:ph type="title"/>
          </p:nvPr>
        </p:nvSpPr>
        <p:spPr>
          <a:xfrm>
            <a:off x="838200" y="365127"/>
            <a:ext cx="10515600" cy="1325563"/>
          </a:xfrm>
          <a:prstGeom prst="rect">
            <a:avLst/>
          </a:prstGeom>
        </p:spPr>
        <p:txBody>
          <a:bodyPr/>
          <a:lstStyle/>
          <a:p>
            <a:r>
              <a:rPr lang="en-US"/>
              <a:t>Click to edit Master title style</a:t>
            </a:r>
          </a:p>
        </p:txBody>
      </p:sp>
      <p:sp>
        <p:nvSpPr>
          <p:cNvPr id="11" name="Footer Placeholder 10">
            <a:extLst>
              <a:ext uri="{FF2B5EF4-FFF2-40B4-BE49-F238E27FC236}">
                <a16:creationId xmlns:a16="http://schemas.microsoft.com/office/drawing/2014/main" id="{C3369500-766D-44F4-A74F-DF9192ECE7CE}"/>
              </a:ext>
            </a:extLst>
          </p:cNvPr>
          <p:cNvSpPr>
            <a:spLocks noGrp="1"/>
          </p:cNvSpPr>
          <p:nvPr>
            <p:ph type="ftr" sz="quarter" idx="10"/>
          </p:nvPr>
        </p:nvSpPr>
        <p:spPr/>
        <p:txBody>
          <a:bodyPr/>
          <a:lstStyle/>
          <a:p>
            <a:r>
              <a:rPr lang="en-US"/>
              <a:t>CONFIDENTIAL DO NOT DISTRIBUTE</a:t>
            </a:r>
          </a:p>
        </p:txBody>
      </p:sp>
      <p:sp>
        <p:nvSpPr>
          <p:cNvPr id="12" name="Slide Number Placeholder 11">
            <a:extLst>
              <a:ext uri="{FF2B5EF4-FFF2-40B4-BE49-F238E27FC236}">
                <a16:creationId xmlns:a16="http://schemas.microsoft.com/office/drawing/2014/main" id="{38B85DD1-8CC7-43AF-BF7D-51D025DECA4F}"/>
              </a:ext>
            </a:extLst>
          </p:cNvPr>
          <p:cNvSpPr>
            <a:spLocks noGrp="1"/>
          </p:cNvSpPr>
          <p:nvPr>
            <p:ph type="sldNum" sz="quarter" idx="11"/>
          </p:nvPr>
        </p:nvSpPr>
        <p:spPr/>
        <p:txBody>
          <a:bodyPr/>
          <a:lstStyle/>
          <a:p>
            <a:pPr algn="l"/>
            <a:fld id="{0912C858-1055-4C3E-824D-0BEBDD89C316}" type="slidenum">
              <a:rPr lang="en-US" smtClean="0"/>
              <a:pPr algn="l"/>
              <a:t>‹#›</a:t>
            </a:fld>
            <a:endParaRPr lang="en-US"/>
          </a:p>
        </p:txBody>
      </p:sp>
    </p:spTree>
    <p:extLst>
      <p:ext uri="{BB962C8B-B14F-4D97-AF65-F5344CB8AC3E}">
        <p14:creationId xmlns:p14="http://schemas.microsoft.com/office/powerpoint/2010/main" val="15430742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9" y="1681163"/>
            <a:ext cx="5157787"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28E36F3A-AEE8-4D36-994F-40F1FC732F0A}"/>
              </a:ext>
            </a:extLst>
          </p:cNvPr>
          <p:cNvSpPr>
            <a:spLocks noGrp="1"/>
          </p:cNvSpPr>
          <p:nvPr>
            <p:ph type="ftr" sz="quarter" idx="10"/>
          </p:nvPr>
        </p:nvSpPr>
        <p:spPr/>
        <p:txBody>
          <a:bodyPr/>
          <a:lstStyle/>
          <a:p>
            <a:r>
              <a:rPr lang="en-US"/>
              <a:t>CONFIDENTIAL DO NOT DISTRIBUTE</a:t>
            </a:r>
          </a:p>
        </p:txBody>
      </p:sp>
      <p:sp>
        <p:nvSpPr>
          <p:cNvPr id="11" name="Slide Number Placeholder 10">
            <a:extLst>
              <a:ext uri="{FF2B5EF4-FFF2-40B4-BE49-F238E27FC236}">
                <a16:creationId xmlns:a16="http://schemas.microsoft.com/office/drawing/2014/main" id="{C7411268-DB9C-4595-824B-053CBBD67AD9}"/>
              </a:ext>
            </a:extLst>
          </p:cNvPr>
          <p:cNvSpPr>
            <a:spLocks noGrp="1"/>
          </p:cNvSpPr>
          <p:nvPr>
            <p:ph type="sldNum" sz="quarter" idx="11"/>
          </p:nvPr>
        </p:nvSpPr>
        <p:spPr/>
        <p:txBody>
          <a:bodyPr/>
          <a:lstStyle/>
          <a:p>
            <a:pPr algn="l"/>
            <a:fld id="{0912C858-1055-4C3E-824D-0BEBDD89C316}" type="slidenum">
              <a:rPr lang="en-US" smtClean="0"/>
              <a:pPr algn="l"/>
              <a:t>‹#›</a:t>
            </a:fld>
            <a:endParaRPr lang="en-US"/>
          </a:p>
        </p:txBody>
      </p:sp>
    </p:spTree>
    <p:extLst>
      <p:ext uri="{BB962C8B-B14F-4D97-AF65-F5344CB8AC3E}">
        <p14:creationId xmlns:p14="http://schemas.microsoft.com/office/powerpoint/2010/main" val="30852347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795" y="1423989"/>
            <a:ext cx="10693405" cy="44950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675FC381-55DE-4960-9297-6C7B210D2281}"/>
              </a:ext>
            </a:extLst>
          </p:cNvPr>
          <p:cNvSpPr>
            <a:spLocks noGrp="1"/>
          </p:cNvSpPr>
          <p:nvPr>
            <p:ph type="ftr" sz="quarter" idx="10"/>
          </p:nvPr>
        </p:nvSpPr>
        <p:spPr>
          <a:xfrm>
            <a:off x="4038600" y="6358609"/>
            <a:ext cx="4114800" cy="365125"/>
          </a:xfrm>
        </p:spPr>
        <p:txBody>
          <a:bodyPr/>
          <a:lstStyle>
            <a:lvl1pPr>
              <a:defRPr>
                <a:solidFill>
                  <a:schemeClr val="bg1"/>
                </a:solidFill>
              </a:defRPr>
            </a:lvl1pPr>
          </a:lstStyle>
          <a:p>
            <a:r>
              <a:rPr lang="en-US"/>
              <a:t>CONFIDENTIAL DO NOT DISTRIBUTE</a:t>
            </a:r>
          </a:p>
        </p:txBody>
      </p:sp>
      <p:sp>
        <p:nvSpPr>
          <p:cNvPr id="8" name="Slide Number Placeholder 7">
            <a:extLst>
              <a:ext uri="{FF2B5EF4-FFF2-40B4-BE49-F238E27FC236}">
                <a16:creationId xmlns:a16="http://schemas.microsoft.com/office/drawing/2014/main" id="{6981D676-4EAC-4191-84E5-3B9118ABC2DB}"/>
              </a:ext>
            </a:extLst>
          </p:cNvPr>
          <p:cNvSpPr>
            <a:spLocks noGrp="1"/>
          </p:cNvSpPr>
          <p:nvPr>
            <p:ph type="sldNum" sz="quarter" idx="11"/>
          </p:nvPr>
        </p:nvSpPr>
        <p:spPr>
          <a:xfrm>
            <a:off x="8761607" y="6358609"/>
            <a:ext cx="2743200" cy="365125"/>
          </a:xfrm>
        </p:spPr>
        <p:txBody>
          <a:bodyPr/>
          <a:lstStyle>
            <a:lvl1pPr algn="r">
              <a:defRPr>
                <a:solidFill>
                  <a:schemeClr val="bg1"/>
                </a:solidFill>
              </a:defRPr>
            </a:lvl1pPr>
          </a:lstStyle>
          <a:p>
            <a:fld id="{0912C858-1055-4C3E-824D-0BEBDD89C316}" type="slidenum">
              <a:rPr lang="en-US" smtClean="0"/>
              <a:pPr/>
              <a:t>‹#›</a:t>
            </a:fld>
            <a:endParaRPr lang="en-US"/>
          </a:p>
        </p:txBody>
      </p:sp>
      <p:sp>
        <p:nvSpPr>
          <p:cNvPr id="9" name="Title 8">
            <a:extLst>
              <a:ext uri="{FF2B5EF4-FFF2-40B4-BE49-F238E27FC236}">
                <a16:creationId xmlns:a16="http://schemas.microsoft.com/office/drawing/2014/main" id="{3A41BCAE-404B-4CC1-9735-4033924DDB34}"/>
              </a:ext>
            </a:extLst>
          </p:cNvPr>
          <p:cNvSpPr>
            <a:spLocks noGrp="1"/>
          </p:cNvSpPr>
          <p:nvPr>
            <p:ph type="title"/>
          </p:nvPr>
        </p:nvSpPr>
        <p:spPr>
          <a:xfrm>
            <a:off x="685795" y="304801"/>
            <a:ext cx="10693405" cy="515407"/>
          </a:xfrm>
          <a:prstGeom prst="rect">
            <a:avLst/>
          </a:prstGeom>
        </p:spPr>
        <p:txBody>
          <a:bodyPr/>
          <a:lstStyle/>
          <a:p>
            <a:r>
              <a:rPr lang="en-US"/>
              <a:t>Click to edit Master title style</a:t>
            </a:r>
          </a:p>
        </p:txBody>
      </p:sp>
      <p:sp>
        <p:nvSpPr>
          <p:cNvPr id="4" name="Text Placeholder 3">
            <a:extLst>
              <a:ext uri="{FF2B5EF4-FFF2-40B4-BE49-F238E27FC236}">
                <a16:creationId xmlns:a16="http://schemas.microsoft.com/office/drawing/2014/main" id="{DF6D163A-4D7B-4B89-8D66-CFBE9F967478}"/>
              </a:ext>
            </a:extLst>
          </p:cNvPr>
          <p:cNvSpPr>
            <a:spLocks noGrp="1"/>
          </p:cNvSpPr>
          <p:nvPr>
            <p:ph type="body" sz="quarter" idx="12"/>
          </p:nvPr>
        </p:nvSpPr>
        <p:spPr>
          <a:xfrm>
            <a:off x="685795" y="946677"/>
            <a:ext cx="10693405" cy="438149"/>
          </a:xfrm>
        </p:spPr>
        <p:txBody>
          <a:bodyPr>
            <a:normAutofit/>
          </a:bodyPr>
          <a:lstStyle>
            <a:lvl1pPr marL="0" indent="0">
              <a:buNone/>
              <a:defRPr sz="2200"/>
            </a:lvl1pPr>
          </a:lstStyle>
          <a:p>
            <a:pPr lvl="0"/>
            <a:r>
              <a:rPr lang="en-US"/>
              <a:t>Click to edit Master text styles</a:t>
            </a:r>
          </a:p>
        </p:txBody>
      </p:sp>
      <p:sp>
        <p:nvSpPr>
          <p:cNvPr id="12" name="Freeform: Shape 11">
            <a:extLst>
              <a:ext uri="{FF2B5EF4-FFF2-40B4-BE49-F238E27FC236}">
                <a16:creationId xmlns:a16="http://schemas.microsoft.com/office/drawing/2014/main" id="{B6973617-774C-40BC-94AB-6871D15358AE}"/>
              </a:ext>
            </a:extLst>
          </p:cNvPr>
          <p:cNvSpPr>
            <a:spLocks noChangeArrowheads="1"/>
          </p:cNvSpPr>
          <p:nvPr userDrawn="1"/>
        </p:nvSpPr>
        <p:spPr bwMode="auto">
          <a:xfrm>
            <a:off x="812800" y="860500"/>
            <a:ext cx="11374117" cy="45719"/>
          </a:xfrm>
          <a:custGeom>
            <a:avLst/>
            <a:gdLst>
              <a:gd name="connsiteX0" fmla="*/ 0 w 10621513"/>
              <a:gd name="connsiteY0" fmla="*/ 0 h 61287"/>
              <a:gd name="connsiteX1" fmla="*/ 33868 w 10621513"/>
              <a:gd name="connsiteY1" fmla="*/ 0 h 61287"/>
              <a:gd name="connsiteX2" fmla="*/ 10587645 w 10621513"/>
              <a:gd name="connsiteY2" fmla="*/ 0 h 61287"/>
              <a:gd name="connsiteX3" fmla="*/ 10621513 w 10621513"/>
              <a:gd name="connsiteY3" fmla="*/ 0 h 61287"/>
              <a:gd name="connsiteX4" fmla="*/ 10621513 w 10621513"/>
              <a:gd name="connsiteY4" fmla="*/ 61287 h 61287"/>
              <a:gd name="connsiteX5" fmla="*/ 10587645 w 10621513"/>
              <a:gd name="connsiteY5" fmla="*/ 61287 h 61287"/>
              <a:gd name="connsiteX6" fmla="*/ 33868 w 10621513"/>
              <a:gd name="connsiteY6" fmla="*/ 61287 h 61287"/>
              <a:gd name="connsiteX7" fmla="*/ 0 w 10621513"/>
              <a:gd name="connsiteY7" fmla="*/ 61287 h 6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21513" h="61287">
                <a:moveTo>
                  <a:pt x="0" y="0"/>
                </a:moveTo>
                <a:lnTo>
                  <a:pt x="33868" y="0"/>
                </a:lnTo>
                <a:lnTo>
                  <a:pt x="10587645" y="0"/>
                </a:lnTo>
                <a:lnTo>
                  <a:pt x="10621513" y="0"/>
                </a:lnTo>
                <a:lnTo>
                  <a:pt x="10621513" y="61287"/>
                </a:lnTo>
                <a:lnTo>
                  <a:pt x="10587645" y="61287"/>
                </a:lnTo>
                <a:lnTo>
                  <a:pt x="33868" y="61287"/>
                </a:lnTo>
                <a:lnTo>
                  <a:pt x="0" y="6128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a:endParaRPr lang="en-US" sz="1800"/>
          </a:p>
        </p:txBody>
      </p:sp>
    </p:spTree>
    <p:extLst>
      <p:ext uri="{BB962C8B-B14F-4D97-AF65-F5344CB8AC3E}">
        <p14:creationId xmlns:p14="http://schemas.microsoft.com/office/powerpoint/2010/main" val="1354625272"/>
      </p:ext>
    </p:extLst>
  </p:cSld>
  <p:clrMapOvr>
    <a:masterClrMapping/>
  </p:clrMapOvr>
  <p:extLst>
    <p:ext uri="{DCECCB84-F9BA-43D5-87BE-67443E8EF086}">
      <p15:sldGuideLst xmlns:p15="http://schemas.microsoft.com/office/powerpoint/2012/main">
        <p15:guide id="1" orient="horz" pos="1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820243EF-5ED9-EB32-E270-C2FF897D7B65}"/>
              </a:ext>
            </a:extLst>
          </p:cNvPr>
          <p:cNvGraphicFramePr>
            <a:graphicFrameLocks noChangeAspect="1"/>
          </p:cNvGraphicFramePr>
          <p:nvPr userDrawn="1">
            <p:custDataLst>
              <p:tags r:id="rId1"/>
            </p:custDataLst>
          </p:nvPr>
        </p:nvGraphicFramePr>
        <p:xfrm>
          <a:off x="2118" y="1588"/>
          <a:ext cx="2117" cy="1588"/>
        </p:xfrm>
        <a:graphic>
          <a:graphicData uri="http://schemas.openxmlformats.org/presentationml/2006/ole">
            <mc:AlternateContent xmlns:mc="http://schemas.openxmlformats.org/markup-compatibility/2006">
              <mc:Choice xmlns:v="urn:schemas-microsoft-com:vml" Requires="v">
                <p:oleObj name="think-cell Slide" r:id="rId3" imgW="532" imgH="530" progId="TCLayout.ActiveDocument.1">
                  <p:embed/>
                </p:oleObj>
              </mc:Choice>
              <mc:Fallback>
                <p:oleObj name="think-cell Slide" r:id="rId3" imgW="532" imgH="530" progId="TCLayout.ActiveDocument.1">
                  <p:embed/>
                  <p:pic>
                    <p:nvPicPr>
                      <p:cNvPr id="9" name="Object 8" hidden="1">
                        <a:extLst>
                          <a:ext uri="{FF2B5EF4-FFF2-40B4-BE49-F238E27FC236}">
                            <a16:creationId xmlns:a16="http://schemas.microsoft.com/office/drawing/2014/main" id="{820243EF-5ED9-EB32-E270-C2FF897D7B65}"/>
                          </a:ext>
                        </a:extLst>
                      </p:cNvPr>
                      <p:cNvPicPr/>
                      <p:nvPr/>
                    </p:nvPicPr>
                    <p:blipFill>
                      <a:blip r:embed="rId4"/>
                      <a:stretch>
                        <a:fillRect/>
                      </a:stretch>
                    </p:blipFill>
                    <p:spPr>
                      <a:xfrm>
                        <a:off x="2118" y="1588"/>
                        <a:ext cx="2117" cy="1588"/>
                      </a:xfrm>
                      <a:prstGeom prst="rect">
                        <a:avLst/>
                      </a:prstGeom>
                    </p:spPr>
                  </p:pic>
                </p:oleObj>
              </mc:Fallback>
            </mc:AlternateContent>
          </a:graphicData>
        </a:graphic>
      </p:graphicFrame>
      <p:sp>
        <p:nvSpPr>
          <p:cNvPr id="3" name="Content Placeholder"/>
          <p:cNvSpPr>
            <a:spLocks noGrp="1"/>
          </p:cNvSpPr>
          <p:nvPr>
            <p:ph idx="1"/>
          </p:nvPr>
        </p:nvSpPr>
        <p:spPr>
          <a:xfrm>
            <a:off x="695938" y="1383847"/>
            <a:ext cx="10793329" cy="4391456"/>
          </a:xfrm>
        </p:spPr>
        <p:txBody>
          <a:bodyPr/>
          <a:lstStyle>
            <a:lvl1pPr rtl="0">
              <a:defRPr/>
            </a:lvl1pPr>
            <a:lvl2pPr marL="457200" rtl="0">
              <a:defRPr/>
            </a:lvl2pPr>
            <a:lvl3pPr marL="685800" rtl="0">
              <a:defRPr/>
            </a:lvl3pPr>
            <a:lvl4pPr marL="914400" rtl="0">
              <a:defRPr/>
            </a:lvl4pPr>
            <a:lvl5pPr marL="1143000" rt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p:cNvSpPr>
            <a:spLocks noGrp="1"/>
          </p:cNvSpPr>
          <p:nvPr>
            <p:ph type="ftr" sz="quarter" idx="11"/>
          </p:nvPr>
        </p:nvSpPr>
        <p:spPr/>
        <p:txBody>
          <a:bodyPr/>
          <a:lstStyle>
            <a:lvl1pPr rtl="0">
              <a:defRPr/>
            </a:lvl1pPr>
          </a:lstStyle>
          <a:p>
            <a:pPr>
              <a:spcAft>
                <a:spcPts val="300"/>
              </a:spcAft>
            </a:pPr>
            <a:r>
              <a:rPr lang="en-US"/>
              <a:t>CONFIDENTIAL DO NOT DISTRIBUTE</a:t>
            </a:r>
            <a:endParaRPr lang="en-US" sz="800"/>
          </a:p>
        </p:txBody>
      </p:sp>
      <p:sp>
        <p:nvSpPr>
          <p:cNvPr id="6" name="Slide Number Placeholder"/>
          <p:cNvSpPr>
            <a:spLocks noGrp="1"/>
          </p:cNvSpPr>
          <p:nvPr>
            <p:ph type="sldNum" sz="quarter" idx="12"/>
          </p:nvPr>
        </p:nvSpPr>
        <p:spPr/>
        <p:txBody>
          <a:bodyPr/>
          <a:lstStyle>
            <a:lvl1pPr rtl="0">
              <a:defRPr/>
            </a:lvl1pPr>
          </a:lstStyle>
          <a:p>
            <a:fld id="{D4F07938-7C1D-46C8-9535-2404A951C984}" type="slidenum">
              <a:rPr lang="en-US" smtClean="0"/>
              <a:pPr/>
              <a:t>‹#›</a:t>
            </a:fld>
            <a:endParaRPr lang="en-US"/>
          </a:p>
        </p:txBody>
      </p:sp>
      <p:sp>
        <p:nvSpPr>
          <p:cNvPr id="7" name="Subtitle Placeholder">
            <a:extLst>
              <a:ext uri="{FF2B5EF4-FFF2-40B4-BE49-F238E27FC236}">
                <a16:creationId xmlns:a16="http://schemas.microsoft.com/office/drawing/2014/main" id="{81AC114C-8B00-4436-A6FD-2EB9C15F3E0A}"/>
              </a:ext>
            </a:extLst>
          </p:cNvPr>
          <p:cNvSpPr>
            <a:spLocks noGrp="1"/>
          </p:cNvSpPr>
          <p:nvPr>
            <p:ph type="body" sz="quarter" idx="13" hasCustomPrompt="1"/>
          </p:nvPr>
        </p:nvSpPr>
        <p:spPr>
          <a:xfrm>
            <a:off x="695937" y="959305"/>
            <a:ext cx="10784416" cy="367392"/>
          </a:xfrm>
        </p:spPr>
        <p:txBody>
          <a:bodyPr>
            <a:noAutofit/>
          </a:bodyPr>
          <a:lstStyle>
            <a:lvl1pPr marL="0" indent="0" rtl="0">
              <a:buNone/>
              <a:defRPr sz="2000">
                <a:solidFill>
                  <a:schemeClr val="bg2"/>
                </a:solidFill>
              </a:defRPr>
            </a:lvl1pPr>
          </a:lstStyle>
          <a:p>
            <a:pPr lvl="0"/>
            <a:r>
              <a:rPr lang="en-US"/>
              <a:t>Click to edit Master subtitle</a:t>
            </a:r>
          </a:p>
        </p:txBody>
      </p:sp>
      <p:sp>
        <p:nvSpPr>
          <p:cNvPr id="10" name="Footnote Placeholder">
            <a:extLst>
              <a:ext uri="{FF2B5EF4-FFF2-40B4-BE49-F238E27FC236}">
                <a16:creationId xmlns:a16="http://schemas.microsoft.com/office/drawing/2014/main" id="{02A5A177-C406-4C26-AEC6-86866B5E8C37}"/>
              </a:ext>
            </a:extLst>
          </p:cNvPr>
          <p:cNvSpPr>
            <a:spLocks noGrp="1"/>
          </p:cNvSpPr>
          <p:nvPr>
            <p:ph type="body" sz="quarter" idx="14"/>
          </p:nvPr>
        </p:nvSpPr>
        <p:spPr>
          <a:xfrm>
            <a:off x="695938" y="5832453"/>
            <a:ext cx="10783969" cy="282598"/>
          </a:xfrm>
        </p:spPr>
        <p:txBody>
          <a:bodyPr anchor="b">
            <a:noAutofit/>
          </a:bodyPr>
          <a:lstStyle>
            <a:lvl1pPr marL="0" indent="0" rtl="0">
              <a:buNone/>
              <a:defRPr sz="700">
                <a:solidFill>
                  <a:schemeClr val="tx1"/>
                </a:solidFill>
              </a:defRPr>
            </a:lvl1pPr>
          </a:lstStyle>
          <a:p>
            <a:pPr lvl="0"/>
            <a:endParaRPr lang="en-US"/>
          </a:p>
        </p:txBody>
      </p:sp>
      <p:sp>
        <p:nvSpPr>
          <p:cNvPr id="8" name="Title 7">
            <a:extLst>
              <a:ext uri="{FF2B5EF4-FFF2-40B4-BE49-F238E27FC236}">
                <a16:creationId xmlns:a16="http://schemas.microsoft.com/office/drawing/2014/main" id="{4625983D-FACE-8340-F144-3580E25F290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47436707"/>
      </p:ext>
    </p:extLst>
  </p:cSld>
  <p:clrMapOvr>
    <a:masterClrMapping/>
  </p:clrMapOvr>
  <p:extLst>
    <p:ext uri="{DCECCB84-F9BA-43D5-87BE-67443E8EF086}">
      <p15:sldGuideLst xmlns:p15="http://schemas.microsoft.com/office/powerpoint/2012/main">
        <p15:guide id="1" orient="horz" pos="1104" userDrawn="1">
          <p15:clr>
            <a:srgbClr val="9FCC3B"/>
          </p15:clr>
        </p15:guide>
        <p15:guide id="2" orient="horz" pos="936" userDrawn="1">
          <p15:clr>
            <a:srgbClr val="9FCC3B"/>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5" name="Footer Placeholder 4"/>
          <p:cNvSpPr>
            <a:spLocks noGrp="1"/>
          </p:cNvSpPr>
          <p:nvPr>
            <p:ph type="ftr" sz="quarter" idx="11"/>
          </p:nvPr>
        </p:nvSpPr>
        <p:spPr/>
        <p:txBody>
          <a:bodyPr>
            <a:noAutofit/>
          </a:bodyPr>
          <a:lstStyle/>
          <a:p>
            <a:r>
              <a:rPr lang="en-US"/>
              <a:t>CONFIDENTIAL DO NOT DISTRIBUTE</a:t>
            </a:r>
          </a:p>
        </p:txBody>
      </p:sp>
      <p:sp>
        <p:nvSpPr>
          <p:cNvPr id="6" name="Slide Number Placeholder 5"/>
          <p:cNvSpPr>
            <a:spLocks noGrp="1"/>
          </p:cNvSpPr>
          <p:nvPr>
            <p:ph type="sldNum" sz="quarter" idx="12"/>
          </p:nvPr>
        </p:nvSpPr>
        <p:spPr/>
        <p:txBody>
          <a:bodyPr>
            <a:noAutofit/>
          </a:bodyPr>
          <a:lstStyle/>
          <a:p>
            <a:fld id="{D4F07938-7C1D-46C8-9535-2404A951C984}" type="slidenum">
              <a:rPr lang="en-US" smtClean="0"/>
              <a:t>‹#›</a:t>
            </a:fld>
            <a:endParaRPr lang="en-US"/>
          </a:p>
        </p:txBody>
      </p:sp>
      <p:sp>
        <p:nvSpPr>
          <p:cNvPr id="7" name="Text Placeholder 6">
            <a:extLst>
              <a:ext uri="{FF2B5EF4-FFF2-40B4-BE49-F238E27FC236}">
                <a16:creationId xmlns:a16="http://schemas.microsoft.com/office/drawing/2014/main" id="{81AC114C-8B00-4436-A6FD-2EB9C15F3E0A}"/>
              </a:ext>
            </a:extLst>
          </p:cNvPr>
          <p:cNvSpPr>
            <a:spLocks noGrp="1"/>
          </p:cNvSpPr>
          <p:nvPr>
            <p:ph type="body" sz="quarter" idx="13" hasCustomPrompt="1"/>
          </p:nvPr>
        </p:nvSpPr>
        <p:spPr>
          <a:xfrm>
            <a:off x="695937" y="959305"/>
            <a:ext cx="10784416" cy="367392"/>
          </a:xfrm>
        </p:spPr>
        <p:txBody>
          <a:bodyPr>
            <a:noAutofit/>
          </a:bodyPr>
          <a:lstStyle>
            <a:lvl1pPr marL="0" indent="0">
              <a:buNone/>
              <a:defRPr sz="2000">
                <a:solidFill>
                  <a:schemeClr val="bg2"/>
                </a:solidFill>
              </a:defRPr>
            </a:lvl1pPr>
          </a:lstStyle>
          <a:p>
            <a:pPr lvl="0"/>
            <a:r>
              <a:rPr lang="en-US"/>
              <a:t>Click to edit Master subtitle</a:t>
            </a:r>
          </a:p>
        </p:txBody>
      </p:sp>
      <p:sp>
        <p:nvSpPr>
          <p:cNvPr id="8" name="Content Placeholder 2">
            <a:extLst>
              <a:ext uri="{FF2B5EF4-FFF2-40B4-BE49-F238E27FC236}">
                <a16:creationId xmlns:a16="http://schemas.microsoft.com/office/drawing/2014/main" id="{C9F64DB6-4818-47E5-BD98-64E54FB7903F}"/>
              </a:ext>
            </a:extLst>
          </p:cNvPr>
          <p:cNvSpPr>
            <a:spLocks noGrp="1"/>
          </p:cNvSpPr>
          <p:nvPr>
            <p:ph sz="half" idx="14"/>
          </p:nvPr>
        </p:nvSpPr>
        <p:spPr>
          <a:xfrm>
            <a:off x="695938" y="1383846"/>
            <a:ext cx="5323863" cy="467405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BA26A43D-97B0-48D8-B343-8F2FB900447B}"/>
              </a:ext>
            </a:extLst>
          </p:cNvPr>
          <p:cNvSpPr>
            <a:spLocks noGrp="1"/>
          </p:cNvSpPr>
          <p:nvPr>
            <p:ph sz="half" idx="2"/>
          </p:nvPr>
        </p:nvSpPr>
        <p:spPr>
          <a:xfrm>
            <a:off x="6172200" y="1383846"/>
            <a:ext cx="5308153" cy="467405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5946E16C-4548-4488-83BE-320A6790F1F1}"/>
              </a:ext>
            </a:extLst>
          </p:cNvPr>
          <p:cNvSpPr>
            <a:spLocks noGrp="1"/>
          </p:cNvSpPr>
          <p:nvPr>
            <p:ph type="body" sz="quarter" idx="15"/>
          </p:nvPr>
        </p:nvSpPr>
        <p:spPr>
          <a:xfrm>
            <a:off x="696385" y="5800725"/>
            <a:ext cx="10783969" cy="314326"/>
          </a:xfrm>
        </p:spPr>
        <p:txBody>
          <a:bodyPr anchor="b">
            <a:noAutofit/>
          </a:bodyPr>
          <a:lstStyle>
            <a:lvl1pPr marL="0" indent="0">
              <a:buNone/>
              <a:defRPr sz="700">
                <a:solidFill>
                  <a:schemeClr val="tx1"/>
                </a:solidFill>
              </a:defRPr>
            </a:lvl1pPr>
          </a:lstStyle>
          <a:p>
            <a:pPr lvl="0"/>
            <a:endParaRPr lang="en-US"/>
          </a:p>
        </p:txBody>
      </p:sp>
      <p:sp>
        <p:nvSpPr>
          <p:cNvPr id="11" name="Text Placeholder 2">
            <a:extLst>
              <a:ext uri="{FF2B5EF4-FFF2-40B4-BE49-F238E27FC236}">
                <a16:creationId xmlns:a16="http://schemas.microsoft.com/office/drawing/2014/main" id="{2A590F1E-8B57-4B74-A6A8-C630BB0DF941}"/>
              </a:ext>
            </a:extLst>
          </p:cNvPr>
          <p:cNvSpPr>
            <a:spLocks noGrp="1"/>
          </p:cNvSpPr>
          <p:nvPr>
            <p:ph type="body" sz="quarter" idx="20"/>
          </p:nvPr>
        </p:nvSpPr>
        <p:spPr>
          <a:xfrm flipH="1">
            <a:off x="6096000" y="1485899"/>
            <a:ext cx="0" cy="4297680"/>
          </a:xfrm>
          <a:noFill/>
          <a:ln w="3175">
            <a:solidFill>
              <a:schemeClr val="bg1">
                <a:lumMod val="65000"/>
              </a:schemeClr>
            </a:solidFill>
          </a:ln>
        </p:spPr>
        <p:txBody>
          <a:bodyPr>
            <a:noAutofit/>
          </a:bodyPr>
          <a:lstStyle>
            <a:lvl1pPr marL="0" indent="0">
              <a:buNone/>
              <a:defRPr>
                <a:ln>
                  <a:noFill/>
                </a:ln>
                <a:noFill/>
              </a:defRPr>
            </a:lvl1pPr>
          </a:lstStyle>
          <a:p>
            <a:pPr lvl="0"/>
            <a:endParaRPr lang="en-US"/>
          </a:p>
        </p:txBody>
      </p:sp>
    </p:spTree>
    <p:extLst>
      <p:ext uri="{BB962C8B-B14F-4D97-AF65-F5344CB8AC3E}">
        <p14:creationId xmlns:p14="http://schemas.microsoft.com/office/powerpoint/2010/main" val="1606486215"/>
      </p:ext>
    </p:extLst>
  </p:cSld>
  <p:clrMapOvr>
    <a:masterClrMapping/>
  </p:clrMapOvr>
  <p:extLst>
    <p:ext uri="{DCECCB84-F9BA-43D5-87BE-67443E8EF086}">
      <p15:sldGuideLst xmlns:p15="http://schemas.microsoft.com/office/powerpoint/2012/main">
        <p15:guide id="1" orient="horz" pos="936" userDrawn="1">
          <p15:clr>
            <a:srgbClr val="9FCC3B"/>
          </p15:clr>
        </p15:guide>
        <p15:guide id="2" orient="horz" pos="1104" userDrawn="1">
          <p15:clr>
            <a:srgbClr val="9FCC3B"/>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52" name="Ink 51">
                <a:extLst>
                  <a:ext uri="{FF2B5EF4-FFF2-40B4-BE49-F238E27FC236}">
                    <a16:creationId xmlns:a16="http://schemas.microsoft.com/office/drawing/2014/main" id="{A22A68B3-F0AA-4609-AF2A-90AA0B5AC904}"/>
                  </a:ext>
                </a:extLst>
              </p14:cNvPr>
              <p14:cNvContentPartPr/>
              <p14:nvPr/>
            </p14:nvContentPartPr>
            <p14:xfrm>
              <a:off x="5186057" y="-991374"/>
              <a:ext cx="240" cy="240"/>
            </p14:xfrm>
          </p:contentPart>
        </mc:Choice>
        <mc:Fallback xmlns="">
          <p:pic>
            <p:nvPicPr>
              <p:cNvPr id="52" name="Ink 51">
                <a:extLst>
                  <a:ext uri="{FF2B5EF4-FFF2-40B4-BE49-F238E27FC236}">
                    <a16:creationId xmlns:a16="http://schemas.microsoft.com/office/drawing/2014/main" id="{A22A68B3-F0AA-4609-AF2A-90AA0B5AC904}"/>
                  </a:ext>
                </a:extLst>
              </p:cNvPr>
              <p:cNvPicPr/>
              <p:nvPr/>
            </p:nvPicPr>
            <p:blipFill>
              <a:blip r:embed="rId3"/>
              <a:stretch>
                <a:fillRect/>
              </a:stretch>
            </p:blipFill>
            <p:spPr>
              <a:xfrm>
                <a:off x="5181977" y="-995454"/>
                <a:ext cx="7920" cy="7920"/>
              </a:xfrm>
              <a:prstGeom prst="rect">
                <a:avLst/>
              </a:prstGeom>
            </p:spPr>
          </p:pic>
        </mc:Fallback>
      </mc:AlternateContent>
      <p:sp>
        <p:nvSpPr>
          <p:cNvPr id="60" name="Title 59">
            <a:extLst>
              <a:ext uri="{FF2B5EF4-FFF2-40B4-BE49-F238E27FC236}">
                <a16:creationId xmlns:a16="http://schemas.microsoft.com/office/drawing/2014/main" id="{158993F3-9CAE-463C-93B5-CCF4AC079FA1}"/>
              </a:ext>
            </a:extLst>
          </p:cNvPr>
          <p:cNvSpPr>
            <a:spLocks noGrp="1"/>
          </p:cNvSpPr>
          <p:nvPr>
            <p:ph type="title"/>
          </p:nvPr>
        </p:nvSpPr>
        <p:spPr>
          <a:xfrm>
            <a:off x="550446" y="206283"/>
            <a:ext cx="11046465" cy="54119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CFC91794-A9CB-4AA3-A5C1-83C7D52BA6CE}"/>
              </a:ext>
            </a:extLst>
          </p:cNvPr>
          <p:cNvSpPr>
            <a:spLocks noGrp="1"/>
          </p:cNvSpPr>
          <p:nvPr>
            <p:ph sz="quarter" idx="15"/>
          </p:nvPr>
        </p:nvSpPr>
        <p:spPr>
          <a:xfrm>
            <a:off x="609600" y="1860554"/>
            <a:ext cx="10936288" cy="40163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ubtitle 2">
            <a:extLst>
              <a:ext uri="{FF2B5EF4-FFF2-40B4-BE49-F238E27FC236}">
                <a16:creationId xmlns:a16="http://schemas.microsoft.com/office/drawing/2014/main" id="{57821AC1-78BA-4E1B-9309-B25D1B64DE69}"/>
              </a:ext>
            </a:extLst>
          </p:cNvPr>
          <p:cNvSpPr>
            <a:spLocks noGrp="1"/>
          </p:cNvSpPr>
          <p:nvPr>
            <p:ph type="subTitle" idx="1"/>
          </p:nvPr>
        </p:nvSpPr>
        <p:spPr>
          <a:xfrm>
            <a:off x="629545" y="737565"/>
            <a:ext cx="10975523" cy="351973"/>
          </a:xfrm>
        </p:spPr>
        <p:txBody>
          <a:bodyPr>
            <a:noAutofit/>
          </a:bodyPr>
          <a:lstStyle>
            <a:lvl1pPr marL="0" indent="0" algn="l">
              <a:buNone/>
              <a:defRPr sz="135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6BA80821-33A9-4D25-A06C-1AF8B21B794A}"/>
                  </a:ext>
                </a:extLst>
              </p14:cNvPr>
              <p14:cNvContentPartPr/>
              <p14:nvPr userDrawn="1"/>
            </p14:nvContentPartPr>
            <p14:xfrm>
              <a:off x="5186057" y="-991374"/>
              <a:ext cx="240" cy="240"/>
            </p14:xfrm>
          </p:contentPart>
        </mc:Choice>
        <mc:Fallback xmlns="">
          <p:pic>
            <p:nvPicPr>
              <p:cNvPr id="10" name="Ink 9">
                <a:extLst>
                  <a:ext uri="{FF2B5EF4-FFF2-40B4-BE49-F238E27FC236}">
                    <a16:creationId xmlns:a16="http://schemas.microsoft.com/office/drawing/2014/main" id="{6BA80821-33A9-4D25-A06C-1AF8B21B794A}"/>
                  </a:ext>
                </a:extLst>
              </p:cNvPr>
              <p:cNvPicPr/>
              <p:nvPr/>
            </p:nvPicPr>
            <p:blipFill>
              <a:blip r:embed="rId3"/>
              <a:stretch>
                <a:fillRect/>
              </a:stretch>
            </p:blipFill>
            <p:spPr>
              <a:xfrm>
                <a:off x="5181977" y="-995454"/>
                <a:ext cx="7920" cy="7920"/>
              </a:xfrm>
              <a:prstGeom prst="rect">
                <a:avLst/>
              </a:prstGeom>
            </p:spPr>
          </p:pic>
        </mc:Fallback>
      </mc:AlternateContent>
    </p:spTree>
    <p:extLst>
      <p:ext uri="{BB962C8B-B14F-4D97-AF65-F5344CB8AC3E}">
        <p14:creationId xmlns:p14="http://schemas.microsoft.com/office/powerpoint/2010/main" val="2377908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48" userDrawn="1">
          <p15:clr>
            <a:srgbClr val="CCCCCC"/>
          </p15:clr>
        </p15:guide>
        <p15:guide id="2" pos="9536" userDrawn="1">
          <p15:clr>
            <a:srgbClr val="CCCCCC"/>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3.sv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jpe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4">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FE804CA-7022-465A-9ED7-1417BC25C998}"/>
              </a:ext>
            </a:extLst>
          </p:cNvPr>
          <p:cNvSpPr/>
          <p:nvPr userDrawn="1"/>
        </p:nvSpPr>
        <p:spPr>
          <a:xfrm>
            <a:off x="0" y="6204577"/>
            <a:ext cx="12187212" cy="66476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latin typeface="Camphor Std" panose="020B0504030404020204" pitchFamily="34" charset="0"/>
              </a:defRPr>
            </a:lvl1pPr>
          </a:lstStyle>
          <a:p>
            <a:r>
              <a:rPr lang="en-US"/>
              <a:t>CONFIDENTIAL DO NOT DISTRIBUTE</a:t>
            </a:r>
          </a:p>
        </p:txBody>
      </p:sp>
      <p:sp>
        <p:nvSpPr>
          <p:cNvPr id="6" name="Slide Number Placeholder 5"/>
          <p:cNvSpPr>
            <a:spLocks noGrp="1"/>
          </p:cNvSpPr>
          <p:nvPr>
            <p:ph type="sldNum" sz="quarter" idx="4"/>
          </p:nvPr>
        </p:nvSpPr>
        <p:spPr>
          <a:xfrm>
            <a:off x="8730775" y="6356350"/>
            <a:ext cx="2743200" cy="365125"/>
          </a:xfrm>
          <a:prstGeom prst="rect">
            <a:avLst/>
          </a:prstGeom>
        </p:spPr>
        <p:txBody>
          <a:bodyPr vert="horz" lIns="91440" tIns="45720" rIns="91440" bIns="45720" rtlCol="0" anchor="ctr"/>
          <a:lstStyle>
            <a:lvl1pPr algn="r">
              <a:defRPr sz="1200">
                <a:solidFill>
                  <a:schemeClr val="bg1"/>
                </a:solidFill>
                <a:latin typeface="Camphor Std" panose="020B0504030404020204" pitchFamily="34" charset="0"/>
              </a:defRPr>
            </a:lvl1pPr>
          </a:lstStyle>
          <a:p>
            <a:fld id="{0912C858-1055-4C3E-824D-0BEBDD89C316}" type="slidenum">
              <a:rPr lang="en-US" smtClean="0"/>
              <a:pPr/>
              <a:t>‹#›</a:t>
            </a:fld>
            <a:endParaRPr lang="en-US"/>
          </a:p>
        </p:txBody>
      </p:sp>
      <p:pic>
        <p:nvPicPr>
          <p:cNvPr id="9" name="Graphic 8">
            <a:extLst>
              <a:ext uri="{FF2B5EF4-FFF2-40B4-BE49-F238E27FC236}">
                <a16:creationId xmlns:a16="http://schemas.microsoft.com/office/drawing/2014/main" id="{26FFE1AD-06C8-4C5D-889F-2828CE60AB53}"/>
              </a:ext>
            </a:extLst>
          </p:cNvPr>
          <p:cNvPicPr>
            <a:picLocks noChangeAspect="1"/>
          </p:cNvPicPr>
          <p:nvPr userDrawn="1"/>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l="70582" t="2718" r="2168" b="12046"/>
          <a:stretch/>
        </p:blipFill>
        <p:spPr>
          <a:xfrm>
            <a:off x="0" y="6193818"/>
            <a:ext cx="2044006" cy="614577"/>
          </a:xfrm>
          <a:prstGeom prst="rect">
            <a:avLst/>
          </a:prstGeom>
        </p:spPr>
      </p:pic>
      <p:sp>
        <p:nvSpPr>
          <p:cNvPr id="7" name="TextBox 6">
            <a:extLst>
              <a:ext uri="{FF2B5EF4-FFF2-40B4-BE49-F238E27FC236}">
                <a16:creationId xmlns:a16="http://schemas.microsoft.com/office/drawing/2014/main" id="{C558B61F-3762-4414-22B1-04E0A4F808D2}"/>
              </a:ext>
            </a:extLst>
          </p:cNvPr>
          <p:cNvSpPr txBox="1"/>
          <p:nvPr userDrawn="1">
            <p:extLst>
              <p:ext uri="{1162E1C5-73C7-4A58-AE30-91384D911F3F}">
                <p184:classification xmlns:p184="http://schemas.microsoft.com/office/powerpoint/2018/4/main" val="ftr"/>
              </p:ext>
            </p:extLst>
          </p:nvPr>
        </p:nvSpPr>
        <p:spPr>
          <a:xfrm>
            <a:off x="4633087" y="6642100"/>
            <a:ext cx="2954338"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Confidential - Not for Public Consumption or Distribution</a:t>
            </a:r>
          </a:p>
        </p:txBody>
      </p:sp>
    </p:spTree>
    <p:extLst>
      <p:ext uri="{BB962C8B-B14F-4D97-AF65-F5344CB8AC3E}">
        <p14:creationId xmlns:p14="http://schemas.microsoft.com/office/powerpoint/2010/main" val="3176201493"/>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703" r:id="rId12"/>
    <p:sldLayoutId id="2147483674" r:id="rId13"/>
    <p:sldLayoutId id="2147483664" r:id="rId14"/>
    <p:sldLayoutId id="2147483675" r:id="rId15"/>
    <p:sldLayoutId id="2147483681" r:id="rId16"/>
    <p:sldLayoutId id="2147483663" r:id="rId17"/>
    <p:sldLayoutId id="2147483665" r:id="rId18"/>
    <p:sldLayoutId id="2147483704" r:id="rId19"/>
    <p:sldLayoutId id="2147483706" r:id="rId20"/>
    <p:sldLayoutId id="2147483707" r:id="rId21"/>
    <p:sldLayoutId id="2147483708" r:id="rId22"/>
  </p:sldLayoutIdLst>
  <p:hf sldNum="0" hdr="0" ftr="0"/>
  <p:txStyles>
    <p:titleStyle>
      <a:lvl1pPr algn="l" defTabSz="914400" rtl="0" eaLnBrk="1" latinLnBrk="0" hangingPunct="1">
        <a:lnSpc>
          <a:spcPct val="90000"/>
        </a:lnSpc>
        <a:spcBef>
          <a:spcPct val="0"/>
        </a:spcBef>
        <a:buNone/>
        <a:defRPr sz="4400" b="0" kern="1200">
          <a:solidFill>
            <a:schemeClr val="tx1"/>
          </a:solidFill>
          <a:latin typeface="LeMonde Livre" panose="00000500000000000000" pitchFamily="50" charset="0"/>
          <a:ea typeface="+mj-ea"/>
          <a:cs typeface="+mj-cs"/>
        </a:defRPr>
      </a:lvl1pPr>
    </p:titleStyle>
    <p:bodyStyle>
      <a:lvl1pPr marL="228600" indent="-228600" algn="l" defTabSz="914400" rtl="0" eaLnBrk="1" latinLnBrk="0" hangingPunct="1">
        <a:lnSpc>
          <a:spcPct val="90000"/>
        </a:lnSpc>
        <a:spcBef>
          <a:spcPts val="1000"/>
        </a:spcBef>
        <a:buClr>
          <a:schemeClr val="bg2"/>
        </a:buClr>
        <a:buFont typeface="Arial" panose="020B0604020202020204" pitchFamily="34" charset="0"/>
        <a:buChar char="•"/>
        <a:defRPr sz="2800" kern="1200">
          <a:solidFill>
            <a:schemeClr val="tx1"/>
          </a:solidFill>
          <a:latin typeface="Camphor Std" panose="020B0504030404020204" pitchFamily="34" charset="0"/>
          <a:ea typeface="+mn-ea"/>
          <a:cs typeface="+mn-cs"/>
        </a:defRPr>
      </a:lvl1pPr>
      <a:lvl2pPr marL="685800" indent="-228600" algn="l" defTabSz="914400" rtl="0" eaLnBrk="1" latinLnBrk="0" hangingPunct="1">
        <a:lnSpc>
          <a:spcPct val="90000"/>
        </a:lnSpc>
        <a:spcBef>
          <a:spcPts val="500"/>
        </a:spcBef>
        <a:buClr>
          <a:schemeClr val="bg2"/>
        </a:buClr>
        <a:buSzPct val="100000"/>
        <a:buFont typeface="Wingdings" panose="05000000000000000000" pitchFamily="2" charset="2"/>
        <a:buChar char="§"/>
        <a:defRPr sz="2400" kern="1200">
          <a:solidFill>
            <a:schemeClr val="tx1"/>
          </a:solidFill>
          <a:latin typeface="Camphor Std" panose="020B0504030404020204" pitchFamily="34" charset="0"/>
          <a:ea typeface="+mn-ea"/>
          <a:cs typeface="+mn-cs"/>
        </a:defRPr>
      </a:lvl2pPr>
      <a:lvl3pPr marL="1143000" indent="-228600" algn="l" defTabSz="914400" rtl="0" eaLnBrk="1" latinLnBrk="0" hangingPunct="1">
        <a:lnSpc>
          <a:spcPct val="90000"/>
        </a:lnSpc>
        <a:spcBef>
          <a:spcPts val="500"/>
        </a:spcBef>
        <a:buClr>
          <a:schemeClr val="bg2"/>
        </a:buClr>
        <a:buFont typeface="Calibri" panose="020F0502020204030204" pitchFamily="34" charset="0"/>
        <a:buChar char="–"/>
        <a:defRPr sz="2000" kern="1200">
          <a:solidFill>
            <a:schemeClr val="tx1"/>
          </a:solidFill>
          <a:latin typeface="Camphor Std" panose="020B0504030404020204" pitchFamily="34" charset="0"/>
          <a:ea typeface="+mn-ea"/>
          <a:cs typeface="+mn-cs"/>
        </a:defRPr>
      </a:lvl3pPr>
      <a:lvl4pPr marL="1600200" indent="-228600" algn="l" defTabSz="914400" rtl="0" eaLnBrk="1" latinLnBrk="0" hangingPunct="1">
        <a:lnSpc>
          <a:spcPct val="90000"/>
        </a:lnSpc>
        <a:spcBef>
          <a:spcPts val="500"/>
        </a:spcBef>
        <a:buClr>
          <a:schemeClr val="bg2"/>
        </a:buClr>
        <a:buSzPct val="90000"/>
        <a:buFont typeface="Courier New" panose="02070309020205020404" pitchFamily="49" charset="0"/>
        <a:buChar char="o"/>
        <a:defRPr sz="1800" kern="1200">
          <a:solidFill>
            <a:schemeClr val="tx1"/>
          </a:solidFill>
          <a:latin typeface="Camphor Std" panose="020B0504030404020204" pitchFamily="34" charset="0"/>
          <a:ea typeface="+mn-ea"/>
          <a:cs typeface="+mn-cs"/>
        </a:defRPr>
      </a:lvl4pPr>
      <a:lvl5pPr marL="2057400" indent="-228600" algn="l" defTabSz="914400" rtl="0" eaLnBrk="1" latinLnBrk="0" hangingPunct="1">
        <a:lnSpc>
          <a:spcPct val="90000"/>
        </a:lnSpc>
        <a:spcBef>
          <a:spcPts val="500"/>
        </a:spcBef>
        <a:buClr>
          <a:schemeClr val="bg2"/>
        </a:buClr>
        <a:buFont typeface="Calibri" panose="020F0502020204030204" pitchFamily="34" charset="0"/>
        <a:buChar char="›"/>
        <a:defRPr sz="1800" kern="1200">
          <a:solidFill>
            <a:schemeClr val="tx1"/>
          </a:solidFill>
          <a:latin typeface="Camphor Std" panose="020B05040304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4176" userDrawn="1">
          <p15:clr>
            <a:srgbClr val="F26B43"/>
          </p15:clr>
        </p15:guide>
        <p15:guide id="4" pos="512" userDrawn="1">
          <p15:clr>
            <a:srgbClr val="F26B43"/>
          </p15:clr>
        </p15:guide>
        <p15:guide id="5" pos="7168" userDrawn="1">
          <p15:clr>
            <a:srgbClr val="F26B43"/>
          </p15:clr>
        </p15:guide>
        <p15:guide id="6" orient="horz" pos="3768" userDrawn="1">
          <p15:clr>
            <a:srgbClr val="F26B43"/>
          </p15:clr>
        </p15:guide>
        <p15:guide id="7" pos="643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mailchi.mp/bushfoundation/february-2025-digest?e=6f0af38232" TargetMode="External"/><Relationship Id="rId2" Type="http://schemas.openxmlformats.org/officeDocument/2006/relationships/hyperlink" Target="https://www.philanthropy.com/article/silent-defiant-private-big-philanthropies-react-to-trumps-dei-order" TargetMode="External"/><Relationship Id="rId1" Type="http://schemas.openxmlformats.org/officeDocument/2006/relationships/slideLayout" Target="../slideLayouts/slideLayout2.xml"/><Relationship Id="rId6" Type="http://schemas.openxmlformats.org/officeDocument/2006/relationships/hyperlink" Target="https://www.bloomberg.org/press/un-special-envoy-michael-r-bloomberg-announces-effort-to-ensure-u-s-honors-paris-agreement-commitments/" TargetMode="External"/><Relationship Id="rId5" Type="http://schemas.openxmlformats.org/officeDocument/2006/relationships/hyperlink" Target="https://www.linkedin.com/posts/melindagates_today-i-am-thinking-of-the-people-ive-met-activity-7292605967794356224-dxBC/?utm_source=share&amp;utm_medium=member_desktop" TargetMode="External"/><Relationship Id="rId4" Type="http://schemas.openxmlformats.org/officeDocument/2006/relationships/hyperlink" Target="https://www.insidephilanthropy.com/home/four-things-to-know-about-reid-hoffmans-trust-in-american-institutions-challenge"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3" Type="http://schemas.openxmlformats.org/officeDocument/2006/relationships/hyperlink" Target="https://business.linkedin.com/content/dam/business/marketing-solutions/global/en_US/campaigns/pdfs/HNWI%20US%20eBook.pdf" TargetMode="External"/><Relationship Id="rId2" Type="http://schemas.openxmlformats.org/officeDocument/2006/relationships/image" Target="../media/image15.png"/><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E334B5-D6CE-49CB-AE67-934C0C51D544}"/>
              </a:ext>
            </a:extLst>
          </p:cNvPr>
          <p:cNvSpPr>
            <a:spLocks noGrp="1"/>
          </p:cNvSpPr>
          <p:nvPr>
            <p:ph type="title"/>
          </p:nvPr>
        </p:nvSpPr>
        <p:spPr>
          <a:xfrm>
            <a:off x="1296357" y="599440"/>
            <a:ext cx="8798619" cy="2069676"/>
          </a:xfrm>
        </p:spPr>
        <p:txBody>
          <a:bodyPr>
            <a:normAutofit fontScale="90000"/>
          </a:bodyPr>
          <a:lstStyle/>
          <a:p>
            <a:pPr>
              <a:lnSpc>
                <a:spcPct val="100000"/>
              </a:lnSpc>
            </a:pPr>
            <a:r>
              <a:rPr lang="en-US">
                <a:latin typeface="LeMonde Livre"/>
              </a:rPr>
              <a:t>2025 External Communications </a:t>
            </a:r>
            <a:br>
              <a:rPr lang="en-US">
                <a:latin typeface="LeMonde Livre"/>
              </a:rPr>
            </a:br>
            <a:r>
              <a:rPr lang="en-US">
                <a:latin typeface="LeMonde Livre"/>
              </a:rPr>
              <a:t>Planning</a:t>
            </a:r>
            <a:br>
              <a:rPr lang="en-US">
                <a:latin typeface="LeMonde Livre"/>
              </a:rPr>
            </a:br>
            <a:endParaRPr lang="en-US" sz="2000" b="1">
              <a:solidFill>
                <a:srgbClr val="FFFF00"/>
              </a:solidFill>
              <a:latin typeface="Calibri"/>
              <a:ea typeface="Calibri"/>
              <a:cs typeface="Calibri"/>
            </a:endParaRPr>
          </a:p>
        </p:txBody>
      </p:sp>
    </p:spTree>
    <p:extLst>
      <p:ext uri="{BB962C8B-B14F-4D97-AF65-F5344CB8AC3E}">
        <p14:creationId xmlns:p14="http://schemas.microsoft.com/office/powerpoint/2010/main" val="471921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74FA6-E359-5004-BF78-9722C8591F79}"/>
              </a:ext>
            </a:extLst>
          </p:cNvPr>
          <p:cNvSpPr>
            <a:spLocks noGrp="1"/>
          </p:cNvSpPr>
          <p:nvPr>
            <p:ph type="title"/>
          </p:nvPr>
        </p:nvSpPr>
        <p:spPr/>
        <p:txBody>
          <a:bodyPr/>
          <a:lstStyle/>
          <a:p>
            <a:r>
              <a:rPr lang="en-US"/>
              <a:t>About This Plan</a:t>
            </a:r>
          </a:p>
        </p:txBody>
      </p:sp>
      <p:sp>
        <p:nvSpPr>
          <p:cNvPr id="3" name="Content Placeholder 2">
            <a:extLst>
              <a:ext uri="{FF2B5EF4-FFF2-40B4-BE49-F238E27FC236}">
                <a16:creationId xmlns:a16="http://schemas.microsoft.com/office/drawing/2014/main" id="{9DDB5CD4-AA3C-EF2E-7886-F61BEA70AF68}"/>
              </a:ext>
            </a:extLst>
          </p:cNvPr>
          <p:cNvSpPr>
            <a:spLocks noGrp="1"/>
          </p:cNvSpPr>
          <p:nvPr>
            <p:ph idx="1"/>
          </p:nvPr>
        </p:nvSpPr>
        <p:spPr>
          <a:xfrm>
            <a:off x="812800" y="1107958"/>
            <a:ext cx="7043928" cy="4901883"/>
          </a:xfrm>
        </p:spPr>
        <p:txBody>
          <a:bodyPr>
            <a:noAutofit/>
          </a:bodyPr>
          <a:lstStyle/>
          <a:p>
            <a:pPr marL="0" indent="0">
              <a:buNone/>
            </a:pPr>
            <a:r>
              <a:rPr lang="en-US" sz="1600" b="1">
                <a:solidFill>
                  <a:schemeClr val="tx2"/>
                </a:solidFill>
                <a:latin typeface="Camphor Std"/>
              </a:rPr>
              <a:t>This document focuses on 2025 external communications and channels. </a:t>
            </a:r>
            <a:r>
              <a:rPr lang="en-US" sz="1600">
                <a:latin typeface="Camphor Std"/>
              </a:rPr>
              <a:t>We hope that 2025 can be a year to lay the groundwork to position Blue Meridian Partners as being at the forefront of philanthropy driving impact for social and economic mobility in the United States, doing so while navigating the current context. </a:t>
            </a:r>
          </a:p>
          <a:p>
            <a:pPr marL="0" indent="0">
              <a:buNone/>
            </a:pPr>
            <a:r>
              <a:rPr lang="en-US" sz="1600">
                <a:latin typeface="Camphor Std"/>
              </a:rPr>
              <a:t>The ideas presented in this document are grounded in Strategy 2030 and drawn from our 2025-2027 Communications Strategy and the PN MAP interviews with Nancy Roob and Jim Shelton.</a:t>
            </a:r>
            <a:r>
              <a:rPr lang="en-US" sz="1600" b="1">
                <a:latin typeface="Camphor Std"/>
              </a:rPr>
              <a:t> </a:t>
            </a:r>
          </a:p>
          <a:p>
            <a:pPr marL="0" indent="0">
              <a:buNone/>
            </a:pPr>
            <a:endParaRPr lang="en-US" sz="1600">
              <a:latin typeface="Camphor Std"/>
            </a:endParaRPr>
          </a:p>
          <a:p>
            <a:pPr marL="0" indent="0">
              <a:buNone/>
            </a:pPr>
            <a:r>
              <a:rPr lang="en-US" sz="1600" b="1">
                <a:latin typeface="Camphor Std"/>
              </a:rPr>
              <a:t>Content:</a:t>
            </a:r>
          </a:p>
          <a:p>
            <a:r>
              <a:rPr lang="en-US" sz="1600">
                <a:latin typeface="Camphor Std"/>
              </a:rPr>
              <a:t>Current environment &amp; BMP’s path</a:t>
            </a:r>
          </a:p>
          <a:p>
            <a:r>
              <a:rPr lang="en-US" sz="1600">
                <a:latin typeface="Camphor Std"/>
              </a:rPr>
              <a:t>Overarching message &amp; storytelling framework</a:t>
            </a:r>
          </a:p>
          <a:p>
            <a:r>
              <a:rPr lang="en-US" sz="1600">
                <a:latin typeface="Camphor Std"/>
              </a:rPr>
              <a:t>Communication channels &amp; activations</a:t>
            </a:r>
          </a:p>
          <a:p>
            <a:r>
              <a:rPr lang="en-US" sz="1600">
                <a:latin typeface="Camphor Std"/>
              </a:rPr>
              <a:t>Reputation management</a:t>
            </a:r>
          </a:p>
          <a:p>
            <a:endParaRPr lang="en-US"/>
          </a:p>
        </p:txBody>
      </p:sp>
      <p:sp>
        <p:nvSpPr>
          <p:cNvPr id="4" name="Date Placeholder 3">
            <a:extLst>
              <a:ext uri="{FF2B5EF4-FFF2-40B4-BE49-F238E27FC236}">
                <a16:creationId xmlns:a16="http://schemas.microsoft.com/office/drawing/2014/main" id="{A8EA833F-ACF8-40AD-79DD-67D833B6A955}"/>
              </a:ext>
            </a:extLst>
          </p:cNvPr>
          <p:cNvSpPr>
            <a:spLocks noGrp="1"/>
          </p:cNvSpPr>
          <p:nvPr>
            <p:ph type="dt" sz="half" idx="10"/>
          </p:nvPr>
        </p:nvSpPr>
        <p:spPr/>
        <p:txBody>
          <a:bodyPr/>
          <a:lstStyle/>
          <a:p>
            <a:fld id="{E51ACC78-DF4D-42E3-93B5-CFB054A2DAA6}" type="datetime1">
              <a:rPr lang="en-US" smtClean="0"/>
              <a:t>5/30/2025</a:t>
            </a:fld>
            <a:endParaRPr lang="en-US"/>
          </a:p>
        </p:txBody>
      </p:sp>
      <p:sp>
        <p:nvSpPr>
          <p:cNvPr id="7" name="TextBox 6">
            <a:extLst>
              <a:ext uri="{FF2B5EF4-FFF2-40B4-BE49-F238E27FC236}">
                <a16:creationId xmlns:a16="http://schemas.microsoft.com/office/drawing/2014/main" id="{3E0C67A4-A326-9320-5565-68A70E60BF96}"/>
              </a:ext>
            </a:extLst>
          </p:cNvPr>
          <p:cNvSpPr txBox="1"/>
          <p:nvPr/>
        </p:nvSpPr>
        <p:spPr>
          <a:xfrm>
            <a:off x="7964424" y="2136338"/>
            <a:ext cx="3443605" cy="3231654"/>
          </a:xfrm>
          <a:prstGeom prst="rect">
            <a:avLst/>
          </a:prstGeom>
          <a:solidFill>
            <a:schemeClr val="bg1">
              <a:lumMod val="95000"/>
            </a:schemeClr>
          </a:solidFill>
          <a:ln w="25400">
            <a:solidFill>
              <a:schemeClr val="accent6"/>
            </a:solidFill>
          </a:ln>
        </p:spPr>
        <p:txBody>
          <a:bodyPr wrap="square">
            <a:spAutoFit/>
          </a:bodyPr>
          <a:lstStyle/>
          <a:p>
            <a:pPr marL="0" indent="0">
              <a:buNone/>
            </a:pPr>
            <a:r>
              <a:rPr lang="en-US" sz="1600">
                <a:latin typeface="Camphor Std"/>
              </a:rPr>
              <a:t>This external communications plan, and its resulting activities, is one of the key workstreams for B&amp;C. </a:t>
            </a:r>
          </a:p>
          <a:p>
            <a:pPr marL="0" indent="0">
              <a:buNone/>
            </a:pPr>
            <a:endParaRPr lang="en-US" sz="1600" b="1">
              <a:latin typeface="Camphor Std"/>
            </a:endParaRPr>
          </a:p>
          <a:p>
            <a:pPr marL="0" indent="0">
              <a:buNone/>
            </a:pPr>
            <a:r>
              <a:rPr lang="en-US" sz="1600" b="1">
                <a:latin typeface="Camphor Std"/>
              </a:rPr>
              <a:t>Other workstreams happening but not addressed in this plan include:</a:t>
            </a:r>
          </a:p>
          <a:p>
            <a:pPr marL="0" indent="0">
              <a:buNone/>
            </a:pPr>
            <a:endParaRPr lang="en-US" sz="1800">
              <a:latin typeface="Camphor Std"/>
            </a:endParaRPr>
          </a:p>
          <a:p>
            <a:pPr marL="285750" indent="-285750">
              <a:buFont typeface="Arial" panose="020B0604020202020204" pitchFamily="34" charset="0"/>
              <a:buChar char="•"/>
            </a:pPr>
            <a:r>
              <a:rPr lang="en-US" sz="1800">
                <a:latin typeface="Camphor Std"/>
              </a:rPr>
              <a:t>Impact report (initial version and future state)</a:t>
            </a:r>
          </a:p>
          <a:p>
            <a:pPr marL="285750" indent="-285750">
              <a:buFont typeface="Arial" panose="020B0604020202020204" pitchFamily="34" charset="0"/>
              <a:buChar char="•"/>
            </a:pPr>
            <a:r>
              <a:rPr lang="en-US" sz="1800">
                <a:latin typeface="Camphor Std"/>
              </a:rPr>
              <a:t>Key prospect </a:t>
            </a:r>
            <a:r>
              <a:rPr lang="en-US">
                <a:latin typeface="Camphor Std"/>
              </a:rPr>
              <a:t>c</a:t>
            </a:r>
            <a:r>
              <a:rPr lang="en-US" sz="1800">
                <a:latin typeface="Camphor Std"/>
              </a:rPr>
              <a:t>ollateral</a:t>
            </a:r>
            <a:endParaRPr lang="en-US">
              <a:latin typeface="Camphor Std"/>
            </a:endParaRPr>
          </a:p>
          <a:p>
            <a:pPr marL="285750" indent="-285750">
              <a:buFont typeface="Arial" panose="020B0604020202020204" pitchFamily="34" charset="0"/>
              <a:buChar char="•"/>
            </a:pPr>
            <a:r>
              <a:rPr lang="en-US">
                <a:latin typeface="Camphor Std"/>
              </a:rPr>
              <a:t>New partner newsletter</a:t>
            </a:r>
          </a:p>
          <a:p>
            <a:pPr marL="285750" indent="-285750">
              <a:buFont typeface="Arial" panose="020B0604020202020204" pitchFamily="34" charset="0"/>
              <a:buChar char="•"/>
            </a:pPr>
            <a:endParaRPr lang="en-US" sz="1800">
              <a:latin typeface="Camphor Std"/>
            </a:endParaRPr>
          </a:p>
        </p:txBody>
      </p:sp>
      <p:sp>
        <p:nvSpPr>
          <p:cNvPr id="8" name="Rectangle 7">
            <a:extLst>
              <a:ext uri="{FF2B5EF4-FFF2-40B4-BE49-F238E27FC236}">
                <a16:creationId xmlns:a16="http://schemas.microsoft.com/office/drawing/2014/main" id="{B282AF0B-ED0A-C53B-FF01-A58C0751DA0B}"/>
              </a:ext>
            </a:extLst>
          </p:cNvPr>
          <p:cNvSpPr/>
          <p:nvPr/>
        </p:nvSpPr>
        <p:spPr>
          <a:xfrm>
            <a:off x="7964424" y="1097280"/>
            <a:ext cx="3414776" cy="88696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t>FYI: Other Work </a:t>
            </a:r>
          </a:p>
          <a:p>
            <a:pPr algn="ctr"/>
            <a:r>
              <a:rPr lang="en-US" sz="2400" b="1"/>
              <a:t>NOT in this Plan</a:t>
            </a:r>
          </a:p>
        </p:txBody>
      </p:sp>
    </p:spTree>
    <p:extLst>
      <p:ext uri="{BB962C8B-B14F-4D97-AF65-F5344CB8AC3E}">
        <p14:creationId xmlns:p14="http://schemas.microsoft.com/office/powerpoint/2010/main" val="1763978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D0EA1-B57A-F7BD-4DBA-1DDD5B711A9B}"/>
              </a:ext>
            </a:extLst>
          </p:cNvPr>
          <p:cNvSpPr>
            <a:spLocks noGrp="1"/>
          </p:cNvSpPr>
          <p:nvPr>
            <p:ph type="ctrTitle"/>
          </p:nvPr>
        </p:nvSpPr>
        <p:spPr/>
        <p:txBody>
          <a:bodyPr/>
          <a:lstStyle/>
          <a:p>
            <a:r>
              <a:rPr lang="en-US"/>
              <a:t>Current Context</a:t>
            </a:r>
          </a:p>
        </p:txBody>
      </p:sp>
      <p:sp>
        <p:nvSpPr>
          <p:cNvPr id="3" name="Subtitle 2">
            <a:extLst>
              <a:ext uri="{FF2B5EF4-FFF2-40B4-BE49-F238E27FC236}">
                <a16:creationId xmlns:a16="http://schemas.microsoft.com/office/drawing/2014/main" id="{8D232442-FFBE-2BF8-2C3C-8A8B8D47A602}"/>
              </a:ext>
            </a:extLst>
          </p:cNvPr>
          <p:cNvSpPr>
            <a:spLocks noGrp="1"/>
          </p:cNvSpPr>
          <p:nvPr>
            <p:ph type="subTitle" idx="1"/>
          </p:nvPr>
        </p:nvSpPr>
        <p:spPr/>
        <p:txBody>
          <a:bodyPr/>
          <a:lstStyle/>
          <a:p>
            <a:r>
              <a:rPr lang="en-US"/>
              <a:t>And recommended path to pursue</a:t>
            </a:r>
          </a:p>
        </p:txBody>
      </p:sp>
      <p:sp>
        <p:nvSpPr>
          <p:cNvPr id="4" name="Date Placeholder 3">
            <a:extLst>
              <a:ext uri="{FF2B5EF4-FFF2-40B4-BE49-F238E27FC236}">
                <a16:creationId xmlns:a16="http://schemas.microsoft.com/office/drawing/2014/main" id="{B1C1545D-8BF6-5AB5-A671-DDBF4A47A98A}"/>
              </a:ext>
            </a:extLst>
          </p:cNvPr>
          <p:cNvSpPr>
            <a:spLocks noGrp="1"/>
          </p:cNvSpPr>
          <p:nvPr>
            <p:ph type="dt" sz="half" idx="10"/>
          </p:nvPr>
        </p:nvSpPr>
        <p:spPr/>
        <p:txBody>
          <a:bodyPr/>
          <a:lstStyle/>
          <a:p>
            <a:fld id="{BE9CD3D1-51F6-4B01-834E-E7B908F7DF50}" type="datetime1">
              <a:rPr lang="en-US" smtClean="0"/>
              <a:t>5/30/2025</a:t>
            </a:fld>
            <a:endParaRPr lang="en-US"/>
          </a:p>
        </p:txBody>
      </p:sp>
    </p:spTree>
    <p:extLst>
      <p:ext uri="{BB962C8B-B14F-4D97-AF65-F5344CB8AC3E}">
        <p14:creationId xmlns:p14="http://schemas.microsoft.com/office/powerpoint/2010/main" val="4259739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B3FF04B0-4B62-48A6-3EB3-D8E88B1BD7AF}"/>
              </a:ext>
            </a:extLst>
          </p:cNvPr>
          <p:cNvSpPr/>
          <p:nvPr/>
        </p:nvSpPr>
        <p:spPr>
          <a:xfrm>
            <a:off x="6172200" y="1308138"/>
            <a:ext cx="3063240" cy="4985981"/>
          </a:xfrm>
          <a:prstGeom prst="roundRect">
            <a:avLst/>
          </a:prstGeom>
          <a:solidFill>
            <a:schemeClr val="accent4"/>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003063-1067-DF24-48BB-B0C9D9B311D3}"/>
              </a:ext>
            </a:extLst>
          </p:cNvPr>
          <p:cNvSpPr>
            <a:spLocks noGrp="1"/>
          </p:cNvSpPr>
          <p:nvPr>
            <p:ph type="title"/>
          </p:nvPr>
        </p:nvSpPr>
        <p:spPr/>
        <p:txBody>
          <a:bodyPr/>
          <a:lstStyle/>
          <a:p>
            <a:r>
              <a:rPr lang="en-US">
                <a:latin typeface="LeMonde Livre"/>
              </a:rPr>
              <a:t>Three Potential Paths </a:t>
            </a:r>
            <a:r>
              <a:rPr lang="en-US">
                <a:solidFill>
                  <a:srgbClr val="000000"/>
                </a:solidFill>
                <a:latin typeface="LeMonde Livre"/>
              </a:rPr>
              <a:t>for 2025</a:t>
            </a:r>
            <a:endParaRPr lang="en-US">
              <a:solidFill>
                <a:srgbClr val="FF0000"/>
              </a:solidFill>
            </a:endParaRPr>
          </a:p>
        </p:txBody>
      </p:sp>
      <p:sp>
        <p:nvSpPr>
          <p:cNvPr id="3" name="Date Placeholder 2">
            <a:extLst>
              <a:ext uri="{FF2B5EF4-FFF2-40B4-BE49-F238E27FC236}">
                <a16:creationId xmlns:a16="http://schemas.microsoft.com/office/drawing/2014/main" id="{7E4F9A32-AAC3-5104-BFA4-A73347B64A6F}"/>
              </a:ext>
            </a:extLst>
          </p:cNvPr>
          <p:cNvSpPr>
            <a:spLocks noGrp="1"/>
          </p:cNvSpPr>
          <p:nvPr>
            <p:ph type="dt" sz="half" idx="10"/>
          </p:nvPr>
        </p:nvSpPr>
        <p:spPr/>
        <p:txBody>
          <a:bodyPr/>
          <a:lstStyle/>
          <a:p>
            <a:fld id="{4583C79E-D21C-47FF-8AB9-A5F71C639682}" type="datetime1">
              <a:rPr lang="en-US"/>
              <a:t>5/30/2025</a:t>
            </a:fld>
            <a:endParaRPr lang="en-US"/>
          </a:p>
        </p:txBody>
      </p:sp>
      <p:sp>
        <p:nvSpPr>
          <p:cNvPr id="4" name="TextBox 3">
            <a:extLst>
              <a:ext uri="{FF2B5EF4-FFF2-40B4-BE49-F238E27FC236}">
                <a16:creationId xmlns:a16="http://schemas.microsoft.com/office/drawing/2014/main" id="{7931391A-BB4C-62E3-60D7-47B9F75429B6}"/>
              </a:ext>
            </a:extLst>
          </p:cNvPr>
          <p:cNvSpPr txBox="1"/>
          <p:nvPr/>
        </p:nvSpPr>
        <p:spPr>
          <a:xfrm>
            <a:off x="554704" y="1216989"/>
            <a:ext cx="2653027" cy="54630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t>Current Environment:</a:t>
            </a:r>
            <a:r>
              <a:rPr lang="en-US" sz="1600"/>
              <a:t> Volatile, rapidly-changing political environment with direct impacts on philanthropy, BMP as an organization, and our investees.</a:t>
            </a:r>
          </a:p>
          <a:p>
            <a:endParaRPr lang="en-US" sz="1600"/>
          </a:p>
          <a:p>
            <a:r>
              <a:rPr lang="en-US" sz="1600" b="1"/>
              <a:t>Three Potential Paths:</a:t>
            </a:r>
            <a:r>
              <a:rPr lang="en-US" sz="1600"/>
              <a:t> We presented three communications paths to consider, each with benefits and risks. We recommend Careful Engagement for BMP and have aligned on this path with leadership. We will continue to monitor the situation for any need to shift direction. </a:t>
            </a:r>
          </a:p>
          <a:p>
            <a:endParaRPr lang="en-US" sz="1600">
              <a:highlight>
                <a:srgbClr val="FFFF00"/>
              </a:highlight>
            </a:endParaRPr>
          </a:p>
          <a:p>
            <a:pPr marL="285750" indent="-285750">
              <a:buFont typeface="Arial"/>
              <a:buChar char="•"/>
            </a:pPr>
            <a:endParaRPr lang="en-US" sz="1600"/>
          </a:p>
        </p:txBody>
      </p:sp>
      <p:graphicFrame>
        <p:nvGraphicFramePr>
          <p:cNvPr id="5" name="Diagram 4">
            <a:extLst>
              <a:ext uri="{FF2B5EF4-FFF2-40B4-BE49-F238E27FC236}">
                <a16:creationId xmlns:a16="http://schemas.microsoft.com/office/drawing/2014/main" id="{2180E317-D68E-EB85-FAC1-8E5DDDCE662A}"/>
              </a:ext>
            </a:extLst>
          </p:cNvPr>
          <p:cNvGraphicFramePr/>
          <p:nvPr>
            <p:extLst>
              <p:ext uri="{D42A27DB-BD31-4B8C-83A1-F6EECF244321}">
                <p14:modId xmlns:p14="http://schemas.microsoft.com/office/powerpoint/2010/main" val="2764665962"/>
              </p:ext>
            </p:extLst>
          </p:nvPr>
        </p:nvGraphicFramePr>
        <p:xfrm>
          <a:off x="3351161" y="1215104"/>
          <a:ext cx="8709744" cy="48046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493346C1-875F-FE7C-F527-EB88F39434BF}"/>
              </a:ext>
            </a:extLst>
          </p:cNvPr>
          <p:cNvSpPr txBox="1"/>
          <p:nvPr/>
        </p:nvSpPr>
        <p:spPr>
          <a:xfrm>
            <a:off x="6176050" y="5718850"/>
            <a:ext cx="2721899" cy="369332"/>
          </a:xfrm>
          <a:prstGeom prst="rect">
            <a:avLst/>
          </a:prstGeom>
          <a:noFill/>
        </p:spPr>
        <p:txBody>
          <a:bodyPr wrap="none" lIns="91440" tIns="45720" rIns="91440" bIns="45720" rtlCol="0" anchor="t">
            <a:spAutoFit/>
          </a:bodyPr>
          <a:lstStyle/>
          <a:p>
            <a:r>
              <a:rPr lang="en-US" sz="1750" b="1">
                <a:solidFill>
                  <a:schemeClr val="bg1"/>
                </a:solidFill>
              </a:rPr>
              <a:t>RECOMMENDED FOR BMP</a:t>
            </a:r>
          </a:p>
        </p:txBody>
      </p:sp>
    </p:spTree>
    <p:extLst>
      <p:ext uri="{BB962C8B-B14F-4D97-AF65-F5344CB8AC3E}">
        <p14:creationId xmlns:p14="http://schemas.microsoft.com/office/powerpoint/2010/main" val="357242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BF77B-4064-C04A-DFC6-5318E24B182A}"/>
              </a:ext>
            </a:extLst>
          </p:cNvPr>
          <p:cNvSpPr>
            <a:spLocks noGrp="1"/>
          </p:cNvSpPr>
          <p:nvPr>
            <p:ph type="title"/>
          </p:nvPr>
        </p:nvSpPr>
        <p:spPr/>
        <p:txBody>
          <a:bodyPr>
            <a:normAutofit fontScale="90000"/>
          </a:bodyPr>
          <a:lstStyle/>
          <a:p>
            <a:br>
              <a:rPr lang="en-US">
                <a:latin typeface="LeMonde Livre"/>
              </a:rPr>
            </a:br>
            <a:endParaRPr lang="en-US"/>
          </a:p>
        </p:txBody>
      </p:sp>
      <p:sp>
        <p:nvSpPr>
          <p:cNvPr id="8" name="Content Placeholder 7">
            <a:extLst>
              <a:ext uri="{FF2B5EF4-FFF2-40B4-BE49-F238E27FC236}">
                <a16:creationId xmlns:a16="http://schemas.microsoft.com/office/drawing/2014/main" id="{1914E7CA-0C44-3E59-3AF5-3A61CBEBE1C9}"/>
              </a:ext>
            </a:extLst>
          </p:cNvPr>
          <p:cNvSpPr>
            <a:spLocks noGrp="1"/>
          </p:cNvSpPr>
          <p:nvPr>
            <p:ph idx="1"/>
          </p:nvPr>
        </p:nvSpPr>
        <p:spPr>
          <a:xfrm>
            <a:off x="8472488" y="1813423"/>
            <a:ext cx="3270817" cy="3847207"/>
          </a:xfrm>
          <a:solidFill>
            <a:schemeClr val="bg1">
              <a:lumMod val="85000"/>
            </a:schemeClr>
          </a:solidFill>
          <a:ln>
            <a:solidFill>
              <a:schemeClr val="bg2"/>
            </a:solidFill>
          </a:ln>
        </p:spPr>
        <p:txBody>
          <a:bodyPr vert="horz" lIns="91440" tIns="91440" rIns="91440" bIns="91440" rtlCol="0" anchor="t">
            <a:normAutofit fontScale="92500" lnSpcReduction="10000"/>
          </a:bodyPr>
          <a:lstStyle/>
          <a:p>
            <a:pPr marL="0" indent="0" algn="ctr">
              <a:buNone/>
            </a:pPr>
            <a:r>
              <a:rPr lang="en-US" sz="2000" b="1">
                <a:latin typeface="Camphor Std"/>
              </a:rPr>
              <a:t>Insights</a:t>
            </a:r>
            <a:endParaRPr lang="en-US" b="1"/>
          </a:p>
          <a:p>
            <a:r>
              <a:rPr lang="en-US" sz="1600">
                <a:latin typeface="+mn-lt"/>
              </a:rPr>
              <a:t>The diversity of actions across categories – particularly between Observation and Careful Engagement -- is likely due to the fast-changing environment and "wait and see” assessments </a:t>
            </a:r>
          </a:p>
          <a:p>
            <a:r>
              <a:rPr lang="en-US" sz="1600">
                <a:latin typeface="+mn-lt"/>
              </a:rPr>
              <a:t>Some organizations, such as the Gates and MacArthur foundations, have multiple actions that cross the categories, depending on the subject area. </a:t>
            </a:r>
          </a:p>
          <a:p>
            <a:r>
              <a:rPr lang="en-US" sz="1600">
                <a:latin typeface="+mn-lt"/>
              </a:rPr>
              <a:t>Careful Engagement activities are mostly centered on actions that are tied directly to values, mission, purpose </a:t>
            </a:r>
          </a:p>
          <a:p>
            <a:pPr marL="0" indent="0">
              <a:buNone/>
            </a:pPr>
            <a:endParaRPr lang="en-US" sz="2000"/>
          </a:p>
          <a:p>
            <a:pPr marL="0" indent="0">
              <a:buNone/>
            </a:pPr>
            <a:endParaRPr lang="en-US" sz="1400"/>
          </a:p>
          <a:p>
            <a:pPr marL="457200" indent="-457200"/>
            <a:endParaRPr lang="en-US" sz="1400"/>
          </a:p>
          <a:p>
            <a:pPr marL="0" indent="0">
              <a:buNone/>
            </a:pPr>
            <a:endParaRPr lang="en-US" sz="2000"/>
          </a:p>
          <a:p>
            <a:pPr marL="0" indent="0">
              <a:buNone/>
            </a:pPr>
            <a:endParaRPr lang="en-US"/>
          </a:p>
          <a:p>
            <a:pPr marL="0" indent="0">
              <a:buNone/>
            </a:pPr>
            <a:endParaRPr lang="en-US"/>
          </a:p>
        </p:txBody>
      </p:sp>
      <p:sp>
        <p:nvSpPr>
          <p:cNvPr id="3" name="Date Placeholder 2">
            <a:extLst>
              <a:ext uri="{FF2B5EF4-FFF2-40B4-BE49-F238E27FC236}">
                <a16:creationId xmlns:a16="http://schemas.microsoft.com/office/drawing/2014/main" id="{A3677818-0D9F-A4E2-86A1-4317BB73FF6C}"/>
              </a:ext>
            </a:extLst>
          </p:cNvPr>
          <p:cNvSpPr>
            <a:spLocks noGrp="1"/>
          </p:cNvSpPr>
          <p:nvPr>
            <p:ph type="dt" sz="half" idx="10"/>
          </p:nvPr>
        </p:nvSpPr>
        <p:spPr>
          <a:prstGeom prst="rect">
            <a:avLst/>
          </a:prstGeom>
        </p:spPr>
        <p:txBody>
          <a:bodyPr/>
          <a:lstStyle/>
          <a:p>
            <a:fld id="{E4E575B4-9993-46C5-959E-D3C16272EF4B}" type="datetime1">
              <a:rPr lang="en-US"/>
              <a:t>5/30/2025</a:t>
            </a:fld>
            <a:endParaRPr lang="en-US"/>
          </a:p>
        </p:txBody>
      </p:sp>
      <p:sp>
        <p:nvSpPr>
          <p:cNvPr id="5" name="Text Placeholder 4">
            <a:extLst>
              <a:ext uri="{FF2B5EF4-FFF2-40B4-BE49-F238E27FC236}">
                <a16:creationId xmlns:a16="http://schemas.microsoft.com/office/drawing/2014/main" id="{F70CB3A0-16B1-9F6E-D8B4-B24ECD64F5C0}"/>
              </a:ext>
            </a:extLst>
          </p:cNvPr>
          <p:cNvSpPr>
            <a:spLocks noGrp="1"/>
          </p:cNvSpPr>
          <p:nvPr>
            <p:ph type="body" sz="quarter" idx="4294967295"/>
          </p:nvPr>
        </p:nvSpPr>
        <p:spPr>
          <a:xfrm>
            <a:off x="813756" y="293058"/>
            <a:ext cx="9735869" cy="1130300"/>
          </a:xfrm>
        </p:spPr>
        <p:txBody>
          <a:bodyPr vert="horz" lIns="91440" tIns="45720" rIns="91440" bIns="45720" rtlCol="0" anchor="t">
            <a:normAutofit/>
          </a:bodyPr>
          <a:lstStyle/>
          <a:p>
            <a:pPr marL="0" indent="0">
              <a:buNone/>
            </a:pPr>
            <a:r>
              <a:rPr lang="en-US" sz="4000">
                <a:latin typeface="LeMonde Livre"/>
                <a:ea typeface="+mj-ea"/>
                <a:cs typeface="+mj-cs"/>
              </a:rPr>
              <a:t>Three Paths in Action – Examples</a:t>
            </a:r>
            <a:endParaRPr lang="en-US"/>
          </a:p>
          <a:p>
            <a:endParaRPr lang="en-US"/>
          </a:p>
        </p:txBody>
      </p:sp>
      <p:sp>
        <p:nvSpPr>
          <p:cNvPr id="4" name="TextBox 3">
            <a:extLst>
              <a:ext uri="{FF2B5EF4-FFF2-40B4-BE49-F238E27FC236}">
                <a16:creationId xmlns:a16="http://schemas.microsoft.com/office/drawing/2014/main" id="{48F9B55A-08C6-689B-FAEF-617DD4A40FB7}"/>
              </a:ext>
            </a:extLst>
          </p:cNvPr>
          <p:cNvSpPr txBox="1"/>
          <p:nvPr/>
        </p:nvSpPr>
        <p:spPr>
          <a:xfrm>
            <a:off x="813758" y="1086928"/>
            <a:ext cx="1092954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Since late January 2025, Porter Novelli has tracked actions in the philanthropic space to understand trends across the three paths. (Select examples below.) We will continue to monitor developments to inform shifts to BMP's approach. </a:t>
            </a:r>
          </a:p>
        </p:txBody>
      </p:sp>
      <p:sp>
        <p:nvSpPr>
          <p:cNvPr id="6" name="TextBox 5">
            <a:extLst>
              <a:ext uri="{FF2B5EF4-FFF2-40B4-BE49-F238E27FC236}">
                <a16:creationId xmlns:a16="http://schemas.microsoft.com/office/drawing/2014/main" id="{9B8222BE-558B-0543-CEF0-083F083C35B6}"/>
              </a:ext>
            </a:extLst>
          </p:cNvPr>
          <p:cNvSpPr txBox="1"/>
          <p:nvPr/>
        </p:nvSpPr>
        <p:spPr>
          <a:xfrm>
            <a:off x="813757" y="1813424"/>
            <a:ext cx="7344405" cy="38472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chemeClr val="bg2"/>
                </a:solidFill>
              </a:rPr>
              <a:t>OBSERVATION</a:t>
            </a:r>
            <a:endParaRPr lang="en-US" sz="2000" b="1">
              <a:solidFill>
                <a:schemeClr val="bg2"/>
              </a:solidFill>
              <a:cs typeface="Segoe UI"/>
            </a:endParaRPr>
          </a:p>
          <a:p>
            <a:pPr marL="228600" indent="-228600">
              <a:buFont typeface="Arial,Sans-Serif"/>
              <a:buChar char="•"/>
            </a:pPr>
            <a:r>
              <a:rPr lang="en-US" sz="1600" b="1"/>
              <a:t>PN client, national org serving disadvantaged youth</a:t>
            </a:r>
            <a:r>
              <a:rPr lang="en-US" sz="1600"/>
              <a:t> - not engaging in media requests re: federal funding freezes ​</a:t>
            </a:r>
          </a:p>
          <a:p>
            <a:pPr marL="228600" indent="-228600">
              <a:buFont typeface="Arial,Sans-Serif"/>
              <a:buChar char="•"/>
            </a:pPr>
            <a:r>
              <a:rPr lang="en-US" sz="1600" b="1"/>
              <a:t>Ford Foundation </a:t>
            </a:r>
            <a:r>
              <a:rPr lang="en-US" sz="1600"/>
              <a:t>– declined comment to </a:t>
            </a:r>
            <a:r>
              <a:rPr lang="en-US" sz="1600">
                <a:hlinkClick r:id="rId2"/>
              </a:rPr>
              <a:t>CoP article re: DEI executive orders ​</a:t>
            </a:r>
            <a:endParaRPr lang="en-US" sz="1600"/>
          </a:p>
          <a:p>
            <a:endParaRPr lang="en-US" sz="1600">
              <a:solidFill>
                <a:srgbClr val="000000"/>
              </a:solidFill>
            </a:endParaRPr>
          </a:p>
          <a:p>
            <a:r>
              <a:rPr lang="en-US" sz="1600" b="1">
                <a:solidFill>
                  <a:schemeClr val="bg2"/>
                </a:solidFill>
              </a:rPr>
              <a:t>CAREFUL ENGAGEMENT</a:t>
            </a:r>
          </a:p>
          <a:p>
            <a:pPr marL="228600" indent="-228600">
              <a:buFont typeface="Arial,Sans-Serif"/>
              <a:buChar char="•"/>
            </a:pPr>
            <a:r>
              <a:rPr lang="en-US" sz="1600" b="1"/>
              <a:t>Bush Foundation</a:t>
            </a:r>
            <a:r>
              <a:rPr lang="en-US" sz="1600"/>
              <a:t> – </a:t>
            </a:r>
            <a:r>
              <a:rPr lang="en-US" sz="1600">
                <a:hlinkClick r:id="rId3"/>
              </a:rPr>
              <a:t>statement on DEI</a:t>
            </a:r>
            <a:r>
              <a:rPr lang="en-US" sz="1600"/>
              <a:t> as core to their mission and purpose ​</a:t>
            </a:r>
          </a:p>
          <a:p>
            <a:pPr marL="228600" indent="-228600">
              <a:buFont typeface="Arial,Sans-Serif"/>
              <a:buChar char="•"/>
            </a:pPr>
            <a:r>
              <a:rPr lang="en-US" sz="1600" b="1"/>
              <a:t>Reid Hoffman/Lever for Change</a:t>
            </a:r>
            <a:r>
              <a:rPr lang="en-US" sz="1600"/>
              <a:t> – promoting </a:t>
            </a:r>
            <a:r>
              <a:rPr lang="en-US" sz="1600">
                <a:hlinkClick r:id="rId4"/>
              </a:rPr>
              <a:t>project</a:t>
            </a:r>
            <a:r>
              <a:rPr lang="en-US" sz="1600"/>
              <a:t> to find solutions for trust in government, aligned with brand ​</a:t>
            </a:r>
          </a:p>
          <a:p>
            <a:endParaRPr lang="en-US" sz="1600">
              <a:solidFill>
                <a:srgbClr val="000000"/>
              </a:solidFill>
            </a:endParaRPr>
          </a:p>
          <a:p>
            <a:r>
              <a:rPr lang="en-US" sz="1600" b="1">
                <a:solidFill>
                  <a:schemeClr val="bg2"/>
                </a:solidFill>
              </a:rPr>
              <a:t>ACTIVISM  </a:t>
            </a:r>
            <a:r>
              <a:rPr lang="en-US" sz="1600" b="1"/>
              <a:t>​</a:t>
            </a:r>
          </a:p>
          <a:p>
            <a:pPr marL="228600" indent="-228600">
              <a:buFont typeface="Arial,Sans-Serif"/>
              <a:buChar char="•"/>
            </a:pPr>
            <a:r>
              <a:rPr lang="en-US" sz="1600" b="1"/>
              <a:t>Melinda French Gates</a:t>
            </a:r>
            <a:r>
              <a:rPr lang="en-US" sz="1600"/>
              <a:t> – proactive </a:t>
            </a:r>
            <a:r>
              <a:rPr lang="en-US" sz="1600">
                <a:hlinkClick r:id="rId5"/>
              </a:rPr>
              <a:t>statement</a:t>
            </a:r>
            <a:r>
              <a:rPr lang="en-US" sz="1600"/>
              <a:t> re: USAID funding pause and impact  ​</a:t>
            </a:r>
          </a:p>
          <a:p>
            <a:pPr marL="228600" indent="-228600">
              <a:buFont typeface="Arial,Sans-Serif"/>
              <a:buChar char="•"/>
            </a:pPr>
            <a:r>
              <a:rPr lang="en-US" sz="1600" b="1"/>
              <a:t>Michael Bloomberg</a:t>
            </a:r>
            <a:r>
              <a:rPr lang="en-US" sz="1600"/>
              <a:t> – announcing </a:t>
            </a:r>
            <a:r>
              <a:rPr lang="en-US" sz="1600">
                <a:hlinkClick r:id="rId6"/>
              </a:rPr>
              <a:t>funding</a:t>
            </a:r>
            <a:r>
              <a:rPr lang="en-US" sz="1600"/>
              <a:t> to fill the gap when US left Paris Agreement ​</a:t>
            </a:r>
          </a:p>
          <a:p>
            <a:r>
              <a:rPr lang="en-US" sz="2000">
                <a:cs typeface="Segoe UI"/>
              </a:rPr>
              <a:t>​</a:t>
            </a:r>
          </a:p>
        </p:txBody>
      </p:sp>
    </p:spTree>
    <p:extLst>
      <p:ext uri="{BB962C8B-B14F-4D97-AF65-F5344CB8AC3E}">
        <p14:creationId xmlns:p14="http://schemas.microsoft.com/office/powerpoint/2010/main" val="3020429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A2905-333D-260B-FFDF-A8749A501A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0E9204-67E1-7D7F-324A-E4B675B7AD7F}"/>
              </a:ext>
            </a:extLst>
          </p:cNvPr>
          <p:cNvSpPr>
            <a:spLocks noGrp="1"/>
          </p:cNvSpPr>
          <p:nvPr>
            <p:ph type="title"/>
          </p:nvPr>
        </p:nvSpPr>
        <p:spPr/>
        <p:txBody>
          <a:bodyPr/>
          <a:lstStyle/>
          <a:p>
            <a:r>
              <a:rPr lang="en-US">
                <a:latin typeface="LeMonde Livre"/>
              </a:rPr>
              <a:t>2025: What Careful Engagement Looks Like</a:t>
            </a:r>
            <a:endParaRPr lang="en-US">
              <a:solidFill>
                <a:srgbClr val="000000"/>
              </a:solidFill>
            </a:endParaRPr>
          </a:p>
        </p:txBody>
      </p:sp>
      <p:sp>
        <p:nvSpPr>
          <p:cNvPr id="3" name="Date Placeholder 2">
            <a:extLst>
              <a:ext uri="{FF2B5EF4-FFF2-40B4-BE49-F238E27FC236}">
                <a16:creationId xmlns:a16="http://schemas.microsoft.com/office/drawing/2014/main" id="{C462721D-DEFD-CE77-CAB7-B420D3F475A1}"/>
              </a:ext>
            </a:extLst>
          </p:cNvPr>
          <p:cNvSpPr>
            <a:spLocks noGrp="1"/>
          </p:cNvSpPr>
          <p:nvPr>
            <p:ph type="dt" sz="half" idx="10"/>
          </p:nvPr>
        </p:nvSpPr>
        <p:spPr/>
        <p:txBody>
          <a:bodyPr/>
          <a:lstStyle/>
          <a:p>
            <a:fld id="{4583C79E-D21C-47FF-8AB9-A5F71C639682}" type="datetime1">
              <a:rPr lang="en-US"/>
              <a:t>5/30/2025</a:t>
            </a:fld>
            <a:endParaRPr lang="en-US"/>
          </a:p>
        </p:txBody>
      </p:sp>
      <p:sp>
        <p:nvSpPr>
          <p:cNvPr id="48" name="TextBox 47">
            <a:extLst>
              <a:ext uri="{FF2B5EF4-FFF2-40B4-BE49-F238E27FC236}">
                <a16:creationId xmlns:a16="http://schemas.microsoft.com/office/drawing/2014/main" id="{40B2CA1F-402C-B005-98FF-8F333D811AE7}"/>
              </a:ext>
            </a:extLst>
          </p:cNvPr>
          <p:cNvSpPr txBox="1"/>
          <p:nvPr/>
        </p:nvSpPr>
        <p:spPr>
          <a:xfrm>
            <a:off x="803246" y="2122718"/>
            <a:ext cx="10730893" cy="33547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600"/>
              <a:t>Engaging in opportunities that allow us to reinforcing BMP's mission, values, and purpose</a:t>
            </a:r>
          </a:p>
          <a:p>
            <a:pPr marL="285750" indent="-285750">
              <a:buFont typeface="Arial" panose="020B0604020202020204" pitchFamily="34" charset="0"/>
              <a:buChar char="•"/>
            </a:pPr>
            <a:r>
              <a:rPr lang="en-US" sz="1600"/>
              <a:t>Uplifting stories from the BMP portfolio that illustrate positive impact to entire communities, politically agnostic </a:t>
            </a:r>
          </a:p>
          <a:p>
            <a:pPr marL="285750" indent="-285750">
              <a:buFont typeface="Arial" panose="020B0604020202020204" pitchFamily="34" charset="0"/>
              <a:buChar char="•"/>
            </a:pPr>
            <a:r>
              <a:rPr lang="en-US" sz="1600"/>
              <a:t>Leaning into brand-led content on owned channels (e.g., social media, website, newsletters, and Voices)</a:t>
            </a:r>
          </a:p>
          <a:p>
            <a:pPr marL="285750" indent="-285750">
              <a:buFont typeface="Arial" panose="020B0604020202020204" pitchFamily="34" charset="0"/>
              <a:buChar char="•"/>
            </a:pPr>
            <a:r>
              <a:rPr lang="en-US" sz="1600">
                <a:ea typeface="+mn-lt"/>
                <a:cs typeface="+mn-lt"/>
              </a:rPr>
              <a:t>Thoughtful and selective engagement with external channels (media interviews, op-eds, events) </a:t>
            </a:r>
          </a:p>
          <a:p>
            <a:pPr marL="285750" indent="-285750">
              <a:buFont typeface="Arial" panose="020B0604020202020204" pitchFamily="34" charset="0"/>
              <a:buChar char="•"/>
            </a:pPr>
            <a:r>
              <a:rPr lang="en-US" sz="1600">
                <a:ea typeface="+mn-lt"/>
                <a:cs typeface="+mn-lt"/>
              </a:rPr>
              <a:t>Intentional/careful evaluation of topics addressed in external comms </a:t>
            </a:r>
            <a:endParaRPr lang="en-US" sz="1600"/>
          </a:p>
          <a:p>
            <a:pPr marL="342900" indent="-342900">
              <a:buFont typeface="Arial"/>
              <a:buChar char="•"/>
            </a:pPr>
            <a:endParaRPr lang="en-US" sz="1200">
              <a:latin typeface="Camphor Std"/>
            </a:endParaRPr>
          </a:p>
          <a:p>
            <a:pPr marL="0" lvl="1"/>
            <a:endParaRPr lang="en-US" sz="1200">
              <a:latin typeface="Camphor Std"/>
            </a:endParaRPr>
          </a:p>
          <a:p>
            <a:pPr marL="342900" lvl="1" indent="-342900">
              <a:buFont typeface="Arial"/>
              <a:buChar char="•"/>
            </a:pPr>
            <a:endParaRPr lang="en-US" sz="2000">
              <a:latin typeface="Camphor Std"/>
            </a:endParaRPr>
          </a:p>
          <a:p>
            <a:pPr marL="0" lvl="1"/>
            <a:endParaRPr lang="en-US" sz="2200">
              <a:latin typeface="Camphor Std"/>
            </a:endParaRPr>
          </a:p>
          <a:p>
            <a:pPr marL="0" lvl="1"/>
            <a:endParaRPr lang="en-US" sz="2200">
              <a:latin typeface="Camphor Std"/>
            </a:endParaRPr>
          </a:p>
          <a:p>
            <a:pPr marL="342900" lvl="1" indent="-342900">
              <a:buFont typeface="Arial"/>
              <a:buChar char="•"/>
            </a:pPr>
            <a:endParaRPr lang="en-US" sz="2200">
              <a:latin typeface="Camphor Std"/>
            </a:endParaRPr>
          </a:p>
          <a:p>
            <a:pPr marL="342900" lvl="1" indent="-342900">
              <a:buFont typeface="Arial"/>
              <a:buChar char="•"/>
            </a:pPr>
            <a:endParaRPr lang="en-US" sz="2200">
              <a:latin typeface="Camphor Std"/>
            </a:endParaRPr>
          </a:p>
        </p:txBody>
      </p:sp>
      <p:sp>
        <p:nvSpPr>
          <p:cNvPr id="5" name="TextBox 4">
            <a:extLst>
              <a:ext uri="{FF2B5EF4-FFF2-40B4-BE49-F238E27FC236}">
                <a16:creationId xmlns:a16="http://schemas.microsoft.com/office/drawing/2014/main" id="{37659766-5151-5408-740F-4586EE638C6D}"/>
              </a:ext>
            </a:extLst>
          </p:cNvPr>
          <p:cNvSpPr txBox="1"/>
          <p:nvPr/>
        </p:nvSpPr>
        <p:spPr>
          <a:xfrm>
            <a:off x="803246" y="4470278"/>
            <a:ext cx="1071979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1" indent="-285750">
              <a:buFont typeface="Arial" panose="020B0604020202020204" pitchFamily="34" charset="0"/>
              <a:buChar char="•"/>
            </a:pPr>
            <a:r>
              <a:rPr lang="en-US" sz="1600"/>
              <a:t>Being silent across all channels ​</a:t>
            </a:r>
          </a:p>
          <a:p>
            <a:pPr marL="285750" lvl="1" indent="-285750">
              <a:buFont typeface="Arial" panose="020B0604020202020204" pitchFamily="34" charset="0"/>
              <a:buChar char="•"/>
            </a:pPr>
            <a:r>
              <a:rPr lang="en-US" sz="1600"/>
              <a:t>Cancelling confirmed or in-progress activations ​</a:t>
            </a:r>
          </a:p>
          <a:p>
            <a:pPr marL="285750" lvl="1" indent="-285750">
              <a:buFont typeface="Arial" panose="020B0604020202020204" pitchFamily="34" charset="0"/>
              <a:buChar char="•"/>
            </a:pPr>
            <a:r>
              <a:rPr lang="en-US" sz="1600"/>
              <a:t>Proactive statements that speak for the philanthropic industry as a whole on a certain issue​</a:t>
            </a:r>
          </a:p>
          <a:p>
            <a:pPr marL="285750" lvl="1" indent="-285750">
              <a:buFont typeface="Arial" panose="020B0604020202020204" pitchFamily="34" charset="0"/>
              <a:buChar char="•"/>
            </a:pPr>
            <a:r>
              <a:rPr lang="en-US" sz="1600"/>
              <a:t>Proactively engaging in political discourse </a:t>
            </a:r>
          </a:p>
        </p:txBody>
      </p:sp>
      <p:sp>
        <p:nvSpPr>
          <p:cNvPr id="4" name="Text Placeholder 10">
            <a:extLst>
              <a:ext uri="{FF2B5EF4-FFF2-40B4-BE49-F238E27FC236}">
                <a16:creationId xmlns:a16="http://schemas.microsoft.com/office/drawing/2014/main" id="{4F0696AF-0155-30F9-F2EA-178CF82E22A5}"/>
              </a:ext>
            </a:extLst>
          </p:cNvPr>
          <p:cNvSpPr>
            <a:spLocks noGrp="1"/>
          </p:cNvSpPr>
          <p:nvPr/>
        </p:nvSpPr>
        <p:spPr>
          <a:xfrm>
            <a:off x="803246" y="1347387"/>
            <a:ext cx="10723665" cy="705458"/>
          </a:xfrm>
          <a:prstGeom prst="rect">
            <a:avLst/>
          </a:prstGeom>
          <a:solidFill>
            <a:schemeClr val="bg2"/>
          </a:solidFill>
        </p:spPr>
        <p:txBody>
          <a:bodyPr vert="horz" lIns="182880" tIns="45720" rIns="91440" bIns="45720" rtlCol="0" anchor="ctr">
            <a:noAutofit/>
          </a:bodyPr>
          <a:lstStyle>
            <a:lvl1pPr marL="0" indent="0" algn="ctr" defTabSz="914400" rtl="0" eaLnBrk="1" latinLnBrk="0" hangingPunct="1">
              <a:lnSpc>
                <a:spcPct val="100000"/>
              </a:lnSpc>
              <a:spcBef>
                <a:spcPts val="0"/>
              </a:spcBef>
              <a:buClr>
                <a:schemeClr val="bg2"/>
              </a:buClr>
              <a:buFont typeface="Arial" panose="020B0604020202020204" pitchFamily="34" charset="0"/>
              <a:buNone/>
              <a:defRPr sz="2400" b="1" kern="1200">
                <a:solidFill>
                  <a:schemeClr val="bg1"/>
                </a:solidFill>
                <a:latin typeface="+mn-lt"/>
                <a:ea typeface="+mn-ea"/>
                <a:cs typeface="+mn-cs"/>
              </a:defRPr>
            </a:lvl1pPr>
            <a:lvl2pPr marL="457200" indent="0" algn="l" defTabSz="914400" rtl="0" eaLnBrk="1" latinLnBrk="0" hangingPunct="1">
              <a:lnSpc>
                <a:spcPct val="100000"/>
              </a:lnSpc>
              <a:spcBef>
                <a:spcPts val="500"/>
              </a:spcBef>
              <a:buClr>
                <a:schemeClr val="bg2"/>
              </a:buClr>
              <a:buFont typeface="Courier New" panose="02070309020205020404" pitchFamily="49" charset="0"/>
              <a:buNone/>
              <a:defRPr sz="2000" b="1" kern="1200">
                <a:solidFill>
                  <a:schemeClr val="tx1"/>
                </a:solidFill>
                <a:latin typeface="+mn-lt"/>
                <a:ea typeface="+mn-ea"/>
                <a:cs typeface="+mn-cs"/>
              </a:defRPr>
            </a:lvl2pPr>
            <a:lvl3pPr marL="914400" indent="0" algn="l" defTabSz="914400" rtl="0" eaLnBrk="1" latinLnBrk="0" hangingPunct="1">
              <a:lnSpc>
                <a:spcPct val="100000"/>
              </a:lnSpc>
              <a:spcBef>
                <a:spcPts val="500"/>
              </a:spcBef>
              <a:buClr>
                <a:schemeClr val="bg2"/>
              </a:buClr>
              <a:buFont typeface="Wingdings" panose="05000000000000000000" pitchFamily="2" charset="2"/>
              <a:buNone/>
              <a:defRPr sz="1800" b="1" kern="1200">
                <a:solidFill>
                  <a:schemeClr val="tx1"/>
                </a:solidFill>
                <a:latin typeface="+mn-lt"/>
                <a:ea typeface="+mn-ea"/>
                <a:cs typeface="+mn-cs"/>
              </a:defRPr>
            </a:lvl3pPr>
            <a:lvl4pPr marL="1371600" indent="0" algn="l" defTabSz="914400" rtl="0" eaLnBrk="1" latinLnBrk="0" hangingPunct="1">
              <a:lnSpc>
                <a:spcPct val="100000"/>
              </a:lnSpc>
              <a:spcBef>
                <a:spcPts val="500"/>
              </a:spcBef>
              <a:buClr>
                <a:schemeClr val="bg2"/>
              </a:buClr>
              <a:buFont typeface="Camphor Std" panose="020B0504030404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00000"/>
              </a:lnSpc>
              <a:spcBef>
                <a:spcPts val="500"/>
              </a:spcBef>
              <a:buClr>
                <a:schemeClr val="bg2"/>
              </a:buClr>
              <a:buFont typeface="Camphor Std" panose="020B0504030404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l"/>
            <a:r>
              <a:rPr lang="en-US"/>
              <a:t>In 2025, Careful Engagement for Blue Meridian includes</a:t>
            </a:r>
          </a:p>
        </p:txBody>
      </p:sp>
      <p:sp>
        <p:nvSpPr>
          <p:cNvPr id="7" name="Text Placeholder 12">
            <a:extLst>
              <a:ext uri="{FF2B5EF4-FFF2-40B4-BE49-F238E27FC236}">
                <a16:creationId xmlns:a16="http://schemas.microsoft.com/office/drawing/2014/main" id="{78E30F71-52FD-DDE4-58BD-7E540F1B36C9}"/>
              </a:ext>
            </a:extLst>
          </p:cNvPr>
          <p:cNvSpPr>
            <a:spLocks noGrp="1"/>
          </p:cNvSpPr>
          <p:nvPr/>
        </p:nvSpPr>
        <p:spPr>
          <a:xfrm>
            <a:off x="812193" y="3618614"/>
            <a:ext cx="10721946" cy="727653"/>
          </a:xfrm>
          <a:prstGeom prst="rect">
            <a:avLst/>
          </a:prstGeom>
          <a:solidFill>
            <a:schemeClr val="tx2"/>
          </a:solidFill>
        </p:spPr>
        <p:txBody>
          <a:bodyPr vert="horz" lIns="182880" tIns="45720" rIns="91440" bIns="45720" rtlCol="0" anchor="ctr">
            <a:normAutofit/>
          </a:bodyPr>
          <a:lstStyle>
            <a:lvl1pPr marL="0" indent="0" algn="ctr" defTabSz="914400" rtl="0" eaLnBrk="1" latinLnBrk="0" hangingPunct="1">
              <a:lnSpc>
                <a:spcPct val="100000"/>
              </a:lnSpc>
              <a:spcBef>
                <a:spcPts val="0"/>
              </a:spcBef>
              <a:buClr>
                <a:schemeClr val="bg2"/>
              </a:buClr>
              <a:buFont typeface="Arial" panose="020B0604020202020204" pitchFamily="34" charset="0"/>
              <a:buNone/>
              <a:defRPr sz="2400" b="1" kern="1200">
                <a:solidFill>
                  <a:schemeClr val="bg1"/>
                </a:solidFill>
                <a:latin typeface="+mn-lt"/>
                <a:ea typeface="+mn-ea"/>
                <a:cs typeface="+mn-cs"/>
              </a:defRPr>
            </a:lvl1pPr>
            <a:lvl2pPr marL="457200" indent="0" algn="l" defTabSz="914400" rtl="0" eaLnBrk="1" latinLnBrk="0" hangingPunct="1">
              <a:lnSpc>
                <a:spcPct val="100000"/>
              </a:lnSpc>
              <a:spcBef>
                <a:spcPts val="500"/>
              </a:spcBef>
              <a:buClr>
                <a:schemeClr val="bg2"/>
              </a:buClr>
              <a:buFont typeface="Courier New" panose="02070309020205020404" pitchFamily="49" charset="0"/>
              <a:buNone/>
              <a:defRPr sz="2000" b="1" kern="1200">
                <a:solidFill>
                  <a:schemeClr val="tx1"/>
                </a:solidFill>
                <a:latin typeface="+mn-lt"/>
                <a:ea typeface="+mn-ea"/>
                <a:cs typeface="+mn-cs"/>
              </a:defRPr>
            </a:lvl2pPr>
            <a:lvl3pPr marL="914400" indent="0" algn="l" defTabSz="914400" rtl="0" eaLnBrk="1" latinLnBrk="0" hangingPunct="1">
              <a:lnSpc>
                <a:spcPct val="100000"/>
              </a:lnSpc>
              <a:spcBef>
                <a:spcPts val="500"/>
              </a:spcBef>
              <a:buClr>
                <a:schemeClr val="bg2"/>
              </a:buClr>
              <a:buFont typeface="Wingdings" panose="05000000000000000000" pitchFamily="2" charset="2"/>
              <a:buNone/>
              <a:defRPr sz="1800" b="1" kern="1200">
                <a:solidFill>
                  <a:schemeClr val="tx1"/>
                </a:solidFill>
                <a:latin typeface="+mn-lt"/>
                <a:ea typeface="+mn-ea"/>
                <a:cs typeface="+mn-cs"/>
              </a:defRPr>
            </a:lvl3pPr>
            <a:lvl4pPr marL="1371600" indent="0" algn="l" defTabSz="914400" rtl="0" eaLnBrk="1" latinLnBrk="0" hangingPunct="1">
              <a:lnSpc>
                <a:spcPct val="100000"/>
              </a:lnSpc>
              <a:spcBef>
                <a:spcPts val="500"/>
              </a:spcBef>
              <a:buClr>
                <a:schemeClr val="bg2"/>
              </a:buClr>
              <a:buFont typeface="Camphor Std" panose="020B0504030404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00000"/>
              </a:lnSpc>
              <a:spcBef>
                <a:spcPts val="500"/>
              </a:spcBef>
              <a:buClr>
                <a:schemeClr val="bg2"/>
              </a:buClr>
              <a:buFont typeface="Camphor Std" panose="020B0504030404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l"/>
            <a:r>
              <a:rPr lang="en-US"/>
              <a:t>In 2025, Careful Engagement </a:t>
            </a:r>
            <a:r>
              <a:rPr lang="en-US" i="1"/>
              <a:t>does not</a:t>
            </a:r>
            <a:r>
              <a:rPr lang="en-US"/>
              <a:t> include</a:t>
            </a:r>
          </a:p>
        </p:txBody>
      </p:sp>
    </p:spTree>
    <p:extLst>
      <p:ext uri="{BB962C8B-B14F-4D97-AF65-F5344CB8AC3E}">
        <p14:creationId xmlns:p14="http://schemas.microsoft.com/office/powerpoint/2010/main" val="3821287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720BF-7F29-8E8F-93E3-A6A88DF192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29595-CF81-D120-1BE7-2DF1143422C6}"/>
              </a:ext>
            </a:extLst>
          </p:cNvPr>
          <p:cNvSpPr>
            <a:spLocks noGrp="1"/>
          </p:cNvSpPr>
          <p:nvPr>
            <p:ph type="title"/>
          </p:nvPr>
        </p:nvSpPr>
        <p:spPr>
          <a:xfrm>
            <a:off x="771525" y="320849"/>
            <a:ext cx="10515600" cy="541094"/>
          </a:xfrm>
        </p:spPr>
        <p:txBody>
          <a:bodyPr/>
          <a:lstStyle/>
          <a:p>
            <a:r>
              <a:rPr lang="en-US">
                <a:latin typeface="LeMonde Livre"/>
              </a:rPr>
              <a:t>How We'll Evaluate Comms Opportunities</a:t>
            </a:r>
            <a:endParaRPr lang="en-US"/>
          </a:p>
        </p:txBody>
      </p:sp>
      <p:sp>
        <p:nvSpPr>
          <p:cNvPr id="3" name="Content Placeholder 2">
            <a:extLst>
              <a:ext uri="{FF2B5EF4-FFF2-40B4-BE49-F238E27FC236}">
                <a16:creationId xmlns:a16="http://schemas.microsoft.com/office/drawing/2014/main" id="{B0AA68BB-19F5-E457-2E08-D73954D2A25B}"/>
              </a:ext>
            </a:extLst>
          </p:cNvPr>
          <p:cNvSpPr>
            <a:spLocks noGrp="1"/>
          </p:cNvSpPr>
          <p:nvPr>
            <p:ph idx="1"/>
          </p:nvPr>
        </p:nvSpPr>
        <p:spPr>
          <a:xfrm>
            <a:off x="771525" y="1116817"/>
            <a:ext cx="10745566" cy="805687"/>
          </a:xfrm>
        </p:spPr>
        <p:txBody>
          <a:bodyPr vert="horz" lIns="91440" tIns="45720" rIns="91440" bIns="45720" rtlCol="0" anchor="t">
            <a:noAutofit/>
          </a:bodyPr>
          <a:lstStyle/>
          <a:p>
            <a:pPr marL="0" indent="0">
              <a:buNone/>
            </a:pPr>
            <a:r>
              <a:rPr lang="en-US" sz="1600">
                <a:latin typeface="Camphor Std"/>
              </a:rPr>
              <a:t>We will evaluate how to meet our communications objectives asking core questions across key filters to consider how the rapidly changing environment could impact BMP’s reputation, our Partners, and our investees. While not an exact science, answers to these questions will guide our decisions when pursuing proactive and reactive external communications opportunities.</a:t>
            </a:r>
            <a:endParaRPr lang="en-US" sz="1600">
              <a:highlight>
                <a:srgbClr val="FFFF00"/>
              </a:highlight>
            </a:endParaRPr>
          </a:p>
          <a:p>
            <a:pPr marL="0" indent="0">
              <a:buNone/>
            </a:pPr>
            <a:endParaRPr lang="en-US" sz="1400">
              <a:highlight>
                <a:srgbClr val="FFFF00"/>
              </a:highlight>
              <a:latin typeface="Camphor Std"/>
            </a:endParaRPr>
          </a:p>
          <a:p>
            <a:pPr marL="0" indent="0">
              <a:buNone/>
            </a:pPr>
            <a:endParaRPr lang="en-US" sz="1400" b="1">
              <a:cs typeface="Arial"/>
            </a:endParaRPr>
          </a:p>
          <a:p>
            <a:endParaRPr lang="en-US" sz="1400"/>
          </a:p>
          <a:p>
            <a:endParaRPr lang="en-US" sz="1400"/>
          </a:p>
          <a:p>
            <a:pPr marL="0" indent="0">
              <a:buNone/>
            </a:pPr>
            <a:endParaRPr lang="en-US" sz="1400" b="1"/>
          </a:p>
          <a:p>
            <a:pPr marL="0" indent="0">
              <a:buNone/>
            </a:pPr>
            <a:endParaRPr lang="en-US" sz="1200"/>
          </a:p>
          <a:p>
            <a:pPr marL="0" indent="0">
              <a:buNone/>
            </a:pPr>
            <a:endParaRPr lang="en-US" sz="1400">
              <a:highlight>
                <a:srgbClr val="FFFF00"/>
              </a:highlight>
            </a:endParaRPr>
          </a:p>
          <a:p>
            <a:pPr marL="0" indent="0">
              <a:buNone/>
            </a:pPr>
            <a:endParaRPr lang="en-US" sz="1200" b="1"/>
          </a:p>
          <a:p>
            <a:pPr marL="0" indent="0">
              <a:buNone/>
            </a:pPr>
            <a:endParaRPr lang="en-US"/>
          </a:p>
        </p:txBody>
      </p:sp>
      <p:sp>
        <p:nvSpPr>
          <p:cNvPr id="5" name="Date Placeholder 4">
            <a:extLst>
              <a:ext uri="{FF2B5EF4-FFF2-40B4-BE49-F238E27FC236}">
                <a16:creationId xmlns:a16="http://schemas.microsoft.com/office/drawing/2014/main" id="{56DE41BC-D553-B6DA-61C8-3F9DB47FA899}"/>
              </a:ext>
            </a:extLst>
          </p:cNvPr>
          <p:cNvSpPr>
            <a:spLocks noGrp="1"/>
          </p:cNvSpPr>
          <p:nvPr>
            <p:ph type="dt" sz="half" idx="10"/>
          </p:nvPr>
        </p:nvSpPr>
        <p:spPr/>
        <p:txBody>
          <a:bodyPr/>
          <a:lstStyle/>
          <a:p>
            <a:fld id="{637018A1-B2B5-4D65-8245-8D25C4B3CF02}" type="datetime1">
              <a:rPr lang="en-US"/>
              <a:t>5/30/2025</a:t>
            </a:fld>
            <a:endParaRPr lang="en-US"/>
          </a:p>
        </p:txBody>
      </p:sp>
      <p:sp>
        <p:nvSpPr>
          <p:cNvPr id="7" name="Rectangle 6">
            <a:extLst>
              <a:ext uri="{FF2B5EF4-FFF2-40B4-BE49-F238E27FC236}">
                <a16:creationId xmlns:a16="http://schemas.microsoft.com/office/drawing/2014/main" id="{064C2A96-FB83-7314-1241-23FCFAE3A4C6}"/>
              </a:ext>
            </a:extLst>
          </p:cNvPr>
          <p:cNvSpPr/>
          <p:nvPr/>
        </p:nvSpPr>
        <p:spPr>
          <a:xfrm>
            <a:off x="608725" y="4089768"/>
            <a:ext cx="1151863" cy="1536192"/>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0"/>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buClr>
                <a:srgbClr val="1A9AFA"/>
              </a:buClr>
              <a:buSzPct val="75000"/>
            </a:pPr>
            <a:r>
              <a:rPr lang="en-US" sz="1400" b="1">
                <a:solidFill>
                  <a:schemeClr val="bg1"/>
                </a:solidFill>
              </a:rPr>
              <a:t>Risk </a:t>
            </a:r>
          </a:p>
          <a:p>
            <a:pPr algn="ctr"/>
            <a:r>
              <a:rPr lang="en-US" sz="1400" b="1">
                <a:solidFill>
                  <a:schemeClr val="bg1"/>
                </a:solidFill>
              </a:rPr>
              <a:t>Assessment</a:t>
            </a:r>
            <a:r>
              <a:rPr lang="en-US" sz="1500" b="1">
                <a:solidFill>
                  <a:schemeClr val="bg1"/>
                </a:solidFill>
              </a:rPr>
              <a:t> </a:t>
            </a:r>
          </a:p>
        </p:txBody>
      </p:sp>
      <p:sp>
        <p:nvSpPr>
          <p:cNvPr id="8" name="Rectangle 7">
            <a:extLst>
              <a:ext uri="{FF2B5EF4-FFF2-40B4-BE49-F238E27FC236}">
                <a16:creationId xmlns:a16="http://schemas.microsoft.com/office/drawing/2014/main" id="{67421598-0E4D-A7A3-06EA-5B94AA5B560C}"/>
              </a:ext>
            </a:extLst>
          </p:cNvPr>
          <p:cNvSpPr/>
          <p:nvPr/>
        </p:nvSpPr>
        <p:spPr>
          <a:xfrm>
            <a:off x="628857" y="2404710"/>
            <a:ext cx="1133503" cy="1564242"/>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0"/>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buClr>
                <a:srgbClr val="1A9AFA"/>
              </a:buClr>
              <a:buSzPct val="75000"/>
            </a:pPr>
            <a:r>
              <a:rPr lang="en-US" sz="1400" b="1">
                <a:solidFill>
                  <a:schemeClr val="bg1"/>
                </a:solidFill>
              </a:rPr>
              <a:t>Strategic Alignment </a:t>
            </a:r>
          </a:p>
        </p:txBody>
      </p:sp>
      <p:sp>
        <p:nvSpPr>
          <p:cNvPr id="13" name="Rectangle 12">
            <a:extLst>
              <a:ext uri="{FF2B5EF4-FFF2-40B4-BE49-F238E27FC236}">
                <a16:creationId xmlns:a16="http://schemas.microsoft.com/office/drawing/2014/main" id="{89F1832D-36A4-1EAC-8DD5-FC3AD63BE573}"/>
              </a:ext>
            </a:extLst>
          </p:cNvPr>
          <p:cNvSpPr/>
          <p:nvPr/>
        </p:nvSpPr>
        <p:spPr>
          <a:xfrm>
            <a:off x="1969700" y="2421032"/>
            <a:ext cx="2178050" cy="1486624"/>
          </a:xfrm>
          <a:prstGeom prst="rect">
            <a:avLst/>
          </a:prstGeom>
          <a:solidFill>
            <a:schemeClr val="bg1">
              <a:lumMod val="95000"/>
            </a:schemeClr>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0"/>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buClr>
                <a:schemeClr val="bg1"/>
              </a:buClr>
              <a:buSzPct val="75000"/>
            </a:pPr>
            <a:r>
              <a:rPr lang="en-US" sz="1400">
                <a:solidFill>
                  <a:schemeClr val="tx2"/>
                </a:solidFill>
              </a:rPr>
              <a:t> Does the theme/topic align with our comms priorities and storylines?</a:t>
            </a:r>
          </a:p>
        </p:txBody>
      </p:sp>
      <p:sp>
        <p:nvSpPr>
          <p:cNvPr id="14" name="Rectangle 13">
            <a:extLst>
              <a:ext uri="{FF2B5EF4-FFF2-40B4-BE49-F238E27FC236}">
                <a16:creationId xmlns:a16="http://schemas.microsoft.com/office/drawing/2014/main" id="{0697369D-C10F-8890-455E-571247416D9B}"/>
              </a:ext>
            </a:extLst>
          </p:cNvPr>
          <p:cNvSpPr/>
          <p:nvPr/>
        </p:nvSpPr>
        <p:spPr>
          <a:xfrm>
            <a:off x="1969699" y="4079742"/>
            <a:ext cx="2178050" cy="1536192"/>
          </a:xfrm>
          <a:prstGeom prst="rect">
            <a:avLst/>
          </a:prstGeom>
          <a:solidFill>
            <a:schemeClr val="bg1">
              <a:lumMod val="95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buClr>
                <a:schemeClr val="bg1"/>
              </a:buClr>
              <a:buSzPct val="75000"/>
            </a:pPr>
            <a:r>
              <a:rPr lang="en-US" sz="1400" baseline="0">
                <a:solidFill>
                  <a:srgbClr val="0091C8"/>
                </a:solidFill>
                <a:latin typeface="Camphor Std"/>
              </a:rPr>
              <a:t>Can we participate in a way that aligns with our "Careful Engagement" approach? </a:t>
            </a:r>
            <a:endParaRPr lang="en-US" sz="1400">
              <a:solidFill>
                <a:schemeClr val="bg2"/>
              </a:solidFill>
            </a:endParaRPr>
          </a:p>
        </p:txBody>
      </p:sp>
      <p:sp>
        <p:nvSpPr>
          <p:cNvPr id="22" name="Rectangle 21">
            <a:extLst>
              <a:ext uri="{FF2B5EF4-FFF2-40B4-BE49-F238E27FC236}">
                <a16:creationId xmlns:a16="http://schemas.microsoft.com/office/drawing/2014/main" id="{14726019-791C-F6C8-57DD-792F7587B940}"/>
              </a:ext>
            </a:extLst>
          </p:cNvPr>
          <p:cNvSpPr/>
          <p:nvPr/>
        </p:nvSpPr>
        <p:spPr>
          <a:xfrm>
            <a:off x="4439012" y="2404710"/>
            <a:ext cx="2178050" cy="1536700"/>
          </a:xfrm>
          <a:prstGeom prst="rect">
            <a:avLst/>
          </a:prstGeom>
          <a:solidFill>
            <a:schemeClr val="bg1">
              <a:lumMod val="95000"/>
            </a:schemeClr>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0"/>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buClr>
                <a:schemeClr val="bg1"/>
              </a:buClr>
              <a:buSzPct val="75000"/>
            </a:pPr>
            <a:r>
              <a:rPr lang="en-US" sz="1400">
                <a:solidFill>
                  <a:schemeClr val="tx2"/>
                </a:solidFill>
              </a:rPr>
              <a:t>Will this reach our priority audiences of current and prospective partners? Or their influencers? </a:t>
            </a:r>
          </a:p>
        </p:txBody>
      </p:sp>
      <p:sp>
        <p:nvSpPr>
          <p:cNvPr id="23" name="Rectangle 22">
            <a:extLst>
              <a:ext uri="{FF2B5EF4-FFF2-40B4-BE49-F238E27FC236}">
                <a16:creationId xmlns:a16="http://schemas.microsoft.com/office/drawing/2014/main" id="{34C2082B-FAFE-C705-4632-51CC74AAB8A2}"/>
              </a:ext>
            </a:extLst>
          </p:cNvPr>
          <p:cNvSpPr/>
          <p:nvPr/>
        </p:nvSpPr>
        <p:spPr>
          <a:xfrm>
            <a:off x="6902646" y="2418481"/>
            <a:ext cx="2178050" cy="1536700"/>
          </a:xfrm>
          <a:prstGeom prst="rect">
            <a:avLst/>
          </a:prstGeom>
          <a:solidFill>
            <a:schemeClr val="bg1">
              <a:lumMod val="95000"/>
            </a:schemeClr>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0"/>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buClr>
                <a:schemeClr val="bg1"/>
              </a:buClr>
              <a:buSzPct val="75000"/>
            </a:pPr>
            <a:r>
              <a:rPr lang="en-US" sz="1400">
                <a:solidFill>
                  <a:schemeClr val="tx2"/>
                </a:solidFill>
              </a:rPr>
              <a:t>Is there a clear opportunity for BMP to effectively demonstrate our value to current and prospective partners? </a:t>
            </a:r>
          </a:p>
        </p:txBody>
      </p:sp>
      <p:sp>
        <p:nvSpPr>
          <p:cNvPr id="24" name="Rectangle 23">
            <a:extLst>
              <a:ext uri="{FF2B5EF4-FFF2-40B4-BE49-F238E27FC236}">
                <a16:creationId xmlns:a16="http://schemas.microsoft.com/office/drawing/2014/main" id="{07D17D79-FF55-6DBA-C9C3-63E66AE79319}"/>
              </a:ext>
            </a:extLst>
          </p:cNvPr>
          <p:cNvSpPr/>
          <p:nvPr/>
        </p:nvSpPr>
        <p:spPr>
          <a:xfrm>
            <a:off x="9339041" y="2432252"/>
            <a:ext cx="2178050" cy="1536700"/>
          </a:xfrm>
          <a:prstGeom prst="rect">
            <a:avLst/>
          </a:prstGeom>
          <a:solidFill>
            <a:schemeClr val="bg1">
              <a:lumMod val="95000"/>
            </a:schemeClr>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0"/>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buClr>
                <a:schemeClr val="bg1"/>
              </a:buClr>
              <a:buSzPct val="75000"/>
            </a:pPr>
            <a:r>
              <a:rPr lang="en-US" sz="1400">
                <a:solidFill>
                  <a:schemeClr val="tx2"/>
                </a:solidFill>
              </a:rPr>
              <a:t> Does this provide a good opportunity to position BMP as an industry leader?</a:t>
            </a:r>
          </a:p>
        </p:txBody>
      </p:sp>
      <p:sp>
        <p:nvSpPr>
          <p:cNvPr id="25" name="Rectangle 24">
            <a:extLst>
              <a:ext uri="{FF2B5EF4-FFF2-40B4-BE49-F238E27FC236}">
                <a16:creationId xmlns:a16="http://schemas.microsoft.com/office/drawing/2014/main" id="{6B157EFB-959F-6FE3-1801-4773B52AD20F}"/>
              </a:ext>
            </a:extLst>
          </p:cNvPr>
          <p:cNvSpPr/>
          <p:nvPr/>
        </p:nvSpPr>
        <p:spPr>
          <a:xfrm>
            <a:off x="4426145" y="4069715"/>
            <a:ext cx="2178050" cy="1536192"/>
          </a:xfrm>
          <a:prstGeom prst="rect">
            <a:avLst/>
          </a:prstGeom>
          <a:solidFill>
            <a:schemeClr val="bg1">
              <a:lumMod val="95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buClr>
                <a:schemeClr val="bg1"/>
              </a:buClr>
              <a:buSzPct val="75000"/>
            </a:pPr>
            <a:endParaRPr lang="en-US" sz="1400">
              <a:solidFill>
                <a:schemeClr val="bg2"/>
              </a:solidFill>
            </a:endParaRPr>
          </a:p>
          <a:p>
            <a:pPr algn="ctr"/>
            <a:r>
              <a:rPr lang="en-US" sz="1400">
                <a:solidFill>
                  <a:schemeClr val="bg2"/>
                </a:solidFill>
                <a:ea typeface="+mn-lt"/>
                <a:cs typeface="+mn-lt"/>
              </a:rPr>
              <a:t>Does this opportunity focus on an issue/topic that makes BMP, our Partners, or our investees more vulnerable to attack? </a:t>
            </a:r>
            <a:endParaRPr lang="en-US">
              <a:solidFill>
                <a:schemeClr val="bg2"/>
              </a:solidFill>
            </a:endParaRPr>
          </a:p>
        </p:txBody>
      </p:sp>
      <p:sp>
        <p:nvSpPr>
          <p:cNvPr id="26" name="Rectangle 25">
            <a:extLst>
              <a:ext uri="{FF2B5EF4-FFF2-40B4-BE49-F238E27FC236}">
                <a16:creationId xmlns:a16="http://schemas.microsoft.com/office/drawing/2014/main" id="{F572A91E-29D5-B204-0A64-D828E47EC0A0}"/>
              </a:ext>
            </a:extLst>
          </p:cNvPr>
          <p:cNvSpPr/>
          <p:nvPr/>
        </p:nvSpPr>
        <p:spPr>
          <a:xfrm>
            <a:off x="6902646" y="4069714"/>
            <a:ext cx="2178050" cy="1536192"/>
          </a:xfrm>
          <a:prstGeom prst="rect">
            <a:avLst/>
          </a:prstGeom>
          <a:solidFill>
            <a:schemeClr val="bg1">
              <a:lumMod val="95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buClr>
                <a:schemeClr val="bg1"/>
              </a:buClr>
              <a:buSzPct val="75000"/>
            </a:pPr>
            <a:r>
              <a:rPr lang="en-US" sz="1400">
                <a:solidFill>
                  <a:schemeClr val="bg2"/>
                </a:solidFill>
              </a:rPr>
              <a:t>Do we trust the outlet/reporter/event will provide us an opportunity to tell a compelling, fair story? </a:t>
            </a:r>
          </a:p>
        </p:txBody>
      </p:sp>
      <p:sp>
        <p:nvSpPr>
          <p:cNvPr id="27" name="Rectangle 26">
            <a:extLst>
              <a:ext uri="{FF2B5EF4-FFF2-40B4-BE49-F238E27FC236}">
                <a16:creationId xmlns:a16="http://schemas.microsoft.com/office/drawing/2014/main" id="{A4662B7C-6EA3-BDD5-78B3-DDAC2EAD87D2}"/>
              </a:ext>
            </a:extLst>
          </p:cNvPr>
          <p:cNvSpPr/>
          <p:nvPr/>
        </p:nvSpPr>
        <p:spPr>
          <a:xfrm>
            <a:off x="9339041" y="4059689"/>
            <a:ext cx="2178050" cy="1536192"/>
          </a:xfrm>
          <a:prstGeom prst="rect">
            <a:avLst/>
          </a:prstGeom>
          <a:solidFill>
            <a:schemeClr val="bg1">
              <a:lumMod val="95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buClr>
                <a:schemeClr val="bg1"/>
              </a:buClr>
              <a:buSzPct val="75000"/>
            </a:pPr>
            <a:r>
              <a:rPr lang="en-US" sz="1400">
                <a:solidFill>
                  <a:schemeClr val="bg2"/>
                </a:solidFill>
                <a:ea typeface="+mn-lt"/>
                <a:cs typeface="+mn-lt"/>
              </a:rPr>
              <a:t>Are we in good company with this opportunity? (i.e., values and mission aligned peer orgs or individuals)</a:t>
            </a:r>
            <a:endParaRPr lang="en-US" sz="1400">
              <a:solidFill>
                <a:schemeClr val="bg2"/>
              </a:solidFill>
            </a:endParaRPr>
          </a:p>
        </p:txBody>
      </p:sp>
      <p:sp>
        <p:nvSpPr>
          <p:cNvPr id="4" name="Rectangle 3">
            <a:extLst>
              <a:ext uri="{FF2B5EF4-FFF2-40B4-BE49-F238E27FC236}">
                <a16:creationId xmlns:a16="http://schemas.microsoft.com/office/drawing/2014/main" id="{BBCE9CAB-01EF-745B-C79A-DCD2F79DFDEF}"/>
              </a:ext>
            </a:extLst>
          </p:cNvPr>
          <p:cNvSpPr/>
          <p:nvPr/>
        </p:nvSpPr>
        <p:spPr>
          <a:xfrm rot="16200000">
            <a:off x="-332887" y="3630519"/>
            <a:ext cx="1133503" cy="41248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0"/>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buClr>
                <a:srgbClr val="1A9AFA"/>
              </a:buClr>
              <a:buSzPct val="75000"/>
            </a:pPr>
            <a:r>
              <a:rPr lang="en-US" b="1">
                <a:solidFill>
                  <a:schemeClr val="tx1"/>
                </a:solidFill>
              </a:rPr>
              <a:t>FILTER </a:t>
            </a:r>
          </a:p>
        </p:txBody>
      </p:sp>
      <p:sp>
        <p:nvSpPr>
          <p:cNvPr id="9" name="Rectangle 8">
            <a:extLst>
              <a:ext uri="{FF2B5EF4-FFF2-40B4-BE49-F238E27FC236}">
                <a16:creationId xmlns:a16="http://schemas.microsoft.com/office/drawing/2014/main" id="{EB578725-9677-67A3-FFD0-8B8C7120BAAD}"/>
              </a:ext>
            </a:extLst>
          </p:cNvPr>
          <p:cNvSpPr/>
          <p:nvPr/>
        </p:nvSpPr>
        <p:spPr>
          <a:xfrm>
            <a:off x="1907809" y="1985782"/>
            <a:ext cx="9609282" cy="41248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0"/>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buClr>
                <a:srgbClr val="1A9AFA"/>
              </a:buClr>
              <a:buSzPct val="75000"/>
            </a:pPr>
            <a:r>
              <a:rPr lang="en-US" b="1">
                <a:solidFill>
                  <a:schemeClr val="tx1"/>
                </a:solidFill>
              </a:rPr>
              <a:t>KEY QUESTIONS </a:t>
            </a:r>
          </a:p>
        </p:txBody>
      </p:sp>
    </p:spTree>
    <p:extLst>
      <p:ext uri="{BB962C8B-B14F-4D97-AF65-F5344CB8AC3E}">
        <p14:creationId xmlns:p14="http://schemas.microsoft.com/office/powerpoint/2010/main" val="2727961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1BC90-9A04-B873-82B9-868F371AE6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6A9A46-6B6A-0626-E473-6CA61ACC59B4}"/>
              </a:ext>
            </a:extLst>
          </p:cNvPr>
          <p:cNvSpPr>
            <a:spLocks noGrp="1"/>
          </p:cNvSpPr>
          <p:nvPr>
            <p:ph type="ctrTitle"/>
          </p:nvPr>
        </p:nvSpPr>
        <p:spPr/>
        <p:txBody>
          <a:bodyPr/>
          <a:lstStyle/>
          <a:p>
            <a:r>
              <a:rPr lang="en-US"/>
              <a:t>Big Picture Message &amp; Storytelling</a:t>
            </a:r>
          </a:p>
        </p:txBody>
      </p:sp>
      <p:sp>
        <p:nvSpPr>
          <p:cNvPr id="3" name="Subtitle 2">
            <a:extLst>
              <a:ext uri="{FF2B5EF4-FFF2-40B4-BE49-F238E27FC236}">
                <a16:creationId xmlns:a16="http://schemas.microsoft.com/office/drawing/2014/main" id="{797A04DD-5D37-A97B-C29E-A59D341357E5}"/>
              </a:ext>
            </a:extLst>
          </p:cNvPr>
          <p:cNvSpPr>
            <a:spLocks noGrp="1"/>
          </p:cNvSpPr>
          <p:nvPr>
            <p:ph type="subTitle" idx="1"/>
          </p:nvPr>
        </p:nvSpPr>
        <p:spPr/>
        <p:txBody>
          <a:bodyPr/>
          <a:lstStyle/>
          <a:p>
            <a:r>
              <a:rPr lang="en-US"/>
              <a:t>And reminder of audience and communications ambition</a:t>
            </a:r>
          </a:p>
        </p:txBody>
      </p:sp>
      <p:sp>
        <p:nvSpPr>
          <p:cNvPr id="4" name="Date Placeholder 3">
            <a:extLst>
              <a:ext uri="{FF2B5EF4-FFF2-40B4-BE49-F238E27FC236}">
                <a16:creationId xmlns:a16="http://schemas.microsoft.com/office/drawing/2014/main" id="{3D1EDC71-4043-A134-4CE2-A7DAFF93193D}"/>
              </a:ext>
            </a:extLst>
          </p:cNvPr>
          <p:cNvSpPr>
            <a:spLocks noGrp="1"/>
          </p:cNvSpPr>
          <p:nvPr>
            <p:ph type="dt" sz="half" idx="10"/>
          </p:nvPr>
        </p:nvSpPr>
        <p:spPr/>
        <p:txBody>
          <a:bodyPr/>
          <a:lstStyle/>
          <a:p>
            <a:fld id="{BE9CD3D1-51F6-4B01-834E-E7B908F7DF50}" type="datetime1">
              <a:rPr lang="en-US" smtClean="0"/>
              <a:t>5/30/2025</a:t>
            </a:fld>
            <a:endParaRPr lang="en-US"/>
          </a:p>
        </p:txBody>
      </p:sp>
    </p:spTree>
    <p:extLst>
      <p:ext uri="{BB962C8B-B14F-4D97-AF65-F5344CB8AC3E}">
        <p14:creationId xmlns:p14="http://schemas.microsoft.com/office/powerpoint/2010/main" val="3264811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7C753-8C01-62EC-F22F-503F8B40F808}"/>
              </a:ext>
            </a:extLst>
          </p:cNvPr>
          <p:cNvSpPr>
            <a:spLocks noGrp="1"/>
          </p:cNvSpPr>
          <p:nvPr>
            <p:ph type="title"/>
          </p:nvPr>
        </p:nvSpPr>
        <p:spPr/>
        <p:txBody>
          <a:bodyPr/>
          <a:lstStyle/>
          <a:p>
            <a:r>
              <a:rPr lang="en-US"/>
              <a:t>Communications Ambition &amp; 2025 Focus</a:t>
            </a:r>
          </a:p>
        </p:txBody>
      </p:sp>
      <p:sp>
        <p:nvSpPr>
          <p:cNvPr id="4" name="Date Placeholder 3">
            <a:extLst>
              <a:ext uri="{FF2B5EF4-FFF2-40B4-BE49-F238E27FC236}">
                <a16:creationId xmlns:a16="http://schemas.microsoft.com/office/drawing/2014/main" id="{CBFB94F1-68BB-5F78-5E5A-9204A4A5134C}"/>
              </a:ext>
            </a:extLst>
          </p:cNvPr>
          <p:cNvSpPr>
            <a:spLocks noGrp="1"/>
          </p:cNvSpPr>
          <p:nvPr>
            <p:ph type="dt" sz="half" idx="10"/>
          </p:nvPr>
        </p:nvSpPr>
        <p:spPr/>
        <p:txBody>
          <a:bodyPr/>
          <a:lstStyle/>
          <a:p>
            <a:fld id="{F6BEB5E0-DC11-404B-89D2-C53797DE194D}" type="datetime1">
              <a:rPr lang="en-US" smtClean="0"/>
              <a:t>5/30/2025</a:t>
            </a:fld>
            <a:endParaRPr lang="en-US"/>
          </a:p>
        </p:txBody>
      </p:sp>
      <p:sp>
        <p:nvSpPr>
          <p:cNvPr id="5" name="Rectangle 4">
            <a:extLst>
              <a:ext uri="{FF2B5EF4-FFF2-40B4-BE49-F238E27FC236}">
                <a16:creationId xmlns:a16="http://schemas.microsoft.com/office/drawing/2014/main" id="{5F60E83C-474C-CDD5-20CE-F7237645341B}"/>
              </a:ext>
            </a:extLst>
          </p:cNvPr>
          <p:cNvSpPr/>
          <p:nvPr/>
        </p:nvSpPr>
        <p:spPr>
          <a:xfrm>
            <a:off x="1264925" y="3314877"/>
            <a:ext cx="10208091" cy="7942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600">
                <a:solidFill>
                  <a:srgbClr val="FFFFFF"/>
                </a:solidFill>
                <a:cs typeface="Calibri"/>
              </a:rPr>
              <a:t>Blue</a:t>
            </a:r>
            <a:r>
              <a:rPr lang="en-US" sz="1600" spc="-35">
                <a:solidFill>
                  <a:srgbClr val="FFFFFF"/>
                </a:solidFill>
                <a:cs typeface="Calibri"/>
              </a:rPr>
              <a:t> </a:t>
            </a:r>
            <a:r>
              <a:rPr lang="en-US" sz="1600">
                <a:solidFill>
                  <a:srgbClr val="FFFFFF"/>
                </a:solidFill>
                <a:cs typeface="Calibri"/>
              </a:rPr>
              <a:t>Meridian Partners</a:t>
            </a:r>
            <a:r>
              <a:rPr lang="en-US" sz="1600" spc="-35">
                <a:solidFill>
                  <a:srgbClr val="FFFFFF"/>
                </a:solidFill>
                <a:cs typeface="Calibri"/>
              </a:rPr>
              <a:t> </a:t>
            </a:r>
            <a:r>
              <a:rPr lang="en-US" sz="1600">
                <a:solidFill>
                  <a:srgbClr val="FFFFFF"/>
                </a:solidFill>
                <a:cs typeface="Calibri"/>
              </a:rPr>
              <a:t>is</a:t>
            </a:r>
            <a:r>
              <a:rPr lang="en-US" sz="1600" spc="-45">
                <a:solidFill>
                  <a:srgbClr val="FFFFFF"/>
                </a:solidFill>
                <a:cs typeface="Calibri"/>
              </a:rPr>
              <a:t> </a:t>
            </a:r>
            <a:r>
              <a:rPr lang="en-US" sz="1600">
                <a:solidFill>
                  <a:srgbClr val="FFFFFF"/>
                </a:solidFill>
                <a:cs typeface="Calibri"/>
              </a:rPr>
              <a:t>viewed</a:t>
            </a:r>
            <a:r>
              <a:rPr lang="en-US" sz="1600" spc="-35">
                <a:solidFill>
                  <a:srgbClr val="FFFFFF"/>
                </a:solidFill>
                <a:cs typeface="Calibri"/>
              </a:rPr>
              <a:t> </a:t>
            </a:r>
            <a:r>
              <a:rPr lang="en-US" sz="1600">
                <a:solidFill>
                  <a:srgbClr val="FFFFFF"/>
                </a:solidFill>
                <a:cs typeface="Calibri"/>
              </a:rPr>
              <a:t>as</a:t>
            </a:r>
            <a:r>
              <a:rPr lang="en-US" sz="1600" spc="-35">
                <a:solidFill>
                  <a:srgbClr val="FFFFFF"/>
                </a:solidFill>
                <a:cs typeface="Calibri"/>
              </a:rPr>
              <a:t> </a:t>
            </a:r>
            <a:r>
              <a:rPr lang="en-US" sz="1600">
                <a:solidFill>
                  <a:srgbClr val="FFFFFF"/>
                </a:solidFill>
                <a:cs typeface="Calibri"/>
              </a:rPr>
              <a:t>being</a:t>
            </a:r>
            <a:r>
              <a:rPr lang="en-US" sz="1600" spc="-40">
                <a:solidFill>
                  <a:srgbClr val="FFFFFF"/>
                </a:solidFill>
                <a:cs typeface="Calibri"/>
              </a:rPr>
              <a:t> </a:t>
            </a:r>
            <a:r>
              <a:rPr lang="en-US" sz="1600">
                <a:solidFill>
                  <a:srgbClr val="FFFFFF"/>
                </a:solidFill>
                <a:cs typeface="Calibri"/>
              </a:rPr>
              <a:t>at</a:t>
            </a:r>
            <a:r>
              <a:rPr lang="en-US" sz="1600" spc="-20">
                <a:solidFill>
                  <a:srgbClr val="FFFFFF"/>
                </a:solidFill>
                <a:cs typeface="Calibri"/>
              </a:rPr>
              <a:t> </a:t>
            </a:r>
            <a:r>
              <a:rPr lang="en-US" sz="1600">
                <a:solidFill>
                  <a:srgbClr val="FFFFFF"/>
                </a:solidFill>
                <a:cs typeface="Calibri"/>
              </a:rPr>
              <a:t>the</a:t>
            </a:r>
            <a:r>
              <a:rPr lang="en-US" sz="1600" spc="-35">
                <a:solidFill>
                  <a:srgbClr val="FFFFFF"/>
                </a:solidFill>
                <a:cs typeface="Calibri"/>
              </a:rPr>
              <a:t> </a:t>
            </a:r>
            <a:r>
              <a:rPr lang="en-US" sz="1600" spc="-10">
                <a:solidFill>
                  <a:srgbClr val="FFFFFF"/>
                </a:solidFill>
                <a:cs typeface="Calibri"/>
              </a:rPr>
              <a:t>forefront</a:t>
            </a:r>
            <a:r>
              <a:rPr lang="en-US" sz="1600" spc="-30">
                <a:solidFill>
                  <a:srgbClr val="FFFFFF"/>
                </a:solidFill>
                <a:cs typeface="Calibri"/>
              </a:rPr>
              <a:t> </a:t>
            </a:r>
            <a:r>
              <a:rPr lang="en-US" sz="1600">
                <a:solidFill>
                  <a:srgbClr val="FFFFFF"/>
                </a:solidFill>
                <a:cs typeface="Calibri"/>
              </a:rPr>
              <a:t>of</a:t>
            </a:r>
            <a:r>
              <a:rPr lang="en-US" sz="1600" spc="-25">
                <a:solidFill>
                  <a:srgbClr val="FFFFFF"/>
                </a:solidFill>
                <a:cs typeface="Calibri"/>
              </a:rPr>
              <a:t> </a:t>
            </a:r>
            <a:r>
              <a:rPr lang="en-US" sz="1600">
                <a:solidFill>
                  <a:srgbClr val="FFFFFF"/>
                </a:solidFill>
                <a:cs typeface="Calibri"/>
              </a:rPr>
              <a:t>philanthropy</a:t>
            </a:r>
            <a:r>
              <a:rPr lang="en-US" sz="1600" spc="-35">
                <a:solidFill>
                  <a:srgbClr val="FFFFFF"/>
                </a:solidFill>
                <a:cs typeface="Calibri"/>
              </a:rPr>
              <a:t> </a:t>
            </a:r>
            <a:r>
              <a:rPr lang="en-US" sz="1600">
                <a:solidFill>
                  <a:srgbClr val="FFFFFF"/>
                </a:solidFill>
                <a:cs typeface="Calibri"/>
              </a:rPr>
              <a:t>driving</a:t>
            </a:r>
            <a:r>
              <a:rPr lang="en-US" sz="1600" spc="-40">
                <a:solidFill>
                  <a:srgbClr val="FFFFFF"/>
                </a:solidFill>
                <a:cs typeface="Calibri"/>
              </a:rPr>
              <a:t> </a:t>
            </a:r>
            <a:r>
              <a:rPr lang="en-US" sz="1600" spc="-10">
                <a:solidFill>
                  <a:srgbClr val="FFFFFF"/>
                </a:solidFill>
                <a:cs typeface="Calibri"/>
              </a:rPr>
              <a:t>impact </a:t>
            </a:r>
            <a:r>
              <a:rPr lang="en-US" sz="1600">
                <a:solidFill>
                  <a:srgbClr val="FFFFFF"/>
                </a:solidFill>
                <a:cs typeface="Calibri"/>
              </a:rPr>
              <a:t>for</a:t>
            </a:r>
            <a:r>
              <a:rPr lang="en-US" sz="1600" spc="-20">
                <a:solidFill>
                  <a:srgbClr val="FFFFFF"/>
                </a:solidFill>
                <a:cs typeface="Calibri"/>
              </a:rPr>
              <a:t> </a:t>
            </a:r>
            <a:r>
              <a:rPr lang="en-US" sz="1600">
                <a:solidFill>
                  <a:srgbClr val="FFFFFF"/>
                </a:solidFill>
                <a:cs typeface="Calibri"/>
              </a:rPr>
              <a:t>social</a:t>
            </a:r>
            <a:r>
              <a:rPr lang="en-US" sz="1600" spc="-45">
                <a:solidFill>
                  <a:srgbClr val="FFFFFF"/>
                </a:solidFill>
                <a:cs typeface="Calibri"/>
              </a:rPr>
              <a:t> </a:t>
            </a:r>
            <a:r>
              <a:rPr lang="en-US" sz="1600">
                <a:solidFill>
                  <a:srgbClr val="FFFFFF"/>
                </a:solidFill>
                <a:cs typeface="Calibri"/>
              </a:rPr>
              <a:t>and</a:t>
            </a:r>
            <a:r>
              <a:rPr lang="en-US" sz="1600" spc="-15">
                <a:solidFill>
                  <a:srgbClr val="FFFFFF"/>
                </a:solidFill>
                <a:cs typeface="Calibri"/>
              </a:rPr>
              <a:t> </a:t>
            </a:r>
            <a:r>
              <a:rPr lang="en-US" sz="1600">
                <a:solidFill>
                  <a:srgbClr val="FFFFFF"/>
                </a:solidFill>
                <a:cs typeface="Calibri"/>
              </a:rPr>
              <a:t>economic</a:t>
            </a:r>
            <a:r>
              <a:rPr lang="en-US" sz="1600" spc="-30">
                <a:solidFill>
                  <a:srgbClr val="FFFFFF"/>
                </a:solidFill>
                <a:cs typeface="Calibri"/>
              </a:rPr>
              <a:t> </a:t>
            </a:r>
            <a:r>
              <a:rPr lang="en-US" sz="1600">
                <a:solidFill>
                  <a:srgbClr val="FFFFFF"/>
                </a:solidFill>
                <a:cs typeface="Calibri"/>
              </a:rPr>
              <a:t>mobility</a:t>
            </a:r>
            <a:r>
              <a:rPr lang="en-US" sz="1600" spc="-30">
                <a:solidFill>
                  <a:srgbClr val="FFFFFF"/>
                </a:solidFill>
                <a:cs typeface="Calibri"/>
              </a:rPr>
              <a:t> </a:t>
            </a:r>
            <a:r>
              <a:rPr lang="en-US" sz="1600">
                <a:solidFill>
                  <a:srgbClr val="FFFFFF"/>
                </a:solidFill>
                <a:cs typeface="Calibri"/>
              </a:rPr>
              <a:t>in</a:t>
            </a:r>
            <a:r>
              <a:rPr lang="en-US" sz="1600" spc="-20">
                <a:solidFill>
                  <a:srgbClr val="FFFFFF"/>
                </a:solidFill>
                <a:cs typeface="Calibri"/>
              </a:rPr>
              <a:t> </a:t>
            </a:r>
            <a:r>
              <a:rPr lang="en-US" sz="1600">
                <a:solidFill>
                  <a:srgbClr val="FFFFFF"/>
                </a:solidFill>
                <a:cs typeface="Calibri"/>
              </a:rPr>
              <a:t>the</a:t>
            </a:r>
            <a:r>
              <a:rPr lang="en-US" sz="1600" spc="-25">
                <a:solidFill>
                  <a:srgbClr val="FFFFFF"/>
                </a:solidFill>
                <a:cs typeface="Calibri"/>
              </a:rPr>
              <a:t> </a:t>
            </a:r>
            <a:r>
              <a:rPr lang="en-US" sz="1600">
                <a:solidFill>
                  <a:srgbClr val="FFFFFF"/>
                </a:solidFill>
                <a:cs typeface="Calibri"/>
              </a:rPr>
              <a:t>United</a:t>
            </a:r>
            <a:r>
              <a:rPr lang="en-US" sz="1600" spc="-35">
                <a:solidFill>
                  <a:srgbClr val="FFFFFF"/>
                </a:solidFill>
                <a:cs typeface="Calibri"/>
              </a:rPr>
              <a:t> </a:t>
            </a:r>
            <a:r>
              <a:rPr lang="en-US" sz="1600" spc="-10">
                <a:solidFill>
                  <a:srgbClr val="FFFFFF"/>
                </a:solidFill>
                <a:cs typeface="Calibri"/>
              </a:rPr>
              <a:t>States.</a:t>
            </a:r>
            <a:endParaRPr lang="en-US" sz="1600">
              <a:solidFill>
                <a:srgbClr val="FFFFFF"/>
              </a:solidFill>
              <a:latin typeface="Camphor Std" panose="020B0504030404020204" pitchFamily="34" charset="0"/>
            </a:endParaRPr>
          </a:p>
        </p:txBody>
      </p:sp>
      <p:grpSp>
        <p:nvGrpSpPr>
          <p:cNvPr id="6" name="object 7">
            <a:extLst>
              <a:ext uri="{FF2B5EF4-FFF2-40B4-BE49-F238E27FC236}">
                <a16:creationId xmlns:a16="http://schemas.microsoft.com/office/drawing/2014/main" id="{D9E48E63-71A0-89B9-2A9B-5E2C10173905}"/>
              </a:ext>
            </a:extLst>
          </p:cNvPr>
          <p:cNvGrpSpPr/>
          <p:nvPr/>
        </p:nvGrpSpPr>
        <p:grpSpPr>
          <a:xfrm>
            <a:off x="5308037" y="2956030"/>
            <a:ext cx="1185208" cy="197026"/>
            <a:chOff x="592454" y="3578732"/>
            <a:chExt cx="1639570" cy="628015"/>
          </a:xfrm>
          <a:solidFill>
            <a:schemeClr val="accent6">
              <a:lumMod val="20000"/>
              <a:lumOff val="80000"/>
            </a:schemeClr>
          </a:solidFill>
        </p:grpSpPr>
        <p:sp>
          <p:nvSpPr>
            <p:cNvPr id="7" name="object 8">
              <a:extLst>
                <a:ext uri="{FF2B5EF4-FFF2-40B4-BE49-F238E27FC236}">
                  <a16:creationId xmlns:a16="http://schemas.microsoft.com/office/drawing/2014/main" id="{683D6AC4-85B2-9BCF-59A0-68BCC8638E76}"/>
                </a:ext>
              </a:extLst>
            </p:cNvPr>
            <p:cNvSpPr/>
            <p:nvPr/>
          </p:nvSpPr>
          <p:spPr>
            <a:xfrm>
              <a:off x="592454" y="3578732"/>
              <a:ext cx="1639570" cy="628015"/>
            </a:xfrm>
            <a:custGeom>
              <a:avLst/>
              <a:gdLst/>
              <a:ahLst/>
              <a:cxnLst/>
              <a:rect l="l" t="t" r="r" b="b"/>
              <a:pathLst>
                <a:path w="1639570" h="628014">
                  <a:moveTo>
                    <a:pt x="1639062" y="0"/>
                  </a:moveTo>
                  <a:lnTo>
                    <a:pt x="0" y="0"/>
                  </a:lnTo>
                  <a:lnTo>
                    <a:pt x="819531" y="627887"/>
                  </a:lnTo>
                  <a:lnTo>
                    <a:pt x="1639062" y="0"/>
                  </a:lnTo>
                  <a:close/>
                </a:path>
              </a:pathLst>
            </a:custGeom>
            <a:grpFill/>
          </p:spPr>
          <p:txBody>
            <a:bodyPr wrap="square" lIns="0" tIns="0" rIns="0" bIns="0" rtlCol="0"/>
            <a:lstStyle/>
            <a:p>
              <a:endParaRPr sz="1800"/>
            </a:p>
          </p:txBody>
        </p:sp>
        <p:sp>
          <p:nvSpPr>
            <p:cNvPr id="8" name="object 9">
              <a:extLst>
                <a:ext uri="{FF2B5EF4-FFF2-40B4-BE49-F238E27FC236}">
                  <a16:creationId xmlns:a16="http://schemas.microsoft.com/office/drawing/2014/main" id="{F59D1DE2-D4AD-4CE8-0DA3-0CCFBA66A46B}"/>
                </a:ext>
              </a:extLst>
            </p:cNvPr>
            <p:cNvSpPr/>
            <p:nvPr/>
          </p:nvSpPr>
          <p:spPr>
            <a:xfrm>
              <a:off x="592454" y="3578732"/>
              <a:ext cx="1639570" cy="628015"/>
            </a:xfrm>
            <a:custGeom>
              <a:avLst/>
              <a:gdLst/>
              <a:ahLst/>
              <a:cxnLst/>
              <a:rect l="l" t="t" r="r" b="b"/>
              <a:pathLst>
                <a:path w="1639570" h="628014">
                  <a:moveTo>
                    <a:pt x="1639062" y="0"/>
                  </a:moveTo>
                  <a:lnTo>
                    <a:pt x="819531" y="627887"/>
                  </a:lnTo>
                  <a:lnTo>
                    <a:pt x="0" y="0"/>
                  </a:lnTo>
                  <a:lnTo>
                    <a:pt x="1639062" y="0"/>
                  </a:lnTo>
                  <a:close/>
                </a:path>
              </a:pathLst>
            </a:custGeom>
            <a:grpFill/>
            <a:ln w="12954">
              <a:solidFill>
                <a:srgbClr val="F1F1F1"/>
              </a:solidFill>
            </a:ln>
          </p:spPr>
          <p:txBody>
            <a:bodyPr wrap="square" lIns="0" tIns="0" rIns="0" bIns="0" rtlCol="0"/>
            <a:lstStyle/>
            <a:p>
              <a:endParaRPr sz="1800"/>
            </a:p>
          </p:txBody>
        </p:sp>
      </p:grpSp>
      <p:sp>
        <p:nvSpPr>
          <p:cNvPr id="9" name="Rectangle 8">
            <a:extLst>
              <a:ext uri="{FF2B5EF4-FFF2-40B4-BE49-F238E27FC236}">
                <a16:creationId xmlns:a16="http://schemas.microsoft.com/office/drawing/2014/main" id="{39D80A03-0FFE-02B3-8CAF-56BE034F0519}"/>
              </a:ext>
            </a:extLst>
          </p:cNvPr>
          <p:cNvSpPr/>
          <p:nvPr/>
        </p:nvSpPr>
        <p:spPr>
          <a:xfrm>
            <a:off x="-265177" y="3514351"/>
            <a:ext cx="1530101" cy="5039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685800">
              <a:defRPr/>
            </a:pPr>
            <a:r>
              <a:rPr lang="en-US" sz="1000">
                <a:solidFill>
                  <a:schemeClr val="tx1"/>
                </a:solidFill>
              </a:rPr>
              <a:t>BMP</a:t>
            </a:r>
          </a:p>
          <a:p>
            <a:pPr algn="r" defTabSz="685800">
              <a:defRPr/>
            </a:pPr>
            <a:r>
              <a:rPr lang="en-US" sz="1000">
                <a:solidFill>
                  <a:schemeClr val="tx1"/>
                </a:solidFill>
              </a:rPr>
              <a:t>COMMS AMBITION</a:t>
            </a:r>
          </a:p>
        </p:txBody>
      </p:sp>
      <p:sp>
        <p:nvSpPr>
          <p:cNvPr id="10" name="Rectangle 9">
            <a:extLst>
              <a:ext uri="{FF2B5EF4-FFF2-40B4-BE49-F238E27FC236}">
                <a16:creationId xmlns:a16="http://schemas.microsoft.com/office/drawing/2014/main" id="{2A64AE8C-FEBD-B98E-90E9-2844B3C06747}"/>
              </a:ext>
            </a:extLst>
          </p:cNvPr>
          <p:cNvSpPr/>
          <p:nvPr/>
        </p:nvSpPr>
        <p:spPr>
          <a:xfrm>
            <a:off x="1301438" y="2066627"/>
            <a:ext cx="10171578" cy="79320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600"/>
              <a:t>Blue Meridian Partners is a go-to partner for investors and investees seeking transformative impact at scale on U.S. social and economic mobility.</a:t>
            </a:r>
          </a:p>
        </p:txBody>
      </p:sp>
      <p:sp>
        <p:nvSpPr>
          <p:cNvPr id="11" name="Rectangle 10">
            <a:extLst>
              <a:ext uri="{FF2B5EF4-FFF2-40B4-BE49-F238E27FC236}">
                <a16:creationId xmlns:a16="http://schemas.microsoft.com/office/drawing/2014/main" id="{08F7B4DA-8C55-585B-1170-0DCE4DD9ABAC}"/>
              </a:ext>
            </a:extLst>
          </p:cNvPr>
          <p:cNvSpPr/>
          <p:nvPr/>
        </p:nvSpPr>
        <p:spPr>
          <a:xfrm>
            <a:off x="-265176" y="2254771"/>
            <a:ext cx="1530101" cy="5039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685800">
              <a:defRPr/>
            </a:pPr>
            <a:r>
              <a:rPr lang="en-US" sz="1000">
                <a:solidFill>
                  <a:schemeClr val="tx1"/>
                </a:solidFill>
              </a:rPr>
              <a:t>STRATEGY 2030</a:t>
            </a:r>
          </a:p>
          <a:p>
            <a:pPr algn="r" defTabSz="685800">
              <a:defRPr/>
            </a:pPr>
            <a:r>
              <a:rPr lang="en-US" sz="1000">
                <a:solidFill>
                  <a:schemeClr val="tx1"/>
                </a:solidFill>
              </a:rPr>
              <a:t>BIG GOAL</a:t>
            </a:r>
          </a:p>
        </p:txBody>
      </p:sp>
      <p:grpSp>
        <p:nvGrpSpPr>
          <p:cNvPr id="12" name="object 7">
            <a:extLst>
              <a:ext uri="{FF2B5EF4-FFF2-40B4-BE49-F238E27FC236}">
                <a16:creationId xmlns:a16="http://schemas.microsoft.com/office/drawing/2014/main" id="{B7054595-65EB-245C-1643-BF0F38E79ECA}"/>
              </a:ext>
            </a:extLst>
          </p:cNvPr>
          <p:cNvGrpSpPr/>
          <p:nvPr/>
        </p:nvGrpSpPr>
        <p:grpSpPr>
          <a:xfrm>
            <a:off x="5312719" y="4338862"/>
            <a:ext cx="1185208" cy="197026"/>
            <a:chOff x="592454" y="3578732"/>
            <a:chExt cx="1639570" cy="628015"/>
          </a:xfrm>
          <a:solidFill>
            <a:schemeClr val="accent6">
              <a:lumMod val="20000"/>
              <a:lumOff val="80000"/>
            </a:schemeClr>
          </a:solidFill>
        </p:grpSpPr>
        <p:sp>
          <p:nvSpPr>
            <p:cNvPr id="13" name="object 8">
              <a:extLst>
                <a:ext uri="{FF2B5EF4-FFF2-40B4-BE49-F238E27FC236}">
                  <a16:creationId xmlns:a16="http://schemas.microsoft.com/office/drawing/2014/main" id="{7BED70FF-3290-54E8-E941-65D38D6F743D}"/>
                </a:ext>
              </a:extLst>
            </p:cNvPr>
            <p:cNvSpPr/>
            <p:nvPr/>
          </p:nvSpPr>
          <p:spPr>
            <a:xfrm>
              <a:off x="592454" y="3578732"/>
              <a:ext cx="1639570" cy="628015"/>
            </a:xfrm>
            <a:custGeom>
              <a:avLst/>
              <a:gdLst/>
              <a:ahLst/>
              <a:cxnLst/>
              <a:rect l="l" t="t" r="r" b="b"/>
              <a:pathLst>
                <a:path w="1639570" h="628014">
                  <a:moveTo>
                    <a:pt x="1639062" y="0"/>
                  </a:moveTo>
                  <a:lnTo>
                    <a:pt x="0" y="0"/>
                  </a:lnTo>
                  <a:lnTo>
                    <a:pt x="819531" y="627887"/>
                  </a:lnTo>
                  <a:lnTo>
                    <a:pt x="1639062" y="0"/>
                  </a:lnTo>
                  <a:close/>
                </a:path>
              </a:pathLst>
            </a:custGeom>
            <a:grpFill/>
          </p:spPr>
          <p:txBody>
            <a:bodyPr wrap="square" lIns="0" tIns="0" rIns="0" bIns="0" rtlCol="0"/>
            <a:lstStyle/>
            <a:p>
              <a:endParaRPr sz="1800"/>
            </a:p>
          </p:txBody>
        </p:sp>
        <p:sp>
          <p:nvSpPr>
            <p:cNvPr id="14" name="object 9">
              <a:extLst>
                <a:ext uri="{FF2B5EF4-FFF2-40B4-BE49-F238E27FC236}">
                  <a16:creationId xmlns:a16="http://schemas.microsoft.com/office/drawing/2014/main" id="{EAF95419-A69A-99D9-1C47-84C63FCF5086}"/>
                </a:ext>
              </a:extLst>
            </p:cNvPr>
            <p:cNvSpPr/>
            <p:nvPr/>
          </p:nvSpPr>
          <p:spPr>
            <a:xfrm>
              <a:off x="592454" y="3578732"/>
              <a:ext cx="1639570" cy="628015"/>
            </a:xfrm>
            <a:custGeom>
              <a:avLst/>
              <a:gdLst/>
              <a:ahLst/>
              <a:cxnLst/>
              <a:rect l="l" t="t" r="r" b="b"/>
              <a:pathLst>
                <a:path w="1639570" h="628014">
                  <a:moveTo>
                    <a:pt x="1639062" y="0"/>
                  </a:moveTo>
                  <a:lnTo>
                    <a:pt x="819531" y="627887"/>
                  </a:lnTo>
                  <a:lnTo>
                    <a:pt x="0" y="0"/>
                  </a:lnTo>
                  <a:lnTo>
                    <a:pt x="1639062" y="0"/>
                  </a:lnTo>
                  <a:close/>
                </a:path>
              </a:pathLst>
            </a:custGeom>
            <a:grpFill/>
            <a:ln w="12954">
              <a:solidFill>
                <a:srgbClr val="F1F1F1"/>
              </a:solidFill>
            </a:ln>
          </p:spPr>
          <p:txBody>
            <a:bodyPr wrap="square" lIns="0" tIns="0" rIns="0" bIns="0" rtlCol="0"/>
            <a:lstStyle/>
            <a:p>
              <a:endParaRPr sz="1800"/>
            </a:p>
          </p:txBody>
        </p:sp>
      </p:grpSp>
      <p:sp>
        <p:nvSpPr>
          <p:cNvPr id="15" name="Rectangle 14">
            <a:extLst>
              <a:ext uri="{FF2B5EF4-FFF2-40B4-BE49-F238E27FC236}">
                <a16:creationId xmlns:a16="http://schemas.microsoft.com/office/drawing/2014/main" id="{CCF51CF0-BEB9-BE12-DB14-CDDFC53D4390}"/>
              </a:ext>
            </a:extLst>
          </p:cNvPr>
          <p:cNvSpPr/>
          <p:nvPr/>
        </p:nvSpPr>
        <p:spPr>
          <a:xfrm>
            <a:off x="1283181" y="4705856"/>
            <a:ext cx="10208092" cy="60607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600"/>
              <a:t>Activate and build BMP's external visibility through proactive and targeted earned communications. </a:t>
            </a:r>
          </a:p>
        </p:txBody>
      </p:sp>
      <p:sp>
        <p:nvSpPr>
          <p:cNvPr id="16" name="Rectangle 15">
            <a:extLst>
              <a:ext uri="{FF2B5EF4-FFF2-40B4-BE49-F238E27FC236}">
                <a16:creationId xmlns:a16="http://schemas.microsoft.com/office/drawing/2014/main" id="{77D25D7D-E7F5-72F9-8E38-21FAFDD22224}"/>
              </a:ext>
            </a:extLst>
          </p:cNvPr>
          <p:cNvSpPr/>
          <p:nvPr/>
        </p:nvSpPr>
        <p:spPr>
          <a:xfrm>
            <a:off x="-265179" y="4762475"/>
            <a:ext cx="1530101" cy="5039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defTabSz="685800">
              <a:defRPr/>
            </a:pPr>
            <a:r>
              <a:rPr lang="en-US" sz="1000">
                <a:solidFill>
                  <a:schemeClr val="tx1"/>
                </a:solidFill>
              </a:rPr>
              <a:t>COMMS FOCUS</a:t>
            </a:r>
          </a:p>
          <a:p>
            <a:pPr algn="r" defTabSz="685800">
              <a:defRPr/>
            </a:pPr>
            <a:r>
              <a:rPr lang="en-US" sz="1000">
                <a:solidFill>
                  <a:schemeClr val="tx1"/>
                </a:solidFill>
              </a:rPr>
              <a:t>FOR 2025</a:t>
            </a:r>
          </a:p>
        </p:txBody>
      </p:sp>
    </p:spTree>
    <p:extLst>
      <p:ext uri="{BB962C8B-B14F-4D97-AF65-F5344CB8AC3E}">
        <p14:creationId xmlns:p14="http://schemas.microsoft.com/office/powerpoint/2010/main" val="34983324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D409631-FAFE-66E7-F8E2-018C6ABF6756}"/>
              </a:ext>
            </a:extLst>
          </p:cNvPr>
          <p:cNvSpPr>
            <a:spLocks noGrp="1"/>
          </p:cNvSpPr>
          <p:nvPr>
            <p:ph type="title"/>
          </p:nvPr>
        </p:nvSpPr>
        <p:spPr>
          <a:xfrm>
            <a:off x="419563" y="46109"/>
            <a:ext cx="11793415" cy="1039440"/>
          </a:xfrm>
        </p:spPr>
        <p:txBody>
          <a:bodyPr/>
          <a:lstStyle/>
          <a:p>
            <a:r>
              <a:rPr lang="en-US">
                <a:latin typeface="LeMonde Livre"/>
              </a:rPr>
              <a:t>Priority Audiences for 2025</a:t>
            </a:r>
            <a:endParaRPr lang="en-US"/>
          </a:p>
        </p:txBody>
      </p:sp>
      <p:sp>
        <p:nvSpPr>
          <p:cNvPr id="9" name="object 10">
            <a:extLst>
              <a:ext uri="{FF2B5EF4-FFF2-40B4-BE49-F238E27FC236}">
                <a16:creationId xmlns:a16="http://schemas.microsoft.com/office/drawing/2014/main" id="{CC49F379-8BE3-F0E5-FE21-8BABF69FA271}"/>
              </a:ext>
            </a:extLst>
          </p:cNvPr>
          <p:cNvSpPr txBox="1"/>
          <p:nvPr/>
        </p:nvSpPr>
        <p:spPr>
          <a:xfrm>
            <a:off x="496497" y="1171512"/>
            <a:ext cx="1934845" cy="351378"/>
          </a:xfrm>
          <a:prstGeom prst="rect">
            <a:avLst/>
          </a:prstGeom>
        </p:spPr>
        <p:txBody>
          <a:bodyPr vert="horz" wrap="square" lIns="0" tIns="12700" rIns="0" bIns="0" rtlCol="0" anchor="t">
            <a:spAutoFit/>
          </a:bodyPr>
          <a:lstStyle/>
          <a:p>
            <a:pPr marL="12700">
              <a:lnSpc>
                <a:spcPct val="100000"/>
              </a:lnSpc>
              <a:spcBef>
                <a:spcPts val="100"/>
              </a:spcBef>
              <a:tabLst>
                <a:tab pos="354965" algn="l"/>
              </a:tabLst>
            </a:pPr>
            <a:r>
              <a:rPr lang="en-US" sz="2200" b="1">
                <a:solidFill>
                  <a:srgbClr val="000000"/>
                </a:solidFill>
                <a:latin typeface="Calibri"/>
                <a:cs typeface="Calibri"/>
              </a:rPr>
              <a:t>Current</a:t>
            </a:r>
            <a:r>
              <a:rPr lang="en-US" sz="2200" b="1" spc="-85">
                <a:solidFill>
                  <a:srgbClr val="000000"/>
                </a:solidFill>
                <a:latin typeface="Calibri"/>
                <a:cs typeface="Calibri"/>
              </a:rPr>
              <a:t> </a:t>
            </a:r>
            <a:r>
              <a:rPr lang="en-US" sz="2200" b="1" spc="-10">
                <a:solidFill>
                  <a:srgbClr val="000000"/>
                </a:solidFill>
                <a:latin typeface="Calibri"/>
                <a:cs typeface="Calibri"/>
              </a:rPr>
              <a:t>Partners</a:t>
            </a:r>
            <a:endParaRPr lang="en-US" sz="2200">
              <a:solidFill>
                <a:srgbClr val="000000"/>
              </a:solidFill>
              <a:latin typeface="Calibri"/>
              <a:ea typeface="Calibri"/>
              <a:cs typeface="Calibri"/>
            </a:endParaRPr>
          </a:p>
        </p:txBody>
      </p:sp>
      <p:cxnSp>
        <p:nvCxnSpPr>
          <p:cNvPr id="14" name="Straight Arrow Connector 13">
            <a:extLst>
              <a:ext uri="{FF2B5EF4-FFF2-40B4-BE49-F238E27FC236}">
                <a16:creationId xmlns:a16="http://schemas.microsoft.com/office/drawing/2014/main" id="{98C98896-8A6D-39A9-1C0F-291FB75FD5EE}"/>
              </a:ext>
            </a:extLst>
          </p:cNvPr>
          <p:cNvCxnSpPr/>
          <p:nvPr/>
        </p:nvCxnSpPr>
        <p:spPr>
          <a:xfrm>
            <a:off x="6077574" y="1267396"/>
            <a:ext cx="36852" cy="4532842"/>
          </a:xfrm>
          <a:prstGeom prst="straightConnector1">
            <a:avLst/>
          </a:prstGeom>
          <a:ln w="25400"/>
        </p:spPr>
        <p:style>
          <a:lnRef idx="1">
            <a:schemeClr val="accent1"/>
          </a:lnRef>
          <a:fillRef idx="0">
            <a:schemeClr val="accent1"/>
          </a:fillRef>
          <a:effectRef idx="0">
            <a:schemeClr val="accent1"/>
          </a:effectRef>
          <a:fontRef idx="minor">
            <a:schemeClr val="tx1"/>
          </a:fontRef>
        </p:style>
      </p:cxnSp>
      <p:sp>
        <p:nvSpPr>
          <p:cNvPr id="15" name="TextBox 10">
            <a:extLst>
              <a:ext uri="{FF2B5EF4-FFF2-40B4-BE49-F238E27FC236}">
                <a16:creationId xmlns:a16="http://schemas.microsoft.com/office/drawing/2014/main" id="{0BB76BC4-BE94-28F7-DB27-116E0ECDD436}"/>
              </a:ext>
            </a:extLst>
          </p:cNvPr>
          <p:cNvSpPr txBox="1"/>
          <p:nvPr/>
        </p:nvSpPr>
        <p:spPr>
          <a:xfrm>
            <a:off x="501403" y="4151212"/>
            <a:ext cx="5602314" cy="1600438"/>
          </a:xfrm>
          <a:prstGeom prst="rect">
            <a:avLst/>
          </a:prstGeom>
          <a:noFill/>
          <a:ln>
            <a:solidFill>
              <a:schemeClr val="tx1">
                <a:lumMod val="50000"/>
                <a:lumOff val="50000"/>
              </a:schemeClr>
            </a:solidFill>
          </a:ln>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17170" indent="-171450" defTabSz="914400">
              <a:buFont typeface="Arial" panose="020B0604020202020204" pitchFamily="34" charset="0"/>
              <a:buChar char="•"/>
              <a:defRPr/>
            </a:pPr>
            <a:r>
              <a:rPr lang="en-US" sz="1400"/>
              <a:t>Create awareness of BMP and educate on the value of BMP’s approach to scaling investments</a:t>
            </a:r>
          </a:p>
          <a:p>
            <a:pPr marL="217170" indent="-171450" defTabSz="914400">
              <a:buFont typeface="Arial" panose="020B0604020202020204" pitchFamily="34" charset="0"/>
              <a:buChar char="•"/>
              <a:defRPr/>
            </a:pPr>
            <a:endParaRPr lang="en-US" sz="1400"/>
          </a:p>
          <a:p>
            <a:pPr marL="217170" indent="-171450" defTabSz="914400">
              <a:buFont typeface="Arial" panose="020B0604020202020204" pitchFamily="34" charset="0"/>
              <a:buChar char="•"/>
              <a:defRPr/>
            </a:pPr>
            <a:r>
              <a:rPr lang="en-US" sz="1400"/>
              <a:t>Increase awareness of and confidence in our impact via Investees' progress</a:t>
            </a:r>
          </a:p>
          <a:p>
            <a:pPr marL="217170" indent="-171450" defTabSz="914400">
              <a:buFont typeface="Arial" panose="020B0604020202020204" pitchFamily="34" charset="0"/>
              <a:buChar char="•"/>
              <a:defRPr/>
            </a:pPr>
            <a:endParaRPr lang="en-US" sz="1400"/>
          </a:p>
          <a:p>
            <a:pPr marL="217170" indent="-171450" defTabSz="914400">
              <a:buFont typeface="Arial" panose="020B0604020202020204" pitchFamily="34" charset="0"/>
              <a:buChar char="•"/>
              <a:defRPr/>
            </a:pPr>
            <a:r>
              <a:rPr lang="en-US" sz="1400"/>
              <a:t>Support delivery of clear and compelling materials targeted for Partners</a:t>
            </a:r>
          </a:p>
        </p:txBody>
      </p:sp>
      <p:sp>
        <p:nvSpPr>
          <p:cNvPr id="16" name="TextBox 13">
            <a:extLst>
              <a:ext uri="{FF2B5EF4-FFF2-40B4-BE49-F238E27FC236}">
                <a16:creationId xmlns:a16="http://schemas.microsoft.com/office/drawing/2014/main" id="{6CA20D32-187D-D7A1-B5A7-973CB5FA9787}"/>
              </a:ext>
            </a:extLst>
          </p:cNvPr>
          <p:cNvSpPr txBox="1"/>
          <p:nvPr/>
        </p:nvSpPr>
        <p:spPr>
          <a:xfrm>
            <a:off x="498699" y="1988845"/>
            <a:ext cx="5601992" cy="1600438"/>
          </a:xfrm>
          <a:prstGeom prst="rect">
            <a:avLst/>
          </a:prstGeom>
          <a:noFill/>
          <a:ln>
            <a:solidFill>
              <a:schemeClr val="tx1">
                <a:lumMod val="50000"/>
                <a:lumOff val="50000"/>
              </a:schemeClr>
            </a:solidFill>
          </a:ln>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en-US" sz="1400"/>
              <a:t>[Top 200?] ultra-high-net-worth individuals or families with a demonstrated willingness to give to issues of poverty in the U.S., including next generation HNWIs + diverse philanthropists</a:t>
            </a:r>
          </a:p>
          <a:p>
            <a:endParaRPr lang="en-US" sz="1400"/>
          </a:p>
          <a:p>
            <a:pPr marL="171450" indent="-171450">
              <a:buFont typeface="Arial" panose="020B0604020202020204" pitchFamily="34" charset="0"/>
              <a:buChar char="•"/>
            </a:pPr>
            <a:r>
              <a:rPr lang="en-US" sz="1400"/>
              <a:t>Foundations that support similar areas of focus (e.g., economic mobility, criminal justice, place-based) and want to explore different models for funding to augment their existing work</a:t>
            </a:r>
          </a:p>
        </p:txBody>
      </p:sp>
      <p:sp>
        <p:nvSpPr>
          <p:cNvPr id="17" name="TextBox 14">
            <a:extLst>
              <a:ext uri="{FF2B5EF4-FFF2-40B4-BE49-F238E27FC236}">
                <a16:creationId xmlns:a16="http://schemas.microsoft.com/office/drawing/2014/main" id="{CE551775-E994-F6EC-6EE1-822A9368BCB3}"/>
              </a:ext>
            </a:extLst>
          </p:cNvPr>
          <p:cNvSpPr txBox="1"/>
          <p:nvPr/>
        </p:nvSpPr>
        <p:spPr>
          <a:xfrm>
            <a:off x="498734" y="1746050"/>
            <a:ext cx="1426506" cy="246221"/>
          </a:xfrm>
          <a:prstGeom prst="rect">
            <a:avLst/>
          </a:prstGeom>
          <a:solidFill>
            <a:schemeClr val="tx1">
              <a:lumMod val="50000"/>
              <a:lumOff val="50000"/>
            </a:schemeClr>
          </a:solid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000" b="1">
                <a:solidFill>
                  <a:schemeClr val="bg1"/>
                </a:solidFill>
              </a:rPr>
              <a:t>WHO THEY ARE</a:t>
            </a:r>
          </a:p>
        </p:txBody>
      </p:sp>
      <p:sp>
        <p:nvSpPr>
          <p:cNvPr id="18" name="TextBox 15">
            <a:extLst>
              <a:ext uri="{FF2B5EF4-FFF2-40B4-BE49-F238E27FC236}">
                <a16:creationId xmlns:a16="http://schemas.microsoft.com/office/drawing/2014/main" id="{EA7E9915-D30F-B156-B1D5-634C4A623F86}"/>
              </a:ext>
            </a:extLst>
          </p:cNvPr>
          <p:cNvSpPr txBox="1"/>
          <p:nvPr/>
        </p:nvSpPr>
        <p:spPr>
          <a:xfrm>
            <a:off x="496497" y="3895926"/>
            <a:ext cx="2386041" cy="246221"/>
          </a:xfrm>
          <a:prstGeom prst="rect">
            <a:avLst/>
          </a:prstGeom>
          <a:solidFill>
            <a:schemeClr val="tx1">
              <a:lumMod val="50000"/>
              <a:lumOff val="50000"/>
            </a:schemeClr>
          </a:solid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000" b="1">
                <a:solidFill>
                  <a:schemeClr val="bg1"/>
                </a:solidFill>
              </a:rPr>
              <a:t>OUR COMMUNICATIONS AIMS</a:t>
            </a:r>
          </a:p>
        </p:txBody>
      </p:sp>
      <p:sp>
        <p:nvSpPr>
          <p:cNvPr id="2" name="TextBox 1">
            <a:extLst>
              <a:ext uri="{FF2B5EF4-FFF2-40B4-BE49-F238E27FC236}">
                <a16:creationId xmlns:a16="http://schemas.microsoft.com/office/drawing/2014/main" id="{0F34B447-4F47-E150-E1C6-9CB2F670FFC8}"/>
              </a:ext>
            </a:extLst>
          </p:cNvPr>
          <p:cNvSpPr txBox="1"/>
          <p:nvPr/>
        </p:nvSpPr>
        <p:spPr>
          <a:xfrm>
            <a:off x="8344614" y="31894"/>
            <a:ext cx="3802644" cy="369332"/>
          </a:xfrm>
          <a:prstGeom prst="rect">
            <a:avLst/>
          </a:prstGeom>
          <a:solidFill>
            <a:schemeClr val="tx1"/>
          </a:solidFill>
        </p:spPr>
        <p:txBody>
          <a:bodyPr wrap="none" rtlCol="0">
            <a:spAutoFit/>
          </a:bodyPr>
          <a:lstStyle/>
          <a:p>
            <a:r>
              <a:rPr lang="en-US" b="1">
                <a:solidFill>
                  <a:schemeClr val="bg1"/>
                </a:solidFill>
              </a:rPr>
              <a:t>Reminder from 3-year Comms plan</a:t>
            </a:r>
          </a:p>
        </p:txBody>
      </p:sp>
      <p:sp>
        <p:nvSpPr>
          <p:cNvPr id="20" name="object 9">
            <a:extLst>
              <a:ext uri="{FF2B5EF4-FFF2-40B4-BE49-F238E27FC236}">
                <a16:creationId xmlns:a16="http://schemas.microsoft.com/office/drawing/2014/main" id="{981CFA24-9F35-CA58-22AF-94D4ECC957EA}"/>
              </a:ext>
            </a:extLst>
          </p:cNvPr>
          <p:cNvSpPr txBox="1"/>
          <p:nvPr/>
        </p:nvSpPr>
        <p:spPr>
          <a:xfrm>
            <a:off x="6488020" y="1238599"/>
            <a:ext cx="3022404" cy="351378"/>
          </a:xfrm>
          <a:prstGeom prst="rect">
            <a:avLst/>
          </a:prstGeom>
        </p:spPr>
        <p:txBody>
          <a:bodyPr vert="horz" wrap="square" lIns="0" tIns="12700" rIns="0" bIns="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00"/>
              </a:spcBef>
              <a:tabLst>
                <a:tab pos="354965" algn="l"/>
              </a:tabLst>
            </a:pPr>
            <a:r>
              <a:rPr lang="en-US" sz="2200" b="1">
                <a:solidFill>
                  <a:srgbClr val="000000"/>
                </a:solidFill>
                <a:latin typeface="Calibri"/>
                <a:cs typeface="Calibri"/>
              </a:rPr>
              <a:t>Prospective</a:t>
            </a:r>
            <a:r>
              <a:rPr lang="en-US" sz="2200" b="1" spc="-100">
                <a:solidFill>
                  <a:srgbClr val="000000"/>
                </a:solidFill>
                <a:latin typeface="Calibri"/>
                <a:cs typeface="Calibri"/>
              </a:rPr>
              <a:t> </a:t>
            </a:r>
            <a:r>
              <a:rPr lang="en-US" sz="2200" b="1" spc="-10">
                <a:solidFill>
                  <a:srgbClr val="000000"/>
                </a:solidFill>
                <a:latin typeface="Calibri"/>
                <a:cs typeface="Calibri"/>
              </a:rPr>
              <a:t>Partners</a:t>
            </a:r>
            <a:endParaRPr lang="en-US" sz="2200">
              <a:solidFill>
                <a:srgbClr val="000000"/>
              </a:solidFill>
              <a:latin typeface="Calibri"/>
              <a:ea typeface="Calibri"/>
              <a:cs typeface="Calibri"/>
            </a:endParaRPr>
          </a:p>
        </p:txBody>
      </p:sp>
      <p:sp>
        <p:nvSpPr>
          <p:cNvPr id="21" name="TextBox 10">
            <a:extLst>
              <a:ext uri="{FF2B5EF4-FFF2-40B4-BE49-F238E27FC236}">
                <a16:creationId xmlns:a16="http://schemas.microsoft.com/office/drawing/2014/main" id="{0BB76BC4-BE94-28F7-DB27-116E0ECDD436}"/>
              </a:ext>
            </a:extLst>
          </p:cNvPr>
          <p:cNvSpPr txBox="1"/>
          <p:nvPr/>
        </p:nvSpPr>
        <p:spPr>
          <a:xfrm>
            <a:off x="6454843" y="4499404"/>
            <a:ext cx="5370749" cy="1600438"/>
          </a:xfrm>
          <a:prstGeom prst="rect">
            <a:avLst/>
          </a:prstGeom>
          <a:noFill/>
          <a:ln>
            <a:solidFill>
              <a:schemeClr val="tx1">
                <a:lumMod val="50000"/>
                <a:lumOff val="50000"/>
              </a:schemeClr>
            </a:solidFill>
          </a:ln>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17170" indent="-171450" defTabSz="914400">
              <a:buFont typeface="Arial" panose="020B0604020202020204" pitchFamily="34" charset="0"/>
              <a:buChar char="•"/>
              <a:defRPr/>
            </a:pPr>
            <a:r>
              <a:rPr lang="en-US" sz="1400"/>
              <a:t>Engender a sense of pride in their association with BMP</a:t>
            </a:r>
          </a:p>
          <a:p>
            <a:pPr marL="45720" defTabSz="914400">
              <a:defRPr/>
            </a:pPr>
            <a:endParaRPr lang="en-US" sz="1400"/>
          </a:p>
          <a:p>
            <a:pPr marL="217170" indent="-171450" defTabSz="914400">
              <a:buFont typeface="Arial" panose="020B0604020202020204" pitchFamily="34" charset="0"/>
              <a:buChar char="•"/>
              <a:defRPr/>
            </a:pPr>
            <a:r>
              <a:rPr lang="en-US" sz="1400"/>
              <a:t>Increase awareness of and confidence in our impact via Investees' progress</a:t>
            </a:r>
          </a:p>
          <a:p>
            <a:pPr marL="45720" defTabSz="914400">
              <a:defRPr/>
            </a:pPr>
            <a:endParaRPr lang="en-US" sz="1400"/>
          </a:p>
          <a:p>
            <a:pPr marL="217170" indent="-171450" defTabSz="914400">
              <a:buFont typeface="Arial" panose="020B0604020202020204" pitchFamily="34" charset="0"/>
              <a:buChar char="•"/>
              <a:defRPr/>
            </a:pPr>
            <a:r>
              <a:rPr lang="en-US" sz="1400"/>
              <a:t>Support delivery of clear and compelling materials targeted for Partners</a:t>
            </a:r>
          </a:p>
        </p:txBody>
      </p:sp>
      <p:sp>
        <p:nvSpPr>
          <p:cNvPr id="22" name="TextBox 13">
            <a:extLst>
              <a:ext uri="{FF2B5EF4-FFF2-40B4-BE49-F238E27FC236}">
                <a16:creationId xmlns:a16="http://schemas.microsoft.com/office/drawing/2014/main" id="{6CA20D32-187D-D7A1-B5A7-973CB5FA9787}"/>
              </a:ext>
            </a:extLst>
          </p:cNvPr>
          <p:cNvSpPr txBox="1"/>
          <p:nvPr/>
        </p:nvSpPr>
        <p:spPr>
          <a:xfrm>
            <a:off x="6421852" y="1856812"/>
            <a:ext cx="5370749" cy="2246769"/>
          </a:xfrm>
          <a:prstGeom prst="rect">
            <a:avLst/>
          </a:prstGeom>
          <a:noFill/>
          <a:ln>
            <a:solidFill>
              <a:schemeClr val="tx1">
                <a:lumMod val="50000"/>
                <a:lumOff val="50000"/>
              </a:schemeClr>
            </a:solidFill>
          </a:ln>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en-US" sz="1400"/>
              <a:t>Ultra-high-net-worth individuals or families focused on issues of poverty and looking to channel large capital in the U.S., including next gen philanthropists</a:t>
            </a:r>
          </a:p>
          <a:p>
            <a:endParaRPr lang="en-US" sz="1400"/>
          </a:p>
          <a:p>
            <a:pPr marL="171450" indent="-171450">
              <a:buFont typeface="Arial" panose="020B0604020202020204" pitchFamily="34" charset="0"/>
              <a:buChar char="•"/>
            </a:pPr>
            <a:r>
              <a:rPr lang="en-US" sz="1400"/>
              <a:t>Wealth advisors that influence the investment decisions of ultra-high-net-worth individuals</a:t>
            </a:r>
          </a:p>
          <a:p>
            <a:endParaRPr lang="en-US" sz="1400"/>
          </a:p>
          <a:p>
            <a:pPr marL="171450" indent="-171450">
              <a:buFont typeface="Arial" panose="020B0604020202020204" pitchFamily="34" charset="0"/>
              <a:buChar char="•"/>
            </a:pPr>
            <a:r>
              <a:rPr lang="en-US" sz="1400"/>
              <a:t>Foundations that support similar areas of focus (e.g., economic mobility, criminal justice, place-based) and want to explore different models for funding to augment their existing work</a:t>
            </a:r>
          </a:p>
        </p:txBody>
      </p:sp>
      <p:sp>
        <p:nvSpPr>
          <p:cNvPr id="23" name="TextBox 14">
            <a:extLst>
              <a:ext uri="{FF2B5EF4-FFF2-40B4-BE49-F238E27FC236}">
                <a16:creationId xmlns:a16="http://schemas.microsoft.com/office/drawing/2014/main" id="{CE551775-E994-F6EC-6EE1-822A9368BCB3}"/>
              </a:ext>
            </a:extLst>
          </p:cNvPr>
          <p:cNvSpPr txBox="1"/>
          <p:nvPr/>
        </p:nvSpPr>
        <p:spPr>
          <a:xfrm>
            <a:off x="6421888" y="1620654"/>
            <a:ext cx="1237047" cy="246221"/>
          </a:xfrm>
          <a:prstGeom prst="rect">
            <a:avLst/>
          </a:prstGeom>
          <a:solidFill>
            <a:schemeClr val="tx1">
              <a:lumMod val="50000"/>
              <a:lumOff val="50000"/>
            </a:schemeClr>
          </a:solid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000" b="1">
                <a:solidFill>
                  <a:schemeClr val="bg1"/>
                </a:solidFill>
              </a:rPr>
              <a:t>WHO THEY ARE</a:t>
            </a:r>
          </a:p>
        </p:txBody>
      </p:sp>
      <p:sp>
        <p:nvSpPr>
          <p:cNvPr id="24" name="TextBox 15">
            <a:extLst>
              <a:ext uri="{FF2B5EF4-FFF2-40B4-BE49-F238E27FC236}">
                <a16:creationId xmlns:a16="http://schemas.microsoft.com/office/drawing/2014/main" id="{EA7E9915-D30F-B156-B1D5-634C4A623F86}"/>
              </a:ext>
            </a:extLst>
          </p:cNvPr>
          <p:cNvSpPr txBox="1"/>
          <p:nvPr/>
        </p:nvSpPr>
        <p:spPr>
          <a:xfrm>
            <a:off x="6449938" y="4274203"/>
            <a:ext cx="2409487" cy="246221"/>
          </a:xfrm>
          <a:prstGeom prst="rect">
            <a:avLst/>
          </a:prstGeom>
          <a:solidFill>
            <a:schemeClr val="tx1">
              <a:lumMod val="50000"/>
              <a:lumOff val="50000"/>
            </a:schemeClr>
          </a:solid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000" b="1">
                <a:solidFill>
                  <a:schemeClr val="bg1"/>
                </a:solidFill>
              </a:rPr>
              <a:t>OUR COMMUNICATIONS AIMS</a:t>
            </a:r>
          </a:p>
        </p:txBody>
      </p:sp>
    </p:spTree>
    <p:extLst>
      <p:ext uri="{BB962C8B-B14F-4D97-AF65-F5344CB8AC3E}">
        <p14:creationId xmlns:p14="http://schemas.microsoft.com/office/powerpoint/2010/main" val="2162740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7165E-C0E1-B663-5D2B-5C906E672E6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8ADE0E-529B-5757-B93E-A89B950E6089}"/>
              </a:ext>
            </a:extLst>
          </p:cNvPr>
          <p:cNvSpPr>
            <a:spLocks noGrp="1"/>
          </p:cNvSpPr>
          <p:nvPr>
            <p:ph idx="1"/>
          </p:nvPr>
        </p:nvSpPr>
        <p:spPr>
          <a:xfrm>
            <a:off x="788706" y="1350020"/>
            <a:ext cx="11228623" cy="4701232"/>
          </a:xfrm>
        </p:spPr>
        <p:txBody>
          <a:bodyPr vert="horz" lIns="68580" tIns="34290" rIns="68580" bIns="34290" rtlCol="0" anchor="t">
            <a:noAutofit/>
          </a:bodyPr>
          <a:lstStyle/>
          <a:p>
            <a:pPr marL="0" indent="0">
              <a:lnSpc>
                <a:spcPct val="107000"/>
              </a:lnSpc>
              <a:spcBef>
                <a:spcPts val="0"/>
              </a:spcBef>
              <a:spcAft>
                <a:spcPts val="600"/>
              </a:spcAft>
              <a:buNone/>
            </a:pPr>
            <a:r>
              <a:rPr lang="en-US" sz="2000" b="1" kern="100">
                <a:solidFill>
                  <a:srgbClr val="002060"/>
                </a:solidFill>
                <a:latin typeface="+mn-lt"/>
                <a:ea typeface="Calibri"/>
                <a:cs typeface="Arial"/>
              </a:rPr>
              <a:t>WHY DRIVING A ‘NEW NORMAL’ FOR PHILANTHROPY AS A NARRATIVE?</a:t>
            </a:r>
          </a:p>
          <a:p>
            <a:pPr marL="0" indent="0">
              <a:lnSpc>
                <a:spcPct val="107000"/>
              </a:lnSpc>
              <a:spcBef>
                <a:spcPts val="0"/>
              </a:spcBef>
              <a:spcAft>
                <a:spcPts val="600"/>
              </a:spcAft>
              <a:buNone/>
            </a:pPr>
            <a:r>
              <a:rPr lang="en-US" sz="1700" kern="100">
                <a:solidFill>
                  <a:srgbClr val="000000"/>
                </a:solidFill>
                <a:latin typeface="campho"/>
                <a:ea typeface="Calibri"/>
                <a:cs typeface="Arial"/>
              </a:rPr>
              <a:t>We see an opportunity for BMP to champion a “new normal” for philanthropy, where dozens, if not hundreds, of funders collaborate so that funding flows more robustly to leaders with proven strategies for solving big social problems. This narrative has the potential to (1) reinforce BMP’s model and approach; (2) elevate BMP as a philanthropic leader; and (3) inspire consideration of collaborative investment approaches via BMP or similar initiatives. </a:t>
            </a:r>
          </a:p>
          <a:p>
            <a:pPr marL="0" indent="0">
              <a:lnSpc>
                <a:spcPct val="107000"/>
              </a:lnSpc>
              <a:spcBef>
                <a:spcPts val="0"/>
              </a:spcBef>
              <a:spcAft>
                <a:spcPts val="600"/>
              </a:spcAft>
              <a:buNone/>
            </a:pPr>
            <a:r>
              <a:rPr lang="en-US" sz="2000" b="1" kern="100">
                <a:solidFill>
                  <a:srgbClr val="002060"/>
                </a:solidFill>
                <a:latin typeface="+mn-lt"/>
                <a:ea typeface="Calibri"/>
                <a:cs typeface="Arial"/>
              </a:rPr>
              <a:t>RATIONALE:</a:t>
            </a:r>
            <a:endParaRPr lang="en-US" sz="1700" kern="100">
              <a:solidFill>
                <a:srgbClr val="000000"/>
              </a:solidFill>
              <a:latin typeface="campho"/>
              <a:ea typeface="Calibri"/>
              <a:cs typeface="Arial"/>
            </a:endParaRPr>
          </a:p>
          <a:p>
            <a:pPr marL="0" indent="0">
              <a:lnSpc>
                <a:spcPct val="107000"/>
              </a:lnSpc>
              <a:spcBef>
                <a:spcPts val="0"/>
              </a:spcBef>
              <a:spcAft>
                <a:spcPts val="600"/>
              </a:spcAft>
              <a:buNone/>
            </a:pPr>
            <a:r>
              <a:rPr lang="en-US" sz="1700" kern="100">
                <a:solidFill>
                  <a:srgbClr val="000000"/>
                </a:solidFill>
                <a:latin typeface="campho"/>
                <a:ea typeface="Calibri"/>
                <a:cs typeface="Arial"/>
              </a:rPr>
              <a:t>The “new normal” narrative provides a foundation to: </a:t>
            </a:r>
          </a:p>
          <a:p>
            <a:pPr>
              <a:lnSpc>
                <a:spcPct val="107000"/>
              </a:lnSpc>
              <a:spcBef>
                <a:spcPts val="0"/>
              </a:spcBef>
              <a:spcAft>
                <a:spcPts val="600"/>
              </a:spcAft>
            </a:pPr>
            <a:r>
              <a:rPr lang="en-US" sz="1700" kern="100">
                <a:solidFill>
                  <a:srgbClr val="000000"/>
                </a:solidFill>
                <a:latin typeface="campho"/>
                <a:ea typeface="Calibri"/>
                <a:cs typeface="Arial"/>
              </a:rPr>
              <a:t>Increase awareness of BMP’s approach, how it works and why it’s so transformative (showing how we’re putting capital to work) </a:t>
            </a:r>
          </a:p>
          <a:p>
            <a:pPr>
              <a:lnSpc>
                <a:spcPct val="107000"/>
              </a:lnSpc>
              <a:spcBef>
                <a:spcPts val="0"/>
              </a:spcBef>
              <a:spcAft>
                <a:spcPts val="600"/>
              </a:spcAft>
            </a:pPr>
            <a:r>
              <a:rPr lang="en-US" sz="1700" kern="100">
                <a:solidFill>
                  <a:srgbClr val="000000"/>
                </a:solidFill>
                <a:latin typeface="campho"/>
                <a:ea typeface="Calibri"/>
                <a:cs typeface="Arial"/>
              </a:rPr>
              <a:t>Present stories of scaling investments, highlighting what’s happening on the ground (illustrating the benefits to children, families and communities) </a:t>
            </a:r>
            <a:endParaRPr lang="en-US" sz="1700" i="1" kern="100">
              <a:solidFill>
                <a:srgbClr val="000000"/>
              </a:solidFill>
              <a:latin typeface="campho"/>
              <a:ea typeface="Calibri"/>
              <a:cs typeface="Arial"/>
            </a:endParaRPr>
          </a:p>
          <a:p>
            <a:pPr lvl="1">
              <a:lnSpc>
                <a:spcPct val="107000"/>
              </a:lnSpc>
              <a:spcBef>
                <a:spcPts val="0"/>
              </a:spcBef>
              <a:spcAft>
                <a:spcPts val="600"/>
              </a:spcAft>
            </a:pPr>
            <a:r>
              <a:rPr lang="en-US" sz="1300" i="1" kern="100">
                <a:solidFill>
                  <a:srgbClr val="000000"/>
                </a:solidFill>
                <a:latin typeface="campho"/>
                <a:ea typeface="Calibri"/>
                <a:cs typeface="Arial"/>
                <a:sym typeface="Wingdings" panose="05000000000000000000" pitchFamily="2" charset="2"/>
              </a:rPr>
              <a:t>NOTE: This is where we imagine outcomes for specific investees will be shared, as we are not ready for collective data and overall external impact reporting</a:t>
            </a:r>
            <a:endParaRPr lang="en-US" sz="1300" i="1" kern="100">
              <a:solidFill>
                <a:srgbClr val="000000"/>
              </a:solidFill>
              <a:latin typeface="campho"/>
              <a:ea typeface="Calibri"/>
              <a:cs typeface="Arial"/>
            </a:endParaRPr>
          </a:p>
          <a:p>
            <a:pPr>
              <a:lnSpc>
                <a:spcPct val="107000"/>
              </a:lnSpc>
              <a:spcBef>
                <a:spcPts val="0"/>
              </a:spcBef>
              <a:spcAft>
                <a:spcPts val="600"/>
              </a:spcAft>
            </a:pPr>
            <a:r>
              <a:rPr lang="en-US" sz="1700" kern="100">
                <a:solidFill>
                  <a:srgbClr val="000000"/>
                </a:solidFill>
                <a:latin typeface="campho"/>
                <a:ea typeface="Calibri"/>
                <a:cs typeface="Arial"/>
              </a:rPr>
              <a:t>Align with Nancy’s vision for the new Executive Chair role to influence the flow of capital from more philanthropists (helping philanthropy go bigger and do more)</a:t>
            </a:r>
          </a:p>
          <a:p>
            <a:pPr marL="0" indent="0">
              <a:lnSpc>
                <a:spcPct val="107000"/>
              </a:lnSpc>
              <a:spcBef>
                <a:spcPts val="0"/>
              </a:spcBef>
              <a:spcAft>
                <a:spcPts val="600"/>
              </a:spcAft>
              <a:buNone/>
            </a:pPr>
            <a:endParaRPr lang="en-US" sz="1700" kern="100">
              <a:solidFill>
                <a:srgbClr val="000000"/>
              </a:solidFill>
              <a:latin typeface="campho"/>
              <a:ea typeface="Calibri"/>
              <a:cs typeface="Arial"/>
            </a:endParaRPr>
          </a:p>
          <a:p>
            <a:pPr marL="0" indent="0">
              <a:lnSpc>
                <a:spcPct val="107000"/>
              </a:lnSpc>
              <a:spcBef>
                <a:spcPts val="0"/>
              </a:spcBef>
              <a:spcAft>
                <a:spcPts val="600"/>
              </a:spcAft>
              <a:buNone/>
            </a:pPr>
            <a:endParaRPr lang="en-US" sz="1700" kern="100">
              <a:solidFill>
                <a:srgbClr val="000000"/>
              </a:solidFill>
              <a:latin typeface="campho"/>
              <a:ea typeface="Calibri"/>
              <a:cs typeface="Arial"/>
            </a:endParaRPr>
          </a:p>
          <a:p>
            <a:pPr marL="0" indent="0">
              <a:lnSpc>
                <a:spcPct val="107000"/>
              </a:lnSpc>
              <a:spcBef>
                <a:spcPts val="0"/>
              </a:spcBef>
              <a:spcAft>
                <a:spcPts val="600"/>
              </a:spcAft>
              <a:buNone/>
            </a:pPr>
            <a:endParaRPr lang="en-US" sz="1500" kern="100">
              <a:solidFill>
                <a:srgbClr val="000000"/>
              </a:solidFill>
              <a:highlight>
                <a:srgbClr val="FFFF00"/>
              </a:highlight>
              <a:latin typeface="campho"/>
              <a:ea typeface="Calibri"/>
              <a:cs typeface="Arial"/>
            </a:endParaRPr>
          </a:p>
          <a:p>
            <a:pPr>
              <a:lnSpc>
                <a:spcPct val="107000"/>
              </a:lnSpc>
              <a:spcBef>
                <a:spcPts val="0"/>
              </a:spcBef>
              <a:spcAft>
                <a:spcPts val="600"/>
              </a:spcAft>
            </a:pPr>
            <a:endParaRPr lang="en-US" sz="1500" kern="100">
              <a:solidFill>
                <a:srgbClr val="000000"/>
              </a:solidFill>
              <a:latin typeface="campho"/>
              <a:ea typeface="Calibri"/>
              <a:cs typeface="Arial"/>
            </a:endParaRPr>
          </a:p>
          <a:p>
            <a:pPr lvl="1">
              <a:lnSpc>
                <a:spcPct val="107000"/>
              </a:lnSpc>
              <a:spcBef>
                <a:spcPts val="0"/>
              </a:spcBef>
              <a:spcAft>
                <a:spcPts val="600"/>
              </a:spcAft>
            </a:pPr>
            <a:endParaRPr lang="en-US" sz="1500" kern="100">
              <a:solidFill>
                <a:srgbClr val="000000"/>
              </a:solidFill>
              <a:latin typeface="campho"/>
              <a:ea typeface="Calibri"/>
              <a:cs typeface="Arial"/>
            </a:endParaRPr>
          </a:p>
          <a:p>
            <a:pPr marL="0" indent="0">
              <a:lnSpc>
                <a:spcPct val="107000"/>
              </a:lnSpc>
              <a:spcBef>
                <a:spcPts val="0"/>
              </a:spcBef>
              <a:spcAft>
                <a:spcPts val="600"/>
              </a:spcAft>
              <a:buNone/>
            </a:pPr>
            <a:endParaRPr lang="en-US" sz="1500" kern="100">
              <a:solidFill>
                <a:srgbClr val="000000"/>
              </a:solidFill>
              <a:latin typeface="campho"/>
              <a:ea typeface="Calibri"/>
              <a:cs typeface="Arial"/>
            </a:endParaRPr>
          </a:p>
        </p:txBody>
      </p:sp>
      <p:sp>
        <p:nvSpPr>
          <p:cNvPr id="3" name="Title 2">
            <a:extLst>
              <a:ext uri="{FF2B5EF4-FFF2-40B4-BE49-F238E27FC236}">
                <a16:creationId xmlns:a16="http://schemas.microsoft.com/office/drawing/2014/main" id="{5B048C06-E801-AE02-05E1-59629977DA31}"/>
              </a:ext>
            </a:extLst>
          </p:cNvPr>
          <p:cNvSpPr>
            <a:spLocks noGrp="1"/>
          </p:cNvSpPr>
          <p:nvPr>
            <p:ph type="title"/>
          </p:nvPr>
        </p:nvSpPr>
        <p:spPr/>
        <p:txBody>
          <a:bodyPr>
            <a:normAutofit fontScale="90000"/>
          </a:bodyPr>
          <a:lstStyle/>
          <a:p>
            <a:r>
              <a:rPr lang="en-US">
                <a:latin typeface="LeMonde Livre"/>
              </a:rPr>
              <a:t>Driving a ‘New Normal’ for Philanthropy </a:t>
            </a:r>
            <a:endParaRPr lang="en-US"/>
          </a:p>
        </p:txBody>
      </p:sp>
      <p:sp>
        <p:nvSpPr>
          <p:cNvPr id="4" name="Text Placeholder 3">
            <a:extLst>
              <a:ext uri="{FF2B5EF4-FFF2-40B4-BE49-F238E27FC236}">
                <a16:creationId xmlns:a16="http://schemas.microsoft.com/office/drawing/2014/main" id="{1373165B-8271-644E-607E-C66346AA00C4}"/>
              </a:ext>
            </a:extLst>
          </p:cNvPr>
          <p:cNvSpPr>
            <a:spLocks noGrp="1"/>
          </p:cNvSpPr>
          <p:nvPr>
            <p:ph type="body" sz="quarter" idx="12"/>
          </p:nvPr>
        </p:nvSpPr>
        <p:spPr>
          <a:xfrm>
            <a:off x="749297" y="975669"/>
            <a:ext cx="10693405" cy="438149"/>
          </a:xfrm>
        </p:spPr>
        <p:txBody>
          <a:bodyPr/>
          <a:lstStyle/>
          <a:p>
            <a:r>
              <a:rPr lang="en-US">
                <a:solidFill>
                  <a:schemeClr val="accent1"/>
                </a:solidFill>
              </a:rPr>
              <a:t>An overarching communications narrative for the year ahead</a:t>
            </a:r>
          </a:p>
        </p:txBody>
      </p:sp>
    </p:spTree>
    <p:extLst>
      <p:ext uri="{BB962C8B-B14F-4D97-AF65-F5344CB8AC3E}">
        <p14:creationId xmlns:p14="http://schemas.microsoft.com/office/powerpoint/2010/main" val="4030150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4F5C0-A06D-7F87-BB7B-871EBAAA2BDE}"/>
              </a:ext>
            </a:extLst>
          </p:cNvPr>
          <p:cNvSpPr>
            <a:spLocks noGrp="1"/>
          </p:cNvSpPr>
          <p:nvPr>
            <p:ph type="title"/>
          </p:nvPr>
        </p:nvSpPr>
        <p:spPr/>
        <p:txBody>
          <a:bodyPr/>
          <a:lstStyle/>
          <a:p>
            <a:r>
              <a:rPr lang="en-US"/>
              <a:t>A “New Normal” &amp; Philanthropy’s Relevance</a:t>
            </a:r>
          </a:p>
        </p:txBody>
      </p:sp>
      <p:sp>
        <p:nvSpPr>
          <p:cNvPr id="4" name="Date Placeholder 3">
            <a:extLst>
              <a:ext uri="{FF2B5EF4-FFF2-40B4-BE49-F238E27FC236}">
                <a16:creationId xmlns:a16="http://schemas.microsoft.com/office/drawing/2014/main" id="{E3685F63-24DF-7DA9-4C07-7A4352802A1E}"/>
              </a:ext>
            </a:extLst>
          </p:cNvPr>
          <p:cNvSpPr>
            <a:spLocks noGrp="1"/>
          </p:cNvSpPr>
          <p:nvPr>
            <p:ph type="dt" sz="half" idx="10"/>
          </p:nvPr>
        </p:nvSpPr>
        <p:spPr/>
        <p:txBody>
          <a:bodyPr/>
          <a:lstStyle/>
          <a:p>
            <a:fld id="{297670B5-A6A5-4986-8845-2521C8C0BC25}" type="datetime1">
              <a:rPr lang="en-US" smtClean="0"/>
              <a:t>5/30/2025</a:t>
            </a:fld>
            <a:endParaRPr lang="en-US"/>
          </a:p>
        </p:txBody>
      </p:sp>
      <p:sp>
        <p:nvSpPr>
          <p:cNvPr id="6" name="Content Placeholder 5">
            <a:extLst>
              <a:ext uri="{FF2B5EF4-FFF2-40B4-BE49-F238E27FC236}">
                <a16:creationId xmlns:a16="http://schemas.microsoft.com/office/drawing/2014/main" id="{85F5C4BA-3C9D-18B6-A2D0-8A42FF450D24}"/>
              </a:ext>
            </a:extLst>
          </p:cNvPr>
          <p:cNvSpPr>
            <a:spLocks noGrp="1"/>
          </p:cNvSpPr>
          <p:nvPr>
            <p:ph idx="1"/>
          </p:nvPr>
        </p:nvSpPr>
        <p:spPr>
          <a:xfrm>
            <a:off x="828430" y="1157849"/>
            <a:ext cx="10472617" cy="632729"/>
          </a:xfrm>
        </p:spPr>
        <p:txBody>
          <a:bodyPr vert="horz" lIns="91440" tIns="45720" rIns="91440" bIns="45720" rtlCol="0" anchor="t">
            <a:noAutofit/>
          </a:bodyPr>
          <a:lstStyle/>
          <a:p>
            <a:pPr marL="0" indent="0">
              <a:buNone/>
            </a:pPr>
            <a:r>
              <a:rPr lang="en-US" sz="2000">
                <a:latin typeface="Camphor Std"/>
              </a:rPr>
              <a:t>Below are two possible approaches to integrate messaging about the relevance of philanthropy into our "New Normal" narrative.</a:t>
            </a:r>
            <a:endParaRPr lang="en-US" sz="2000"/>
          </a:p>
        </p:txBody>
      </p:sp>
      <p:sp>
        <p:nvSpPr>
          <p:cNvPr id="8" name="Rectangle 7">
            <a:extLst>
              <a:ext uri="{FF2B5EF4-FFF2-40B4-BE49-F238E27FC236}">
                <a16:creationId xmlns:a16="http://schemas.microsoft.com/office/drawing/2014/main" id="{88B5D53A-4913-0435-F6D1-326D49C66935}"/>
              </a:ext>
            </a:extLst>
          </p:cNvPr>
          <p:cNvSpPr/>
          <p:nvPr/>
        </p:nvSpPr>
        <p:spPr>
          <a:xfrm>
            <a:off x="6552361" y="2050142"/>
            <a:ext cx="4753707" cy="86555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latin typeface="Camphor Std"/>
              </a:rPr>
              <a:t>ADVANCING A NEW NORMAL FOR PHILANTHROPY</a:t>
            </a:r>
          </a:p>
        </p:txBody>
      </p:sp>
      <p:sp>
        <p:nvSpPr>
          <p:cNvPr id="9" name="Rectangle 8">
            <a:extLst>
              <a:ext uri="{FF2B5EF4-FFF2-40B4-BE49-F238E27FC236}">
                <a16:creationId xmlns:a16="http://schemas.microsoft.com/office/drawing/2014/main" id="{F7AFB92D-CFBE-D230-3DAA-5CA5D3129A9F}"/>
              </a:ext>
            </a:extLst>
          </p:cNvPr>
          <p:cNvSpPr/>
          <p:nvPr/>
        </p:nvSpPr>
        <p:spPr>
          <a:xfrm>
            <a:off x="827591" y="3652295"/>
            <a:ext cx="4802553" cy="11781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SETS THE TABLE FOR A NEW NORMAL AND THE OPPORTUNITY PRESENTED BY BMP</a:t>
            </a:r>
          </a:p>
        </p:txBody>
      </p:sp>
      <p:sp>
        <p:nvSpPr>
          <p:cNvPr id="10" name="Rectangle 9">
            <a:extLst>
              <a:ext uri="{FF2B5EF4-FFF2-40B4-BE49-F238E27FC236}">
                <a16:creationId xmlns:a16="http://schemas.microsoft.com/office/drawing/2014/main" id="{8EF27D5D-2EBF-5EDD-8E31-E2F8BFCB827A}"/>
              </a:ext>
            </a:extLst>
          </p:cNvPr>
          <p:cNvSpPr/>
          <p:nvPr/>
        </p:nvSpPr>
        <p:spPr>
          <a:xfrm>
            <a:off x="6562131" y="3652296"/>
            <a:ext cx="4753707" cy="11781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SERVES TO MAKE PHILANTHROPY MORE RELEVANT TO MEET THE CURRENT CONTEXT</a:t>
            </a:r>
          </a:p>
        </p:txBody>
      </p:sp>
      <p:sp>
        <p:nvSpPr>
          <p:cNvPr id="11" name="Rectangle 10">
            <a:extLst>
              <a:ext uri="{FF2B5EF4-FFF2-40B4-BE49-F238E27FC236}">
                <a16:creationId xmlns:a16="http://schemas.microsoft.com/office/drawing/2014/main" id="{EC08FBDF-751E-19A8-F743-312ED573D1E0}"/>
              </a:ext>
            </a:extLst>
          </p:cNvPr>
          <p:cNvSpPr/>
          <p:nvPr/>
        </p:nvSpPr>
        <p:spPr>
          <a:xfrm>
            <a:off x="827591" y="5547526"/>
            <a:ext cx="10468707" cy="601784"/>
          </a:xfrm>
          <a:prstGeom prst="rect">
            <a:avLst/>
          </a:prstGeom>
          <a:solidFill>
            <a:schemeClr val="accent1"/>
          </a:solidFill>
          <a:ln>
            <a:solidFill>
              <a:schemeClr val="tx2"/>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TO SCALE COST-EFFECTIVE STRATEGIES THAT</a:t>
            </a:r>
          </a:p>
          <a:p>
            <a:pPr algn="ctr"/>
            <a:r>
              <a:rPr lang="en-US"/>
              <a:t>ADDRESS BROKEN SYSTENS &amp; IMPROVE SOCIAL OUTCOMES</a:t>
            </a:r>
          </a:p>
        </p:txBody>
      </p:sp>
      <p:sp>
        <p:nvSpPr>
          <p:cNvPr id="12" name="Arrow: Down 11">
            <a:extLst>
              <a:ext uri="{FF2B5EF4-FFF2-40B4-BE49-F238E27FC236}">
                <a16:creationId xmlns:a16="http://schemas.microsoft.com/office/drawing/2014/main" id="{F317D1BD-C6B6-F899-45D6-4766DB00BD82}"/>
              </a:ext>
            </a:extLst>
          </p:cNvPr>
          <p:cNvSpPr/>
          <p:nvPr/>
        </p:nvSpPr>
        <p:spPr>
          <a:xfrm>
            <a:off x="8683451" y="3021483"/>
            <a:ext cx="533477" cy="568100"/>
          </a:xfrm>
          <a:prstGeom prst="downArrow">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A168889-4F14-09C3-ECF8-6538BFB8CE81}"/>
              </a:ext>
            </a:extLst>
          </p:cNvPr>
          <p:cNvSpPr/>
          <p:nvPr/>
        </p:nvSpPr>
        <p:spPr>
          <a:xfrm>
            <a:off x="827592" y="2050142"/>
            <a:ext cx="4802552" cy="87532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latin typeface="Camphor Std"/>
              </a:rPr>
              <a:t>REITERATING THE RELEVANCE</a:t>
            </a:r>
            <a:endParaRPr lang="en-US"/>
          </a:p>
          <a:p>
            <a:pPr algn="ctr"/>
            <a:r>
              <a:rPr lang="en-US" sz="2000" b="1">
                <a:latin typeface="Camphor Std"/>
              </a:rPr>
              <a:t>OF PHILANTHROPY</a:t>
            </a:r>
            <a:endParaRPr lang="en-US"/>
          </a:p>
        </p:txBody>
      </p:sp>
      <p:sp>
        <p:nvSpPr>
          <p:cNvPr id="16" name="Arrow: Down 15">
            <a:extLst>
              <a:ext uri="{FF2B5EF4-FFF2-40B4-BE49-F238E27FC236}">
                <a16:creationId xmlns:a16="http://schemas.microsoft.com/office/drawing/2014/main" id="{0CE81D44-8192-7F2E-0159-9611FB786CAD}"/>
              </a:ext>
            </a:extLst>
          </p:cNvPr>
          <p:cNvSpPr/>
          <p:nvPr/>
        </p:nvSpPr>
        <p:spPr>
          <a:xfrm>
            <a:off x="2968451" y="3011714"/>
            <a:ext cx="513939" cy="577869"/>
          </a:xfrm>
          <a:prstGeom prst="downArrow">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Down 16">
            <a:extLst>
              <a:ext uri="{FF2B5EF4-FFF2-40B4-BE49-F238E27FC236}">
                <a16:creationId xmlns:a16="http://schemas.microsoft.com/office/drawing/2014/main" id="{A6C0BB26-616F-0407-65EF-CDA4451A44BB}"/>
              </a:ext>
            </a:extLst>
          </p:cNvPr>
          <p:cNvSpPr/>
          <p:nvPr/>
        </p:nvSpPr>
        <p:spPr>
          <a:xfrm>
            <a:off x="2968451" y="4867867"/>
            <a:ext cx="513939" cy="577869"/>
          </a:xfrm>
          <a:prstGeom prst="downArrow">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Down 17">
            <a:extLst>
              <a:ext uri="{FF2B5EF4-FFF2-40B4-BE49-F238E27FC236}">
                <a16:creationId xmlns:a16="http://schemas.microsoft.com/office/drawing/2014/main" id="{9F5B0CCE-E725-2C40-6BE8-18CE158AA848}"/>
              </a:ext>
            </a:extLst>
          </p:cNvPr>
          <p:cNvSpPr/>
          <p:nvPr/>
        </p:nvSpPr>
        <p:spPr>
          <a:xfrm>
            <a:off x="8673681" y="4916713"/>
            <a:ext cx="513939" cy="577869"/>
          </a:xfrm>
          <a:prstGeom prst="downArrow">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3375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25078-C36F-94D3-DD89-17916AAFF61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D285413-68AB-B5C9-DAE8-CE798274280F}"/>
              </a:ext>
            </a:extLst>
          </p:cNvPr>
          <p:cNvSpPr>
            <a:spLocks noGrp="1"/>
          </p:cNvSpPr>
          <p:nvPr>
            <p:ph type="title"/>
          </p:nvPr>
        </p:nvSpPr>
        <p:spPr>
          <a:xfrm>
            <a:off x="241247" y="273057"/>
            <a:ext cx="7612396" cy="808346"/>
          </a:xfrm>
        </p:spPr>
        <p:txBody>
          <a:bodyPr/>
          <a:lstStyle/>
          <a:p>
            <a:r>
              <a:rPr lang="en-US">
                <a:latin typeface="LeMonde Livre"/>
              </a:rPr>
              <a:t>Storytelling Framework</a:t>
            </a:r>
          </a:p>
        </p:txBody>
      </p:sp>
      <p:grpSp>
        <p:nvGrpSpPr>
          <p:cNvPr id="6" name="Group 5">
            <a:extLst>
              <a:ext uri="{FF2B5EF4-FFF2-40B4-BE49-F238E27FC236}">
                <a16:creationId xmlns:a16="http://schemas.microsoft.com/office/drawing/2014/main" id="{41D85617-DF1C-B993-0A8E-4651FB6500D9}"/>
              </a:ext>
            </a:extLst>
          </p:cNvPr>
          <p:cNvGrpSpPr/>
          <p:nvPr/>
        </p:nvGrpSpPr>
        <p:grpSpPr>
          <a:xfrm>
            <a:off x="427223" y="1271108"/>
            <a:ext cx="10821768" cy="3050721"/>
            <a:chOff x="1152202" y="1248156"/>
            <a:chExt cx="9502415" cy="2036288"/>
          </a:xfrm>
        </p:grpSpPr>
        <p:sp>
          <p:nvSpPr>
            <p:cNvPr id="7" name="Rectangle 6">
              <a:extLst>
                <a:ext uri="{FF2B5EF4-FFF2-40B4-BE49-F238E27FC236}">
                  <a16:creationId xmlns:a16="http://schemas.microsoft.com/office/drawing/2014/main" id="{A5F53C3C-159D-1213-D7D6-D84C65CD0EE7}"/>
                </a:ext>
              </a:extLst>
            </p:cNvPr>
            <p:cNvSpPr/>
            <p:nvPr/>
          </p:nvSpPr>
          <p:spPr>
            <a:xfrm>
              <a:off x="1494426" y="1513459"/>
              <a:ext cx="1002660" cy="164347"/>
            </a:xfrm>
            <a:prstGeom prst="rect">
              <a:avLst/>
            </a:prstGeom>
          </p:spPr>
          <p:txBody>
            <a:bodyPr wrap="square">
              <a:spAutoFit/>
            </a:bodyPr>
            <a:lstStyle/>
            <a:p>
              <a:pPr marL="0" marR="0" lvl="0" indent="0" algn="r" defTabSz="913852" rtl="0" eaLnBrk="1" fontAlgn="auto" latinLnBrk="0" hangingPunct="1">
                <a:lnSpc>
                  <a:spcPct val="100000"/>
                </a:lnSpc>
                <a:spcBef>
                  <a:spcPts val="0"/>
                </a:spcBef>
                <a:spcAft>
                  <a:spcPts val="0"/>
                </a:spcAft>
                <a:buClrTx/>
                <a:buSzTx/>
                <a:buFontTx/>
                <a:buNone/>
                <a:tabLst/>
                <a:defRPr/>
              </a:pPr>
              <a:r>
                <a:rPr kumimoji="0" lang="en-US" sz="1000" b="0" i="0" u="none" strike="noStrike" kern="1200" cap="all" spc="0" normalizeH="0" baseline="0" noProof="0">
                  <a:ln>
                    <a:noFill/>
                  </a:ln>
                  <a:solidFill>
                    <a:prstClr val="black"/>
                  </a:solidFill>
                  <a:effectLst/>
                  <a:uLnTx/>
                  <a:uFillTx/>
                  <a:ea typeface="Calibri Light"/>
                  <a:cs typeface="Calibri Light"/>
                </a:rPr>
                <a:t>INTENT</a:t>
              </a:r>
              <a:endParaRPr kumimoji="0" lang="en-US" sz="1100" b="0" i="0" u="none" strike="noStrike" kern="1200" cap="all" spc="0" normalizeH="0" baseline="0" noProof="0">
                <a:ln>
                  <a:noFill/>
                </a:ln>
                <a:solidFill>
                  <a:prstClr val="black"/>
                </a:solidFill>
                <a:effectLst/>
                <a:uLnTx/>
                <a:uFillTx/>
                <a:ea typeface="Calibri Light"/>
                <a:cs typeface="Calibri Light"/>
              </a:endParaRPr>
            </a:p>
          </p:txBody>
        </p:sp>
        <p:sp>
          <p:nvSpPr>
            <p:cNvPr id="8" name="Rectangle 7">
              <a:extLst>
                <a:ext uri="{FF2B5EF4-FFF2-40B4-BE49-F238E27FC236}">
                  <a16:creationId xmlns:a16="http://schemas.microsoft.com/office/drawing/2014/main" id="{27FA086D-47E9-460B-47C8-7F33E8B0E6C2}"/>
                </a:ext>
              </a:extLst>
            </p:cNvPr>
            <p:cNvSpPr/>
            <p:nvPr/>
          </p:nvSpPr>
          <p:spPr>
            <a:xfrm>
              <a:off x="1152202" y="2765415"/>
              <a:ext cx="1333040" cy="267064"/>
            </a:xfrm>
            <a:prstGeom prst="rect">
              <a:avLst/>
            </a:prstGeom>
          </p:spPr>
          <p:txBody>
            <a:bodyPr wrap="square" lIns="91440" tIns="45720" rIns="91440" bIns="45720" anchor="ctr">
              <a:spAutoFit/>
            </a:bodyPr>
            <a:lstStyle/>
            <a:p>
              <a:pPr algn="r" defTabSz="913852">
                <a:defRPr/>
              </a:pPr>
              <a:r>
                <a:rPr lang="en-US" sz="1000" cap="all">
                  <a:solidFill>
                    <a:prstClr val="black"/>
                  </a:solidFill>
                  <a:ea typeface="Calibri Light"/>
                  <a:cs typeface="Calibri Light"/>
                </a:rPr>
                <a:t>KEY STORYLINES</a:t>
              </a:r>
            </a:p>
            <a:p>
              <a:pPr algn="r" defTabSz="913852">
                <a:defRPr/>
              </a:pPr>
              <a:r>
                <a:rPr lang="en-US" sz="1000" cap="all">
                  <a:solidFill>
                    <a:prstClr val="black"/>
                  </a:solidFill>
                  <a:ea typeface="Calibri Light"/>
                  <a:cs typeface="Calibri Light"/>
                </a:rPr>
                <a:t>2025</a:t>
              </a:r>
              <a:endParaRPr lang="en-US"/>
            </a:p>
          </p:txBody>
        </p:sp>
        <p:sp>
          <p:nvSpPr>
            <p:cNvPr id="9" name="Rectangle 8">
              <a:extLst>
                <a:ext uri="{FF2B5EF4-FFF2-40B4-BE49-F238E27FC236}">
                  <a16:creationId xmlns:a16="http://schemas.microsoft.com/office/drawing/2014/main" id="{E48CE728-CE5C-0B22-4B29-4218C91CED1C}"/>
                </a:ext>
              </a:extLst>
            </p:cNvPr>
            <p:cNvSpPr/>
            <p:nvPr/>
          </p:nvSpPr>
          <p:spPr>
            <a:xfrm>
              <a:off x="2582745" y="1248156"/>
              <a:ext cx="8071872" cy="756584"/>
            </a:xfrm>
            <a:prstGeom prst="rect">
              <a:avLst/>
            </a:prstGeom>
            <a:solidFill>
              <a:schemeClr val="bg2"/>
            </a:solidFill>
            <a:ln w="6350" cap="flat" cmpd="sng" algn="ctr">
              <a:noFill/>
              <a:prstDash val="solid"/>
              <a:miter lim="800000"/>
            </a:ln>
            <a:effectLst/>
          </p:spPr>
          <p:txBody>
            <a:bodyPr lIns="91416" tIns="45708" rIns="91416" bIns="45708" rtlCol="0" anchor="ctr"/>
            <a:lstStyle/>
            <a:p>
              <a:pPr marL="0" marR="0" lvl="0" indent="0" algn="ctr" defTabSz="913852" rtl="0" eaLnBrk="1" fontAlgn="auto" latinLnBrk="0" hangingPunct="1">
                <a:lnSpc>
                  <a:spcPts val="1798"/>
                </a:lnSpc>
                <a:spcBef>
                  <a:spcPts val="0"/>
                </a:spcBef>
                <a:spcAft>
                  <a:spcPts val="600"/>
                </a:spcAft>
                <a:buClrTx/>
                <a:buSzTx/>
                <a:buFontTx/>
                <a:buNone/>
                <a:tabLst/>
                <a:defRPr/>
              </a:pPr>
              <a:r>
                <a:rPr kumimoji="0" lang="en-US" sz="2350" b="0" i="0" u="none" strike="noStrike" kern="0" cap="none" spc="0" normalizeH="0" baseline="0" noProof="0">
                  <a:ln>
                    <a:noFill/>
                  </a:ln>
                  <a:solidFill>
                    <a:prstClr val="white"/>
                  </a:solidFill>
                  <a:effectLst/>
                  <a:uLnTx/>
                  <a:uFillTx/>
                  <a:ea typeface="Calibri Light"/>
                  <a:cs typeface="Calibri Light"/>
                </a:rPr>
                <a:t> </a:t>
              </a:r>
              <a:r>
                <a:rPr lang="en-US" sz="1400">
                  <a:solidFill>
                    <a:srgbClr val="FFFFFF"/>
                  </a:solidFill>
                  <a:cs typeface="Calibri"/>
                </a:rPr>
                <a:t> </a:t>
              </a:r>
            </a:p>
            <a:p>
              <a:pPr marL="0" marR="0" lvl="0" indent="0" algn="ctr" defTabSz="913852" rtl="0" eaLnBrk="1" fontAlgn="auto" latinLnBrk="0" hangingPunct="1">
                <a:lnSpc>
                  <a:spcPts val="1798"/>
                </a:lnSpc>
                <a:spcBef>
                  <a:spcPts val="0"/>
                </a:spcBef>
                <a:spcAft>
                  <a:spcPts val="600"/>
                </a:spcAft>
                <a:buClrTx/>
                <a:buSzTx/>
                <a:buFontTx/>
                <a:buNone/>
                <a:tabLst/>
                <a:defRPr/>
              </a:pPr>
              <a:r>
                <a:rPr lang="en-US" sz="1400">
                  <a:solidFill>
                    <a:srgbClr val="FFFFFF"/>
                  </a:solidFill>
                  <a:cs typeface="Calibri"/>
                </a:rPr>
                <a:t>Blue Meridian Partners is viewed as being at the forefront of philanthropy driving impact for social and economic mobility in the United States, in alignment with BMP’s goal to become a go-to partner for investors and investees seeking transformative impact at scale in this space.</a:t>
              </a:r>
            </a:p>
            <a:p>
              <a:pPr marL="0" marR="0" lvl="0" indent="0" algn="ctr" defTabSz="913852" rtl="0" eaLnBrk="1" fontAlgn="auto" latinLnBrk="0" hangingPunct="1">
                <a:lnSpc>
                  <a:spcPts val="1798"/>
                </a:lnSpc>
                <a:spcBef>
                  <a:spcPts val="0"/>
                </a:spcBef>
                <a:spcAft>
                  <a:spcPts val="600"/>
                </a:spcAft>
                <a:buClrTx/>
                <a:buSzTx/>
                <a:buFontTx/>
                <a:buNone/>
                <a:tabLst/>
                <a:defRPr/>
              </a:pPr>
              <a:endParaRPr kumimoji="0" lang="en-US" sz="1400" b="0" i="0" u="none" strike="noStrike" kern="0" cap="none" spc="0" normalizeH="0" baseline="0" noProof="0">
                <a:ln>
                  <a:noFill/>
                </a:ln>
                <a:solidFill>
                  <a:prstClr val="white"/>
                </a:solidFill>
                <a:effectLst/>
                <a:highlight>
                  <a:srgbClr val="FFFF00"/>
                </a:highlight>
                <a:uLnTx/>
                <a:uFillTx/>
                <a:ea typeface="Calibri Light"/>
                <a:cs typeface="Calibri Light"/>
              </a:endParaRPr>
            </a:p>
          </p:txBody>
        </p:sp>
        <p:sp>
          <p:nvSpPr>
            <p:cNvPr id="10" name="Rectangle 9">
              <a:extLst>
                <a:ext uri="{FF2B5EF4-FFF2-40B4-BE49-F238E27FC236}">
                  <a16:creationId xmlns:a16="http://schemas.microsoft.com/office/drawing/2014/main" id="{B3D7ECEA-4D72-CE6B-39FA-ACB0281AC8AF}"/>
                </a:ext>
              </a:extLst>
            </p:cNvPr>
            <p:cNvSpPr/>
            <p:nvPr/>
          </p:nvSpPr>
          <p:spPr>
            <a:xfrm>
              <a:off x="2629575" y="2512622"/>
              <a:ext cx="1938507" cy="771822"/>
            </a:xfrm>
            <a:prstGeom prst="rect">
              <a:avLst/>
            </a:prstGeom>
            <a:solidFill>
              <a:schemeClr val="tx2"/>
            </a:solidFill>
            <a:ln w="38100" cap="flat" cmpd="sng" algn="ctr">
              <a:solidFill>
                <a:schemeClr val="accent4"/>
              </a:solidFill>
              <a:prstDash val="solid"/>
              <a:miter lim="800000"/>
            </a:ln>
            <a:effectLst/>
          </p:spPr>
          <p:txBody>
            <a:bodyPr lIns="91416" tIns="45708" rIns="91416" bIns="45708" rtlCol="0" anchor="ctr"/>
            <a:lstStyle/>
            <a:p>
              <a:pPr marL="0" marR="0" lvl="0" indent="0" algn="ctr" defTabSz="913852" rtl="0" eaLnBrk="1" fontAlgn="auto" latinLnBrk="0" hangingPunct="1">
                <a:lnSpc>
                  <a:spcPct val="90000"/>
                </a:lnSpc>
                <a:spcBef>
                  <a:spcPts val="0"/>
                </a:spcBef>
                <a:spcAft>
                  <a:spcPts val="0"/>
                </a:spcAft>
                <a:buClrTx/>
                <a:buSzTx/>
                <a:buFontTx/>
                <a:buNone/>
                <a:tabLst/>
                <a:defRPr/>
              </a:pPr>
              <a:endParaRPr kumimoji="0" lang="en-US" sz="1400" b="1" i="0" u="none" strike="noStrike" kern="0" cap="none" spc="0" normalizeH="0" baseline="0" noProof="0">
                <a:ln>
                  <a:noFill/>
                </a:ln>
                <a:solidFill>
                  <a:prstClr val="white"/>
                </a:solidFill>
                <a:effectLst/>
                <a:uLnTx/>
                <a:uFillTx/>
                <a:ea typeface="Calibri Light"/>
                <a:cs typeface="Calibri Light"/>
              </a:endParaRPr>
            </a:p>
            <a:p>
              <a:pPr algn="ctr" defTabSz="913852">
                <a:lnSpc>
                  <a:spcPct val="90000"/>
                </a:lnSpc>
                <a:defRPr/>
              </a:pPr>
              <a:r>
                <a:rPr lang="en-US" sz="1400" kern="0">
                  <a:solidFill>
                    <a:prstClr val="white"/>
                  </a:solidFill>
                  <a:ea typeface="Calibri Light"/>
                  <a:cs typeface="Calibri Light"/>
                </a:rPr>
                <a:t>Leveraging philanthropic capital for broader impact</a:t>
              </a:r>
              <a:endParaRPr lang="en-US" sz="1400" i="0" u="none" strike="noStrike" kern="0" cap="none" spc="0" normalizeH="0" baseline="0" noProof="0">
                <a:ln>
                  <a:noFill/>
                </a:ln>
                <a:solidFill>
                  <a:prstClr val="white"/>
                </a:solidFill>
                <a:effectLst/>
                <a:uLnTx/>
                <a:uFillTx/>
                <a:ea typeface="Calibri Light"/>
                <a:cs typeface="Calibri Light"/>
              </a:endParaRPr>
            </a:p>
            <a:p>
              <a:pPr marL="0" marR="0" lvl="0" indent="0" algn="ctr" defTabSz="913852" rtl="0" eaLnBrk="1" fontAlgn="auto" latinLnBrk="0" hangingPunct="1">
                <a:lnSpc>
                  <a:spcPct val="9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ea typeface="Calibri Light"/>
                <a:cs typeface="Calibri Light"/>
              </a:endParaRPr>
            </a:p>
          </p:txBody>
        </p:sp>
      </p:grpSp>
      <p:sp>
        <p:nvSpPr>
          <p:cNvPr id="12" name="Rectangle 11">
            <a:extLst>
              <a:ext uri="{FF2B5EF4-FFF2-40B4-BE49-F238E27FC236}">
                <a16:creationId xmlns:a16="http://schemas.microsoft.com/office/drawing/2014/main" id="{90273A88-40D6-3791-2F17-C3E862038BDD}"/>
              </a:ext>
            </a:extLst>
          </p:cNvPr>
          <p:cNvSpPr/>
          <p:nvPr/>
        </p:nvSpPr>
        <p:spPr>
          <a:xfrm>
            <a:off x="8672377" y="4543098"/>
            <a:ext cx="2681424" cy="389158"/>
          </a:xfrm>
          <a:prstGeom prst="rect">
            <a:avLst/>
          </a:prstGeom>
          <a:solidFill>
            <a:schemeClr val="accent6"/>
          </a:solidFill>
          <a:ln w="6350" cap="flat" cmpd="sng" algn="ctr">
            <a:noFill/>
            <a:prstDash val="solid"/>
            <a:miter lim="800000"/>
          </a:ln>
          <a:effectLst/>
        </p:spPr>
        <p:txBody>
          <a:bodyPr lIns="0" tIns="0" rIns="0" bIns="0" rtlCol="0" anchor="ctr" anchorCtr="0"/>
          <a:lstStyle/>
          <a:p>
            <a:pPr algn="ctr" defTabSz="685572">
              <a:defRPr/>
            </a:pPr>
            <a:r>
              <a:rPr lang="en-US" sz="1400" kern="0">
                <a:solidFill>
                  <a:schemeClr val="bg1"/>
                </a:solidFill>
                <a:ea typeface="Calibri Light"/>
                <a:cs typeface="Calibri Light"/>
              </a:rPr>
              <a:t>External Validators</a:t>
            </a:r>
            <a:endParaRPr lang="en-US" sz="1400" b="0" i="0" u="none" strike="noStrike" kern="0" cap="none" spc="0" normalizeH="0" baseline="0" noProof="0">
              <a:ln>
                <a:noFill/>
              </a:ln>
              <a:solidFill>
                <a:schemeClr val="bg1"/>
              </a:solidFill>
              <a:effectLst/>
              <a:uLnTx/>
              <a:uFillTx/>
              <a:ea typeface="Calibri Light"/>
              <a:cs typeface="Calibri Light"/>
            </a:endParaRPr>
          </a:p>
        </p:txBody>
      </p:sp>
      <p:sp>
        <p:nvSpPr>
          <p:cNvPr id="13" name="Rectangle 12">
            <a:extLst>
              <a:ext uri="{FF2B5EF4-FFF2-40B4-BE49-F238E27FC236}">
                <a16:creationId xmlns:a16="http://schemas.microsoft.com/office/drawing/2014/main" id="{0E9CA9A3-A8D2-7991-BE92-D671FA6180FA}"/>
              </a:ext>
            </a:extLst>
          </p:cNvPr>
          <p:cNvSpPr/>
          <p:nvPr/>
        </p:nvSpPr>
        <p:spPr>
          <a:xfrm>
            <a:off x="2201338" y="5198538"/>
            <a:ext cx="4325695" cy="827794"/>
          </a:xfrm>
          <a:prstGeom prst="rect">
            <a:avLst/>
          </a:prstGeom>
          <a:solidFill>
            <a:schemeClr val="bg1">
              <a:lumMod val="75000"/>
            </a:schemeClr>
          </a:solidFill>
          <a:ln w="6350" cap="flat" cmpd="sng" algn="ctr">
            <a:noFill/>
            <a:prstDash val="solid"/>
            <a:miter lim="800000"/>
          </a:ln>
          <a:effectLst/>
        </p:spPr>
        <p:txBody>
          <a:bodyPr lIns="0" tIns="0" rIns="0" bIns="0" rtlCol="0" anchor="ctr"/>
          <a:lstStyle/>
          <a:p>
            <a:pPr algn="ctr" defTabSz="685572">
              <a:lnSpc>
                <a:spcPct val="90000"/>
              </a:lnSpc>
              <a:defRPr/>
            </a:pPr>
            <a:r>
              <a:rPr lang="en-US" sz="1200" kern="0">
                <a:solidFill>
                  <a:schemeClr val="tx2"/>
                </a:solidFill>
                <a:ea typeface="Calibri Light"/>
                <a:cs typeface="Calibri Light"/>
              </a:rPr>
              <a:t>“BRAND-LED” AND OWNED </a:t>
            </a:r>
          </a:p>
          <a:p>
            <a:pPr algn="ctr" defTabSz="685572">
              <a:lnSpc>
                <a:spcPct val="90000"/>
              </a:lnSpc>
              <a:defRPr/>
            </a:pPr>
            <a:r>
              <a:rPr lang="en-US" sz="1200" kern="0">
                <a:solidFill>
                  <a:schemeClr val="tx2"/>
                </a:solidFill>
                <a:ea typeface="Calibri Light"/>
                <a:cs typeface="Calibri Light"/>
              </a:rPr>
              <a:t>(Social Media, Corporate Newsletter, Fireside Chats)</a:t>
            </a:r>
          </a:p>
        </p:txBody>
      </p:sp>
      <p:sp>
        <p:nvSpPr>
          <p:cNvPr id="14" name="Rectangle 13">
            <a:extLst>
              <a:ext uri="{FF2B5EF4-FFF2-40B4-BE49-F238E27FC236}">
                <a16:creationId xmlns:a16="http://schemas.microsoft.com/office/drawing/2014/main" id="{3685037F-0CCB-85E2-CF94-61A85982BB22}"/>
              </a:ext>
            </a:extLst>
          </p:cNvPr>
          <p:cNvSpPr/>
          <p:nvPr/>
        </p:nvSpPr>
        <p:spPr>
          <a:xfrm>
            <a:off x="241247" y="4733353"/>
            <a:ext cx="1670175" cy="246221"/>
          </a:xfrm>
          <a:prstGeom prst="rect">
            <a:avLst/>
          </a:prstGeom>
        </p:spPr>
        <p:txBody>
          <a:bodyPr wrap="square" anchor="ctr">
            <a:spAutoFit/>
          </a:bodyPr>
          <a:lstStyle/>
          <a:p>
            <a:pPr marL="0" marR="0" lvl="0" indent="0" algn="r" defTabSz="913852" rtl="0" eaLnBrk="1" fontAlgn="auto" latinLnBrk="0" hangingPunct="1">
              <a:lnSpc>
                <a:spcPct val="100000"/>
              </a:lnSpc>
              <a:spcBef>
                <a:spcPts val="0"/>
              </a:spcBef>
              <a:spcAft>
                <a:spcPts val="0"/>
              </a:spcAft>
              <a:buClrTx/>
              <a:buSzTx/>
              <a:buFontTx/>
              <a:buNone/>
              <a:tabLst/>
              <a:defRPr/>
            </a:pPr>
            <a:r>
              <a:rPr kumimoji="0" lang="en-US" sz="1000" b="0" i="0" u="none" strike="noStrike" kern="1200" cap="all" spc="0" normalizeH="0" baseline="0" noProof="0">
                <a:ln>
                  <a:noFill/>
                </a:ln>
                <a:solidFill>
                  <a:prstClr val="black"/>
                </a:solidFill>
                <a:effectLst/>
                <a:uLnTx/>
                <a:uFillTx/>
                <a:ea typeface="Calibri Light"/>
                <a:cs typeface="Calibri Light"/>
              </a:rPr>
              <a:t>HOW IT COMES TO LIFE</a:t>
            </a:r>
          </a:p>
        </p:txBody>
      </p:sp>
      <p:sp>
        <p:nvSpPr>
          <p:cNvPr id="15" name="Rectangle 14">
            <a:extLst>
              <a:ext uri="{FF2B5EF4-FFF2-40B4-BE49-F238E27FC236}">
                <a16:creationId xmlns:a16="http://schemas.microsoft.com/office/drawing/2014/main" id="{EBED8D3A-8104-8C45-86E9-222A711630A6}"/>
              </a:ext>
            </a:extLst>
          </p:cNvPr>
          <p:cNvSpPr/>
          <p:nvPr/>
        </p:nvSpPr>
        <p:spPr>
          <a:xfrm>
            <a:off x="2169288" y="4561837"/>
            <a:ext cx="3055376" cy="428009"/>
          </a:xfrm>
          <a:prstGeom prst="rect">
            <a:avLst/>
          </a:prstGeom>
          <a:solidFill>
            <a:schemeClr val="accent6"/>
          </a:solidFill>
          <a:ln w="6350" cap="flat" cmpd="sng" algn="ctr">
            <a:noFill/>
            <a:prstDash val="solid"/>
            <a:miter lim="800000"/>
          </a:ln>
          <a:effectLst/>
        </p:spPr>
        <p:txBody>
          <a:bodyPr lIns="68580" tIns="34290" rIns="68580" bIns="34290" rtlCol="0" anchor="ctr"/>
          <a:lstStyle/>
          <a:p>
            <a:pPr algn="ctr" defTabSz="685572">
              <a:defRPr/>
            </a:pPr>
            <a:r>
              <a:rPr kumimoji="0" lang="en-US" sz="1400" b="0" i="0" u="none" strike="noStrike" kern="0" cap="none" spc="0" normalizeH="0" baseline="0" noProof="0">
                <a:ln>
                  <a:noFill/>
                </a:ln>
                <a:solidFill>
                  <a:prstClr val="white"/>
                </a:solidFill>
                <a:effectLst/>
                <a:uLnTx/>
                <a:uFillTx/>
                <a:ea typeface="Calibri Light"/>
                <a:cs typeface="Calibri Light"/>
              </a:rPr>
              <a:t>BMP Leader</a:t>
            </a:r>
            <a:r>
              <a:rPr lang="en-US" sz="1400" kern="0">
                <a:solidFill>
                  <a:prstClr val="white"/>
                </a:solidFill>
                <a:ea typeface="Calibri Light"/>
                <a:cs typeface="Calibri Light"/>
              </a:rPr>
              <a:t> Perspectives</a:t>
            </a:r>
            <a:endParaRPr lang="en-US" sz="1400" b="0" i="0" u="none" strike="noStrike" kern="0" cap="none" spc="0" normalizeH="0" baseline="0" noProof="0">
              <a:ln>
                <a:noFill/>
              </a:ln>
              <a:solidFill>
                <a:prstClr val="white"/>
              </a:solidFill>
              <a:effectLst/>
              <a:uLnTx/>
              <a:uFillTx/>
              <a:ea typeface="Calibri Light"/>
              <a:cs typeface="Calibri Light"/>
            </a:endParaRPr>
          </a:p>
        </p:txBody>
      </p:sp>
      <p:sp>
        <p:nvSpPr>
          <p:cNvPr id="16" name="Rectangle 15">
            <a:extLst>
              <a:ext uri="{FF2B5EF4-FFF2-40B4-BE49-F238E27FC236}">
                <a16:creationId xmlns:a16="http://schemas.microsoft.com/office/drawing/2014/main" id="{7DE98C1B-BDAD-A067-5B75-2AEFEAEFA04D}"/>
              </a:ext>
            </a:extLst>
          </p:cNvPr>
          <p:cNvSpPr/>
          <p:nvPr/>
        </p:nvSpPr>
        <p:spPr>
          <a:xfrm>
            <a:off x="5482530" y="4548576"/>
            <a:ext cx="2957381" cy="408314"/>
          </a:xfrm>
          <a:prstGeom prst="rect">
            <a:avLst/>
          </a:prstGeom>
          <a:solidFill>
            <a:schemeClr val="accent6"/>
          </a:solidFill>
          <a:ln w="6350" cap="flat" cmpd="sng" algn="ctr">
            <a:noFill/>
            <a:prstDash val="solid"/>
            <a:miter lim="800000"/>
          </a:ln>
          <a:effectLst/>
        </p:spPr>
        <p:txBody>
          <a:bodyPr lIns="0" tIns="0" rIns="0" bIns="0" rtlCol="0" anchor="ctr"/>
          <a:lstStyle/>
          <a:p>
            <a:pPr algn="ctr" defTabSz="685572">
              <a:defRPr/>
            </a:pPr>
            <a:r>
              <a:rPr lang="en-US" sz="1400" kern="0">
                <a:solidFill>
                  <a:srgbClr val="FFFFFF"/>
                </a:solidFill>
                <a:ea typeface="Calibri Light"/>
                <a:cs typeface="Calibri Light"/>
              </a:rPr>
              <a:t>Investee Stories </a:t>
            </a:r>
            <a:endParaRPr lang="en-US" sz="1400" b="0" i="0" u="none" strike="noStrike" kern="0" cap="none" spc="0" normalizeH="0" baseline="0" noProof="0">
              <a:ln>
                <a:noFill/>
              </a:ln>
              <a:solidFill>
                <a:srgbClr val="FFFFFF"/>
              </a:solidFill>
              <a:effectLst/>
              <a:uLnTx/>
              <a:uFillTx/>
              <a:ea typeface="Calibri Light"/>
              <a:cs typeface="Calibri Light"/>
            </a:endParaRPr>
          </a:p>
        </p:txBody>
      </p:sp>
      <p:sp>
        <p:nvSpPr>
          <p:cNvPr id="17" name="Rectangle 16">
            <a:extLst>
              <a:ext uri="{FF2B5EF4-FFF2-40B4-BE49-F238E27FC236}">
                <a16:creationId xmlns:a16="http://schemas.microsoft.com/office/drawing/2014/main" id="{74DE830A-44A7-4E2E-9898-056C1832A104}"/>
              </a:ext>
            </a:extLst>
          </p:cNvPr>
          <p:cNvSpPr/>
          <p:nvPr/>
        </p:nvSpPr>
        <p:spPr>
          <a:xfrm>
            <a:off x="7144645" y="5198862"/>
            <a:ext cx="4009794" cy="827794"/>
          </a:xfrm>
          <a:prstGeom prst="rect">
            <a:avLst/>
          </a:prstGeom>
          <a:solidFill>
            <a:schemeClr val="bg1">
              <a:lumMod val="75000"/>
            </a:schemeClr>
          </a:solidFill>
          <a:ln w="6350" cap="flat" cmpd="sng" algn="ctr">
            <a:noFill/>
            <a:prstDash val="solid"/>
            <a:miter lim="800000"/>
          </a:ln>
          <a:effectLst/>
        </p:spPr>
        <p:txBody>
          <a:bodyPr lIns="0" tIns="0" rIns="0" bIns="0" rtlCol="0" anchor="ctr" anchorCtr="0"/>
          <a:lstStyle/>
          <a:p>
            <a:pPr algn="ctr" defTabSz="685572">
              <a:lnSpc>
                <a:spcPct val="90000"/>
              </a:lnSpc>
              <a:defRPr/>
            </a:pPr>
            <a:r>
              <a:rPr lang="en-US" sz="1200" kern="0">
                <a:solidFill>
                  <a:schemeClr val="tx2"/>
                </a:solidFill>
                <a:ea typeface="Calibri Light"/>
                <a:cs typeface="Calibri Light"/>
              </a:rPr>
              <a:t> EARNED</a:t>
            </a:r>
          </a:p>
          <a:p>
            <a:pPr algn="ctr" defTabSz="685572">
              <a:lnSpc>
                <a:spcPct val="90000"/>
              </a:lnSpc>
              <a:defRPr/>
            </a:pPr>
            <a:r>
              <a:rPr lang="en-US" sz="1200" kern="0">
                <a:solidFill>
                  <a:schemeClr val="tx2"/>
                </a:solidFill>
                <a:ea typeface="Calibri Light"/>
                <a:cs typeface="Calibri Light"/>
              </a:rPr>
              <a:t>(Earned Media, External Events, Awards)</a:t>
            </a:r>
          </a:p>
        </p:txBody>
      </p:sp>
      <p:sp>
        <p:nvSpPr>
          <p:cNvPr id="19" name="Rectangle 18">
            <a:extLst>
              <a:ext uri="{FF2B5EF4-FFF2-40B4-BE49-F238E27FC236}">
                <a16:creationId xmlns:a16="http://schemas.microsoft.com/office/drawing/2014/main" id="{91BC95B2-08D1-18D5-A193-A8362F9F2C62}"/>
              </a:ext>
            </a:extLst>
          </p:cNvPr>
          <p:cNvSpPr/>
          <p:nvPr/>
        </p:nvSpPr>
        <p:spPr>
          <a:xfrm>
            <a:off x="228600" y="2610878"/>
            <a:ext cx="1730236" cy="400110"/>
          </a:xfrm>
          <a:prstGeom prst="rect">
            <a:avLst/>
          </a:prstGeom>
        </p:spPr>
        <p:txBody>
          <a:bodyPr wrap="square" anchor="ctr">
            <a:spAutoFit/>
          </a:bodyPr>
          <a:lstStyle/>
          <a:p>
            <a:pPr marL="0" marR="0" lvl="0" indent="0" algn="r" defTabSz="913852" rtl="0" eaLnBrk="1" fontAlgn="auto" latinLnBrk="0" hangingPunct="1">
              <a:lnSpc>
                <a:spcPct val="100000"/>
              </a:lnSpc>
              <a:spcBef>
                <a:spcPts val="0"/>
              </a:spcBef>
              <a:spcAft>
                <a:spcPts val="0"/>
              </a:spcAft>
              <a:buClrTx/>
              <a:buSzTx/>
              <a:buFontTx/>
              <a:buNone/>
              <a:tabLst/>
              <a:defRPr/>
            </a:pPr>
            <a:r>
              <a:rPr kumimoji="0" lang="en-US" sz="1000" b="0" i="0" u="none" strike="noStrike" kern="1200" cap="all" spc="0" normalizeH="0" baseline="0" noProof="0">
                <a:ln>
                  <a:noFill/>
                </a:ln>
                <a:solidFill>
                  <a:prstClr val="black"/>
                </a:solidFill>
                <a:effectLst/>
                <a:uLnTx/>
                <a:uFillTx/>
                <a:ea typeface="Calibri Light"/>
                <a:cs typeface="Calibri Light"/>
              </a:rPr>
              <a:t>OVERARCHING MESSAGE</a:t>
            </a:r>
          </a:p>
          <a:p>
            <a:pPr marL="0" marR="0" lvl="0" indent="0" algn="r" defTabSz="913852" rtl="0" eaLnBrk="1" fontAlgn="auto" latinLnBrk="0" hangingPunct="1">
              <a:lnSpc>
                <a:spcPct val="100000"/>
              </a:lnSpc>
              <a:spcBef>
                <a:spcPts val="0"/>
              </a:spcBef>
              <a:spcAft>
                <a:spcPts val="0"/>
              </a:spcAft>
              <a:buClrTx/>
              <a:buSzTx/>
              <a:buFontTx/>
              <a:buNone/>
              <a:tabLst/>
              <a:defRPr/>
            </a:pPr>
            <a:r>
              <a:rPr lang="en-US" sz="1000" cap="all">
                <a:solidFill>
                  <a:prstClr val="black"/>
                </a:solidFill>
                <a:ea typeface="Calibri Light"/>
                <a:cs typeface="Calibri Light"/>
              </a:rPr>
              <a:t>2025-2027</a:t>
            </a:r>
            <a:endParaRPr kumimoji="0" lang="en-US" sz="1000" b="0" i="0" u="none" strike="noStrike" kern="1200" cap="all" spc="0" normalizeH="0" baseline="0" noProof="0">
              <a:ln>
                <a:noFill/>
              </a:ln>
              <a:solidFill>
                <a:prstClr val="black"/>
              </a:solidFill>
              <a:effectLst/>
              <a:uLnTx/>
              <a:uFillTx/>
              <a:ea typeface="Calibri Light"/>
              <a:cs typeface="Calibri Light"/>
            </a:endParaRPr>
          </a:p>
        </p:txBody>
      </p:sp>
      <p:sp>
        <p:nvSpPr>
          <p:cNvPr id="20" name="Rectangle 19">
            <a:extLst>
              <a:ext uri="{FF2B5EF4-FFF2-40B4-BE49-F238E27FC236}">
                <a16:creationId xmlns:a16="http://schemas.microsoft.com/office/drawing/2014/main" id="{E30356F5-6867-3EF6-2BD0-8F13E87FEF62}"/>
              </a:ext>
            </a:extLst>
          </p:cNvPr>
          <p:cNvSpPr/>
          <p:nvPr/>
        </p:nvSpPr>
        <p:spPr>
          <a:xfrm>
            <a:off x="2063802" y="2635446"/>
            <a:ext cx="9211885" cy="344048"/>
          </a:xfrm>
          <a:prstGeom prst="rect">
            <a:avLst/>
          </a:prstGeom>
          <a:solidFill>
            <a:schemeClr val="tx2"/>
          </a:solidFill>
          <a:ln w="6350" cap="flat" cmpd="sng" algn="ctr">
            <a:noFill/>
            <a:prstDash val="solid"/>
            <a:miter lim="800000"/>
          </a:ln>
          <a:effectLst/>
        </p:spPr>
        <p:txBody>
          <a:bodyPr lIns="0" tIns="0" rIns="0" bIns="0" rtlCol="0" anchor="ctr"/>
          <a:lstStyle/>
          <a:p>
            <a:pPr marL="0" marR="0" lvl="0" indent="0" algn="ctr" defTabSz="913852" rtl="0" eaLnBrk="1" fontAlgn="auto" latinLnBrk="0" hangingPunct="1">
              <a:lnSpc>
                <a:spcPts val="1798"/>
              </a:lnSpc>
              <a:spcBef>
                <a:spcPts val="0"/>
              </a:spcBef>
              <a:spcAft>
                <a:spcPts val="600"/>
              </a:spcAft>
              <a:buClrTx/>
              <a:buSzTx/>
              <a:buFontTx/>
              <a:buNone/>
              <a:tabLst/>
              <a:defRPr/>
            </a:pPr>
            <a:r>
              <a:rPr kumimoji="0" lang="en-US" sz="1400" i="0" u="none" strike="noStrike" kern="0" cap="none" spc="0" normalizeH="0" baseline="0" noProof="0">
                <a:ln>
                  <a:noFill/>
                </a:ln>
                <a:solidFill>
                  <a:prstClr val="white"/>
                </a:solidFill>
                <a:effectLst/>
                <a:uLnTx/>
                <a:uFillTx/>
                <a:ea typeface="Calibri Light"/>
                <a:cs typeface="Calibri Light"/>
              </a:rPr>
              <a:t>Driving a ‘New Normal’ for Philanthropy</a:t>
            </a:r>
            <a:endParaRPr kumimoji="0" lang="en-US" sz="1400" i="0" u="none" strike="noStrike" kern="0" cap="none" spc="0" normalizeH="0" baseline="0" noProof="0">
              <a:ln>
                <a:noFill/>
              </a:ln>
              <a:solidFill>
                <a:prstClr val="white"/>
              </a:solidFill>
              <a:effectLst/>
              <a:highlight>
                <a:srgbClr val="FFFF00"/>
              </a:highlight>
              <a:uLnTx/>
              <a:uFillTx/>
              <a:ea typeface="Calibri Light"/>
              <a:cs typeface="Calibri Light"/>
            </a:endParaRPr>
          </a:p>
        </p:txBody>
      </p:sp>
      <p:sp>
        <p:nvSpPr>
          <p:cNvPr id="2" name="TextBox 1">
            <a:extLst>
              <a:ext uri="{FF2B5EF4-FFF2-40B4-BE49-F238E27FC236}">
                <a16:creationId xmlns:a16="http://schemas.microsoft.com/office/drawing/2014/main" id="{AC9D45DC-3D7F-65AA-B6F9-2FCC6AAB638D}"/>
              </a:ext>
            </a:extLst>
          </p:cNvPr>
          <p:cNvSpPr txBox="1"/>
          <p:nvPr/>
        </p:nvSpPr>
        <p:spPr>
          <a:xfrm>
            <a:off x="745031" y="5638076"/>
            <a:ext cx="1166391"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000" cap="all">
                <a:solidFill>
                  <a:prstClr val="black"/>
                </a:solidFill>
                <a:ea typeface="Calibri Light"/>
                <a:cs typeface="Calibri Light"/>
              </a:rPr>
              <a:t>CHANNELS </a:t>
            </a:r>
          </a:p>
        </p:txBody>
      </p:sp>
      <p:sp>
        <p:nvSpPr>
          <p:cNvPr id="4" name="Rectangle 3">
            <a:extLst>
              <a:ext uri="{FF2B5EF4-FFF2-40B4-BE49-F238E27FC236}">
                <a16:creationId xmlns:a16="http://schemas.microsoft.com/office/drawing/2014/main" id="{0D0BFB30-A612-8F2F-1998-72A453C9B6C0}"/>
              </a:ext>
            </a:extLst>
          </p:cNvPr>
          <p:cNvSpPr/>
          <p:nvPr/>
        </p:nvSpPr>
        <p:spPr>
          <a:xfrm>
            <a:off x="4462088" y="3170419"/>
            <a:ext cx="2207657" cy="1156326"/>
          </a:xfrm>
          <a:prstGeom prst="rect">
            <a:avLst/>
          </a:prstGeom>
          <a:solidFill>
            <a:schemeClr val="tx2"/>
          </a:solidFill>
          <a:ln w="6350" cap="flat" cmpd="sng" algn="ctr">
            <a:noFill/>
            <a:prstDash val="solid"/>
            <a:miter lim="800000"/>
          </a:ln>
          <a:effectLst/>
        </p:spPr>
        <p:txBody>
          <a:bodyPr lIns="91416" tIns="45708" rIns="91416" bIns="45708" rtlCol="0" anchor="ctr"/>
          <a:lstStyle/>
          <a:p>
            <a:pPr algn="ctr" defTabSz="913852">
              <a:lnSpc>
                <a:spcPct val="90000"/>
              </a:lnSpc>
              <a:defRPr/>
            </a:pPr>
            <a:r>
              <a:rPr lang="en-US" sz="1400" kern="0">
                <a:solidFill>
                  <a:prstClr val="white"/>
                </a:solidFill>
                <a:ea typeface="Calibri Light"/>
                <a:cs typeface="Calibri Light"/>
              </a:rPr>
              <a:t>Lift up social sector organizations and leaders to show diversity of BMP footprint*</a:t>
            </a:r>
          </a:p>
        </p:txBody>
      </p:sp>
      <p:sp>
        <p:nvSpPr>
          <p:cNvPr id="18" name="Rectangle 17">
            <a:extLst>
              <a:ext uri="{FF2B5EF4-FFF2-40B4-BE49-F238E27FC236}">
                <a16:creationId xmlns:a16="http://schemas.microsoft.com/office/drawing/2014/main" id="{37F4D8D1-3673-9F3E-6D34-6BD6B4FF4E23}"/>
              </a:ext>
            </a:extLst>
          </p:cNvPr>
          <p:cNvSpPr/>
          <p:nvPr/>
        </p:nvSpPr>
        <p:spPr>
          <a:xfrm>
            <a:off x="6834119" y="3170418"/>
            <a:ext cx="2207657" cy="1156326"/>
          </a:xfrm>
          <a:prstGeom prst="rect">
            <a:avLst/>
          </a:prstGeom>
          <a:solidFill>
            <a:schemeClr val="tx2"/>
          </a:solidFill>
          <a:ln w="6350" cap="flat" cmpd="sng" algn="ctr">
            <a:noFill/>
            <a:prstDash val="solid"/>
            <a:miter lim="800000"/>
          </a:ln>
          <a:effectLst/>
        </p:spPr>
        <p:txBody>
          <a:bodyPr lIns="91416" tIns="45708" rIns="91416" bIns="45708" rtlCol="0" anchor="ctr"/>
          <a:lstStyle/>
          <a:p>
            <a:pPr algn="ctr" defTabSz="913852">
              <a:lnSpc>
                <a:spcPct val="90000"/>
              </a:lnSpc>
              <a:defRPr/>
            </a:pPr>
            <a:r>
              <a:rPr lang="en-US" sz="1400" kern="0">
                <a:solidFill>
                  <a:prstClr val="white"/>
                </a:solidFill>
                <a:ea typeface="Calibri Light"/>
                <a:cs typeface="Calibri Light"/>
              </a:rPr>
              <a:t>Investments resulting in compelling individual stories of lives getting better*</a:t>
            </a:r>
          </a:p>
        </p:txBody>
      </p:sp>
      <p:sp>
        <p:nvSpPr>
          <p:cNvPr id="21" name="Rectangle 20">
            <a:extLst>
              <a:ext uri="{FF2B5EF4-FFF2-40B4-BE49-F238E27FC236}">
                <a16:creationId xmlns:a16="http://schemas.microsoft.com/office/drawing/2014/main" id="{B912CDB1-8FEC-6921-93B0-9A270594A62D}"/>
              </a:ext>
            </a:extLst>
          </p:cNvPr>
          <p:cNvSpPr/>
          <p:nvPr/>
        </p:nvSpPr>
        <p:spPr>
          <a:xfrm>
            <a:off x="9171543" y="3165503"/>
            <a:ext cx="2207657" cy="1156326"/>
          </a:xfrm>
          <a:prstGeom prst="rect">
            <a:avLst/>
          </a:prstGeom>
          <a:solidFill>
            <a:schemeClr val="tx2"/>
          </a:solidFill>
          <a:ln w="6350" cap="flat" cmpd="sng" algn="ctr">
            <a:noFill/>
            <a:prstDash val="solid"/>
            <a:miter lim="800000"/>
          </a:ln>
          <a:effectLst/>
        </p:spPr>
        <p:txBody>
          <a:bodyPr lIns="91416" tIns="45708" rIns="91416" bIns="45708" rtlCol="0" anchor="ctr"/>
          <a:lstStyle/>
          <a:p>
            <a:pPr algn="ctr" defTabSz="913852">
              <a:lnSpc>
                <a:spcPct val="90000"/>
              </a:lnSpc>
              <a:defRPr/>
            </a:pPr>
            <a:r>
              <a:rPr lang="en-US" sz="1400" kern="0">
                <a:solidFill>
                  <a:prstClr val="white"/>
                </a:solidFill>
                <a:ea typeface="Calibri Light"/>
                <a:cs typeface="Calibri Light"/>
              </a:rPr>
              <a:t>Advancing a model for transformational philanthropy</a:t>
            </a:r>
          </a:p>
        </p:txBody>
      </p:sp>
      <p:sp>
        <p:nvSpPr>
          <p:cNvPr id="22" name="TextBox 21">
            <a:extLst>
              <a:ext uri="{FF2B5EF4-FFF2-40B4-BE49-F238E27FC236}">
                <a16:creationId xmlns:a16="http://schemas.microsoft.com/office/drawing/2014/main" id="{8B480CC0-7510-ABE0-4612-D5F2D40E4012}"/>
              </a:ext>
            </a:extLst>
          </p:cNvPr>
          <p:cNvSpPr txBox="1"/>
          <p:nvPr/>
        </p:nvSpPr>
        <p:spPr>
          <a:xfrm>
            <a:off x="2244561" y="6372749"/>
            <a:ext cx="9179116" cy="246221"/>
          </a:xfrm>
          <a:prstGeom prst="rect">
            <a:avLst/>
          </a:prstGeom>
          <a:noFill/>
        </p:spPr>
        <p:txBody>
          <a:bodyPr wrap="none" rtlCol="0">
            <a:spAutoFit/>
          </a:bodyPr>
          <a:lstStyle/>
          <a:p>
            <a:r>
              <a:rPr lang="en-US" sz="1000">
                <a:solidFill>
                  <a:schemeClr val="bg1"/>
                </a:solidFill>
              </a:rPr>
              <a:t>*Most likely where we will include “small I” impact examples using specific investees, to show individuals helped by our investments through asset framing of their potential.</a:t>
            </a:r>
          </a:p>
        </p:txBody>
      </p:sp>
    </p:spTree>
    <p:extLst>
      <p:ext uri="{BB962C8B-B14F-4D97-AF65-F5344CB8AC3E}">
        <p14:creationId xmlns:p14="http://schemas.microsoft.com/office/powerpoint/2010/main" val="830400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CCC76-7854-8222-63EA-7C7F1A54593D}"/>
              </a:ext>
            </a:extLst>
          </p:cNvPr>
          <p:cNvSpPr>
            <a:spLocks noGrp="1"/>
          </p:cNvSpPr>
          <p:nvPr>
            <p:ph type="title"/>
          </p:nvPr>
        </p:nvSpPr>
        <p:spPr/>
        <p:txBody>
          <a:bodyPr/>
          <a:lstStyle/>
          <a:p>
            <a:r>
              <a:rPr lang="en-US">
                <a:latin typeface="LeMonde Livre"/>
              </a:rPr>
              <a:t>BMP Differentiators</a:t>
            </a:r>
            <a:endParaRPr lang="en-US"/>
          </a:p>
        </p:txBody>
      </p:sp>
      <p:sp>
        <p:nvSpPr>
          <p:cNvPr id="4" name="Date Placeholder 3">
            <a:extLst>
              <a:ext uri="{FF2B5EF4-FFF2-40B4-BE49-F238E27FC236}">
                <a16:creationId xmlns:a16="http://schemas.microsoft.com/office/drawing/2014/main" id="{2327E962-71C9-6E0C-63BB-19D0E7B3B5C7}"/>
              </a:ext>
            </a:extLst>
          </p:cNvPr>
          <p:cNvSpPr>
            <a:spLocks noGrp="1"/>
          </p:cNvSpPr>
          <p:nvPr>
            <p:ph type="dt" sz="half" idx="10"/>
          </p:nvPr>
        </p:nvSpPr>
        <p:spPr/>
        <p:txBody>
          <a:bodyPr/>
          <a:lstStyle/>
          <a:p>
            <a:fld id="{650C06C5-D780-4D1F-AE8E-AE7AC74236CD}" type="datetime1">
              <a:rPr lang="en-US"/>
              <a:t>5/30/2025</a:t>
            </a:fld>
            <a:endParaRPr lang="en-US"/>
          </a:p>
        </p:txBody>
      </p:sp>
      <p:sp>
        <p:nvSpPr>
          <p:cNvPr id="5" name="Rectangle 4">
            <a:extLst>
              <a:ext uri="{FF2B5EF4-FFF2-40B4-BE49-F238E27FC236}">
                <a16:creationId xmlns:a16="http://schemas.microsoft.com/office/drawing/2014/main" id="{9838280D-7401-F32E-E3D9-AFF61158F506}"/>
              </a:ext>
            </a:extLst>
          </p:cNvPr>
          <p:cNvSpPr/>
          <p:nvPr/>
        </p:nvSpPr>
        <p:spPr>
          <a:xfrm>
            <a:off x="215796" y="2214261"/>
            <a:ext cx="3873622" cy="1557639"/>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a:solidFill>
                <a:schemeClr val="tx2"/>
              </a:solidFill>
            </a:endParaRPr>
          </a:p>
          <a:p>
            <a:pPr algn="ctr"/>
            <a:r>
              <a:rPr lang="en-US" sz="1600">
                <a:solidFill>
                  <a:schemeClr val="tx2"/>
                </a:solidFill>
              </a:rPr>
              <a:t>A CULTURE OF CONTINUOUS EVOLUTION</a:t>
            </a:r>
            <a:endParaRPr lang="en-US" sz="1100">
              <a:solidFill>
                <a:srgbClr val="000000"/>
              </a:solidFill>
            </a:endParaRPr>
          </a:p>
          <a:p>
            <a:pPr marL="285750" indent="-285750" algn="ctr">
              <a:buFont typeface="Arial"/>
              <a:buChar char="•"/>
            </a:pPr>
            <a:endParaRPr lang="en-US" sz="1100">
              <a:solidFill>
                <a:srgbClr val="000000"/>
              </a:solidFill>
              <a:ea typeface="+mn-lt"/>
              <a:cs typeface="+mn-lt"/>
            </a:endParaRPr>
          </a:p>
          <a:p>
            <a:pPr marL="285750" indent="-285750">
              <a:buFont typeface="Arial"/>
              <a:buChar char="•"/>
            </a:pPr>
            <a:r>
              <a:rPr lang="en-US" sz="1000">
                <a:solidFill>
                  <a:srgbClr val="000000"/>
                </a:solidFill>
              </a:rPr>
              <a:t>Ongoing sourcing for evidence-based, promising solutions</a:t>
            </a:r>
          </a:p>
          <a:p>
            <a:pPr marL="285750" indent="-285750">
              <a:buFont typeface="Arial"/>
              <a:buChar char="•"/>
            </a:pPr>
            <a:r>
              <a:rPr lang="en-US" sz="1000">
                <a:solidFill>
                  <a:srgbClr val="000000"/>
                </a:solidFill>
              </a:rPr>
              <a:t>Nimble enough to respond to emerging challenges facing investees but sizeable enough to make meaningful contributions (e.g., $100M+ in COVID-19 emergency relief and $80M+ for the education recovery)</a:t>
            </a:r>
          </a:p>
          <a:p>
            <a:pPr algn="ctr"/>
            <a:endParaRPr lang="en-US" sz="1100">
              <a:solidFill>
                <a:srgbClr val="000000"/>
              </a:solidFill>
            </a:endParaRPr>
          </a:p>
          <a:p>
            <a:pPr marL="171450" indent="-171450">
              <a:buFont typeface="Arial" panose="020B0604020202020204" pitchFamily="34" charset="0"/>
              <a:buChar char="•"/>
            </a:pPr>
            <a:endParaRPr lang="en-US" sz="1200">
              <a:solidFill>
                <a:schemeClr val="tx2"/>
              </a:solidFill>
            </a:endParaRPr>
          </a:p>
        </p:txBody>
      </p:sp>
      <p:sp>
        <p:nvSpPr>
          <p:cNvPr id="7" name="Rectangle 6">
            <a:extLst>
              <a:ext uri="{FF2B5EF4-FFF2-40B4-BE49-F238E27FC236}">
                <a16:creationId xmlns:a16="http://schemas.microsoft.com/office/drawing/2014/main" id="{12075A65-8064-4429-D3BD-286AC55DD879}"/>
              </a:ext>
            </a:extLst>
          </p:cNvPr>
          <p:cNvSpPr/>
          <p:nvPr/>
        </p:nvSpPr>
        <p:spPr>
          <a:xfrm>
            <a:off x="4305921" y="2204231"/>
            <a:ext cx="3866278" cy="155763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a:solidFill>
                <a:schemeClr val="tx2"/>
              </a:solidFill>
            </a:endParaRPr>
          </a:p>
          <a:p>
            <a:pPr algn="ctr"/>
            <a:endParaRPr lang="en-US" sz="1600">
              <a:solidFill>
                <a:schemeClr val="tx2"/>
              </a:solidFill>
            </a:endParaRPr>
          </a:p>
          <a:p>
            <a:pPr algn="ctr"/>
            <a:r>
              <a:rPr lang="en-US" sz="1600">
                <a:solidFill>
                  <a:schemeClr val="tx2"/>
                </a:solidFill>
              </a:rPr>
              <a:t>SOLUTIONS THAT SCALE</a:t>
            </a:r>
            <a:endParaRPr lang="en-US">
              <a:solidFill>
                <a:schemeClr val="tx2"/>
              </a:solidFill>
            </a:endParaRPr>
          </a:p>
          <a:p>
            <a:endParaRPr lang="en-US" sz="1000">
              <a:solidFill>
                <a:srgbClr val="000000"/>
              </a:solidFill>
            </a:endParaRPr>
          </a:p>
          <a:p>
            <a:pPr marL="285750" indent="-285750">
              <a:buFont typeface="Arial"/>
              <a:buChar char="•"/>
            </a:pPr>
            <a:r>
              <a:rPr lang="en-US" sz="1000">
                <a:solidFill>
                  <a:srgbClr val="000000"/>
                </a:solidFill>
              </a:rPr>
              <a:t>Providing leaders with multi-year, multi-million-dollar investments of flexible funding, often $100M or more.</a:t>
            </a:r>
            <a:endParaRPr lang="en-US"/>
          </a:p>
          <a:p>
            <a:pPr marL="285750" indent="-285750">
              <a:buFont typeface="Arial"/>
              <a:buChar char="•"/>
            </a:pPr>
            <a:r>
              <a:rPr lang="en-US" sz="1000">
                <a:solidFill>
                  <a:srgbClr val="000000"/>
                </a:solidFill>
              </a:rPr>
              <a:t>Making concentrated investments in specific issue areas with outsized potential to foster economic mobility</a:t>
            </a:r>
          </a:p>
          <a:p>
            <a:pPr marL="285750" indent="-285750">
              <a:buFont typeface="Arial"/>
              <a:buChar char="•"/>
            </a:pPr>
            <a:r>
              <a:rPr lang="en-US" sz="1000">
                <a:solidFill>
                  <a:srgbClr val="000000"/>
                </a:solidFill>
              </a:rPr>
              <a:t>Preparing more organizations to scale so that we build our investment pipeline over time</a:t>
            </a:r>
          </a:p>
          <a:p>
            <a:pPr marL="285750" indent="-285750">
              <a:buFont typeface="Arial"/>
              <a:buChar char="•"/>
            </a:pPr>
            <a:endParaRPr lang="en-US" sz="1100">
              <a:solidFill>
                <a:srgbClr val="000000"/>
              </a:solidFill>
            </a:endParaRPr>
          </a:p>
          <a:p>
            <a:pPr marL="285750" indent="-285750">
              <a:buFont typeface="Arial"/>
              <a:buChar char="•"/>
            </a:pPr>
            <a:endParaRPr lang="en-US" sz="1100">
              <a:solidFill>
                <a:srgbClr val="000000"/>
              </a:solidFill>
            </a:endParaRPr>
          </a:p>
          <a:p>
            <a:pPr marL="285750" indent="-285750">
              <a:buFont typeface="Arial"/>
              <a:buChar char="•"/>
            </a:pPr>
            <a:endParaRPr lang="en-US" sz="1100">
              <a:solidFill>
                <a:srgbClr val="000000"/>
              </a:solidFill>
            </a:endParaRPr>
          </a:p>
        </p:txBody>
      </p:sp>
      <p:sp>
        <p:nvSpPr>
          <p:cNvPr id="8" name="Rectangle 7">
            <a:extLst>
              <a:ext uri="{FF2B5EF4-FFF2-40B4-BE49-F238E27FC236}">
                <a16:creationId xmlns:a16="http://schemas.microsoft.com/office/drawing/2014/main" id="{4D824BA0-B906-F0DA-066C-277F841049BE}"/>
              </a:ext>
            </a:extLst>
          </p:cNvPr>
          <p:cNvSpPr/>
          <p:nvPr/>
        </p:nvSpPr>
        <p:spPr>
          <a:xfrm>
            <a:off x="8363224" y="2214262"/>
            <a:ext cx="3645939" cy="155763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600">
                <a:solidFill>
                  <a:schemeClr val="tx2"/>
                </a:solidFill>
              </a:rPr>
              <a:t> A COLLABORATIVE COMMUNITY </a:t>
            </a:r>
          </a:p>
          <a:p>
            <a:endParaRPr lang="en-US" sz="1100">
              <a:solidFill>
                <a:srgbClr val="000000"/>
              </a:solidFill>
              <a:ea typeface="+mn-lt"/>
              <a:cs typeface="+mn-lt"/>
            </a:endParaRPr>
          </a:p>
          <a:p>
            <a:endParaRPr lang="en-US" sz="1000">
              <a:solidFill>
                <a:srgbClr val="000000"/>
              </a:solidFill>
              <a:ea typeface="+mn-lt"/>
              <a:cs typeface="+mn-lt"/>
            </a:endParaRPr>
          </a:p>
          <a:p>
            <a:pPr marL="285750" indent="-285750">
              <a:buFont typeface="Arial"/>
              <a:buChar char="•"/>
            </a:pPr>
            <a:r>
              <a:rPr lang="en-US" sz="1000">
                <a:solidFill>
                  <a:srgbClr val="000000"/>
                </a:solidFill>
              </a:rPr>
              <a:t>Providing intentional learning spaces for partners</a:t>
            </a:r>
          </a:p>
          <a:p>
            <a:pPr marL="285750" indent="-285750">
              <a:buFont typeface="Arial"/>
              <a:buChar char="•"/>
            </a:pPr>
            <a:r>
              <a:rPr lang="en-US" sz="1000">
                <a:solidFill>
                  <a:srgbClr val="000000"/>
                </a:solidFill>
              </a:rPr>
              <a:t>Growing body of partners have pooled over $4.5B in capital to date, with ambition for more growth</a:t>
            </a:r>
          </a:p>
          <a:p>
            <a:pPr marL="285750" indent="-285750">
              <a:buFont typeface="Arial"/>
              <a:buChar char="•"/>
            </a:pPr>
            <a:endParaRPr lang="en-US" sz="1000">
              <a:solidFill>
                <a:srgbClr val="000000"/>
              </a:solidFill>
            </a:endParaRPr>
          </a:p>
          <a:p>
            <a:pPr marL="285750" indent="-285750">
              <a:buFont typeface="Arial"/>
              <a:buChar char="•"/>
            </a:pPr>
            <a:endParaRPr lang="en-US" sz="1000">
              <a:solidFill>
                <a:srgbClr val="000000"/>
              </a:solidFill>
              <a:highlight>
                <a:srgbClr val="FFFF00"/>
              </a:highlight>
            </a:endParaRPr>
          </a:p>
        </p:txBody>
      </p:sp>
      <p:sp>
        <p:nvSpPr>
          <p:cNvPr id="9" name="Rectangle 8">
            <a:extLst>
              <a:ext uri="{FF2B5EF4-FFF2-40B4-BE49-F238E27FC236}">
                <a16:creationId xmlns:a16="http://schemas.microsoft.com/office/drawing/2014/main" id="{EB1A9BF1-B839-5FB2-66C0-F74C453328A1}"/>
              </a:ext>
            </a:extLst>
          </p:cNvPr>
          <p:cNvSpPr/>
          <p:nvPr/>
        </p:nvSpPr>
        <p:spPr>
          <a:xfrm>
            <a:off x="6239060" y="3949638"/>
            <a:ext cx="4390286" cy="15249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a:solidFill>
                <a:schemeClr val="tx2"/>
              </a:solidFill>
            </a:endParaRPr>
          </a:p>
          <a:p>
            <a:pPr algn="ctr"/>
            <a:r>
              <a:rPr lang="en-US" sz="1600">
                <a:solidFill>
                  <a:schemeClr val="tx2"/>
                </a:solidFill>
              </a:rPr>
              <a:t>RIGOROUS DUE DILIGENCE</a:t>
            </a:r>
            <a:endParaRPr lang="en-US">
              <a:solidFill>
                <a:schemeClr val="tx2"/>
              </a:solidFill>
            </a:endParaRPr>
          </a:p>
          <a:p>
            <a:pPr algn="ctr"/>
            <a:endParaRPr lang="en-US" sz="1000">
              <a:solidFill>
                <a:srgbClr val="000000"/>
              </a:solidFill>
              <a:ea typeface="+mn-lt"/>
              <a:cs typeface="+mn-lt"/>
            </a:endParaRPr>
          </a:p>
          <a:p>
            <a:pPr marL="445770" lvl="1" indent="-171450">
              <a:lnSpc>
                <a:spcPct val="90000"/>
              </a:lnSpc>
              <a:spcAft>
                <a:spcPts val="400"/>
              </a:spcAft>
              <a:buFont typeface="Arial"/>
              <a:buChar char="•"/>
            </a:pPr>
            <a:r>
              <a:rPr lang="en-US" sz="1000">
                <a:solidFill>
                  <a:srgbClr val="000000"/>
                </a:solidFill>
                <a:ea typeface="+mn-lt"/>
                <a:cs typeface="+mn-lt"/>
              </a:rPr>
              <a:t>Rigorous</a:t>
            </a:r>
            <a:r>
              <a:rPr lang="en-US" sz="1000">
                <a:solidFill>
                  <a:srgbClr val="000000"/>
                </a:solidFill>
              </a:rPr>
              <a:t> due diligence in vetting and planning investments that is highly respected by peers</a:t>
            </a:r>
            <a:endParaRPr lang="en-US"/>
          </a:p>
          <a:p>
            <a:pPr marL="365760" lvl="1" indent="-91440">
              <a:lnSpc>
                <a:spcPct val="90000"/>
              </a:lnSpc>
              <a:spcAft>
                <a:spcPts val="400"/>
              </a:spcAft>
              <a:buFont typeface="Arial"/>
              <a:buChar char="•"/>
            </a:pPr>
            <a:endParaRPr lang="en-US" sz="1000">
              <a:solidFill>
                <a:srgbClr val="000000"/>
              </a:solidFill>
              <a:highlight>
                <a:srgbClr val="FFFF00"/>
              </a:highlight>
              <a:ea typeface="+mn-lt"/>
              <a:cs typeface="+mn-lt"/>
            </a:endParaRPr>
          </a:p>
          <a:p>
            <a:pPr marL="365760" lvl="1" indent="-91440">
              <a:lnSpc>
                <a:spcPct val="90000"/>
              </a:lnSpc>
              <a:spcAft>
                <a:spcPts val="400"/>
              </a:spcAft>
              <a:buFont typeface="Arial"/>
              <a:buChar char="•"/>
            </a:pPr>
            <a:endParaRPr lang="en-US" sz="1000">
              <a:solidFill>
                <a:srgbClr val="000000"/>
              </a:solidFill>
              <a:ea typeface="+mn-lt"/>
              <a:cs typeface="+mn-lt"/>
            </a:endParaRPr>
          </a:p>
          <a:p>
            <a:pPr marL="365760" lvl="1" indent="-91440">
              <a:lnSpc>
                <a:spcPct val="90000"/>
              </a:lnSpc>
              <a:spcAft>
                <a:spcPts val="400"/>
              </a:spcAft>
              <a:buFont typeface="Arial"/>
              <a:buChar char="•"/>
            </a:pPr>
            <a:endParaRPr lang="en-US" sz="1000">
              <a:solidFill>
                <a:srgbClr val="000000"/>
              </a:solidFill>
              <a:ea typeface="+mn-lt"/>
              <a:cs typeface="+mn-lt"/>
            </a:endParaRPr>
          </a:p>
          <a:p>
            <a:pPr marL="285750" indent="-285750">
              <a:buFont typeface="Arial" panose="020B0604020202020204" pitchFamily="34" charset="0"/>
              <a:buChar char="•"/>
            </a:pPr>
            <a:endParaRPr lang="en-US" sz="1200">
              <a:solidFill>
                <a:schemeClr val="tx2"/>
              </a:solidFill>
            </a:endParaRPr>
          </a:p>
        </p:txBody>
      </p:sp>
      <p:sp>
        <p:nvSpPr>
          <p:cNvPr id="3" name="TextBox 2">
            <a:extLst>
              <a:ext uri="{FF2B5EF4-FFF2-40B4-BE49-F238E27FC236}">
                <a16:creationId xmlns:a16="http://schemas.microsoft.com/office/drawing/2014/main" id="{92C5901E-6804-C21F-4342-53987AF8095C}"/>
              </a:ext>
            </a:extLst>
          </p:cNvPr>
          <p:cNvSpPr txBox="1"/>
          <p:nvPr/>
        </p:nvSpPr>
        <p:spPr>
          <a:xfrm>
            <a:off x="814788" y="1050468"/>
            <a:ext cx="11043684"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BMP was created as an antithesis to some of the longstanding critiques of traditional philanthropy (e.g. rigid and restricted funding models). While we acknowledge the strengths of other peers or near peers in the philanthropic space who are taking strides towards more innovative funding models, the </a:t>
            </a:r>
            <a:r>
              <a:rPr lang="en-US" sz="1600" b="1"/>
              <a:t>combination</a:t>
            </a:r>
            <a:r>
              <a:rPr lang="en-US" sz="1600"/>
              <a:t> </a:t>
            </a:r>
            <a:r>
              <a:rPr lang="en-US" sz="1600" b="1"/>
              <a:t>of the below attributes</a:t>
            </a:r>
            <a:r>
              <a:rPr lang="en-US" sz="1600"/>
              <a:t> are what makes BMP's model unique, in comparison to traditional philanthropy. </a:t>
            </a:r>
          </a:p>
        </p:txBody>
      </p:sp>
      <p:sp>
        <p:nvSpPr>
          <p:cNvPr id="6" name="Rectangle 5">
            <a:extLst>
              <a:ext uri="{FF2B5EF4-FFF2-40B4-BE49-F238E27FC236}">
                <a16:creationId xmlns:a16="http://schemas.microsoft.com/office/drawing/2014/main" id="{C24744A8-9EBA-F3E7-6792-4D29540C721A}"/>
              </a:ext>
            </a:extLst>
          </p:cNvPr>
          <p:cNvSpPr/>
          <p:nvPr/>
        </p:nvSpPr>
        <p:spPr>
          <a:xfrm>
            <a:off x="1685394" y="3938331"/>
            <a:ext cx="4390286" cy="154760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000">
              <a:solidFill>
                <a:srgbClr val="000000"/>
              </a:solidFill>
              <a:latin typeface="Camphor Std"/>
              <a:ea typeface="+mn-lt"/>
              <a:cs typeface="Arial"/>
            </a:endParaRPr>
          </a:p>
          <a:p>
            <a:pPr algn="ctr"/>
            <a:endParaRPr lang="en-US" sz="1000">
              <a:solidFill>
                <a:srgbClr val="000000"/>
              </a:solidFill>
              <a:latin typeface="Camphor Std"/>
              <a:ea typeface="+mn-lt"/>
              <a:cs typeface="Arial"/>
            </a:endParaRPr>
          </a:p>
          <a:p>
            <a:pPr algn="ctr"/>
            <a:endParaRPr lang="en-US" sz="1600">
              <a:solidFill>
                <a:srgbClr val="1B3169"/>
              </a:solidFill>
              <a:cs typeface="Arial"/>
            </a:endParaRPr>
          </a:p>
          <a:p>
            <a:pPr algn="ctr"/>
            <a:endParaRPr lang="en-US" sz="1600">
              <a:solidFill>
                <a:schemeClr val="tx2"/>
              </a:solidFill>
            </a:endParaRPr>
          </a:p>
          <a:p>
            <a:pPr algn="ctr"/>
            <a:endParaRPr lang="en-US" sz="1600">
              <a:solidFill>
                <a:schemeClr val="tx2"/>
              </a:solidFill>
            </a:endParaRPr>
          </a:p>
          <a:p>
            <a:pPr algn="ctr"/>
            <a:r>
              <a:rPr lang="en-US" sz="1600">
                <a:solidFill>
                  <a:schemeClr val="tx2"/>
                </a:solidFill>
              </a:rPr>
              <a:t>CLOSE PARTNERSHIP AND SUPPORT OF INVESTEES</a:t>
            </a:r>
            <a:endParaRPr lang="en-US">
              <a:solidFill>
                <a:schemeClr val="tx2"/>
              </a:solidFill>
            </a:endParaRPr>
          </a:p>
          <a:p>
            <a:pPr algn="ctr"/>
            <a:endParaRPr lang="en-US" sz="1600">
              <a:solidFill>
                <a:schemeClr val="tx2"/>
              </a:solidFill>
              <a:ea typeface="+mn-lt"/>
              <a:cs typeface="+mn-lt"/>
            </a:endParaRPr>
          </a:p>
          <a:p>
            <a:pPr marL="445770" lvl="1" indent="-171450">
              <a:lnSpc>
                <a:spcPct val="90000"/>
              </a:lnSpc>
              <a:spcAft>
                <a:spcPts val="400"/>
              </a:spcAft>
              <a:buFont typeface="Arial"/>
              <a:buChar char="•"/>
            </a:pPr>
            <a:r>
              <a:rPr lang="en-US" sz="1000">
                <a:solidFill>
                  <a:srgbClr val="000000"/>
                </a:solidFill>
                <a:ea typeface="+mn-lt"/>
                <a:cs typeface="+mn-lt"/>
              </a:rPr>
              <a:t>A talented management team from diverse sectors, partnering directly with investees to provide critical capacity – and evidence – building support as well as strategic guidance </a:t>
            </a:r>
            <a:endParaRPr lang="en-US">
              <a:ea typeface="+mn-lt"/>
              <a:cs typeface="+mn-lt"/>
            </a:endParaRPr>
          </a:p>
          <a:p>
            <a:pPr marL="445770" lvl="1" indent="-171450">
              <a:lnSpc>
                <a:spcPct val="90000"/>
              </a:lnSpc>
              <a:spcAft>
                <a:spcPts val="400"/>
              </a:spcAft>
              <a:buFont typeface="Arial"/>
              <a:buChar char="•"/>
            </a:pPr>
            <a:r>
              <a:rPr lang="en-US" sz="1000">
                <a:solidFill>
                  <a:srgbClr val="000000"/>
                </a:solidFill>
                <a:ea typeface="+mn-lt"/>
                <a:cs typeface="+mn-lt"/>
              </a:rPr>
              <a:t>Performance-based investing with milestones agreed to with investee </a:t>
            </a:r>
          </a:p>
          <a:p>
            <a:pPr marL="365760" lvl="1" indent="-91440">
              <a:lnSpc>
                <a:spcPct val="90000"/>
              </a:lnSpc>
              <a:spcAft>
                <a:spcPts val="400"/>
              </a:spcAft>
              <a:buFont typeface="Arial"/>
              <a:buChar char="•"/>
            </a:pPr>
            <a:endParaRPr lang="en-US" sz="1000">
              <a:solidFill>
                <a:srgbClr val="000000"/>
              </a:solidFill>
              <a:ea typeface="+mn-lt"/>
              <a:cs typeface="+mn-lt"/>
            </a:endParaRPr>
          </a:p>
          <a:p>
            <a:pPr marL="365760" lvl="1" indent="-91440">
              <a:lnSpc>
                <a:spcPct val="90000"/>
              </a:lnSpc>
              <a:spcAft>
                <a:spcPts val="400"/>
              </a:spcAft>
              <a:buFont typeface="Arial"/>
              <a:buChar char="•"/>
            </a:pPr>
            <a:endParaRPr lang="en-US" sz="1000">
              <a:solidFill>
                <a:srgbClr val="000000"/>
              </a:solidFill>
              <a:highlight>
                <a:srgbClr val="FFFF00"/>
              </a:highlight>
              <a:ea typeface="+mn-lt"/>
              <a:cs typeface="+mn-lt"/>
            </a:endParaRPr>
          </a:p>
          <a:p>
            <a:pPr marL="365760" lvl="1" indent="-91440">
              <a:lnSpc>
                <a:spcPct val="90000"/>
              </a:lnSpc>
              <a:spcAft>
                <a:spcPts val="400"/>
              </a:spcAft>
              <a:buFont typeface="Arial"/>
              <a:buChar char="•"/>
            </a:pPr>
            <a:endParaRPr lang="en-US" sz="1000">
              <a:solidFill>
                <a:srgbClr val="000000"/>
              </a:solidFill>
              <a:ea typeface="+mn-lt"/>
              <a:cs typeface="+mn-lt"/>
            </a:endParaRPr>
          </a:p>
          <a:p>
            <a:pPr marL="365760" lvl="1" indent="-91440">
              <a:lnSpc>
                <a:spcPct val="90000"/>
              </a:lnSpc>
              <a:spcAft>
                <a:spcPts val="400"/>
              </a:spcAft>
              <a:buFont typeface="Arial"/>
              <a:buChar char="•"/>
            </a:pPr>
            <a:endParaRPr lang="en-US" sz="1000">
              <a:solidFill>
                <a:srgbClr val="000000"/>
              </a:solidFill>
            </a:endParaRPr>
          </a:p>
          <a:p>
            <a:pPr marL="285750" indent="-285750">
              <a:buFont typeface="Arial" panose="020B0604020202020204" pitchFamily="34" charset="0"/>
              <a:buChar char="•"/>
            </a:pPr>
            <a:endParaRPr lang="en-US" sz="1200">
              <a:solidFill>
                <a:srgbClr val="1B3169"/>
              </a:solidFill>
            </a:endParaRPr>
          </a:p>
        </p:txBody>
      </p:sp>
    </p:spTree>
    <p:extLst>
      <p:ext uri="{BB962C8B-B14F-4D97-AF65-F5344CB8AC3E}">
        <p14:creationId xmlns:p14="http://schemas.microsoft.com/office/powerpoint/2010/main" val="33552715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D674E-4E30-DF93-F028-CF9AEE6A738D}"/>
              </a:ext>
            </a:extLst>
          </p:cNvPr>
          <p:cNvSpPr>
            <a:spLocks noGrp="1"/>
          </p:cNvSpPr>
          <p:nvPr>
            <p:ph type="ctrTitle"/>
          </p:nvPr>
        </p:nvSpPr>
        <p:spPr/>
        <p:txBody>
          <a:bodyPr>
            <a:normAutofit fontScale="90000"/>
          </a:bodyPr>
          <a:lstStyle/>
          <a:p>
            <a:r>
              <a:rPr lang="en-US"/>
              <a:t> </a:t>
            </a:r>
            <a:br>
              <a:rPr lang="en-US"/>
            </a:br>
            <a:r>
              <a:rPr lang="en-US"/>
              <a:t>Communications Channels</a:t>
            </a:r>
            <a:br>
              <a:rPr lang="en-US"/>
            </a:br>
            <a:r>
              <a:rPr lang="en-US"/>
              <a:t>&amp; Activations</a:t>
            </a:r>
          </a:p>
        </p:txBody>
      </p:sp>
      <p:sp>
        <p:nvSpPr>
          <p:cNvPr id="4" name="Date Placeholder 3">
            <a:extLst>
              <a:ext uri="{FF2B5EF4-FFF2-40B4-BE49-F238E27FC236}">
                <a16:creationId xmlns:a16="http://schemas.microsoft.com/office/drawing/2014/main" id="{18922778-537E-00A4-E319-8BF3654B940C}"/>
              </a:ext>
            </a:extLst>
          </p:cNvPr>
          <p:cNvSpPr>
            <a:spLocks noGrp="1"/>
          </p:cNvSpPr>
          <p:nvPr>
            <p:ph type="dt" sz="half" idx="10"/>
          </p:nvPr>
        </p:nvSpPr>
        <p:spPr/>
        <p:txBody>
          <a:bodyPr/>
          <a:lstStyle/>
          <a:p>
            <a:fld id="{ABA5BFED-BDFB-45DB-8843-AC9E74FA3CDB}" type="datetime1">
              <a:rPr lang="en-US" smtClean="0"/>
              <a:t>5/30/2025</a:t>
            </a:fld>
            <a:endParaRPr lang="en-US"/>
          </a:p>
        </p:txBody>
      </p:sp>
      <p:sp>
        <p:nvSpPr>
          <p:cNvPr id="5" name="Rectangle 4">
            <a:extLst>
              <a:ext uri="{FF2B5EF4-FFF2-40B4-BE49-F238E27FC236}">
                <a16:creationId xmlns:a16="http://schemas.microsoft.com/office/drawing/2014/main" id="{8A6D0F01-2347-B6EF-647E-2B8859B2462A}"/>
              </a:ext>
            </a:extLst>
          </p:cNvPr>
          <p:cNvSpPr/>
          <p:nvPr/>
        </p:nvSpPr>
        <p:spPr>
          <a:xfrm>
            <a:off x="3489043" y="3509963"/>
            <a:ext cx="5073932" cy="69601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CONTINUE &amp; ENHANCE</a:t>
            </a:r>
          </a:p>
        </p:txBody>
      </p:sp>
      <p:sp>
        <p:nvSpPr>
          <p:cNvPr id="6" name="Rectangle 5">
            <a:extLst>
              <a:ext uri="{FF2B5EF4-FFF2-40B4-BE49-F238E27FC236}">
                <a16:creationId xmlns:a16="http://schemas.microsoft.com/office/drawing/2014/main" id="{EF7F273D-FCBB-1FFA-CA98-DDFECF571E5B}"/>
              </a:ext>
            </a:extLst>
          </p:cNvPr>
          <p:cNvSpPr/>
          <p:nvPr/>
        </p:nvSpPr>
        <p:spPr>
          <a:xfrm>
            <a:off x="3493665" y="4352924"/>
            <a:ext cx="5064688" cy="7090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CREATE &amp; ACTIVATE</a:t>
            </a:r>
          </a:p>
        </p:txBody>
      </p:sp>
    </p:spTree>
    <p:extLst>
      <p:ext uri="{BB962C8B-B14F-4D97-AF65-F5344CB8AC3E}">
        <p14:creationId xmlns:p14="http://schemas.microsoft.com/office/powerpoint/2010/main" val="347187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C24F72B-FD16-A019-4079-E320488D8E8B}"/>
              </a:ext>
            </a:extLst>
          </p:cNvPr>
          <p:cNvSpPr>
            <a:spLocks noGrp="1"/>
          </p:cNvSpPr>
          <p:nvPr>
            <p:ph type="body" sz="quarter" idx="13"/>
          </p:nvPr>
        </p:nvSpPr>
        <p:spPr>
          <a:xfrm>
            <a:off x="695937" y="959305"/>
            <a:ext cx="10784416" cy="695900"/>
          </a:xfrm>
        </p:spPr>
        <p:txBody>
          <a:bodyPr/>
          <a:lstStyle/>
          <a:p>
            <a:r>
              <a:rPr lang="en-US"/>
              <a:t>Our 2025 efforts will leverage existing communications channels and introduce new avenues to drive thought leadership and storytelling to increase awareness and engagement.     </a:t>
            </a:r>
          </a:p>
        </p:txBody>
      </p:sp>
      <p:sp>
        <p:nvSpPr>
          <p:cNvPr id="5" name="Title 4">
            <a:extLst>
              <a:ext uri="{FF2B5EF4-FFF2-40B4-BE49-F238E27FC236}">
                <a16:creationId xmlns:a16="http://schemas.microsoft.com/office/drawing/2014/main" id="{FCCA5338-E4EE-0C97-4C38-1993576CBD0B}"/>
              </a:ext>
            </a:extLst>
          </p:cNvPr>
          <p:cNvSpPr>
            <a:spLocks noGrp="1"/>
          </p:cNvSpPr>
          <p:nvPr>
            <p:ph type="title"/>
          </p:nvPr>
        </p:nvSpPr>
        <p:spPr>
          <a:xfrm>
            <a:off x="676836" y="365125"/>
            <a:ext cx="10676964" cy="384269"/>
          </a:xfrm>
        </p:spPr>
        <p:txBody>
          <a:bodyPr>
            <a:normAutofit fontScale="90000"/>
          </a:bodyPr>
          <a:lstStyle/>
          <a:p>
            <a:r>
              <a:rPr lang="en-US">
                <a:latin typeface="LeMonde Livre"/>
              </a:rPr>
              <a:t>Proposed Activities for 2025</a:t>
            </a:r>
            <a:endParaRPr lang="en-US"/>
          </a:p>
        </p:txBody>
      </p:sp>
      <p:sp>
        <p:nvSpPr>
          <p:cNvPr id="7" name="Rectangle 6">
            <a:extLst>
              <a:ext uri="{FF2B5EF4-FFF2-40B4-BE49-F238E27FC236}">
                <a16:creationId xmlns:a16="http://schemas.microsoft.com/office/drawing/2014/main" id="{6BDF6EA3-9833-A158-66D2-BBDC682752F2}"/>
              </a:ext>
            </a:extLst>
          </p:cNvPr>
          <p:cNvSpPr/>
          <p:nvPr/>
        </p:nvSpPr>
        <p:spPr>
          <a:xfrm>
            <a:off x="822043" y="1752599"/>
            <a:ext cx="5073932" cy="69601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CONTINUE &amp; ENHANCE</a:t>
            </a:r>
          </a:p>
        </p:txBody>
      </p:sp>
      <p:sp>
        <p:nvSpPr>
          <p:cNvPr id="9" name="Rectangle 8">
            <a:extLst>
              <a:ext uri="{FF2B5EF4-FFF2-40B4-BE49-F238E27FC236}">
                <a16:creationId xmlns:a16="http://schemas.microsoft.com/office/drawing/2014/main" id="{418F1A38-1CE4-0570-DB4F-016F24838478}"/>
              </a:ext>
            </a:extLst>
          </p:cNvPr>
          <p:cNvSpPr/>
          <p:nvPr/>
        </p:nvSpPr>
        <p:spPr>
          <a:xfrm>
            <a:off x="6323755" y="1752599"/>
            <a:ext cx="5064688" cy="7090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CREATE &amp; ACTIVATE</a:t>
            </a:r>
          </a:p>
        </p:txBody>
      </p:sp>
      <p:sp>
        <p:nvSpPr>
          <p:cNvPr id="12" name="Rectangle 11">
            <a:extLst>
              <a:ext uri="{FF2B5EF4-FFF2-40B4-BE49-F238E27FC236}">
                <a16:creationId xmlns:a16="http://schemas.microsoft.com/office/drawing/2014/main" id="{85BF3D59-D4CC-26C2-942F-69A6643D2A6D}"/>
              </a:ext>
            </a:extLst>
          </p:cNvPr>
          <p:cNvSpPr/>
          <p:nvPr/>
        </p:nvSpPr>
        <p:spPr>
          <a:xfrm>
            <a:off x="822043" y="3281551"/>
            <a:ext cx="5073932" cy="48572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2"/>
                </a:solidFill>
              </a:rPr>
              <a:t>Corporate Newsletter</a:t>
            </a:r>
          </a:p>
        </p:txBody>
      </p:sp>
      <p:sp>
        <p:nvSpPr>
          <p:cNvPr id="13" name="Rectangle 12">
            <a:extLst>
              <a:ext uri="{FF2B5EF4-FFF2-40B4-BE49-F238E27FC236}">
                <a16:creationId xmlns:a16="http://schemas.microsoft.com/office/drawing/2014/main" id="{471D058A-01AE-0ECD-20AF-CF751E58A2A4}"/>
              </a:ext>
            </a:extLst>
          </p:cNvPr>
          <p:cNvSpPr/>
          <p:nvPr/>
        </p:nvSpPr>
        <p:spPr>
          <a:xfrm>
            <a:off x="822043" y="4010883"/>
            <a:ext cx="5073932" cy="48572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2"/>
                </a:solidFill>
              </a:rPr>
              <a:t>Voices</a:t>
            </a:r>
          </a:p>
        </p:txBody>
      </p:sp>
      <p:sp>
        <p:nvSpPr>
          <p:cNvPr id="17" name="Rectangle 16">
            <a:extLst>
              <a:ext uri="{FF2B5EF4-FFF2-40B4-BE49-F238E27FC236}">
                <a16:creationId xmlns:a16="http://schemas.microsoft.com/office/drawing/2014/main" id="{52B5E61A-6E9B-81C4-BCCD-72473C2F0843}"/>
              </a:ext>
            </a:extLst>
          </p:cNvPr>
          <p:cNvSpPr/>
          <p:nvPr/>
        </p:nvSpPr>
        <p:spPr>
          <a:xfrm>
            <a:off x="6306122" y="2552219"/>
            <a:ext cx="5083174" cy="48572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3"/>
                </a:solidFill>
              </a:rPr>
              <a:t>Media Briefings</a:t>
            </a:r>
          </a:p>
        </p:txBody>
      </p:sp>
      <p:sp>
        <p:nvSpPr>
          <p:cNvPr id="18" name="Rectangle 17">
            <a:extLst>
              <a:ext uri="{FF2B5EF4-FFF2-40B4-BE49-F238E27FC236}">
                <a16:creationId xmlns:a16="http://schemas.microsoft.com/office/drawing/2014/main" id="{B5429254-83A2-36B1-835A-0FE9DE034475}"/>
              </a:ext>
            </a:extLst>
          </p:cNvPr>
          <p:cNvSpPr/>
          <p:nvPr/>
        </p:nvSpPr>
        <p:spPr>
          <a:xfrm>
            <a:off x="6306122" y="3281551"/>
            <a:ext cx="5073932" cy="48572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3"/>
                </a:solidFill>
              </a:rPr>
              <a:t>Fireside Chats</a:t>
            </a:r>
          </a:p>
        </p:txBody>
      </p:sp>
      <p:sp>
        <p:nvSpPr>
          <p:cNvPr id="19" name="Rectangle 18">
            <a:extLst>
              <a:ext uri="{FF2B5EF4-FFF2-40B4-BE49-F238E27FC236}">
                <a16:creationId xmlns:a16="http://schemas.microsoft.com/office/drawing/2014/main" id="{209413D5-A7D7-A02B-51A6-6B4EF8D18BD6}"/>
              </a:ext>
            </a:extLst>
          </p:cNvPr>
          <p:cNvSpPr/>
          <p:nvPr/>
        </p:nvSpPr>
        <p:spPr>
          <a:xfrm>
            <a:off x="6306122" y="4740215"/>
            <a:ext cx="5073932" cy="48572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3"/>
                </a:solidFill>
              </a:rPr>
              <a:t>Live Events</a:t>
            </a:r>
          </a:p>
        </p:txBody>
      </p:sp>
      <p:sp>
        <p:nvSpPr>
          <p:cNvPr id="20" name="Rectangle 19">
            <a:extLst>
              <a:ext uri="{FF2B5EF4-FFF2-40B4-BE49-F238E27FC236}">
                <a16:creationId xmlns:a16="http://schemas.microsoft.com/office/drawing/2014/main" id="{62793F38-429A-FEFD-9328-11A5310FFEDE}"/>
              </a:ext>
            </a:extLst>
          </p:cNvPr>
          <p:cNvSpPr/>
          <p:nvPr/>
        </p:nvSpPr>
        <p:spPr>
          <a:xfrm>
            <a:off x="6306122" y="5469545"/>
            <a:ext cx="5073932" cy="48572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3"/>
                </a:solidFill>
              </a:rPr>
              <a:t>Awards</a:t>
            </a:r>
          </a:p>
        </p:txBody>
      </p:sp>
      <p:sp>
        <p:nvSpPr>
          <p:cNvPr id="26" name="TextBox 25">
            <a:extLst>
              <a:ext uri="{FF2B5EF4-FFF2-40B4-BE49-F238E27FC236}">
                <a16:creationId xmlns:a16="http://schemas.microsoft.com/office/drawing/2014/main" id="{05F0DA31-6A0B-2B97-AFB4-93ACBB937DBD}"/>
              </a:ext>
            </a:extLst>
          </p:cNvPr>
          <p:cNvSpPr txBox="1"/>
          <p:nvPr/>
        </p:nvSpPr>
        <p:spPr>
          <a:xfrm rot="16200000">
            <a:off x="-1546523" y="3682484"/>
            <a:ext cx="4229101" cy="369332"/>
          </a:xfrm>
          <a:prstGeom prst="rect">
            <a:avLst/>
          </a:prstGeom>
          <a:solidFill>
            <a:schemeClr val="tx2"/>
          </a:solidFill>
        </p:spPr>
        <p:txBody>
          <a:bodyPr wrap="square" rtlCol="0">
            <a:spAutoFit/>
          </a:bodyPr>
          <a:lstStyle/>
          <a:p>
            <a:pPr algn="ctr"/>
            <a:r>
              <a:rPr lang="en-US" b="1">
                <a:solidFill>
                  <a:schemeClr val="bg1"/>
                </a:solidFill>
              </a:rPr>
              <a:t>EXISTING  CHANNELS</a:t>
            </a:r>
          </a:p>
        </p:txBody>
      </p:sp>
      <p:sp>
        <p:nvSpPr>
          <p:cNvPr id="27" name="TextBox 26">
            <a:extLst>
              <a:ext uri="{FF2B5EF4-FFF2-40B4-BE49-F238E27FC236}">
                <a16:creationId xmlns:a16="http://schemas.microsoft.com/office/drawing/2014/main" id="{288CB412-8F2E-A8FA-8048-D500227E19D9}"/>
              </a:ext>
            </a:extLst>
          </p:cNvPr>
          <p:cNvSpPr txBox="1"/>
          <p:nvPr/>
        </p:nvSpPr>
        <p:spPr>
          <a:xfrm rot="5400000">
            <a:off x="9550468" y="3682485"/>
            <a:ext cx="4229102" cy="369332"/>
          </a:xfrm>
          <a:prstGeom prst="rect">
            <a:avLst/>
          </a:prstGeom>
          <a:solidFill>
            <a:schemeClr val="accent3"/>
          </a:solidFill>
        </p:spPr>
        <p:txBody>
          <a:bodyPr wrap="square" rtlCol="0">
            <a:spAutoFit/>
          </a:bodyPr>
          <a:lstStyle/>
          <a:p>
            <a:pPr algn="ctr"/>
            <a:r>
              <a:rPr lang="en-US" b="1">
                <a:solidFill>
                  <a:schemeClr val="bg1"/>
                </a:solidFill>
              </a:rPr>
              <a:t>NEW  ACTIVATIONS</a:t>
            </a:r>
          </a:p>
        </p:txBody>
      </p:sp>
      <p:sp>
        <p:nvSpPr>
          <p:cNvPr id="28" name="Rectangle 27">
            <a:extLst>
              <a:ext uri="{FF2B5EF4-FFF2-40B4-BE49-F238E27FC236}">
                <a16:creationId xmlns:a16="http://schemas.microsoft.com/office/drawing/2014/main" id="{FD220DC8-9048-528A-81CC-CACC492DFAF5}"/>
              </a:ext>
            </a:extLst>
          </p:cNvPr>
          <p:cNvSpPr/>
          <p:nvPr/>
        </p:nvSpPr>
        <p:spPr>
          <a:xfrm>
            <a:off x="803557" y="2552219"/>
            <a:ext cx="5073932" cy="48572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2"/>
                </a:solidFill>
              </a:rPr>
              <a:t>Earned Media</a:t>
            </a:r>
          </a:p>
        </p:txBody>
      </p:sp>
      <p:sp>
        <p:nvSpPr>
          <p:cNvPr id="29" name="Rectangle 28">
            <a:extLst>
              <a:ext uri="{FF2B5EF4-FFF2-40B4-BE49-F238E27FC236}">
                <a16:creationId xmlns:a16="http://schemas.microsoft.com/office/drawing/2014/main" id="{EAAF6C65-38C7-4B50-E6FA-53C309BEFA62}"/>
              </a:ext>
            </a:extLst>
          </p:cNvPr>
          <p:cNvSpPr/>
          <p:nvPr/>
        </p:nvSpPr>
        <p:spPr>
          <a:xfrm>
            <a:off x="838200" y="5469545"/>
            <a:ext cx="5073932" cy="48572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2"/>
                </a:solidFill>
              </a:rPr>
              <a:t>Social Media</a:t>
            </a:r>
          </a:p>
        </p:txBody>
      </p:sp>
      <p:sp>
        <p:nvSpPr>
          <p:cNvPr id="30" name="Rectangle 29">
            <a:extLst>
              <a:ext uri="{FF2B5EF4-FFF2-40B4-BE49-F238E27FC236}">
                <a16:creationId xmlns:a16="http://schemas.microsoft.com/office/drawing/2014/main" id="{6A365EB5-C94D-A9A3-046F-48F61FC6FEC6}"/>
              </a:ext>
            </a:extLst>
          </p:cNvPr>
          <p:cNvSpPr/>
          <p:nvPr/>
        </p:nvSpPr>
        <p:spPr>
          <a:xfrm>
            <a:off x="822043" y="4740215"/>
            <a:ext cx="5073932" cy="48572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2"/>
                </a:solidFill>
              </a:rPr>
              <a:t>Website</a:t>
            </a:r>
          </a:p>
        </p:txBody>
      </p:sp>
      <p:sp>
        <p:nvSpPr>
          <p:cNvPr id="32" name="Rectangle 31">
            <a:extLst>
              <a:ext uri="{FF2B5EF4-FFF2-40B4-BE49-F238E27FC236}">
                <a16:creationId xmlns:a16="http://schemas.microsoft.com/office/drawing/2014/main" id="{495FB47A-4A61-E6C1-69A5-AA5826B7D609}"/>
              </a:ext>
            </a:extLst>
          </p:cNvPr>
          <p:cNvSpPr/>
          <p:nvPr/>
        </p:nvSpPr>
        <p:spPr>
          <a:xfrm>
            <a:off x="6306122" y="4010883"/>
            <a:ext cx="5073932" cy="48572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3"/>
                </a:solidFill>
              </a:rPr>
              <a:t>Executive LinkedIn Strategy</a:t>
            </a:r>
          </a:p>
        </p:txBody>
      </p:sp>
    </p:spTree>
    <p:extLst>
      <p:ext uri="{BB962C8B-B14F-4D97-AF65-F5344CB8AC3E}">
        <p14:creationId xmlns:p14="http://schemas.microsoft.com/office/powerpoint/2010/main" val="3065122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2CE3993-D653-2E3D-8F1A-4EDAB4E72CBF}"/>
              </a:ext>
            </a:extLst>
          </p:cNvPr>
          <p:cNvSpPr txBox="1"/>
          <p:nvPr/>
        </p:nvSpPr>
        <p:spPr>
          <a:xfrm>
            <a:off x="290116" y="1143845"/>
            <a:ext cx="3765239" cy="371846"/>
          </a:xfrm>
          <a:prstGeom prst="rect">
            <a:avLst/>
          </a:prstGeom>
          <a:solidFill>
            <a:schemeClr val="tx2"/>
          </a:solidFill>
          <a:ln w="12700">
            <a:noFill/>
          </a:ln>
        </p:spPr>
        <p:txBody>
          <a:bodyPr wrap="square" rtlCol="0">
            <a:spAutoFit/>
          </a:bodyPr>
          <a:lstStyle/>
          <a:p>
            <a:pPr algn="ctr"/>
            <a:r>
              <a:rPr lang="en-US" b="1">
                <a:solidFill>
                  <a:schemeClr val="bg1"/>
                </a:solidFill>
              </a:rPr>
              <a:t>APRIL</a:t>
            </a:r>
            <a:endParaRPr lang="en-US">
              <a:solidFill>
                <a:schemeClr val="bg1"/>
              </a:solidFill>
            </a:endParaRPr>
          </a:p>
        </p:txBody>
      </p:sp>
      <p:sp>
        <p:nvSpPr>
          <p:cNvPr id="15" name="TextBox 14">
            <a:extLst>
              <a:ext uri="{FF2B5EF4-FFF2-40B4-BE49-F238E27FC236}">
                <a16:creationId xmlns:a16="http://schemas.microsoft.com/office/drawing/2014/main" id="{1B2BCBAC-37F4-81CD-C7D1-0BB468B596F0}"/>
              </a:ext>
            </a:extLst>
          </p:cNvPr>
          <p:cNvSpPr txBox="1"/>
          <p:nvPr/>
        </p:nvSpPr>
        <p:spPr>
          <a:xfrm>
            <a:off x="344423" y="1711705"/>
            <a:ext cx="3765236" cy="307777"/>
          </a:xfrm>
          <a:prstGeom prst="rect">
            <a:avLst/>
          </a:prstGeom>
          <a:noFill/>
          <a:ln w="12700">
            <a:solidFill>
              <a:schemeClr val="accent4"/>
            </a:solidFill>
          </a:ln>
        </p:spPr>
        <p:txBody>
          <a:bodyPr wrap="square" rtlCol="0">
            <a:spAutoFit/>
          </a:bodyPr>
          <a:lstStyle/>
          <a:p>
            <a:r>
              <a:rPr lang="en-US" sz="1400">
                <a:solidFill>
                  <a:schemeClr val="accent5">
                    <a:lumMod val="90000"/>
                    <a:lumOff val="10000"/>
                  </a:schemeClr>
                </a:solidFill>
              </a:rPr>
              <a:t>Meridian Monthly</a:t>
            </a:r>
          </a:p>
        </p:txBody>
      </p:sp>
      <p:sp>
        <p:nvSpPr>
          <p:cNvPr id="17" name="TextBox 16">
            <a:extLst>
              <a:ext uri="{FF2B5EF4-FFF2-40B4-BE49-F238E27FC236}">
                <a16:creationId xmlns:a16="http://schemas.microsoft.com/office/drawing/2014/main" id="{565CEDB3-E638-C040-0B5E-6F6AD3D91DD0}"/>
              </a:ext>
            </a:extLst>
          </p:cNvPr>
          <p:cNvSpPr txBox="1"/>
          <p:nvPr/>
        </p:nvSpPr>
        <p:spPr>
          <a:xfrm>
            <a:off x="235816" y="5823409"/>
            <a:ext cx="7846517" cy="307777"/>
          </a:xfrm>
          <a:prstGeom prst="rect">
            <a:avLst/>
          </a:prstGeom>
          <a:noFill/>
          <a:ln w="12700">
            <a:solidFill>
              <a:schemeClr val="tx2"/>
            </a:solidFill>
          </a:ln>
        </p:spPr>
        <p:txBody>
          <a:bodyPr wrap="square" lIns="91440" tIns="45720" rIns="91440" bIns="45720" rtlCol="0" anchor="t">
            <a:spAutoFit/>
          </a:bodyPr>
          <a:lstStyle/>
          <a:p>
            <a:r>
              <a:rPr lang="en-US" sz="1400">
                <a:solidFill>
                  <a:schemeClr val="tx2"/>
                </a:solidFill>
              </a:rPr>
              <a:t>Update BMP Messaging</a:t>
            </a:r>
          </a:p>
        </p:txBody>
      </p:sp>
      <p:sp>
        <p:nvSpPr>
          <p:cNvPr id="18" name="TextBox 17">
            <a:extLst>
              <a:ext uri="{FF2B5EF4-FFF2-40B4-BE49-F238E27FC236}">
                <a16:creationId xmlns:a16="http://schemas.microsoft.com/office/drawing/2014/main" id="{0F1E35D1-0310-31B4-C7C8-3A87581D7B70}"/>
              </a:ext>
            </a:extLst>
          </p:cNvPr>
          <p:cNvSpPr txBox="1"/>
          <p:nvPr/>
        </p:nvSpPr>
        <p:spPr>
          <a:xfrm>
            <a:off x="4358692" y="5406216"/>
            <a:ext cx="3723647" cy="307777"/>
          </a:xfrm>
          <a:prstGeom prst="rect">
            <a:avLst/>
          </a:prstGeom>
          <a:noFill/>
          <a:ln w="12700">
            <a:solidFill>
              <a:schemeClr val="accent1"/>
            </a:solidFill>
          </a:ln>
        </p:spPr>
        <p:txBody>
          <a:bodyPr wrap="square" rtlCol="0">
            <a:spAutoFit/>
          </a:bodyPr>
          <a:lstStyle/>
          <a:p>
            <a:r>
              <a:rPr lang="en-US" sz="1400">
                <a:solidFill>
                  <a:schemeClr val="bg2"/>
                </a:solidFill>
              </a:rPr>
              <a:t>Refine Jim’s LinkedIn Profile</a:t>
            </a:r>
          </a:p>
        </p:txBody>
      </p:sp>
      <p:sp>
        <p:nvSpPr>
          <p:cNvPr id="4" name="Rectangle 3">
            <a:extLst>
              <a:ext uri="{FF2B5EF4-FFF2-40B4-BE49-F238E27FC236}">
                <a16:creationId xmlns:a16="http://schemas.microsoft.com/office/drawing/2014/main" id="{EC48437D-3147-C715-56E7-715D7A0CD7C8}"/>
              </a:ext>
            </a:extLst>
          </p:cNvPr>
          <p:cNvSpPr/>
          <p:nvPr/>
        </p:nvSpPr>
        <p:spPr>
          <a:xfrm>
            <a:off x="3338624" y="82798"/>
            <a:ext cx="5805376" cy="378092"/>
          </a:xfrm>
          <a:prstGeom prst="rect">
            <a:avLst/>
          </a:prstGeom>
          <a:solidFill>
            <a:schemeClr val="accent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CY 2025 Q2 AT A GLANCE </a:t>
            </a:r>
          </a:p>
        </p:txBody>
      </p:sp>
      <p:sp>
        <p:nvSpPr>
          <p:cNvPr id="20" name="TextBox 19">
            <a:extLst>
              <a:ext uri="{FF2B5EF4-FFF2-40B4-BE49-F238E27FC236}">
                <a16:creationId xmlns:a16="http://schemas.microsoft.com/office/drawing/2014/main" id="{B2B84CDB-76F1-ABAA-AA42-49D101BBD521}"/>
              </a:ext>
            </a:extLst>
          </p:cNvPr>
          <p:cNvSpPr txBox="1"/>
          <p:nvPr/>
        </p:nvSpPr>
        <p:spPr>
          <a:xfrm>
            <a:off x="8276377" y="3034516"/>
            <a:ext cx="3765237" cy="307777"/>
          </a:xfrm>
          <a:prstGeom prst="rect">
            <a:avLst/>
          </a:prstGeom>
          <a:noFill/>
          <a:ln w="12700">
            <a:solidFill>
              <a:schemeClr val="accent1"/>
            </a:solidFill>
          </a:ln>
        </p:spPr>
        <p:txBody>
          <a:bodyPr wrap="square" rtlCol="0">
            <a:spAutoFit/>
          </a:bodyPr>
          <a:lstStyle/>
          <a:p>
            <a:r>
              <a:rPr lang="en-US" sz="1400">
                <a:solidFill>
                  <a:schemeClr val="accent1"/>
                </a:solidFill>
              </a:rPr>
              <a:t>Social Innovation Summit Presentation</a:t>
            </a:r>
          </a:p>
        </p:txBody>
      </p:sp>
      <p:sp>
        <p:nvSpPr>
          <p:cNvPr id="21" name="TextBox 20">
            <a:extLst>
              <a:ext uri="{FF2B5EF4-FFF2-40B4-BE49-F238E27FC236}">
                <a16:creationId xmlns:a16="http://schemas.microsoft.com/office/drawing/2014/main" id="{9EFD547F-A36F-59F8-F844-4E91D2885A86}"/>
              </a:ext>
            </a:extLst>
          </p:cNvPr>
          <p:cNvSpPr txBox="1"/>
          <p:nvPr/>
        </p:nvSpPr>
        <p:spPr>
          <a:xfrm>
            <a:off x="8276380" y="3500278"/>
            <a:ext cx="3765234" cy="307777"/>
          </a:xfrm>
          <a:prstGeom prst="rect">
            <a:avLst/>
          </a:prstGeom>
          <a:noFill/>
          <a:ln w="12700">
            <a:solidFill>
              <a:schemeClr val="accent1"/>
            </a:solidFill>
            <a:prstDash val="dash"/>
          </a:ln>
        </p:spPr>
        <p:txBody>
          <a:bodyPr wrap="square" rtlCol="0">
            <a:spAutoFit/>
          </a:bodyPr>
          <a:lstStyle/>
          <a:p>
            <a:r>
              <a:rPr lang="en-US" sz="1400">
                <a:solidFill>
                  <a:schemeClr val="accent1"/>
                </a:solidFill>
              </a:rPr>
              <a:t>Media Briefing(s)</a:t>
            </a:r>
          </a:p>
        </p:txBody>
      </p:sp>
      <p:sp>
        <p:nvSpPr>
          <p:cNvPr id="22" name="TextBox 21">
            <a:extLst>
              <a:ext uri="{FF2B5EF4-FFF2-40B4-BE49-F238E27FC236}">
                <a16:creationId xmlns:a16="http://schemas.microsoft.com/office/drawing/2014/main" id="{04BB9A78-340D-4DCD-E8EB-0C0E1BE1CF17}"/>
              </a:ext>
            </a:extLst>
          </p:cNvPr>
          <p:cNvSpPr txBox="1"/>
          <p:nvPr/>
        </p:nvSpPr>
        <p:spPr>
          <a:xfrm>
            <a:off x="4317098" y="3513093"/>
            <a:ext cx="3765235" cy="307777"/>
          </a:xfrm>
          <a:prstGeom prst="rect">
            <a:avLst/>
          </a:prstGeom>
          <a:noFill/>
          <a:ln w="12700">
            <a:solidFill>
              <a:schemeClr val="accent1"/>
            </a:solidFill>
            <a:prstDash val="dash"/>
          </a:ln>
        </p:spPr>
        <p:txBody>
          <a:bodyPr wrap="square" rtlCol="0">
            <a:spAutoFit/>
          </a:bodyPr>
          <a:lstStyle/>
          <a:p>
            <a:r>
              <a:rPr lang="en-US" sz="1400">
                <a:solidFill>
                  <a:schemeClr val="bg2"/>
                </a:solidFill>
              </a:rPr>
              <a:t>Media Briefing(s)</a:t>
            </a:r>
          </a:p>
        </p:txBody>
      </p:sp>
      <p:sp>
        <p:nvSpPr>
          <p:cNvPr id="3" name="TextBox 2">
            <a:extLst>
              <a:ext uri="{FF2B5EF4-FFF2-40B4-BE49-F238E27FC236}">
                <a16:creationId xmlns:a16="http://schemas.microsoft.com/office/drawing/2014/main" id="{4D6D4F61-59B1-7888-0C17-2A5DCFC2F675}"/>
              </a:ext>
            </a:extLst>
          </p:cNvPr>
          <p:cNvSpPr txBox="1"/>
          <p:nvPr/>
        </p:nvSpPr>
        <p:spPr>
          <a:xfrm>
            <a:off x="4310397" y="1161928"/>
            <a:ext cx="3765239" cy="371846"/>
          </a:xfrm>
          <a:prstGeom prst="rect">
            <a:avLst/>
          </a:prstGeom>
          <a:solidFill>
            <a:schemeClr val="tx2"/>
          </a:solidFill>
          <a:ln w="12700">
            <a:noFill/>
          </a:ln>
        </p:spPr>
        <p:txBody>
          <a:bodyPr wrap="square" rtlCol="0">
            <a:spAutoFit/>
          </a:bodyPr>
          <a:lstStyle/>
          <a:p>
            <a:pPr algn="ctr"/>
            <a:r>
              <a:rPr lang="en-US" b="1">
                <a:solidFill>
                  <a:schemeClr val="bg1"/>
                </a:solidFill>
              </a:rPr>
              <a:t>MAY</a:t>
            </a:r>
            <a:endParaRPr lang="en-US">
              <a:solidFill>
                <a:schemeClr val="bg1"/>
              </a:solidFill>
            </a:endParaRPr>
          </a:p>
        </p:txBody>
      </p:sp>
      <p:sp>
        <p:nvSpPr>
          <p:cNvPr id="5" name="TextBox 4">
            <a:extLst>
              <a:ext uri="{FF2B5EF4-FFF2-40B4-BE49-F238E27FC236}">
                <a16:creationId xmlns:a16="http://schemas.microsoft.com/office/drawing/2014/main" id="{D3101D67-5DE3-765A-3CD0-7252D4F7151B}"/>
              </a:ext>
            </a:extLst>
          </p:cNvPr>
          <p:cNvSpPr txBox="1"/>
          <p:nvPr/>
        </p:nvSpPr>
        <p:spPr>
          <a:xfrm>
            <a:off x="8276375" y="1152544"/>
            <a:ext cx="3765239" cy="371846"/>
          </a:xfrm>
          <a:prstGeom prst="rect">
            <a:avLst/>
          </a:prstGeom>
          <a:solidFill>
            <a:schemeClr val="tx2"/>
          </a:solidFill>
          <a:ln w="12700">
            <a:noFill/>
          </a:ln>
        </p:spPr>
        <p:txBody>
          <a:bodyPr wrap="square" rtlCol="0">
            <a:spAutoFit/>
          </a:bodyPr>
          <a:lstStyle/>
          <a:p>
            <a:pPr algn="ctr"/>
            <a:r>
              <a:rPr lang="en-US" b="1">
                <a:solidFill>
                  <a:schemeClr val="bg1"/>
                </a:solidFill>
              </a:rPr>
              <a:t>JUNE</a:t>
            </a:r>
            <a:endParaRPr lang="en-US">
              <a:solidFill>
                <a:schemeClr val="bg1"/>
              </a:solidFill>
            </a:endParaRPr>
          </a:p>
        </p:txBody>
      </p:sp>
      <p:sp>
        <p:nvSpPr>
          <p:cNvPr id="6" name="TextBox 5">
            <a:extLst>
              <a:ext uri="{FF2B5EF4-FFF2-40B4-BE49-F238E27FC236}">
                <a16:creationId xmlns:a16="http://schemas.microsoft.com/office/drawing/2014/main" id="{1E188FB1-6A4C-C35E-17F0-2FCDA1948EBD}"/>
              </a:ext>
            </a:extLst>
          </p:cNvPr>
          <p:cNvSpPr txBox="1"/>
          <p:nvPr/>
        </p:nvSpPr>
        <p:spPr>
          <a:xfrm>
            <a:off x="4310399" y="1709986"/>
            <a:ext cx="3765237" cy="307777"/>
          </a:xfrm>
          <a:prstGeom prst="rect">
            <a:avLst/>
          </a:prstGeom>
          <a:noFill/>
          <a:ln w="12700">
            <a:solidFill>
              <a:schemeClr val="accent4"/>
            </a:solidFill>
          </a:ln>
        </p:spPr>
        <p:txBody>
          <a:bodyPr wrap="square" rtlCol="0">
            <a:spAutoFit/>
          </a:bodyPr>
          <a:lstStyle/>
          <a:p>
            <a:r>
              <a:rPr lang="en-US" sz="1400">
                <a:solidFill>
                  <a:schemeClr val="accent5">
                    <a:lumMod val="90000"/>
                    <a:lumOff val="10000"/>
                  </a:schemeClr>
                </a:solidFill>
              </a:rPr>
              <a:t>Meridian Monthly</a:t>
            </a:r>
          </a:p>
        </p:txBody>
      </p:sp>
      <p:sp>
        <p:nvSpPr>
          <p:cNvPr id="11" name="TextBox 10">
            <a:extLst>
              <a:ext uri="{FF2B5EF4-FFF2-40B4-BE49-F238E27FC236}">
                <a16:creationId xmlns:a16="http://schemas.microsoft.com/office/drawing/2014/main" id="{FB21D40B-73C5-D9FA-692D-535AC7AA8047}"/>
              </a:ext>
            </a:extLst>
          </p:cNvPr>
          <p:cNvSpPr txBox="1"/>
          <p:nvPr/>
        </p:nvSpPr>
        <p:spPr>
          <a:xfrm>
            <a:off x="8276376" y="1679294"/>
            <a:ext cx="3765238" cy="307777"/>
          </a:xfrm>
          <a:prstGeom prst="rect">
            <a:avLst/>
          </a:prstGeom>
          <a:noFill/>
          <a:ln w="12700">
            <a:solidFill>
              <a:schemeClr val="accent4"/>
            </a:solidFill>
          </a:ln>
        </p:spPr>
        <p:txBody>
          <a:bodyPr wrap="square" rtlCol="0">
            <a:spAutoFit/>
          </a:bodyPr>
          <a:lstStyle/>
          <a:p>
            <a:r>
              <a:rPr lang="en-US" sz="1400">
                <a:solidFill>
                  <a:schemeClr val="accent5">
                    <a:lumMod val="90000"/>
                    <a:lumOff val="10000"/>
                  </a:schemeClr>
                </a:solidFill>
              </a:rPr>
              <a:t>Meridian Monthly</a:t>
            </a:r>
          </a:p>
        </p:txBody>
      </p:sp>
      <p:sp>
        <p:nvSpPr>
          <p:cNvPr id="12" name="TextBox 11">
            <a:extLst>
              <a:ext uri="{FF2B5EF4-FFF2-40B4-BE49-F238E27FC236}">
                <a16:creationId xmlns:a16="http://schemas.microsoft.com/office/drawing/2014/main" id="{A1329589-18E4-F8A1-BC51-0BFB567113BD}"/>
              </a:ext>
            </a:extLst>
          </p:cNvPr>
          <p:cNvSpPr txBox="1"/>
          <p:nvPr/>
        </p:nvSpPr>
        <p:spPr>
          <a:xfrm>
            <a:off x="344420" y="2150862"/>
            <a:ext cx="3765239" cy="307777"/>
          </a:xfrm>
          <a:prstGeom prst="rect">
            <a:avLst/>
          </a:prstGeom>
          <a:noFill/>
          <a:ln w="12700">
            <a:solidFill>
              <a:schemeClr val="accent4"/>
            </a:solidFill>
          </a:ln>
        </p:spPr>
        <p:txBody>
          <a:bodyPr wrap="square" rtlCol="0">
            <a:spAutoFit/>
          </a:bodyPr>
          <a:lstStyle/>
          <a:p>
            <a:r>
              <a:rPr lang="en-US" sz="1400">
                <a:solidFill>
                  <a:schemeClr val="accent5">
                    <a:lumMod val="90000"/>
                    <a:lumOff val="10000"/>
                  </a:schemeClr>
                </a:solidFill>
              </a:rPr>
              <a:t>GP Meeting - Tulsa</a:t>
            </a:r>
          </a:p>
        </p:txBody>
      </p:sp>
      <p:sp>
        <p:nvSpPr>
          <p:cNvPr id="13" name="TextBox 12">
            <a:extLst>
              <a:ext uri="{FF2B5EF4-FFF2-40B4-BE49-F238E27FC236}">
                <a16:creationId xmlns:a16="http://schemas.microsoft.com/office/drawing/2014/main" id="{6154DEEB-21FD-6D8B-AC25-63D2D39A844E}"/>
              </a:ext>
            </a:extLst>
          </p:cNvPr>
          <p:cNvSpPr txBox="1"/>
          <p:nvPr/>
        </p:nvSpPr>
        <p:spPr>
          <a:xfrm>
            <a:off x="4341537" y="2603482"/>
            <a:ext cx="3765236" cy="307775"/>
          </a:xfrm>
          <a:prstGeom prst="rect">
            <a:avLst/>
          </a:prstGeom>
          <a:noFill/>
          <a:ln w="12700">
            <a:solidFill>
              <a:schemeClr val="tx2"/>
            </a:solidFill>
          </a:ln>
        </p:spPr>
        <p:txBody>
          <a:bodyPr wrap="square" rtlCol="0">
            <a:spAutoFit/>
          </a:bodyPr>
          <a:lstStyle/>
          <a:p>
            <a:r>
              <a:rPr lang="en-US" sz="1400">
                <a:solidFill>
                  <a:schemeClr val="tx2"/>
                </a:solidFill>
              </a:rPr>
              <a:t>Corporate Newsletter (Geographic Reach)</a:t>
            </a:r>
          </a:p>
        </p:txBody>
      </p:sp>
      <p:sp>
        <p:nvSpPr>
          <p:cNvPr id="14" name="TextBox 13">
            <a:extLst>
              <a:ext uri="{FF2B5EF4-FFF2-40B4-BE49-F238E27FC236}">
                <a16:creationId xmlns:a16="http://schemas.microsoft.com/office/drawing/2014/main" id="{C5630956-420C-51F7-0F0A-8EC8FB3AE7F8}"/>
              </a:ext>
            </a:extLst>
          </p:cNvPr>
          <p:cNvSpPr txBox="1"/>
          <p:nvPr/>
        </p:nvSpPr>
        <p:spPr>
          <a:xfrm>
            <a:off x="8276377" y="2595900"/>
            <a:ext cx="3765237" cy="307776"/>
          </a:xfrm>
          <a:prstGeom prst="rect">
            <a:avLst/>
          </a:prstGeom>
          <a:noFill/>
          <a:ln w="12700">
            <a:solidFill>
              <a:schemeClr val="tx2"/>
            </a:solidFill>
          </a:ln>
        </p:spPr>
        <p:txBody>
          <a:bodyPr wrap="square" rtlCol="0">
            <a:spAutoFit/>
          </a:bodyPr>
          <a:lstStyle/>
          <a:p>
            <a:r>
              <a:rPr lang="en-US" sz="1400">
                <a:solidFill>
                  <a:schemeClr val="tx2"/>
                </a:solidFill>
              </a:rPr>
              <a:t>Corporate Newsletter (AI/Tech)</a:t>
            </a:r>
          </a:p>
        </p:txBody>
      </p:sp>
      <p:sp>
        <p:nvSpPr>
          <p:cNvPr id="23" name="TextBox 22">
            <a:extLst>
              <a:ext uri="{FF2B5EF4-FFF2-40B4-BE49-F238E27FC236}">
                <a16:creationId xmlns:a16="http://schemas.microsoft.com/office/drawing/2014/main" id="{A814B39A-89D1-F9FB-1715-6885A5EBE44E}"/>
              </a:ext>
            </a:extLst>
          </p:cNvPr>
          <p:cNvSpPr txBox="1"/>
          <p:nvPr/>
        </p:nvSpPr>
        <p:spPr>
          <a:xfrm>
            <a:off x="8272208" y="5406216"/>
            <a:ext cx="3679805" cy="523220"/>
          </a:xfrm>
          <a:prstGeom prst="rect">
            <a:avLst/>
          </a:prstGeom>
          <a:noFill/>
          <a:ln w="12700">
            <a:solidFill>
              <a:schemeClr val="tx2"/>
            </a:solidFill>
          </a:ln>
        </p:spPr>
        <p:txBody>
          <a:bodyPr wrap="square" lIns="91440" tIns="45720" rIns="91440" bIns="45720" rtlCol="0" anchor="t">
            <a:spAutoFit/>
          </a:bodyPr>
          <a:lstStyle/>
          <a:p>
            <a:r>
              <a:rPr lang="en-US" sz="1400">
                <a:solidFill>
                  <a:schemeClr val="tx2"/>
                </a:solidFill>
              </a:rPr>
              <a:t>Messaging Staff Roll-out &amp; Website Refresh Begins</a:t>
            </a:r>
          </a:p>
        </p:txBody>
      </p:sp>
      <p:sp>
        <p:nvSpPr>
          <p:cNvPr id="24" name="TextBox 23">
            <a:extLst>
              <a:ext uri="{FF2B5EF4-FFF2-40B4-BE49-F238E27FC236}">
                <a16:creationId xmlns:a16="http://schemas.microsoft.com/office/drawing/2014/main" id="{CFB0396B-3935-7751-CD5D-DE55FC73E471}"/>
              </a:ext>
            </a:extLst>
          </p:cNvPr>
          <p:cNvSpPr txBox="1"/>
          <p:nvPr/>
        </p:nvSpPr>
        <p:spPr>
          <a:xfrm>
            <a:off x="235815" y="5018423"/>
            <a:ext cx="7846523" cy="307776"/>
          </a:xfrm>
          <a:prstGeom prst="rect">
            <a:avLst/>
          </a:prstGeom>
          <a:noFill/>
          <a:ln w="12700">
            <a:solidFill>
              <a:schemeClr val="bg2"/>
            </a:solidFill>
          </a:ln>
        </p:spPr>
        <p:txBody>
          <a:bodyPr wrap="square" rtlCol="0">
            <a:spAutoFit/>
          </a:bodyPr>
          <a:lstStyle/>
          <a:p>
            <a:r>
              <a:rPr lang="en-US" sz="1400">
                <a:solidFill>
                  <a:schemeClr val="bg2"/>
                </a:solidFill>
              </a:rPr>
              <a:t>Develop Presentation for Social Innovation Summit</a:t>
            </a:r>
          </a:p>
        </p:txBody>
      </p:sp>
      <p:sp>
        <p:nvSpPr>
          <p:cNvPr id="25" name="TextBox 24">
            <a:extLst>
              <a:ext uri="{FF2B5EF4-FFF2-40B4-BE49-F238E27FC236}">
                <a16:creationId xmlns:a16="http://schemas.microsoft.com/office/drawing/2014/main" id="{F41A053A-4804-C810-A5CE-DD5E21B546E2}"/>
              </a:ext>
            </a:extLst>
          </p:cNvPr>
          <p:cNvSpPr txBox="1"/>
          <p:nvPr/>
        </p:nvSpPr>
        <p:spPr>
          <a:xfrm>
            <a:off x="235814" y="4601231"/>
            <a:ext cx="7846523" cy="307776"/>
          </a:xfrm>
          <a:prstGeom prst="rect">
            <a:avLst/>
          </a:prstGeom>
          <a:noFill/>
          <a:ln w="12700">
            <a:solidFill>
              <a:schemeClr val="bg2"/>
            </a:solidFill>
          </a:ln>
        </p:spPr>
        <p:txBody>
          <a:bodyPr wrap="square" rtlCol="0">
            <a:spAutoFit/>
          </a:bodyPr>
          <a:lstStyle/>
          <a:p>
            <a:r>
              <a:rPr lang="en-US" sz="1400">
                <a:solidFill>
                  <a:schemeClr val="bg2"/>
                </a:solidFill>
              </a:rPr>
              <a:t>Jim’s Long Form Article Writing &amp; Review</a:t>
            </a:r>
          </a:p>
        </p:txBody>
      </p:sp>
      <p:sp>
        <p:nvSpPr>
          <p:cNvPr id="26" name="TextBox 25">
            <a:extLst>
              <a:ext uri="{FF2B5EF4-FFF2-40B4-BE49-F238E27FC236}">
                <a16:creationId xmlns:a16="http://schemas.microsoft.com/office/drawing/2014/main" id="{FF829E01-241D-D06D-2540-389782539DBB}"/>
              </a:ext>
            </a:extLst>
          </p:cNvPr>
          <p:cNvSpPr txBox="1"/>
          <p:nvPr/>
        </p:nvSpPr>
        <p:spPr>
          <a:xfrm>
            <a:off x="8276380" y="4609706"/>
            <a:ext cx="3679806" cy="307776"/>
          </a:xfrm>
          <a:prstGeom prst="rect">
            <a:avLst/>
          </a:prstGeom>
          <a:noFill/>
          <a:ln w="12700">
            <a:solidFill>
              <a:schemeClr val="bg2"/>
            </a:solidFill>
          </a:ln>
        </p:spPr>
        <p:txBody>
          <a:bodyPr wrap="square" rtlCol="0">
            <a:spAutoFit/>
          </a:bodyPr>
          <a:lstStyle/>
          <a:p>
            <a:r>
              <a:rPr lang="en-US" sz="1400">
                <a:solidFill>
                  <a:schemeClr val="bg2"/>
                </a:solidFill>
              </a:rPr>
              <a:t>Jim’s Long Form Article Pitching &amp; Placement</a:t>
            </a:r>
          </a:p>
        </p:txBody>
      </p:sp>
      <p:sp>
        <p:nvSpPr>
          <p:cNvPr id="28" name="TextBox 27">
            <a:extLst>
              <a:ext uri="{FF2B5EF4-FFF2-40B4-BE49-F238E27FC236}">
                <a16:creationId xmlns:a16="http://schemas.microsoft.com/office/drawing/2014/main" id="{53DD10FA-E3B7-DDEC-FE6E-4436ED2E1E14}"/>
              </a:ext>
            </a:extLst>
          </p:cNvPr>
          <p:cNvSpPr txBox="1"/>
          <p:nvPr/>
        </p:nvSpPr>
        <p:spPr>
          <a:xfrm>
            <a:off x="235813" y="5421701"/>
            <a:ext cx="3873847" cy="307777"/>
          </a:xfrm>
          <a:prstGeom prst="rect">
            <a:avLst/>
          </a:prstGeom>
          <a:noFill/>
          <a:ln w="12700">
            <a:solidFill>
              <a:schemeClr val="accent1"/>
            </a:solidFill>
          </a:ln>
        </p:spPr>
        <p:txBody>
          <a:bodyPr wrap="square" rtlCol="0">
            <a:spAutoFit/>
          </a:bodyPr>
          <a:lstStyle/>
          <a:p>
            <a:r>
              <a:rPr lang="en-US" sz="1400">
                <a:solidFill>
                  <a:schemeClr val="bg2"/>
                </a:solidFill>
              </a:rPr>
              <a:t>Align on Plan for Jim’s Wikipedia Profile </a:t>
            </a:r>
          </a:p>
        </p:txBody>
      </p:sp>
      <p:sp>
        <p:nvSpPr>
          <p:cNvPr id="29" name="TextBox 28">
            <a:extLst>
              <a:ext uri="{FF2B5EF4-FFF2-40B4-BE49-F238E27FC236}">
                <a16:creationId xmlns:a16="http://schemas.microsoft.com/office/drawing/2014/main" id="{86067674-F7DB-6E04-5541-4A0F1596C373}"/>
              </a:ext>
            </a:extLst>
          </p:cNvPr>
          <p:cNvSpPr txBox="1"/>
          <p:nvPr/>
        </p:nvSpPr>
        <p:spPr>
          <a:xfrm>
            <a:off x="8276375" y="2093032"/>
            <a:ext cx="3765239" cy="307777"/>
          </a:xfrm>
          <a:prstGeom prst="rect">
            <a:avLst/>
          </a:prstGeom>
          <a:noFill/>
          <a:ln w="12700">
            <a:solidFill>
              <a:schemeClr val="accent4"/>
            </a:solidFill>
          </a:ln>
        </p:spPr>
        <p:txBody>
          <a:bodyPr wrap="square" rtlCol="0">
            <a:spAutoFit/>
          </a:bodyPr>
          <a:lstStyle/>
          <a:p>
            <a:r>
              <a:rPr lang="en-US" sz="1400">
                <a:solidFill>
                  <a:schemeClr val="accent5">
                    <a:lumMod val="90000"/>
                    <a:lumOff val="10000"/>
                  </a:schemeClr>
                </a:solidFill>
              </a:rPr>
              <a:t>GP Meeting - Virtual</a:t>
            </a:r>
          </a:p>
        </p:txBody>
      </p:sp>
      <p:sp>
        <p:nvSpPr>
          <p:cNvPr id="30" name="TextBox 29">
            <a:extLst>
              <a:ext uri="{FF2B5EF4-FFF2-40B4-BE49-F238E27FC236}">
                <a16:creationId xmlns:a16="http://schemas.microsoft.com/office/drawing/2014/main" id="{3543DF4C-3112-C09B-7790-FEE65EDD8F86}"/>
              </a:ext>
            </a:extLst>
          </p:cNvPr>
          <p:cNvSpPr txBox="1"/>
          <p:nvPr/>
        </p:nvSpPr>
        <p:spPr>
          <a:xfrm>
            <a:off x="8272208" y="3952600"/>
            <a:ext cx="3765234" cy="307777"/>
          </a:xfrm>
          <a:prstGeom prst="rect">
            <a:avLst/>
          </a:prstGeom>
          <a:noFill/>
          <a:ln w="12700">
            <a:solidFill>
              <a:schemeClr val="accent3"/>
            </a:solidFill>
            <a:prstDash val="dash"/>
          </a:ln>
        </p:spPr>
        <p:txBody>
          <a:bodyPr wrap="square" rtlCol="0">
            <a:spAutoFit/>
          </a:bodyPr>
          <a:lstStyle/>
          <a:p>
            <a:r>
              <a:rPr lang="en-US" sz="1400">
                <a:solidFill>
                  <a:schemeClr val="accent3"/>
                </a:solidFill>
              </a:rPr>
              <a:t>NEXUS Global Summit</a:t>
            </a:r>
          </a:p>
        </p:txBody>
      </p:sp>
      <p:sp>
        <p:nvSpPr>
          <p:cNvPr id="31" name="TextBox 30">
            <a:extLst>
              <a:ext uri="{FF2B5EF4-FFF2-40B4-BE49-F238E27FC236}">
                <a16:creationId xmlns:a16="http://schemas.microsoft.com/office/drawing/2014/main" id="{CA5AFE77-47FF-9FE7-802C-4B3206381B88}"/>
              </a:ext>
            </a:extLst>
          </p:cNvPr>
          <p:cNvSpPr txBox="1"/>
          <p:nvPr/>
        </p:nvSpPr>
        <p:spPr>
          <a:xfrm>
            <a:off x="287624" y="5688"/>
            <a:ext cx="2915778" cy="1034954"/>
          </a:xfrm>
          <a:prstGeom prst="rect">
            <a:avLst/>
          </a:prstGeom>
          <a:noFill/>
          <a:ln w="12700">
            <a:solidFill>
              <a:schemeClr val="tx1"/>
            </a:solidFill>
          </a:ln>
        </p:spPr>
        <p:txBody>
          <a:bodyPr wrap="square" lIns="91440" tIns="45720" rIns="91440" bIns="45720" rtlCol="0" anchor="t">
            <a:spAutoFit/>
          </a:bodyPr>
          <a:lstStyle/>
          <a:p>
            <a:r>
              <a:rPr lang="en-US" sz="1200" b="1"/>
              <a:t>Key:</a:t>
            </a:r>
          </a:p>
          <a:p>
            <a:r>
              <a:rPr lang="en-US" sz="1200">
                <a:solidFill>
                  <a:schemeClr val="accent5">
                    <a:lumMod val="90000"/>
                    <a:lumOff val="10000"/>
                  </a:schemeClr>
                </a:solidFill>
              </a:rPr>
              <a:t>Green</a:t>
            </a:r>
            <a:r>
              <a:rPr lang="en-US" sz="1200"/>
              <a:t> = Partner-Focused</a:t>
            </a:r>
          </a:p>
          <a:p>
            <a:r>
              <a:rPr lang="en-US" sz="1200">
                <a:solidFill>
                  <a:schemeClr val="tx2"/>
                </a:solidFill>
              </a:rPr>
              <a:t>Navy</a:t>
            </a:r>
            <a:r>
              <a:rPr lang="en-US" sz="1200"/>
              <a:t> = BMP Corporate</a:t>
            </a:r>
          </a:p>
          <a:p>
            <a:r>
              <a:rPr lang="en-US" sz="1200">
                <a:solidFill>
                  <a:schemeClr val="bg2"/>
                </a:solidFill>
              </a:rPr>
              <a:t>Meridian Blue</a:t>
            </a:r>
            <a:r>
              <a:rPr lang="en-US" sz="1200"/>
              <a:t> = Jim CEO Visibility</a:t>
            </a:r>
          </a:p>
          <a:p>
            <a:r>
              <a:rPr lang="en-US" sz="1200">
                <a:solidFill>
                  <a:schemeClr val="accent3"/>
                </a:solidFill>
              </a:rPr>
              <a:t>Purple </a:t>
            </a:r>
            <a:r>
              <a:rPr lang="en-US" sz="1200"/>
              <a:t>= Under Consideration</a:t>
            </a:r>
          </a:p>
        </p:txBody>
      </p:sp>
      <p:sp>
        <p:nvSpPr>
          <p:cNvPr id="32" name="TextBox 31">
            <a:extLst>
              <a:ext uri="{FF2B5EF4-FFF2-40B4-BE49-F238E27FC236}">
                <a16:creationId xmlns:a16="http://schemas.microsoft.com/office/drawing/2014/main" id="{0DC0BC25-A85A-FDBD-8565-F63CABB6D042}"/>
              </a:ext>
            </a:extLst>
          </p:cNvPr>
          <p:cNvSpPr txBox="1"/>
          <p:nvPr/>
        </p:nvSpPr>
        <p:spPr>
          <a:xfrm>
            <a:off x="9333866" y="82798"/>
            <a:ext cx="2703576" cy="276999"/>
          </a:xfrm>
          <a:prstGeom prst="rect">
            <a:avLst/>
          </a:prstGeom>
          <a:noFill/>
          <a:ln w="12700">
            <a:solidFill>
              <a:schemeClr val="tx1"/>
            </a:solidFill>
          </a:ln>
        </p:spPr>
        <p:txBody>
          <a:bodyPr wrap="square" rtlCol="0">
            <a:spAutoFit/>
          </a:bodyPr>
          <a:lstStyle/>
          <a:p>
            <a:pPr algn="ctr"/>
            <a:r>
              <a:rPr lang="en-US" sz="1200"/>
              <a:t>Solid Line = Confirmed</a:t>
            </a:r>
          </a:p>
        </p:txBody>
      </p:sp>
      <p:sp>
        <p:nvSpPr>
          <p:cNvPr id="33" name="TextBox 32">
            <a:extLst>
              <a:ext uri="{FF2B5EF4-FFF2-40B4-BE49-F238E27FC236}">
                <a16:creationId xmlns:a16="http://schemas.microsoft.com/office/drawing/2014/main" id="{B47F21E1-DDB1-4C77-9A09-30DA4DD501D5}"/>
              </a:ext>
            </a:extLst>
          </p:cNvPr>
          <p:cNvSpPr txBox="1"/>
          <p:nvPr/>
        </p:nvSpPr>
        <p:spPr>
          <a:xfrm>
            <a:off x="9333866" y="463429"/>
            <a:ext cx="2703576" cy="276999"/>
          </a:xfrm>
          <a:prstGeom prst="rect">
            <a:avLst/>
          </a:prstGeom>
          <a:noFill/>
          <a:ln w="12700">
            <a:solidFill>
              <a:schemeClr val="tx1"/>
            </a:solidFill>
            <a:prstDash val="dash"/>
          </a:ln>
        </p:spPr>
        <p:txBody>
          <a:bodyPr wrap="square" rtlCol="0">
            <a:spAutoFit/>
          </a:bodyPr>
          <a:lstStyle/>
          <a:p>
            <a:pPr algn="ctr"/>
            <a:r>
              <a:rPr lang="en-US" sz="1200"/>
              <a:t>Dashed Line = Tentative</a:t>
            </a:r>
          </a:p>
        </p:txBody>
      </p:sp>
      <p:sp>
        <p:nvSpPr>
          <p:cNvPr id="36" name="TextBox 35">
            <a:extLst>
              <a:ext uri="{FF2B5EF4-FFF2-40B4-BE49-F238E27FC236}">
                <a16:creationId xmlns:a16="http://schemas.microsoft.com/office/drawing/2014/main" id="{F980C8E9-90BE-DCF9-A6CB-D9926F4D21CE}"/>
              </a:ext>
            </a:extLst>
          </p:cNvPr>
          <p:cNvSpPr txBox="1"/>
          <p:nvPr/>
        </p:nvSpPr>
        <p:spPr>
          <a:xfrm>
            <a:off x="442994" y="4198738"/>
            <a:ext cx="1414746" cy="307777"/>
          </a:xfrm>
          <a:prstGeom prst="rect">
            <a:avLst/>
          </a:prstGeom>
          <a:noFill/>
        </p:spPr>
        <p:txBody>
          <a:bodyPr wrap="none" rtlCol="0">
            <a:spAutoFit/>
          </a:bodyPr>
          <a:lstStyle/>
          <a:p>
            <a:r>
              <a:rPr lang="en-US" sz="1400" b="1"/>
              <a:t>WORKSTREAMS</a:t>
            </a:r>
          </a:p>
        </p:txBody>
      </p:sp>
      <p:sp>
        <p:nvSpPr>
          <p:cNvPr id="37" name="Arrow: Down 36">
            <a:extLst>
              <a:ext uri="{FF2B5EF4-FFF2-40B4-BE49-F238E27FC236}">
                <a16:creationId xmlns:a16="http://schemas.microsoft.com/office/drawing/2014/main" id="{AACE7B4D-2555-15C2-2369-F3645974E94A}"/>
              </a:ext>
            </a:extLst>
          </p:cNvPr>
          <p:cNvSpPr/>
          <p:nvPr/>
        </p:nvSpPr>
        <p:spPr>
          <a:xfrm>
            <a:off x="108904" y="4021199"/>
            <a:ext cx="334168" cy="452322"/>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Arrow: Up 37">
            <a:extLst>
              <a:ext uri="{FF2B5EF4-FFF2-40B4-BE49-F238E27FC236}">
                <a16:creationId xmlns:a16="http://schemas.microsoft.com/office/drawing/2014/main" id="{C7AB419D-62B7-F0F4-2245-C8776E777988}"/>
              </a:ext>
            </a:extLst>
          </p:cNvPr>
          <p:cNvSpPr/>
          <p:nvPr/>
        </p:nvSpPr>
        <p:spPr>
          <a:xfrm>
            <a:off x="108826" y="3533251"/>
            <a:ext cx="334168" cy="452322"/>
          </a:xfrm>
          <a:prstGeom prst="up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E5A3E35B-86B9-03E7-D0E8-0BA7C3F30EF0}"/>
              </a:ext>
            </a:extLst>
          </p:cNvPr>
          <p:cNvSpPr txBox="1"/>
          <p:nvPr/>
        </p:nvSpPr>
        <p:spPr>
          <a:xfrm>
            <a:off x="442994" y="3498648"/>
            <a:ext cx="897105" cy="307777"/>
          </a:xfrm>
          <a:prstGeom prst="rect">
            <a:avLst/>
          </a:prstGeom>
          <a:noFill/>
        </p:spPr>
        <p:txBody>
          <a:bodyPr wrap="none" rtlCol="0">
            <a:spAutoFit/>
          </a:bodyPr>
          <a:lstStyle/>
          <a:p>
            <a:r>
              <a:rPr lang="en-US" sz="1400" b="1"/>
              <a:t>OUTPUTS</a:t>
            </a:r>
          </a:p>
        </p:txBody>
      </p:sp>
      <p:sp>
        <p:nvSpPr>
          <p:cNvPr id="2" name="TextBox 1">
            <a:extLst>
              <a:ext uri="{FF2B5EF4-FFF2-40B4-BE49-F238E27FC236}">
                <a16:creationId xmlns:a16="http://schemas.microsoft.com/office/drawing/2014/main" id="{A99E7A4A-D298-42CA-3903-D2983EB83DA3}"/>
              </a:ext>
            </a:extLst>
          </p:cNvPr>
          <p:cNvSpPr txBox="1"/>
          <p:nvPr/>
        </p:nvSpPr>
        <p:spPr>
          <a:xfrm>
            <a:off x="4317098" y="3027396"/>
            <a:ext cx="3765237" cy="307777"/>
          </a:xfrm>
          <a:prstGeom prst="rect">
            <a:avLst/>
          </a:prstGeom>
          <a:noFill/>
          <a:ln w="12700">
            <a:solidFill>
              <a:schemeClr val="accent1"/>
            </a:solidFill>
          </a:ln>
        </p:spPr>
        <p:txBody>
          <a:bodyPr wrap="square" lIns="91440" tIns="45720" rIns="91440" bIns="45720" rtlCol="0" anchor="t">
            <a:spAutoFit/>
          </a:bodyPr>
          <a:lstStyle/>
          <a:p>
            <a:r>
              <a:rPr lang="en-US" sz="1400">
                <a:solidFill>
                  <a:schemeClr val="accent1"/>
                </a:solidFill>
              </a:rPr>
              <a:t>Milken Global Summit (panel re: HBCUs)</a:t>
            </a:r>
          </a:p>
        </p:txBody>
      </p:sp>
    </p:spTree>
    <p:extLst>
      <p:ext uri="{BB962C8B-B14F-4D97-AF65-F5344CB8AC3E}">
        <p14:creationId xmlns:p14="http://schemas.microsoft.com/office/powerpoint/2010/main" val="3250316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461F9-D620-5E64-EE85-8F13743E5C1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57E1A33-D100-92C9-AEAF-6E90AE00470F}"/>
              </a:ext>
            </a:extLst>
          </p:cNvPr>
          <p:cNvSpPr txBox="1"/>
          <p:nvPr/>
        </p:nvSpPr>
        <p:spPr>
          <a:xfrm>
            <a:off x="290116" y="1143845"/>
            <a:ext cx="3765239" cy="371846"/>
          </a:xfrm>
          <a:prstGeom prst="rect">
            <a:avLst/>
          </a:prstGeom>
          <a:solidFill>
            <a:schemeClr val="tx2"/>
          </a:solidFill>
          <a:ln w="12700">
            <a:noFill/>
          </a:ln>
        </p:spPr>
        <p:txBody>
          <a:bodyPr wrap="square" rtlCol="0">
            <a:spAutoFit/>
          </a:bodyPr>
          <a:lstStyle/>
          <a:p>
            <a:pPr algn="ctr"/>
            <a:r>
              <a:rPr lang="en-US" b="1">
                <a:solidFill>
                  <a:schemeClr val="bg1"/>
                </a:solidFill>
              </a:rPr>
              <a:t>JULY</a:t>
            </a:r>
            <a:endParaRPr lang="en-US">
              <a:solidFill>
                <a:schemeClr val="bg1"/>
              </a:solidFill>
            </a:endParaRPr>
          </a:p>
        </p:txBody>
      </p:sp>
      <p:sp>
        <p:nvSpPr>
          <p:cNvPr id="15" name="TextBox 14">
            <a:extLst>
              <a:ext uri="{FF2B5EF4-FFF2-40B4-BE49-F238E27FC236}">
                <a16:creationId xmlns:a16="http://schemas.microsoft.com/office/drawing/2014/main" id="{C0CA6AC2-DAB4-7009-BED2-544A1C300B78}"/>
              </a:ext>
            </a:extLst>
          </p:cNvPr>
          <p:cNvSpPr txBox="1"/>
          <p:nvPr/>
        </p:nvSpPr>
        <p:spPr>
          <a:xfrm>
            <a:off x="344423" y="1711706"/>
            <a:ext cx="3710929" cy="306058"/>
          </a:xfrm>
          <a:prstGeom prst="rect">
            <a:avLst/>
          </a:prstGeom>
          <a:noFill/>
          <a:ln w="12700">
            <a:solidFill>
              <a:schemeClr val="accent4"/>
            </a:solidFill>
          </a:ln>
        </p:spPr>
        <p:txBody>
          <a:bodyPr wrap="square" rtlCol="0">
            <a:spAutoFit/>
          </a:bodyPr>
          <a:lstStyle/>
          <a:p>
            <a:r>
              <a:rPr lang="en-US" sz="1400">
                <a:solidFill>
                  <a:schemeClr val="accent5">
                    <a:lumMod val="90000"/>
                    <a:lumOff val="10000"/>
                  </a:schemeClr>
                </a:solidFill>
              </a:rPr>
              <a:t>Meridian Monthly</a:t>
            </a:r>
          </a:p>
        </p:txBody>
      </p:sp>
      <p:sp>
        <p:nvSpPr>
          <p:cNvPr id="17" name="TextBox 16">
            <a:extLst>
              <a:ext uri="{FF2B5EF4-FFF2-40B4-BE49-F238E27FC236}">
                <a16:creationId xmlns:a16="http://schemas.microsoft.com/office/drawing/2014/main" id="{CE41400B-36DE-221F-59A2-39150ACCE46A}"/>
              </a:ext>
            </a:extLst>
          </p:cNvPr>
          <p:cNvSpPr txBox="1"/>
          <p:nvPr/>
        </p:nvSpPr>
        <p:spPr>
          <a:xfrm>
            <a:off x="235816" y="5823409"/>
            <a:ext cx="7846517" cy="307777"/>
          </a:xfrm>
          <a:prstGeom prst="rect">
            <a:avLst/>
          </a:prstGeom>
          <a:noFill/>
          <a:ln w="12700">
            <a:solidFill>
              <a:schemeClr val="tx2"/>
            </a:solidFill>
          </a:ln>
        </p:spPr>
        <p:txBody>
          <a:bodyPr wrap="square" lIns="91440" tIns="45720" rIns="91440" bIns="45720" rtlCol="0" anchor="t">
            <a:spAutoFit/>
          </a:bodyPr>
          <a:lstStyle/>
          <a:p>
            <a:r>
              <a:rPr lang="en-US" sz="1400">
                <a:solidFill>
                  <a:schemeClr val="tx2"/>
                </a:solidFill>
              </a:rPr>
              <a:t>Website Refresh Continues &amp; Completes </a:t>
            </a:r>
          </a:p>
        </p:txBody>
      </p:sp>
      <p:sp>
        <p:nvSpPr>
          <p:cNvPr id="18" name="TextBox 17">
            <a:extLst>
              <a:ext uri="{FF2B5EF4-FFF2-40B4-BE49-F238E27FC236}">
                <a16:creationId xmlns:a16="http://schemas.microsoft.com/office/drawing/2014/main" id="{B9B1774F-4B87-B638-2200-80A6FAAA305F}"/>
              </a:ext>
            </a:extLst>
          </p:cNvPr>
          <p:cNvSpPr txBox="1"/>
          <p:nvPr/>
        </p:nvSpPr>
        <p:spPr>
          <a:xfrm>
            <a:off x="8276374" y="2954379"/>
            <a:ext cx="3761067" cy="307777"/>
          </a:xfrm>
          <a:prstGeom prst="rect">
            <a:avLst/>
          </a:prstGeom>
          <a:noFill/>
          <a:ln w="12700">
            <a:solidFill>
              <a:schemeClr val="accent1"/>
            </a:solidFill>
            <a:prstDash val="dash"/>
          </a:ln>
        </p:spPr>
        <p:txBody>
          <a:bodyPr wrap="square" rtlCol="0">
            <a:spAutoFit/>
          </a:bodyPr>
          <a:lstStyle/>
          <a:p>
            <a:r>
              <a:rPr lang="en-US" sz="1400">
                <a:solidFill>
                  <a:schemeClr val="bg2"/>
                </a:solidFill>
              </a:rPr>
              <a:t>Jim Posts on LinkedIn</a:t>
            </a:r>
          </a:p>
        </p:txBody>
      </p:sp>
      <p:sp>
        <p:nvSpPr>
          <p:cNvPr id="4" name="Rectangle 3">
            <a:extLst>
              <a:ext uri="{FF2B5EF4-FFF2-40B4-BE49-F238E27FC236}">
                <a16:creationId xmlns:a16="http://schemas.microsoft.com/office/drawing/2014/main" id="{75B40158-9D53-A759-EF1E-07F922E555EE}"/>
              </a:ext>
            </a:extLst>
          </p:cNvPr>
          <p:cNvSpPr/>
          <p:nvPr/>
        </p:nvSpPr>
        <p:spPr>
          <a:xfrm>
            <a:off x="3338624" y="82798"/>
            <a:ext cx="5805376" cy="378092"/>
          </a:xfrm>
          <a:prstGeom prst="rect">
            <a:avLst/>
          </a:prstGeom>
          <a:solidFill>
            <a:schemeClr val="accent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CY 2025 Q3 AT A GLANCE </a:t>
            </a:r>
          </a:p>
        </p:txBody>
      </p:sp>
      <p:sp>
        <p:nvSpPr>
          <p:cNvPr id="20" name="TextBox 19">
            <a:extLst>
              <a:ext uri="{FF2B5EF4-FFF2-40B4-BE49-F238E27FC236}">
                <a16:creationId xmlns:a16="http://schemas.microsoft.com/office/drawing/2014/main" id="{69F9EB3C-8D8F-F34C-E770-885AF87C1503}"/>
              </a:ext>
            </a:extLst>
          </p:cNvPr>
          <p:cNvSpPr txBox="1"/>
          <p:nvPr/>
        </p:nvSpPr>
        <p:spPr>
          <a:xfrm>
            <a:off x="8272204" y="4174101"/>
            <a:ext cx="3765237" cy="307777"/>
          </a:xfrm>
          <a:prstGeom prst="rect">
            <a:avLst/>
          </a:prstGeom>
          <a:noFill/>
          <a:ln w="12700">
            <a:solidFill>
              <a:schemeClr val="accent3"/>
            </a:solidFill>
            <a:prstDash val="dash"/>
          </a:ln>
        </p:spPr>
        <p:txBody>
          <a:bodyPr wrap="square" rtlCol="0">
            <a:spAutoFit/>
          </a:bodyPr>
          <a:lstStyle/>
          <a:p>
            <a:r>
              <a:rPr lang="en-US" sz="1400">
                <a:solidFill>
                  <a:schemeClr val="accent3"/>
                </a:solidFill>
              </a:rPr>
              <a:t>The Atlantic Festival Presentation</a:t>
            </a:r>
          </a:p>
        </p:txBody>
      </p:sp>
      <p:sp>
        <p:nvSpPr>
          <p:cNvPr id="21" name="TextBox 20">
            <a:extLst>
              <a:ext uri="{FF2B5EF4-FFF2-40B4-BE49-F238E27FC236}">
                <a16:creationId xmlns:a16="http://schemas.microsoft.com/office/drawing/2014/main" id="{F60FE164-D794-80D5-41FA-B5EC8C3B7494}"/>
              </a:ext>
            </a:extLst>
          </p:cNvPr>
          <p:cNvSpPr txBox="1"/>
          <p:nvPr/>
        </p:nvSpPr>
        <p:spPr>
          <a:xfrm>
            <a:off x="8276374" y="3394680"/>
            <a:ext cx="3765234" cy="307777"/>
          </a:xfrm>
          <a:prstGeom prst="rect">
            <a:avLst/>
          </a:prstGeom>
          <a:noFill/>
          <a:ln w="12700">
            <a:solidFill>
              <a:schemeClr val="accent1"/>
            </a:solidFill>
            <a:prstDash val="dash"/>
          </a:ln>
        </p:spPr>
        <p:txBody>
          <a:bodyPr wrap="square" rtlCol="0">
            <a:spAutoFit/>
          </a:bodyPr>
          <a:lstStyle/>
          <a:p>
            <a:r>
              <a:rPr lang="en-US" sz="1400">
                <a:solidFill>
                  <a:schemeClr val="accent1"/>
                </a:solidFill>
              </a:rPr>
              <a:t>Media Briefing(s)</a:t>
            </a:r>
          </a:p>
        </p:txBody>
      </p:sp>
      <p:sp>
        <p:nvSpPr>
          <p:cNvPr id="22" name="TextBox 21">
            <a:extLst>
              <a:ext uri="{FF2B5EF4-FFF2-40B4-BE49-F238E27FC236}">
                <a16:creationId xmlns:a16="http://schemas.microsoft.com/office/drawing/2014/main" id="{FB20652E-1A3E-A054-1B73-8A5DAE444E96}"/>
              </a:ext>
            </a:extLst>
          </p:cNvPr>
          <p:cNvSpPr txBox="1"/>
          <p:nvPr/>
        </p:nvSpPr>
        <p:spPr>
          <a:xfrm>
            <a:off x="314772" y="3393029"/>
            <a:ext cx="3765235" cy="307777"/>
          </a:xfrm>
          <a:prstGeom prst="rect">
            <a:avLst/>
          </a:prstGeom>
          <a:noFill/>
          <a:ln w="12700">
            <a:solidFill>
              <a:schemeClr val="accent1"/>
            </a:solidFill>
            <a:prstDash val="dash"/>
          </a:ln>
        </p:spPr>
        <p:txBody>
          <a:bodyPr wrap="square" rtlCol="0">
            <a:spAutoFit/>
          </a:bodyPr>
          <a:lstStyle/>
          <a:p>
            <a:r>
              <a:rPr lang="en-US" sz="1400">
                <a:solidFill>
                  <a:schemeClr val="bg2"/>
                </a:solidFill>
              </a:rPr>
              <a:t>Media Briefing(s)</a:t>
            </a:r>
          </a:p>
        </p:txBody>
      </p:sp>
      <p:sp>
        <p:nvSpPr>
          <p:cNvPr id="3" name="TextBox 2">
            <a:extLst>
              <a:ext uri="{FF2B5EF4-FFF2-40B4-BE49-F238E27FC236}">
                <a16:creationId xmlns:a16="http://schemas.microsoft.com/office/drawing/2014/main" id="{D5F3B950-3718-F788-FC4C-D11E621AB6B9}"/>
              </a:ext>
            </a:extLst>
          </p:cNvPr>
          <p:cNvSpPr txBox="1"/>
          <p:nvPr/>
        </p:nvSpPr>
        <p:spPr>
          <a:xfrm>
            <a:off x="4358692" y="1152544"/>
            <a:ext cx="3765239" cy="371846"/>
          </a:xfrm>
          <a:prstGeom prst="rect">
            <a:avLst/>
          </a:prstGeom>
          <a:solidFill>
            <a:schemeClr val="tx2"/>
          </a:solidFill>
          <a:ln w="12700">
            <a:noFill/>
          </a:ln>
        </p:spPr>
        <p:txBody>
          <a:bodyPr wrap="square" rtlCol="0">
            <a:spAutoFit/>
          </a:bodyPr>
          <a:lstStyle/>
          <a:p>
            <a:pPr algn="ctr"/>
            <a:r>
              <a:rPr lang="en-US" b="1">
                <a:solidFill>
                  <a:schemeClr val="bg1"/>
                </a:solidFill>
              </a:rPr>
              <a:t>AUGUST</a:t>
            </a:r>
            <a:endParaRPr lang="en-US">
              <a:solidFill>
                <a:schemeClr val="bg1"/>
              </a:solidFill>
            </a:endParaRPr>
          </a:p>
        </p:txBody>
      </p:sp>
      <p:sp>
        <p:nvSpPr>
          <p:cNvPr id="5" name="TextBox 4">
            <a:extLst>
              <a:ext uri="{FF2B5EF4-FFF2-40B4-BE49-F238E27FC236}">
                <a16:creationId xmlns:a16="http://schemas.microsoft.com/office/drawing/2014/main" id="{AAE093DD-5B05-3550-F777-CAA3031B3865}"/>
              </a:ext>
            </a:extLst>
          </p:cNvPr>
          <p:cNvSpPr txBox="1"/>
          <p:nvPr/>
        </p:nvSpPr>
        <p:spPr>
          <a:xfrm>
            <a:off x="8276375" y="1152544"/>
            <a:ext cx="3765239" cy="371846"/>
          </a:xfrm>
          <a:prstGeom prst="rect">
            <a:avLst/>
          </a:prstGeom>
          <a:solidFill>
            <a:schemeClr val="tx2"/>
          </a:solidFill>
          <a:ln w="12700">
            <a:noFill/>
          </a:ln>
        </p:spPr>
        <p:txBody>
          <a:bodyPr wrap="square" rtlCol="0">
            <a:spAutoFit/>
          </a:bodyPr>
          <a:lstStyle/>
          <a:p>
            <a:pPr algn="ctr"/>
            <a:r>
              <a:rPr lang="en-US" b="1">
                <a:solidFill>
                  <a:schemeClr val="bg1"/>
                </a:solidFill>
              </a:rPr>
              <a:t>SEPTMEBER</a:t>
            </a:r>
            <a:endParaRPr lang="en-US">
              <a:solidFill>
                <a:schemeClr val="bg1"/>
              </a:solidFill>
            </a:endParaRPr>
          </a:p>
        </p:txBody>
      </p:sp>
      <p:sp>
        <p:nvSpPr>
          <p:cNvPr id="6" name="TextBox 5">
            <a:extLst>
              <a:ext uri="{FF2B5EF4-FFF2-40B4-BE49-F238E27FC236}">
                <a16:creationId xmlns:a16="http://schemas.microsoft.com/office/drawing/2014/main" id="{B0F6D639-7001-D7B7-C4A5-440249EBE36E}"/>
              </a:ext>
            </a:extLst>
          </p:cNvPr>
          <p:cNvSpPr txBox="1"/>
          <p:nvPr/>
        </p:nvSpPr>
        <p:spPr>
          <a:xfrm>
            <a:off x="4310399" y="1709986"/>
            <a:ext cx="3765237" cy="307777"/>
          </a:xfrm>
          <a:prstGeom prst="rect">
            <a:avLst/>
          </a:prstGeom>
          <a:noFill/>
          <a:ln w="12700">
            <a:solidFill>
              <a:schemeClr val="accent4"/>
            </a:solidFill>
          </a:ln>
        </p:spPr>
        <p:txBody>
          <a:bodyPr wrap="square" rtlCol="0">
            <a:spAutoFit/>
          </a:bodyPr>
          <a:lstStyle/>
          <a:p>
            <a:r>
              <a:rPr lang="en-US" sz="1400">
                <a:solidFill>
                  <a:schemeClr val="accent5">
                    <a:lumMod val="90000"/>
                    <a:lumOff val="10000"/>
                  </a:schemeClr>
                </a:solidFill>
              </a:rPr>
              <a:t>Meridian Monthly</a:t>
            </a:r>
          </a:p>
        </p:txBody>
      </p:sp>
      <p:sp>
        <p:nvSpPr>
          <p:cNvPr id="11" name="TextBox 10">
            <a:extLst>
              <a:ext uri="{FF2B5EF4-FFF2-40B4-BE49-F238E27FC236}">
                <a16:creationId xmlns:a16="http://schemas.microsoft.com/office/drawing/2014/main" id="{FE023386-1942-6AE0-4337-B209941F3307}"/>
              </a:ext>
            </a:extLst>
          </p:cNvPr>
          <p:cNvSpPr txBox="1"/>
          <p:nvPr/>
        </p:nvSpPr>
        <p:spPr>
          <a:xfrm>
            <a:off x="8276376" y="1679294"/>
            <a:ext cx="3765238" cy="307777"/>
          </a:xfrm>
          <a:prstGeom prst="rect">
            <a:avLst/>
          </a:prstGeom>
          <a:noFill/>
          <a:ln w="12700">
            <a:solidFill>
              <a:schemeClr val="accent4"/>
            </a:solidFill>
          </a:ln>
        </p:spPr>
        <p:txBody>
          <a:bodyPr wrap="square" rtlCol="0">
            <a:spAutoFit/>
          </a:bodyPr>
          <a:lstStyle/>
          <a:p>
            <a:r>
              <a:rPr lang="en-US" sz="1400">
                <a:solidFill>
                  <a:schemeClr val="accent5">
                    <a:lumMod val="90000"/>
                    <a:lumOff val="10000"/>
                  </a:schemeClr>
                </a:solidFill>
              </a:rPr>
              <a:t>Meridian Monthly</a:t>
            </a:r>
          </a:p>
        </p:txBody>
      </p:sp>
      <p:sp>
        <p:nvSpPr>
          <p:cNvPr id="13" name="TextBox 12">
            <a:extLst>
              <a:ext uri="{FF2B5EF4-FFF2-40B4-BE49-F238E27FC236}">
                <a16:creationId xmlns:a16="http://schemas.microsoft.com/office/drawing/2014/main" id="{2BDC9800-25AF-2639-AEBC-91BCE3642D4E}"/>
              </a:ext>
            </a:extLst>
          </p:cNvPr>
          <p:cNvSpPr txBox="1"/>
          <p:nvPr/>
        </p:nvSpPr>
        <p:spPr>
          <a:xfrm>
            <a:off x="4275923" y="2426572"/>
            <a:ext cx="3765236" cy="523220"/>
          </a:xfrm>
          <a:prstGeom prst="rect">
            <a:avLst/>
          </a:prstGeom>
          <a:noFill/>
          <a:ln w="12700">
            <a:solidFill>
              <a:schemeClr val="tx2"/>
            </a:solidFill>
            <a:prstDash val="solid"/>
          </a:ln>
        </p:spPr>
        <p:txBody>
          <a:bodyPr wrap="square" lIns="91440" tIns="45720" rIns="91440" bIns="45720" rtlCol="0" anchor="t">
            <a:spAutoFit/>
          </a:bodyPr>
          <a:lstStyle/>
          <a:p>
            <a:r>
              <a:rPr lang="en-US" sz="1400">
                <a:solidFill>
                  <a:schemeClr val="tx2"/>
                </a:solidFill>
              </a:rPr>
              <a:t>Corporate Newsletter (Topic TBD- reco Studio education recovery)</a:t>
            </a:r>
          </a:p>
        </p:txBody>
      </p:sp>
      <p:sp>
        <p:nvSpPr>
          <p:cNvPr id="25" name="TextBox 24">
            <a:extLst>
              <a:ext uri="{FF2B5EF4-FFF2-40B4-BE49-F238E27FC236}">
                <a16:creationId xmlns:a16="http://schemas.microsoft.com/office/drawing/2014/main" id="{11ED023C-6AED-60B6-81CD-B391748148E6}"/>
              </a:ext>
            </a:extLst>
          </p:cNvPr>
          <p:cNvSpPr txBox="1"/>
          <p:nvPr/>
        </p:nvSpPr>
        <p:spPr>
          <a:xfrm>
            <a:off x="235814" y="5414541"/>
            <a:ext cx="11801628" cy="307775"/>
          </a:xfrm>
          <a:prstGeom prst="rect">
            <a:avLst/>
          </a:prstGeom>
          <a:noFill/>
          <a:ln w="12700">
            <a:solidFill>
              <a:schemeClr val="bg2"/>
            </a:solidFill>
          </a:ln>
        </p:spPr>
        <p:txBody>
          <a:bodyPr wrap="square" rtlCol="0">
            <a:spAutoFit/>
          </a:bodyPr>
          <a:lstStyle/>
          <a:p>
            <a:r>
              <a:rPr lang="en-US" sz="1400">
                <a:solidFill>
                  <a:schemeClr val="bg2"/>
                </a:solidFill>
              </a:rPr>
              <a:t>Jim’s Long Form Article Pitching &amp; Placement</a:t>
            </a:r>
          </a:p>
        </p:txBody>
      </p:sp>
      <p:sp>
        <p:nvSpPr>
          <p:cNvPr id="28" name="TextBox 27">
            <a:extLst>
              <a:ext uri="{FF2B5EF4-FFF2-40B4-BE49-F238E27FC236}">
                <a16:creationId xmlns:a16="http://schemas.microsoft.com/office/drawing/2014/main" id="{3EB9F585-8698-0F01-6592-D09FA93518CF}"/>
              </a:ext>
            </a:extLst>
          </p:cNvPr>
          <p:cNvSpPr txBox="1"/>
          <p:nvPr/>
        </p:nvSpPr>
        <p:spPr>
          <a:xfrm>
            <a:off x="290117" y="2956271"/>
            <a:ext cx="3765235" cy="317587"/>
          </a:xfrm>
          <a:prstGeom prst="rect">
            <a:avLst/>
          </a:prstGeom>
          <a:noFill/>
          <a:ln w="12700">
            <a:solidFill>
              <a:schemeClr val="accent1"/>
            </a:solidFill>
            <a:prstDash val="dash"/>
          </a:ln>
        </p:spPr>
        <p:txBody>
          <a:bodyPr wrap="square" rtlCol="0">
            <a:spAutoFit/>
          </a:bodyPr>
          <a:lstStyle/>
          <a:p>
            <a:r>
              <a:rPr lang="en-US" sz="1400">
                <a:solidFill>
                  <a:schemeClr val="bg2"/>
                </a:solidFill>
              </a:rPr>
              <a:t>Jim Posts on LinkedIn </a:t>
            </a:r>
          </a:p>
        </p:txBody>
      </p:sp>
      <p:sp>
        <p:nvSpPr>
          <p:cNvPr id="31" name="TextBox 30">
            <a:extLst>
              <a:ext uri="{FF2B5EF4-FFF2-40B4-BE49-F238E27FC236}">
                <a16:creationId xmlns:a16="http://schemas.microsoft.com/office/drawing/2014/main" id="{63599A60-69BA-9DA1-26A4-AAA0DDB95295}"/>
              </a:ext>
            </a:extLst>
          </p:cNvPr>
          <p:cNvSpPr txBox="1"/>
          <p:nvPr/>
        </p:nvSpPr>
        <p:spPr>
          <a:xfrm>
            <a:off x="344420" y="73474"/>
            <a:ext cx="2703576" cy="1015663"/>
          </a:xfrm>
          <a:prstGeom prst="rect">
            <a:avLst/>
          </a:prstGeom>
          <a:noFill/>
          <a:ln w="12700">
            <a:solidFill>
              <a:schemeClr val="tx1"/>
            </a:solidFill>
          </a:ln>
        </p:spPr>
        <p:txBody>
          <a:bodyPr wrap="square" lIns="91440" tIns="45720" rIns="91440" bIns="45720" rtlCol="0" anchor="t">
            <a:spAutoFit/>
          </a:bodyPr>
          <a:lstStyle/>
          <a:p>
            <a:r>
              <a:rPr lang="en-US" sz="1200" b="1"/>
              <a:t>Key:</a:t>
            </a:r>
          </a:p>
          <a:p>
            <a:r>
              <a:rPr lang="en-US" sz="1200">
                <a:solidFill>
                  <a:schemeClr val="accent5">
                    <a:lumMod val="90000"/>
                    <a:lumOff val="10000"/>
                  </a:schemeClr>
                </a:solidFill>
              </a:rPr>
              <a:t>Green</a:t>
            </a:r>
            <a:r>
              <a:rPr lang="en-US" sz="1200"/>
              <a:t> = Partner-Focused</a:t>
            </a:r>
          </a:p>
          <a:p>
            <a:r>
              <a:rPr lang="en-US" sz="1200">
                <a:solidFill>
                  <a:schemeClr val="tx2"/>
                </a:solidFill>
              </a:rPr>
              <a:t>Navy</a:t>
            </a:r>
            <a:r>
              <a:rPr lang="en-US" sz="1200"/>
              <a:t> = BMP Corporate</a:t>
            </a:r>
          </a:p>
          <a:p>
            <a:r>
              <a:rPr lang="en-US" sz="1200">
                <a:solidFill>
                  <a:schemeClr val="bg2"/>
                </a:solidFill>
              </a:rPr>
              <a:t>Meridian Blue</a:t>
            </a:r>
            <a:r>
              <a:rPr lang="en-US" sz="1200"/>
              <a:t> = Jim CEO Visibility</a:t>
            </a:r>
          </a:p>
          <a:p>
            <a:r>
              <a:rPr lang="en-US" sz="1200">
                <a:solidFill>
                  <a:schemeClr val="accent3"/>
                </a:solidFill>
              </a:rPr>
              <a:t>Purple </a:t>
            </a:r>
            <a:r>
              <a:rPr lang="en-US" sz="1200"/>
              <a:t>= Under Consideration</a:t>
            </a:r>
          </a:p>
        </p:txBody>
      </p:sp>
      <p:sp>
        <p:nvSpPr>
          <p:cNvPr id="32" name="TextBox 31">
            <a:extLst>
              <a:ext uri="{FF2B5EF4-FFF2-40B4-BE49-F238E27FC236}">
                <a16:creationId xmlns:a16="http://schemas.microsoft.com/office/drawing/2014/main" id="{8DD69F79-3127-EC7D-036D-BFA91379CD3F}"/>
              </a:ext>
            </a:extLst>
          </p:cNvPr>
          <p:cNvSpPr txBox="1"/>
          <p:nvPr/>
        </p:nvSpPr>
        <p:spPr>
          <a:xfrm>
            <a:off x="9333866" y="82798"/>
            <a:ext cx="2703576" cy="276999"/>
          </a:xfrm>
          <a:prstGeom prst="rect">
            <a:avLst/>
          </a:prstGeom>
          <a:noFill/>
          <a:ln w="12700">
            <a:solidFill>
              <a:schemeClr val="tx1"/>
            </a:solidFill>
          </a:ln>
        </p:spPr>
        <p:txBody>
          <a:bodyPr wrap="square" rtlCol="0">
            <a:spAutoFit/>
          </a:bodyPr>
          <a:lstStyle/>
          <a:p>
            <a:pPr algn="ctr"/>
            <a:r>
              <a:rPr lang="en-US" sz="1200"/>
              <a:t>Solid Line = Confirmed</a:t>
            </a:r>
          </a:p>
        </p:txBody>
      </p:sp>
      <p:sp>
        <p:nvSpPr>
          <p:cNvPr id="33" name="TextBox 32">
            <a:extLst>
              <a:ext uri="{FF2B5EF4-FFF2-40B4-BE49-F238E27FC236}">
                <a16:creationId xmlns:a16="http://schemas.microsoft.com/office/drawing/2014/main" id="{615AA038-4807-DB75-B7F6-CA5660CD7A2F}"/>
              </a:ext>
            </a:extLst>
          </p:cNvPr>
          <p:cNvSpPr txBox="1"/>
          <p:nvPr/>
        </p:nvSpPr>
        <p:spPr>
          <a:xfrm>
            <a:off x="9333866" y="463429"/>
            <a:ext cx="2703576" cy="276999"/>
          </a:xfrm>
          <a:prstGeom prst="rect">
            <a:avLst/>
          </a:prstGeom>
          <a:noFill/>
          <a:ln w="12700">
            <a:solidFill>
              <a:schemeClr val="tx1"/>
            </a:solidFill>
            <a:prstDash val="dash"/>
          </a:ln>
        </p:spPr>
        <p:txBody>
          <a:bodyPr wrap="square" rtlCol="0">
            <a:spAutoFit/>
          </a:bodyPr>
          <a:lstStyle/>
          <a:p>
            <a:pPr algn="ctr"/>
            <a:r>
              <a:rPr lang="en-US" sz="1200"/>
              <a:t>Dashed Line = Tentative</a:t>
            </a:r>
          </a:p>
        </p:txBody>
      </p:sp>
      <p:sp>
        <p:nvSpPr>
          <p:cNvPr id="2" name="TextBox 1">
            <a:extLst>
              <a:ext uri="{FF2B5EF4-FFF2-40B4-BE49-F238E27FC236}">
                <a16:creationId xmlns:a16="http://schemas.microsoft.com/office/drawing/2014/main" id="{524E48D0-F882-280A-179B-58848269AE49}"/>
              </a:ext>
            </a:extLst>
          </p:cNvPr>
          <p:cNvSpPr txBox="1"/>
          <p:nvPr/>
        </p:nvSpPr>
        <p:spPr>
          <a:xfrm>
            <a:off x="457122" y="4994146"/>
            <a:ext cx="1414746" cy="307777"/>
          </a:xfrm>
          <a:prstGeom prst="rect">
            <a:avLst/>
          </a:prstGeom>
          <a:noFill/>
        </p:spPr>
        <p:txBody>
          <a:bodyPr wrap="none" rtlCol="0">
            <a:spAutoFit/>
          </a:bodyPr>
          <a:lstStyle/>
          <a:p>
            <a:r>
              <a:rPr lang="en-US" sz="1400" b="1"/>
              <a:t>WORKSTREAMS</a:t>
            </a:r>
          </a:p>
        </p:txBody>
      </p:sp>
      <p:sp>
        <p:nvSpPr>
          <p:cNvPr id="8" name="Arrow: Down 7">
            <a:extLst>
              <a:ext uri="{FF2B5EF4-FFF2-40B4-BE49-F238E27FC236}">
                <a16:creationId xmlns:a16="http://schemas.microsoft.com/office/drawing/2014/main" id="{0D65C5F3-3EBF-F8A8-951C-44CBE490438C}"/>
              </a:ext>
            </a:extLst>
          </p:cNvPr>
          <p:cNvSpPr/>
          <p:nvPr/>
        </p:nvSpPr>
        <p:spPr>
          <a:xfrm>
            <a:off x="123032" y="4816607"/>
            <a:ext cx="334168" cy="452322"/>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Arrow: Up 9">
            <a:extLst>
              <a:ext uri="{FF2B5EF4-FFF2-40B4-BE49-F238E27FC236}">
                <a16:creationId xmlns:a16="http://schemas.microsoft.com/office/drawing/2014/main" id="{D2A3BBD9-5D20-20A1-2431-8DB8FF3B48D5}"/>
              </a:ext>
            </a:extLst>
          </p:cNvPr>
          <p:cNvSpPr/>
          <p:nvPr/>
        </p:nvSpPr>
        <p:spPr>
          <a:xfrm>
            <a:off x="122954" y="4328659"/>
            <a:ext cx="334168" cy="452322"/>
          </a:xfrm>
          <a:prstGeom prst="up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7B7D2AD-C084-115F-0FCF-4E8AE178200E}"/>
              </a:ext>
            </a:extLst>
          </p:cNvPr>
          <p:cNvSpPr txBox="1"/>
          <p:nvPr/>
        </p:nvSpPr>
        <p:spPr>
          <a:xfrm>
            <a:off x="457122" y="4294056"/>
            <a:ext cx="897105" cy="307777"/>
          </a:xfrm>
          <a:prstGeom prst="rect">
            <a:avLst/>
          </a:prstGeom>
          <a:noFill/>
        </p:spPr>
        <p:txBody>
          <a:bodyPr wrap="none" rtlCol="0">
            <a:spAutoFit/>
          </a:bodyPr>
          <a:lstStyle/>
          <a:p>
            <a:r>
              <a:rPr lang="en-US" sz="1400" b="1"/>
              <a:t>OUTPUTS</a:t>
            </a:r>
          </a:p>
        </p:txBody>
      </p:sp>
      <p:sp>
        <p:nvSpPr>
          <p:cNvPr id="19" name="TextBox 18">
            <a:extLst>
              <a:ext uri="{FF2B5EF4-FFF2-40B4-BE49-F238E27FC236}">
                <a16:creationId xmlns:a16="http://schemas.microsoft.com/office/drawing/2014/main" id="{61F56488-1AAD-A570-DD06-72E19D97B40F}"/>
              </a:ext>
            </a:extLst>
          </p:cNvPr>
          <p:cNvSpPr txBox="1"/>
          <p:nvPr/>
        </p:nvSpPr>
        <p:spPr>
          <a:xfrm>
            <a:off x="8272204" y="4998570"/>
            <a:ext cx="3765237" cy="307777"/>
          </a:xfrm>
          <a:prstGeom prst="rect">
            <a:avLst/>
          </a:prstGeom>
          <a:noFill/>
          <a:ln w="12700">
            <a:solidFill>
              <a:schemeClr val="accent3"/>
            </a:solidFill>
            <a:prstDash val="dash"/>
          </a:ln>
        </p:spPr>
        <p:txBody>
          <a:bodyPr wrap="square" rtlCol="0">
            <a:spAutoFit/>
          </a:bodyPr>
          <a:lstStyle/>
          <a:p>
            <a:r>
              <a:rPr lang="en-US" sz="1400">
                <a:solidFill>
                  <a:schemeClr val="accent3"/>
                </a:solidFill>
              </a:rPr>
              <a:t>Forbes Philanthropy Summit</a:t>
            </a:r>
          </a:p>
        </p:txBody>
      </p:sp>
      <p:sp>
        <p:nvSpPr>
          <p:cNvPr id="27" name="TextBox 26">
            <a:extLst>
              <a:ext uri="{FF2B5EF4-FFF2-40B4-BE49-F238E27FC236}">
                <a16:creationId xmlns:a16="http://schemas.microsoft.com/office/drawing/2014/main" id="{6253E6A9-F8FE-B79B-323B-3071E4734A6B}"/>
              </a:ext>
            </a:extLst>
          </p:cNvPr>
          <p:cNvSpPr txBox="1"/>
          <p:nvPr/>
        </p:nvSpPr>
        <p:spPr>
          <a:xfrm>
            <a:off x="8272204" y="4589700"/>
            <a:ext cx="3765237" cy="307777"/>
          </a:xfrm>
          <a:prstGeom prst="rect">
            <a:avLst/>
          </a:prstGeom>
          <a:noFill/>
          <a:ln w="12700">
            <a:solidFill>
              <a:schemeClr val="accent3"/>
            </a:solidFill>
            <a:prstDash val="dash"/>
          </a:ln>
        </p:spPr>
        <p:txBody>
          <a:bodyPr wrap="square" rtlCol="0">
            <a:spAutoFit/>
          </a:bodyPr>
          <a:lstStyle/>
          <a:p>
            <a:r>
              <a:rPr lang="en-US" sz="1400">
                <a:solidFill>
                  <a:schemeClr val="accent3"/>
                </a:solidFill>
              </a:rPr>
              <a:t>Concordia Summit</a:t>
            </a:r>
          </a:p>
        </p:txBody>
      </p:sp>
    </p:spTree>
    <p:extLst>
      <p:ext uri="{BB962C8B-B14F-4D97-AF65-F5344CB8AC3E}">
        <p14:creationId xmlns:p14="http://schemas.microsoft.com/office/powerpoint/2010/main" val="1273449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EECE1-9FAB-0362-B93D-0BF3FCC7B3C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4F9DD4A-FDFC-0FAE-B9C5-0C7D31D41847}"/>
              </a:ext>
            </a:extLst>
          </p:cNvPr>
          <p:cNvSpPr txBox="1"/>
          <p:nvPr/>
        </p:nvSpPr>
        <p:spPr>
          <a:xfrm>
            <a:off x="290116" y="1143845"/>
            <a:ext cx="3765239" cy="371846"/>
          </a:xfrm>
          <a:prstGeom prst="rect">
            <a:avLst/>
          </a:prstGeom>
          <a:solidFill>
            <a:schemeClr val="tx2"/>
          </a:solidFill>
          <a:ln w="12700">
            <a:noFill/>
          </a:ln>
        </p:spPr>
        <p:txBody>
          <a:bodyPr wrap="square" rtlCol="0">
            <a:spAutoFit/>
          </a:bodyPr>
          <a:lstStyle/>
          <a:p>
            <a:pPr algn="ctr"/>
            <a:r>
              <a:rPr lang="en-US" b="1">
                <a:solidFill>
                  <a:schemeClr val="bg1"/>
                </a:solidFill>
              </a:rPr>
              <a:t>OCTOBER</a:t>
            </a:r>
            <a:endParaRPr lang="en-US">
              <a:solidFill>
                <a:schemeClr val="bg1"/>
              </a:solidFill>
            </a:endParaRPr>
          </a:p>
        </p:txBody>
      </p:sp>
      <p:sp>
        <p:nvSpPr>
          <p:cNvPr id="15" name="TextBox 14">
            <a:extLst>
              <a:ext uri="{FF2B5EF4-FFF2-40B4-BE49-F238E27FC236}">
                <a16:creationId xmlns:a16="http://schemas.microsoft.com/office/drawing/2014/main" id="{8CFCAFE8-7A83-F3A5-8D4B-47766DFD6272}"/>
              </a:ext>
            </a:extLst>
          </p:cNvPr>
          <p:cNvSpPr txBox="1"/>
          <p:nvPr/>
        </p:nvSpPr>
        <p:spPr>
          <a:xfrm>
            <a:off x="344423" y="1711706"/>
            <a:ext cx="3710929" cy="306058"/>
          </a:xfrm>
          <a:prstGeom prst="rect">
            <a:avLst/>
          </a:prstGeom>
          <a:noFill/>
          <a:ln w="12700">
            <a:solidFill>
              <a:schemeClr val="accent4"/>
            </a:solidFill>
          </a:ln>
        </p:spPr>
        <p:txBody>
          <a:bodyPr wrap="square" rtlCol="0">
            <a:spAutoFit/>
          </a:bodyPr>
          <a:lstStyle/>
          <a:p>
            <a:r>
              <a:rPr lang="en-US" sz="1400">
                <a:solidFill>
                  <a:schemeClr val="accent5">
                    <a:lumMod val="90000"/>
                    <a:lumOff val="10000"/>
                  </a:schemeClr>
                </a:solidFill>
              </a:rPr>
              <a:t>Meridian Monthly</a:t>
            </a:r>
          </a:p>
        </p:txBody>
      </p:sp>
      <p:sp>
        <p:nvSpPr>
          <p:cNvPr id="17" name="TextBox 16">
            <a:extLst>
              <a:ext uri="{FF2B5EF4-FFF2-40B4-BE49-F238E27FC236}">
                <a16:creationId xmlns:a16="http://schemas.microsoft.com/office/drawing/2014/main" id="{4012D898-5E88-8901-C561-7CAE5A24B1CE}"/>
              </a:ext>
            </a:extLst>
          </p:cNvPr>
          <p:cNvSpPr txBox="1"/>
          <p:nvPr/>
        </p:nvSpPr>
        <p:spPr>
          <a:xfrm>
            <a:off x="235816" y="5823409"/>
            <a:ext cx="7846517" cy="307777"/>
          </a:xfrm>
          <a:prstGeom prst="rect">
            <a:avLst/>
          </a:prstGeom>
          <a:noFill/>
          <a:ln w="12700">
            <a:solidFill>
              <a:schemeClr val="tx2"/>
            </a:solidFill>
          </a:ln>
        </p:spPr>
        <p:txBody>
          <a:bodyPr wrap="square" lIns="91440" tIns="45720" rIns="91440" bIns="45720" rtlCol="0" anchor="t">
            <a:spAutoFit/>
          </a:bodyPr>
          <a:lstStyle/>
          <a:p>
            <a:r>
              <a:rPr lang="en-US" sz="1400">
                <a:solidFill>
                  <a:schemeClr val="tx2"/>
                </a:solidFill>
              </a:rPr>
              <a:t>TBD </a:t>
            </a:r>
          </a:p>
        </p:txBody>
      </p:sp>
      <p:sp>
        <p:nvSpPr>
          <p:cNvPr id="18" name="TextBox 17">
            <a:extLst>
              <a:ext uri="{FF2B5EF4-FFF2-40B4-BE49-F238E27FC236}">
                <a16:creationId xmlns:a16="http://schemas.microsoft.com/office/drawing/2014/main" id="{50D4212A-F51B-EBA4-A799-EC7F1D2CA8B6}"/>
              </a:ext>
            </a:extLst>
          </p:cNvPr>
          <p:cNvSpPr txBox="1"/>
          <p:nvPr/>
        </p:nvSpPr>
        <p:spPr>
          <a:xfrm>
            <a:off x="8276374" y="2954379"/>
            <a:ext cx="3761067" cy="307777"/>
          </a:xfrm>
          <a:prstGeom prst="rect">
            <a:avLst/>
          </a:prstGeom>
          <a:noFill/>
          <a:ln w="12700">
            <a:solidFill>
              <a:schemeClr val="accent1"/>
            </a:solidFill>
            <a:prstDash val="dash"/>
          </a:ln>
        </p:spPr>
        <p:txBody>
          <a:bodyPr wrap="square" rtlCol="0">
            <a:spAutoFit/>
          </a:bodyPr>
          <a:lstStyle/>
          <a:p>
            <a:r>
              <a:rPr lang="en-US" sz="1400">
                <a:solidFill>
                  <a:schemeClr val="bg2"/>
                </a:solidFill>
              </a:rPr>
              <a:t>Jim Posts on LinkedIn</a:t>
            </a:r>
          </a:p>
        </p:txBody>
      </p:sp>
      <p:sp>
        <p:nvSpPr>
          <p:cNvPr id="4" name="Rectangle 3">
            <a:extLst>
              <a:ext uri="{FF2B5EF4-FFF2-40B4-BE49-F238E27FC236}">
                <a16:creationId xmlns:a16="http://schemas.microsoft.com/office/drawing/2014/main" id="{CF702D46-6FE4-06CA-CE3C-A46F3FDAF8DF}"/>
              </a:ext>
            </a:extLst>
          </p:cNvPr>
          <p:cNvSpPr/>
          <p:nvPr/>
        </p:nvSpPr>
        <p:spPr>
          <a:xfrm>
            <a:off x="3338624" y="82798"/>
            <a:ext cx="5805376" cy="378092"/>
          </a:xfrm>
          <a:prstGeom prst="rect">
            <a:avLst/>
          </a:prstGeom>
          <a:solidFill>
            <a:schemeClr val="accent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CY 2025 Q4 AT A GLANCE </a:t>
            </a:r>
          </a:p>
        </p:txBody>
      </p:sp>
      <p:sp>
        <p:nvSpPr>
          <p:cNvPr id="21" name="TextBox 20">
            <a:extLst>
              <a:ext uri="{FF2B5EF4-FFF2-40B4-BE49-F238E27FC236}">
                <a16:creationId xmlns:a16="http://schemas.microsoft.com/office/drawing/2014/main" id="{0789F33A-F0DC-46DE-A1F2-D3A93134831C}"/>
              </a:ext>
            </a:extLst>
          </p:cNvPr>
          <p:cNvSpPr txBox="1"/>
          <p:nvPr/>
        </p:nvSpPr>
        <p:spPr>
          <a:xfrm>
            <a:off x="8276374" y="3394680"/>
            <a:ext cx="3765234" cy="307777"/>
          </a:xfrm>
          <a:prstGeom prst="rect">
            <a:avLst/>
          </a:prstGeom>
          <a:noFill/>
          <a:ln w="12700">
            <a:solidFill>
              <a:schemeClr val="accent1"/>
            </a:solidFill>
            <a:prstDash val="dash"/>
          </a:ln>
        </p:spPr>
        <p:txBody>
          <a:bodyPr wrap="square" rtlCol="0">
            <a:spAutoFit/>
          </a:bodyPr>
          <a:lstStyle/>
          <a:p>
            <a:r>
              <a:rPr lang="en-US" sz="1400">
                <a:solidFill>
                  <a:schemeClr val="accent1"/>
                </a:solidFill>
              </a:rPr>
              <a:t>Media Briefing(s)</a:t>
            </a:r>
          </a:p>
        </p:txBody>
      </p:sp>
      <p:sp>
        <p:nvSpPr>
          <p:cNvPr id="22" name="TextBox 21">
            <a:extLst>
              <a:ext uri="{FF2B5EF4-FFF2-40B4-BE49-F238E27FC236}">
                <a16:creationId xmlns:a16="http://schemas.microsoft.com/office/drawing/2014/main" id="{47A3F612-369C-C4D5-2CE8-8ED2BB387B76}"/>
              </a:ext>
            </a:extLst>
          </p:cNvPr>
          <p:cNvSpPr txBox="1"/>
          <p:nvPr/>
        </p:nvSpPr>
        <p:spPr>
          <a:xfrm>
            <a:off x="314772" y="3393029"/>
            <a:ext cx="3765235" cy="307777"/>
          </a:xfrm>
          <a:prstGeom prst="rect">
            <a:avLst/>
          </a:prstGeom>
          <a:noFill/>
          <a:ln w="12700">
            <a:solidFill>
              <a:schemeClr val="accent1"/>
            </a:solidFill>
            <a:prstDash val="dash"/>
          </a:ln>
        </p:spPr>
        <p:txBody>
          <a:bodyPr wrap="square" rtlCol="0">
            <a:spAutoFit/>
          </a:bodyPr>
          <a:lstStyle/>
          <a:p>
            <a:r>
              <a:rPr lang="en-US" sz="1400">
                <a:solidFill>
                  <a:schemeClr val="bg2"/>
                </a:solidFill>
              </a:rPr>
              <a:t>Media Briefing(s)</a:t>
            </a:r>
          </a:p>
        </p:txBody>
      </p:sp>
      <p:sp>
        <p:nvSpPr>
          <p:cNvPr id="3" name="TextBox 2">
            <a:extLst>
              <a:ext uri="{FF2B5EF4-FFF2-40B4-BE49-F238E27FC236}">
                <a16:creationId xmlns:a16="http://schemas.microsoft.com/office/drawing/2014/main" id="{7741432A-F0F6-210F-3A9F-9E32B7D351F9}"/>
              </a:ext>
            </a:extLst>
          </p:cNvPr>
          <p:cNvSpPr txBox="1"/>
          <p:nvPr/>
        </p:nvSpPr>
        <p:spPr>
          <a:xfrm>
            <a:off x="4358692" y="1152544"/>
            <a:ext cx="3765239" cy="371846"/>
          </a:xfrm>
          <a:prstGeom prst="rect">
            <a:avLst/>
          </a:prstGeom>
          <a:solidFill>
            <a:schemeClr val="tx2"/>
          </a:solidFill>
          <a:ln w="12700">
            <a:noFill/>
          </a:ln>
        </p:spPr>
        <p:txBody>
          <a:bodyPr wrap="square" rtlCol="0">
            <a:spAutoFit/>
          </a:bodyPr>
          <a:lstStyle/>
          <a:p>
            <a:pPr algn="ctr"/>
            <a:r>
              <a:rPr lang="en-US" b="1">
                <a:solidFill>
                  <a:schemeClr val="bg1"/>
                </a:solidFill>
              </a:rPr>
              <a:t>NOVEMBER</a:t>
            </a:r>
            <a:endParaRPr lang="en-US">
              <a:solidFill>
                <a:schemeClr val="bg1"/>
              </a:solidFill>
            </a:endParaRPr>
          </a:p>
        </p:txBody>
      </p:sp>
      <p:sp>
        <p:nvSpPr>
          <p:cNvPr id="5" name="TextBox 4">
            <a:extLst>
              <a:ext uri="{FF2B5EF4-FFF2-40B4-BE49-F238E27FC236}">
                <a16:creationId xmlns:a16="http://schemas.microsoft.com/office/drawing/2014/main" id="{072C9266-814F-AB97-A36C-7EB7A7BDC1C0}"/>
              </a:ext>
            </a:extLst>
          </p:cNvPr>
          <p:cNvSpPr txBox="1"/>
          <p:nvPr/>
        </p:nvSpPr>
        <p:spPr>
          <a:xfrm>
            <a:off x="8276375" y="1152544"/>
            <a:ext cx="3765239" cy="371846"/>
          </a:xfrm>
          <a:prstGeom prst="rect">
            <a:avLst/>
          </a:prstGeom>
          <a:solidFill>
            <a:schemeClr val="tx2"/>
          </a:solidFill>
          <a:ln w="12700">
            <a:noFill/>
          </a:ln>
        </p:spPr>
        <p:txBody>
          <a:bodyPr wrap="square" rtlCol="0">
            <a:spAutoFit/>
          </a:bodyPr>
          <a:lstStyle/>
          <a:p>
            <a:pPr algn="ctr"/>
            <a:r>
              <a:rPr lang="en-US" b="1">
                <a:solidFill>
                  <a:schemeClr val="bg1"/>
                </a:solidFill>
              </a:rPr>
              <a:t>DECEMBER</a:t>
            </a:r>
            <a:endParaRPr lang="en-US">
              <a:solidFill>
                <a:schemeClr val="bg1"/>
              </a:solidFill>
            </a:endParaRPr>
          </a:p>
        </p:txBody>
      </p:sp>
      <p:sp>
        <p:nvSpPr>
          <p:cNvPr id="6" name="TextBox 5">
            <a:extLst>
              <a:ext uri="{FF2B5EF4-FFF2-40B4-BE49-F238E27FC236}">
                <a16:creationId xmlns:a16="http://schemas.microsoft.com/office/drawing/2014/main" id="{4492E31A-D205-66BB-55B2-EC46C77052BB}"/>
              </a:ext>
            </a:extLst>
          </p:cNvPr>
          <p:cNvSpPr txBox="1"/>
          <p:nvPr/>
        </p:nvSpPr>
        <p:spPr>
          <a:xfrm>
            <a:off x="4310399" y="1709986"/>
            <a:ext cx="3765237" cy="307777"/>
          </a:xfrm>
          <a:prstGeom prst="rect">
            <a:avLst/>
          </a:prstGeom>
          <a:noFill/>
          <a:ln w="12700">
            <a:solidFill>
              <a:schemeClr val="accent4"/>
            </a:solidFill>
          </a:ln>
        </p:spPr>
        <p:txBody>
          <a:bodyPr wrap="square" rtlCol="0">
            <a:spAutoFit/>
          </a:bodyPr>
          <a:lstStyle/>
          <a:p>
            <a:r>
              <a:rPr lang="en-US" sz="1400">
                <a:solidFill>
                  <a:schemeClr val="accent5">
                    <a:lumMod val="90000"/>
                    <a:lumOff val="10000"/>
                  </a:schemeClr>
                </a:solidFill>
              </a:rPr>
              <a:t>Meridian Monthly</a:t>
            </a:r>
          </a:p>
        </p:txBody>
      </p:sp>
      <p:sp>
        <p:nvSpPr>
          <p:cNvPr id="11" name="TextBox 10">
            <a:extLst>
              <a:ext uri="{FF2B5EF4-FFF2-40B4-BE49-F238E27FC236}">
                <a16:creationId xmlns:a16="http://schemas.microsoft.com/office/drawing/2014/main" id="{FEB1D1C1-88E9-F0D4-19EB-20020B741D28}"/>
              </a:ext>
            </a:extLst>
          </p:cNvPr>
          <p:cNvSpPr txBox="1"/>
          <p:nvPr/>
        </p:nvSpPr>
        <p:spPr>
          <a:xfrm>
            <a:off x="8276376" y="1679294"/>
            <a:ext cx="3765238" cy="307777"/>
          </a:xfrm>
          <a:prstGeom prst="rect">
            <a:avLst/>
          </a:prstGeom>
          <a:noFill/>
          <a:ln w="12700">
            <a:solidFill>
              <a:schemeClr val="accent4"/>
            </a:solidFill>
          </a:ln>
        </p:spPr>
        <p:txBody>
          <a:bodyPr wrap="square" rtlCol="0">
            <a:spAutoFit/>
          </a:bodyPr>
          <a:lstStyle/>
          <a:p>
            <a:r>
              <a:rPr lang="en-US" sz="1400">
                <a:solidFill>
                  <a:schemeClr val="accent5">
                    <a:lumMod val="90000"/>
                    <a:lumOff val="10000"/>
                  </a:schemeClr>
                </a:solidFill>
              </a:rPr>
              <a:t>Meridian Monthly</a:t>
            </a:r>
          </a:p>
        </p:txBody>
      </p:sp>
      <p:sp>
        <p:nvSpPr>
          <p:cNvPr id="13" name="TextBox 12">
            <a:extLst>
              <a:ext uri="{FF2B5EF4-FFF2-40B4-BE49-F238E27FC236}">
                <a16:creationId xmlns:a16="http://schemas.microsoft.com/office/drawing/2014/main" id="{8A2314A7-8B8F-4F9B-5446-0F83BEF1A824}"/>
              </a:ext>
            </a:extLst>
          </p:cNvPr>
          <p:cNvSpPr txBox="1"/>
          <p:nvPr/>
        </p:nvSpPr>
        <p:spPr>
          <a:xfrm>
            <a:off x="2330764" y="2328418"/>
            <a:ext cx="3765236" cy="307777"/>
          </a:xfrm>
          <a:prstGeom prst="rect">
            <a:avLst/>
          </a:prstGeom>
          <a:noFill/>
          <a:ln w="12700">
            <a:solidFill>
              <a:schemeClr val="tx2"/>
            </a:solidFill>
            <a:prstDash val="solid"/>
          </a:ln>
        </p:spPr>
        <p:txBody>
          <a:bodyPr wrap="square" lIns="91440" tIns="45720" rIns="91440" bIns="45720" rtlCol="0" anchor="t">
            <a:spAutoFit/>
          </a:bodyPr>
          <a:lstStyle/>
          <a:p>
            <a:r>
              <a:rPr lang="en-US" sz="1400">
                <a:solidFill>
                  <a:schemeClr val="tx2"/>
                </a:solidFill>
              </a:rPr>
              <a:t>Corporate Newsletter (Topic TBD)</a:t>
            </a:r>
          </a:p>
        </p:txBody>
      </p:sp>
      <p:sp>
        <p:nvSpPr>
          <p:cNvPr id="25" name="TextBox 24">
            <a:extLst>
              <a:ext uri="{FF2B5EF4-FFF2-40B4-BE49-F238E27FC236}">
                <a16:creationId xmlns:a16="http://schemas.microsoft.com/office/drawing/2014/main" id="{4D0813EB-6DF2-D5E0-39C7-FB536F29ACFD}"/>
              </a:ext>
            </a:extLst>
          </p:cNvPr>
          <p:cNvSpPr txBox="1"/>
          <p:nvPr/>
        </p:nvSpPr>
        <p:spPr>
          <a:xfrm>
            <a:off x="235814" y="5414541"/>
            <a:ext cx="11801628" cy="307775"/>
          </a:xfrm>
          <a:prstGeom prst="rect">
            <a:avLst/>
          </a:prstGeom>
          <a:noFill/>
          <a:ln w="12700">
            <a:solidFill>
              <a:schemeClr val="bg2"/>
            </a:solidFill>
          </a:ln>
        </p:spPr>
        <p:txBody>
          <a:bodyPr wrap="square" rtlCol="0">
            <a:spAutoFit/>
          </a:bodyPr>
          <a:lstStyle/>
          <a:p>
            <a:r>
              <a:rPr lang="en-US" sz="1400">
                <a:solidFill>
                  <a:schemeClr val="bg2"/>
                </a:solidFill>
              </a:rPr>
              <a:t>TBD</a:t>
            </a:r>
          </a:p>
        </p:txBody>
      </p:sp>
      <p:sp>
        <p:nvSpPr>
          <p:cNvPr id="28" name="TextBox 27">
            <a:extLst>
              <a:ext uri="{FF2B5EF4-FFF2-40B4-BE49-F238E27FC236}">
                <a16:creationId xmlns:a16="http://schemas.microsoft.com/office/drawing/2014/main" id="{36D0318F-E136-3C19-F7B5-51604AF46A23}"/>
              </a:ext>
            </a:extLst>
          </p:cNvPr>
          <p:cNvSpPr txBox="1"/>
          <p:nvPr/>
        </p:nvSpPr>
        <p:spPr>
          <a:xfrm>
            <a:off x="290117" y="2956271"/>
            <a:ext cx="3765235" cy="317587"/>
          </a:xfrm>
          <a:prstGeom prst="rect">
            <a:avLst/>
          </a:prstGeom>
          <a:noFill/>
          <a:ln w="12700">
            <a:solidFill>
              <a:schemeClr val="accent1"/>
            </a:solidFill>
            <a:prstDash val="dash"/>
          </a:ln>
        </p:spPr>
        <p:txBody>
          <a:bodyPr wrap="square" rtlCol="0">
            <a:spAutoFit/>
          </a:bodyPr>
          <a:lstStyle/>
          <a:p>
            <a:r>
              <a:rPr lang="en-US" sz="1400">
                <a:solidFill>
                  <a:schemeClr val="bg2"/>
                </a:solidFill>
              </a:rPr>
              <a:t>Jim Posts on LinkedIn </a:t>
            </a:r>
          </a:p>
        </p:txBody>
      </p:sp>
      <p:sp>
        <p:nvSpPr>
          <p:cNvPr id="31" name="TextBox 30">
            <a:extLst>
              <a:ext uri="{FF2B5EF4-FFF2-40B4-BE49-F238E27FC236}">
                <a16:creationId xmlns:a16="http://schemas.microsoft.com/office/drawing/2014/main" id="{4C9BBCB0-8843-E3CE-1FFB-66B89B56BEDC}"/>
              </a:ext>
            </a:extLst>
          </p:cNvPr>
          <p:cNvSpPr txBox="1"/>
          <p:nvPr/>
        </p:nvSpPr>
        <p:spPr>
          <a:xfrm>
            <a:off x="344420" y="73474"/>
            <a:ext cx="2703576" cy="1015663"/>
          </a:xfrm>
          <a:prstGeom prst="rect">
            <a:avLst/>
          </a:prstGeom>
          <a:noFill/>
          <a:ln w="12700">
            <a:solidFill>
              <a:schemeClr val="tx1"/>
            </a:solidFill>
          </a:ln>
        </p:spPr>
        <p:txBody>
          <a:bodyPr wrap="square" lIns="91440" tIns="45720" rIns="91440" bIns="45720" rtlCol="0" anchor="t">
            <a:spAutoFit/>
          </a:bodyPr>
          <a:lstStyle/>
          <a:p>
            <a:r>
              <a:rPr lang="en-US" sz="1200" b="1"/>
              <a:t>Key:</a:t>
            </a:r>
          </a:p>
          <a:p>
            <a:r>
              <a:rPr lang="en-US" sz="1200">
                <a:solidFill>
                  <a:schemeClr val="accent5">
                    <a:lumMod val="90000"/>
                    <a:lumOff val="10000"/>
                  </a:schemeClr>
                </a:solidFill>
              </a:rPr>
              <a:t>Green</a:t>
            </a:r>
            <a:r>
              <a:rPr lang="en-US" sz="1200"/>
              <a:t> = Partner-Focused</a:t>
            </a:r>
          </a:p>
          <a:p>
            <a:r>
              <a:rPr lang="en-US" sz="1200">
                <a:solidFill>
                  <a:schemeClr val="tx2"/>
                </a:solidFill>
              </a:rPr>
              <a:t>Navy</a:t>
            </a:r>
            <a:r>
              <a:rPr lang="en-US" sz="1200"/>
              <a:t> = BMP Corporate</a:t>
            </a:r>
          </a:p>
          <a:p>
            <a:r>
              <a:rPr lang="en-US" sz="1200">
                <a:solidFill>
                  <a:schemeClr val="bg2"/>
                </a:solidFill>
              </a:rPr>
              <a:t>Meridian Blue</a:t>
            </a:r>
            <a:r>
              <a:rPr lang="en-US" sz="1200"/>
              <a:t> = Jim CEO Visibility</a:t>
            </a:r>
          </a:p>
          <a:p>
            <a:r>
              <a:rPr lang="en-US" sz="1200">
                <a:solidFill>
                  <a:schemeClr val="accent3"/>
                </a:solidFill>
              </a:rPr>
              <a:t>Purple </a:t>
            </a:r>
            <a:r>
              <a:rPr lang="en-US" sz="1200"/>
              <a:t>= Under Consideration</a:t>
            </a:r>
          </a:p>
        </p:txBody>
      </p:sp>
      <p:sp>
        <p:nvSpPr>
          <p:cNvPr id="32" name="TextBox 31">
            <a:extLst>
              <a:ext uri="{FF2B5EF4-FFF2-40B4-BE49-F238E27FC236}">
                <a16:creationId xmlns:a16="http://schemas.microsoft.com/office/drawing/2014/main" id="{32F80CD1-5D58-BE58-503A-47B751E5B368}"/>
              </a:ext>
            </a:extLst>
          </p:cNvPr>
          <p:cNvSpPr txBox="1"/>
          <p:nvPr/>
        </p:nvSpPr>
        <p:spPr>
          <a:xfrm>
            <a:off x="9333866" y="82798"/>
            <a:ext cx="2703576" cy="276999"/>
          </a:xfrm>
          <a:prstGeom prst="rect">
            <a:avLst/>
          </a:prstGeom>
          <a:noFill/>
          <a:ln w="12700">
            <a:solidFill>
              <a:schemeClr val="tx1"/>
            </a:solidFill>
          </a:ln>
        </p:spPr>
        <p:txBody>
          <a:bodyPr wrap="square" rtlCol="0">
            <a:spAutoFit/>
          </a:bodyPr>
          <a:lstStyle/>
          <a:p>
            <a:pPr algn="ctr"/>
            <a:r>
              <a:rPr lang="en-US" sz="1200"/>
              <a:t>Solid Line = Confirmed</a:t>
            </a:r>
          </a:p>
        </p:txBody>
      </p:sp>
      <p:sp>
        <p:nvSpPr>
          <p:cNvPr id="33" name="TextBox 32">
            <a:extLst>
              <a:ext uri="{FF2B5EF4-FFF2-40B4-BE49-F238E27FC236}">
                <a16:creationId xmlns:a16="http://schemas.microsoft.com/office/drawing/2014/main" id="{F5C7EC73-9815-3641-1B95-5DB57CF4CEBC}"/>
              </a:ext>
            </a:extLst>
          </p:cNvPr>
          <p:cNvSpPr txBox="1"/>
          <p:nvPr/>
        </p:nvSpPr>
        <p:spPr>
          <a:xfrm>
            <a:off x="9333866" y="463429"/>
            <a:ext cx="2703576" cy="276999"/>
          </a:xfrm>
          <a:prstGeom prst="rect">
            <a:avLst/>
          </a:prstGeom>
          <a:noFill/>
          <a:ln w="12700">
            <a:solidFill>
              <a:schemeClr val="tx1"/>
            </a:solidFill>
            <a:prstDash val="dash"/>
          </a:ln>
        </p:spPr>
        <p:txBody>
          <a:bodyPr wrap="square" rtlCol="0">
            <a:spAutoFit/>
          </a:bodyPr>
          <a:lstStyle/>
          <a:p>
            <a:pPr algn="ctr"/>
            <a:r>
              <a:rPr lang="en-US" sz="1200"/>
              <a:t>Dashed Line = Tentative</a:t>
            </a:r>
          </a:p>
        </p:txBody>
      </p:sp>
      <p:sp>
        <p:nvSpPr>
          <p:cNvPr id="2" name="TextBox 1">
            <a:extLst>
              <a:ext uri="{FF2B5EF4-FFF2-40B4-BE49-F238E27FC236}">
                <a16:creationId xmlns:a16="http://schemas.microsoft.com/office/drawing/2014/main" id="{3941A2C1-E3CE-428A-9567-B212D1ED7FBE}"/>
              </a:ext>
            </a:extLst>
          </p:cNvPr>
          <p:cNvSpPr txBox="1"/>
          <p:nvPr/>
        </p:nvSpPr>
        <p:spPr>
          <a:xfrm>
            <a:off x="457122" y="4994146"/>
            <a:ext cx="1414746" cy="307777"/>
          </a:xfrm>
          <a:prstGeom prst="rect">
            <a:avLst/>
          </a:prstGeom>
          <a:noFill/>
        </p:spPr>
        <p:txBody>
          <a:bodyPr wrap="none" rtlCol="0">
            <a:spAutoFit/>
          </a:bodyPr>
          <a:lstStyle/>
          <a:p>
            <a:r>
              <a:rPr lang="en-US" sz="1400" b="1"/>
              <a:t>WORKSTREAMS</a:t>
            </a:r>
          </a:p>
        </p:txBody>
      </p:sp>
      <p:sp>
        <p:nvSpPr>
          <p:cNvPr id="8" name="Arrow: Down 7">
            <a:extLst>
              <a:ext uri="{FF2B5EF4-FFF2-40B4-BE49-F238E27FC236}">
                <a16:creationId xmlns:a16="http://schemas.microsoft.com/office/drawing/2014/main" id="{77EBC7FD-5ABD-AE2A-A057-E2E016701D8E}"/>
              </a:ext>
            </a:extLst>
          </p:cNvPr>
          <p:cNvSpPr/>
          <p:nvPr/>
        </p:nvSpPr>
        <p:spPr>
          <a:xfrm>
            <a:off x="123032" y="4816607"/>
            <a:ext cx="334168" cy="452322"/>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Arrow: Up 9">
            <a:extLst>
              <a:ext uri="{FF2B5EF4-FFF2-40B4-BE49-F238E27FC236}">
                <a16:creationId xmlns:a16="http://schemas.microsoft.com/office/drawing/2014/main" id="{AE761111-2BC7-40B8-CD65-0580AD39E8E1}"/>
              </a:ext>
            </a:extLst>
          </p:cNvPr>
          <p:cNvSpPr/>
          <p:nvPr/>
        </p:nvSpPr>
        <p:spPr>
          <a:xfrm>
            <a:off x="122954" y="4328659"/>
            <a:ext cx="334168" cy="452322"/>
          </a:xfrm>
          <a:prstGeom prst="up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827CC16F-BD69-266F-37EB-CE5D44DF5136}"/>
              </a:ext>
            </a:extLst>
          </p:cNvPr>
          <p:cNvSpPr txBox="1"/>
          <p:nvPr/>
        </p:nvSpPr>
        <p:spPr>
          <a:xfrm>
            <a:off x="457122" y="4294056"/>
            <a:ext cx="897105" cy="307777"/>
          </a:xfrm>
          <a:prstGeom prst="rect">
            <a:avLst/>
          </a:prstGeom>
          <a:noFill/>
        </p:spPr>
        <p:txBody>
          <a:bodyPr wrap="none" rtlCol="0">
            <a:spAutoFit/>
          </a:bodyPr>
          <a:lstStyle/>
          <a:p>
            <a:r>
              <a:rPr lang="en-US" sz="1400" b="1"/>
              <a:t>OUTPUTS</a:t>
            </a:r>
          </a:p>
        </p:txBody>
      </p:sp>
      <p:sp>
        <p:nvSpPr>
          <p:cNvPr id="19" name="TextBox 18">
            <a:extLst>
              <a:ext uri="{FF2B5EF4-FFF2-40B4-BE49-F238E27FC236}">
                <a16:creationId xmlns:a16="http://schemas.microsoft.com/office/drawing/2014/main" id="{04A745DF-DAC0-A1B9-D711-1A72BC6FCAC8}"/>
              </a:ext>
            </a:extLst>
          </p:cNvPr>
          <p:cNvSpPr txBox="1"/>
          <p:nvPr/>
        </p:nvSpPr>
        <p:spPr>
          <a:xfrm>
            <a:off x="8272204" y="4998570"/>
            <a:ext cx="3765237" cy="307777"/>
          </a:xfrm>
          <a:prstGeom prst="rect">
            <a:avLst/>
          </a:prstGeom>
          <a:noFill/>
          <a:ln w="12700">
            <a:solidFill>
              <a:schemeClr val="accent3"/>
            </a:solidFill>
            <a:prstDash val="dash"/>
          </a:ln>
        </p:spPr>
        <p:txBody>
          <a:bodyPr wrap="square" rtlCol="0">
            <a:spAutoFit/>
          </a:bodyPr>
          <a:lstStyle/>
          <a:p>
            <a:r>
              <a:rPr lang="en-US" sz="1400">
                <a:solidFill>
                  <a:schemeClr val="accent3"/>
                </a:solidFill>
              </a:rPr>
              <a:t>TBD</a:t>
            </a:r>
          </a:p>
        </p:txBody>
      </p:sp>
      <p:sp>
        <p:nvSpPr>
          <p:cNvPr id="9" name="TextBox 8">
            <a:extLst>
              <a:ext uri="{FF2B5EF4-FFF2-40B4-BE49-F238E27FC236}">
                <a16:creationId xmlns:a16="http://schemas.microsoft.com/office/drawing/2014/main" id="{FBD08729-449A-7501-6F55-3AA8AA10C44D}"/>
              </a:ext>
            </a:extLst>
          </p:cNvPr>
          <p:cNvSpPr txBox="1"/>
          <p:nvPr/>
        </p:nvSpPr>
        <p:spPr>
          <a:xfrm>
            <a:off x="4295573" y="3422070"/>
            <a:ext cx="3765235" cy="307777"/>
          </a:xfrm>
          <a:prstGeom prst="rect">
            <a:avLst/>
          </a:prstGeom>
          <a:noFill/>
          <a:ln w="12700">
            <a:solidFill>
              <a:schemeClr val="accent1"/>
            </a:solidFill>
            <a:prstDash val="dash"/>
          </a:ln>
        </p:spPr>
        <p:txBody>
          <a:bodyPr wrap="square" rtlCol="0">
            <a:spAutoFit/>
          </a:bodyPr>
          <a:lstStyle/>
          <a:p>
            <a:r>
              <a:rPr lang="en-US" sz="1400">
                <a:solidFill>
                  <a:schemeClr val="bg2"/>
                </a:solidFill>
              </a:rPr>
              <a:t>Media Briefing(s)</a:t>
            </a:r>
          </a:p>
        </p:txBody>
      </p:sp>
      <p:sp>
        <p:nvSpPr>
          <p:cNvPr id="14" name="TextBox 13">
            <a:extLst>
              <a:ext uri="{FF2B5EF4-FFF2-40B4-BE49-F238E27FC236}">
                <a16:creationId xmlns:a16="http://schemas.microsoft.com/office/drawing/2014/main" id="{00297F51-6235-6115-9BCF-7AB2344AD065}"/>
              </a:ext>
            </a:extLst>
          </p:cNvPr>
          <p:cNvSpPr txBox="1"/>
          <p:nvPr/>
        </p:nvSpPr>
        <p:spPr>
          <a:xfrm>
            <a:off x="8272204" y="2298460"/>
            <a:ext cx="3765236" cy="307777"/>
          </a:xfrm>
          <a:prstGeom prst="rect">
            <a:avLst/>
          </a:prstGeom>
          <a:noFill/>
          <a:ln w="12700">
            <a:solidFill>
              <a:schemeClr val="tx2"/>
            </a:solidFill>
            <a:prstDash val="dash"/>
          </a:ln>
        </p:spPr>
        <p:txBody>
          <a:bodyPr wrap="square" lIns="91440" tIns="45720" rIns="91440" bIns="45720" rtlCol="0" anchor="t">
            <a:spAutoFit/>
          </a:bodyPr>
          <a:lstStyle/>
          <a:p>
            <a:r>
              <a:rPr lang="en-US" sz="1400">
                <a:solidFill>
                  <a:schemeClr val="tx2"/>
                </a:solidFill>
              </a:rPr>
              <a:t>Corporate Newsletter (Year end message)</a:t>
            </a:r>
          </a:p>
        </p:txBody>
      </p:sp>
    </p:spTree>
    <p:extLst>
      <p:ext uri="{BB962C8B-B14F-4D97-AF65-F5344CB8AC3E}">
        <p14:creationId xmlns:p14="http://schemas.microsoft.com/office/powerpoint/2010/main" val="1527313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0D5D2-DADB-E602-43F8-F13B9D58CB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F3081C-6C68-F39E-C3A4-92214E62078B}"/>
              </a:ext>
            </a:extLst>
          </p:cNvPr>
          <p:cNvSpPr>
            <a:spLocks noGrp="1"/>
          </p:cNvSpPr>
          <p:nvPr>
            <p:ph type="ctrTitle"/>
          </p:nvPr>
        </p:nvSpPr>
        <p:spPr>
          <a:solidFill>
            <a:schemeClr val="tx2"/>
          </a:solidFill>
        </p:spPr>
        <p:txBody>
          <a:bodyPr>
            <a:normAutofit fontScale="90000"/>
          </a:bodyPr>
          <a:lstStyle/>
          <a:p>
            <a:r>
              <a:rPr lang="en-US"/>
              <a:t> </a:t>
            </a:r>
            <a:br>
              <a:rPr lang="en-US"/>
            </a:br>
            <a:r>
              <a:rPr lang="en-US" sz="5300">
                <a:solidFill>
                  <a:schemeClr val="bg1"/>
                </a:solidFill>
              </a:rPr>
              <a:t>CONTINUE &amp; ENHANCE </a:t>
            </a:r>
            <a:br>
              <a:rPr lang="en-US"/>
            </a:br>
            <a:endParaRPr lang="en-US"/>
          </a:p>
        </p:txBody>
      </p:sp>
      <p:sp>
        <p:nvSpPr>
          <p:cNvPr id="3" name="Subtitle 2">
            <a:extLst>
              <a:ext uri="{FF2B5EF4-FFF2-40B4-BE49-F238E27FC236}">
                <a16:creationId xmlns:a16="http://schemas.microsoft.com/office/drawing/2014/main" id="{7044E40F-A77C-8C67-9BAB-B5197F762C6F}"/>
              </a:ext>
            </a:extLst>
          </p:cNvPr>
          <p:cNvSpPr>
            <a:spLocks noGrp="1"/>
          </p:cNvSpPr>
          <p:nvPr>
            <p:ph type="subTitle" idx="1"/>
          </p:nvPr>
        </p:nvSpPr>
        <p:spPr/>
        <p:txBody>
          <a:bodyPr>
            <a:normAutofit/>
          </a:bodyPr>
          <a:lstStyle/>
          <a:p>
            <a:r>
              <a:rPr lang="en-US" sz="4000"/>
              <a:t>Proposed Activations</a:t>
            </a:r>
          </a:p>
        </p:txBody>
      </p:sp>
      <p:sp>
        <p:nvSpPr>
          <p:cNvPr id="4" name="Date Placeholder 3">
            <a:extLst>
              <a:ext uri="{FF2B5EF4-FFF2-40B4-BE49-F238E27FC236}">
                <a16:creationId xmlns:a16="http://schemas.microsoft.com/office/drawing/2014/main" id="{39E06EE7-B24A-FA87-4C3E-A88C91D6841D}"/>
              </a:ext>
            </a:extLst>
          </p:cNvPr>
          <p:cNvSpPr>
            <a:spLocks noGrp="1"/>
          </p:cNvSpPr>
          <p:nvPr>
            <p:ph type="dt" sz="half" idx="10"/>
          </p:nvPr>
        </p:nvSpPr>
        <p:spPr/>
        <p:txBody>
          <a:bodyPr/>
          <a:lstStyle/>
          <a:p>
            <a:fld id="{ABA5BFED-BDFB-45DB-8843-AC9E74FA3CDB}" type="datetime1">
              <a:rPr lang="en-US" smtClean="0"/>
              <a:t>5/30/2025</a:t>
            </a:fld>
            <a:endParaRPr lang="en-US"/>
          </a:p>
        </p:txBody>
      </p:sp>
    </p:spTree>
    <p:extLst>
      <p:ext uri="{BB962C8B-B14F-4D97-AF65-F5344CB8AC3E}">
        <p14:creationId xmlns:p14="http://schemas.microsoft.com/office/powerpoint/2010/main" val="23372870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3">
            <a:extLst>
              <a:ext uri="{FF2B5EF4-FFF2-40B4-BE49-F238E27FC236}">
                <a16:creationId xmlns:a16="http://schemas.microsoft.com/office/drawing/2014/main" id="{C951F86E-E35C-B14D-9452-0A3405F36D58}"/>
              </a:ext>
            </a:extLst>
          </p:cNvPr>
          <p:cNvSpPr>
            <a:spLocks noGrp="1"/>
          </p:cNvSpPr>
          <p:nvPr>
            <p:ph type="title"/>
          </p:nvPr>
        </p:nvSpPr>
        <p:spPr>
          <a:xfrm>
            <a:off x="758551" y="293013"/>
            <a:ext cx="7822554" cy="506307"/>
          </a:xfrm>
        </p:spPr>
        <p:txBody>
          <a:bodyPr>
            <a:normAutofit fontScale="90000"/>
          </a:bodyPr>
          <a:lstStyle/>
          <a:p>
            <a:r>
              <a:rPr lang="es-ES">
                <a:latin typeface="LeMonde Livre"/>
              </a:rPr>
              <a:t>Earned Media: Proactive Outreach</a:t>
            </a:r>
          </a:p>
        </p:txBody>
      </p:sp>
      <p:sp>
        <p:nvSpPr>
          <p:cNvPr id="2" name="Slide Number Placeholder 1">
            <a:extLst>
              <a:ext uri="{FF2B5EF4-FFF2-40B4-BE49-F238E27FC236}">
                <a16:creationId xmlns:a16="http://schemas.microsoft.com/office/drawing/2014/main" id="{656A8546-17DA-2A72-21EE-FDA5A05B830A}"/>
              </a:ext>
            </a:extLst>
          </p:cNvPr>
          <p:cNvSpPr>
            <a:spLocks noGrp="1"/>
          </p:cNvSpPr>
          <p:nvPr>
            <p:ph type="sldNum" sz="quarter" idx="12"/>
          </p:nvPr>
        </p:nvSpPr>
        <p:spPr>
          <a:xfrm>
            <a:off x="11436345" y="6281930"/>
            <a:ext cx="685621" cy="593912"/>
          </a:xfrm>
        </p:spPr>
        <p:txBody>
          <a:bodyPr/>
          <a:lstStyle/>
          <a:p>
            <a:pPr lvl="0"/>
            <a:fld id="{A696438A-1E6B-4737-ACFE-A3A055DFAB44}" type="slidenum">
              <a:rPr lang="en-US" noProof="0" smtClean="0"/>
              <a:pPr lvl="0"/>
              <a:t>21</a:t>
            </a:fld>
            <a:endParaRPr lang="en-US" noProof="0"/>
          </a:p>
        </p:txBody>
      </p:sp>
      <p:sp>
        <p:nvSpPr>
          <p:cNvPr id="18" name="Rounded Rectangle 17">
            <a:extLst>
              <a:ext uri="{FF2B5EF4-FFF2-40B4-BE49-F238E27FC236}">
                <a16:creationId xmlns:a16="http://schemas.microsoft.com/office/drawing/2014/main" id="{19F17B78-5B46-304C-1DCC-BF4D984689C9}"/>
              </a:ext>
            </a:extLst>
          </p:cNvPr>
          <p:cNvSpPr/>
          <p:nvPr/>
        </p:nvSpPr>
        <p:spPr>
          <a:xfrm>
            <a:off x="668778" y="1846109"/>
            <a:ext cx="4296328" cy="409181"/>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latin typeface="Calibri"/>
                <a:ea typeface="Calibri"/>
                <a:cs typeface="Calibri"/>
              </a:rPr>
              <a:t>THEMES + ANGLES</a:t>
            </a:r>
          </a:p>
        </p:txBody>
      </p:sp>
      <p:sp>
        <p:nvSpPr>
          <p:cNvPr id="19" name="Rounded Rectangle 18">
            <a:extLst>
              <a:ext uri="{FF2B5EF4-FFF2-40B4-BE49-F238E27FC236}">
                <a16:creationId xmlns:a16="http://schemas.microsoft.com/office/drawing/2014/main" id="{730B8A8D-591A-0050-5523-8EE464EA3A36}"/>
              </a:ext>
            </a:extLst>
          </p:cNvPr>
          <p:cNvSpPr/>
          <p:nvPr/>
        </p:nvSpPr>
        <p:spPr>
          <a:xfrm>
            <a:off x="8908026" y="1853269"/>
            <a:ext cx="3024147" cy="394525"/>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latin typeface="Calibri"/>
                <a:ea typeface="Calibri"/>
                <a:cs typeface="Calibri"/>
              </a:rPr>
              <a:t>SAMPLE TARGETS</a:t>
            </a:r>
          </a:p>
        </p:txBody>
      </p:sp>
      <p:cxnSp>
        <p:nvCxnSpPr>
          <p:cNvPr id="24" name="Straight Connector 23">
            <a:extLst>
              <a:ext uri="{FF2B5EF4-FFF2-40B4-BE49-F238E27FC236}">
                <a16:creationId xmlns:a16="http://schemas.microsoft.com/office/drawing/2014/main" id="{4E4A612A-2921-FB57-8103-3D8EC9C466B5}"/>
              </a:ext>
            </a:extLst>
          </p:cNvPr>
          <p:cNvCxnSpPr>
            <a:cxnSpLocks/>
          </p:cNvCxnSpPr>
          <p:nvPr/>
        </p:nvCxnSpPr>
        <p:spPr>
          <a:xfrm>
            <a:off x="698357" y="6728204"/>
            <a:ext cx="1080625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9" name="Rounded Rectangle 18">
            <a:extLst>
              <a:ext uri="{FF2B5EF4-FFF2-40B4-BE49-F238E27FC236}">
                <a16:creationId xmlns:a16="http://schemas.microsoft.com/office/drawing/2014/main" id="{B13EDB73-B25A-22CC-E41E-719D77CE78BA}"/>
              </a:ext>
            </a:extLst>
          </p:cNvPr>
          <p:cNvSpPr/>
          <p:nvPr/>
        </p:nvSpPr>
        <p:spPr>
          <a:xfrm>
            <a:off x="5043309" y="1844016"/>
            <a:ext cx="3683280" cy="417164"/>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chemeClr val="bg1"/>
                </a:solidFill>
                <a:latin typeface="Calibri"/>
                <a:ea typeface="Calibri"/>
                <a:cs typeface="Calibri"/>
              </a:rPr>
              <a:t>APPROACH + TIMING</a:t>
            </a:r>
          </a:p>
        </p:txBody>
      </p:sp>
      <p:sp>
        <p:nvSpPr>
          <p:cNvPr id="4" name="TextBox 3">
            <a:extLst>
              <a:ext uri="{FF2B5EF4-FFF2-40B4-BE49-F238E27FC236}">
                <a16:creationId xmlns:a16="http://schemas.microsoft.com/office/drawing/2014/main" id="{331B6556-BABF-62F8-47C8-B18FD0581F2D}"/>
              </a:ext>
            </a:extLst>
          </p:cNvPr>
          <p:cNvSpPr txBox="1"/>
          <p:nvPr/>
        </p:nvSpPr>
        <p:spPr>
          <a:xfrm>
            <a:off x="742616" y="4642601"/>
            <a:ext cx="4147758" cy="14927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a:t>Investee Focus. </a:t>
            </a:r>
            <a:r>
              <a:rPr lang="en-US" sz="1300"/>
              <a:t>Develop a pitch on a timely subject to highlight the efforts of our investees. For example, “Multiple Roads to Boosted Wages,” ”Leveraging Technology for Good,” or “Improving Child Welfare.”</a:t>
            </a:r>
            <a:endParaRPr lang="en-US" sz="1300">
              <a:highlight>
                <a:srgbClr val="FFFF00"/>
              </a:highlight>
            </a:endParaRPr>
          </a:p>
          <a:p>
            <a:endParaRPr lang="en-US" sz="1300">
              <a:highlight>
                <a:srgbClr val="FFFF00"/>
              </a:highlight>
            </a:endParaRPr>
          </a:p>
          <a:p>
            <a:r>
              <a:rPr lang="en-US" sz="1300"/>
              <a:t>Rationale: Opportunity to collaborate with and elevate the work of BMP investees.</a:t>
            </a:r>
          </a:p>
        </p:txBody>
      </p:sp>
      <p:sp>
        <p:nvSpPr>
          <p:cNvPr id="5" name="TextBox 4">
            <a:extLst>
              <a:ext uri="{FF2B5EF4-FFF2-40B4-BE49-F238E27FC236}">
                <a16:creationId xmlns:a16="http://schemas.microsoft.com/office/drawing/2014/main" id="{FFFC2182-071C-1E78-0E59-0768AFE53C2F}"/>
              </a:ext>
            </a:extLst>
          </p:cNvPr>
          <p:cNvSpPr txBox="1"/>
          <p:nvPr/>
        </p:nvSpPr>
        <p:spPr>
          <a:xfrm>
            <a:off x="5123520" y="4724823"/>
            <a:ext cx="3466454" cy="11310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50" b="1"/>
              <a:t>Approach: </a:t>
            </a:r>
            <a:r>
              <a:rPr lang="en-US" sz="1350"/>
              <a:t>Targeted pitch or op-ed rooted in investee stories TBD</a:t>
            </a:r>
          </a:p>
          <a:p>
            <a:endParaRPr lang="en-US" sz="1350"/>
          </a:p>
          <a:p>
            <a:r>
              <a:rPr lang="en-US" sz="1350" b="1"/>
              <a:t>Timing: </a:t>
            </a:r>
            <a:r>
              <a:rPr lang="en-US" sz="1350"/>
              <a:t>TBD </a:t>
            </a:r>
            <a:endParaRPr lang="en-US" sz="1350">
              <a:ea typeface="+mn-lt"/>
              <a:cs typeface="+mn-lt"/>
            </a:endParaRPr>
          </a:p>
          <a:p>
            <a:endParaRPr lang="en-US" sz="1350"/>
          </a:p>
        </p:txBody>
      </p:sp>
      <p:pic>
        <p:nvPicPr>
          <p:cNvPr id="8" name="Picture 7" descr="Associated Press - Vikipedi">
            <a:extLst>
              <a:ext uri="{FF2B5EF4-FFF2-40B4-BE49-F238E27FC236}">
                <a16:creationId xmlns:a16="http://schemas.microsoft.com/office/drawing/2014/main" id="{A7E68B33-2364-226A-FC40-A206EBCCA09A}"/>
              </a:ext>
            </a:extLst>
          </p:cNvPr>
          <p:cNvPicPr>
            <a:picLocks noChangeAspect="1"/>
          </p:cNvPicPr>
          <p:nvPr/>
        </p:nvPicPr>
        <p:blipFill>
          <a:blip r:embed="rId3"/>
          <a:stretch>
            <a:fillRect/>
          </a:stretch>
        </p:blipFill>
        <p:spPr>
          <a:xfrm>
            <a:off x="9371120" y="4791351"/>
            <a:ext cx="716797" cy="769104"/>
          </a:xfrm>
          <a:prstGeom prst="rect">
            <a:avLst/>
          </a:prstGeom>
        </p:spPr>
      </p:pic>
      <p:pic>
        <p:nvPicPr>
          <p:cNvPr id="9" name="Picture 8" descr="Fortune Logo Redesign: Why We Did It | Fortune">
            <a:extLst>
              <a:ext uri="{FF2B5EF4-FFF2-40B4-BE49-F238E27FC236}">
                <a16:creationId xmlns:a16="http://schemas.microsoft.com/office/drawing/2014/main" id="{059B3E44-E0CF-40AD-A410-DF01B237EB39}"/>
              </a:ext>
            </a:extLst>
          </p:cNvPr>
          <p:cNvPicPr>
            <a:picLocks noChangeAspect="1"/>
          </p:cNvPicPr>
          <p:nvPr/>
        </p:nvPicPr>
        <p:blipFill>
          <a:blip r:embed="rId4"/>
          <a:stretch>
            <a:fillRect/>
          </a:stretch>
        </p:blipFill>
        <p:spPr>
          <a:xfrm>
            <a:off x="10346477" y="4911798"/>
            <a:ext cx="1123628" cy="587645"/>
          </a:xfrm>
          <a:prstGeom prst="rect">
            <a:avLst/>
          </a:prstGeom>
        </p:spPr>
      </p:pic>
      <p:sp>
        <p:nvSpPr>
          <p:cNvPr id="15" name="TextBox 14">
            <a:extLst>
              <a:ext uri="{FF2B5EF4-FFF2-40B4-BE49-F238E27FC236}">
                <a16:creationId xmlns:a16="http://schemas.microsoft.com/office/drawing/2014/main" id="{4425C861-803B-03CC-AC64-02A699F84C7E}"/>
              </a:ext>
            </a:extLst>
          </p:cNvPr>
          <p:cNvSpPr txBox="1"/>
          <p:nvPr/>
        </p:nvSpPr>
        <p:spPr>
          <a:xfrm>
            <a:off x="762669" y="2319577"/>
            <a:ext cx="4046675" cy="22852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a:t>A New Chapter for Blue Meridian Partners. </a:t>
            </a:r>
            <a:r>
              <a:rPr lang="en-US" sz="1300"/>
              <a:t>Briefing with Jim Shelton as BMP's new CEO focusing on his vision to reimagine economic mobility and drive a "new normal" for philanthropy. Goal is to leverage the transition as a timely hook to highlight BMP's mission.</a:t>
            </a:r>
            <a:endParaRPr lang="en-US" sz="1300">
              <a:highlight>
                <a:srgbClr val="FFFF00"/>
              </a:highlight>
            </a:endParaRPr>
          </a:p>
          <a:p>
            <a:endParaRPr lang="en-US" sz="1300">
              <a:highlight>
                <a:srgbClr val="FFFF00"/>
              </a:highlight>
            </a:endParaRPr>
          </a:p>
          <a:p>
            <a:r>
              <a:rPr lang="en-US" sz="1300"/>
              <a:t>Rationale: Interviews like this help to build trust in BMP's leaders, which in turn, can help to engage prospective partners and provide reassurance to current partners.  </a:t>
            </a:r>
            <a:endParaRPr lang="en-US" sz="1300">
              <a:highlight>
                <a:srgbClr val="FFFF00"/>
              </a:highlight>
            </a:endParaRPr>
          </a:p>
          <a:p>
            <a:endParaRPr lang="en-US" sz="1250"/>
          </a:p>
        </p:txBody>
      </p:sp>
      <p:cxnSp>
        <p:nvCxnSpPr>
          <p:cNvPr id="16" name="Straight Connector 15">
            <a:extLst>
              <a:ext uri="{FF2B5EF4-FFF2-40B4-BE49-F238E27FC236}">
                <a16:creationId xmlns:a16="http://schemas.microsoft.com/office/drawing/2014/main" id="{8FFEEF91-0B3F-477F-16D7-3E1D1E362611}"/>
              </a:ext>
            </a:extLst>
          </p:cNvPr>
          <p:cNvCxnSpPr>
            <a:cxnSpLocks/>
          </p:cNvCxnSpPr>
          <p:nvPr/>
        </p:nvCxnSpPr>
        <p:spPr>
          <a:xfrm>
            <a:off x="764301" y="4613519"/>
            <a:ext cx="1080625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7" name="Picture 6" descr="CNBC – Logos Download">
            <a:extLst>
              <a:ext uri="{FF2B5EF4-FFF2-40B4-BE49-F238E27FC236}">
                <a16:creationId xmlns:a16="http://schemas.microsoft.com/office/drawing/2014/main" id="{FB6CD3A4-CC55-520F-BF67-86F9D863982B}"/>
              </a:ext>
            </a:extLst>
          </p:cNvPr>
          <p:cNvPicPr>
            <a:picLocks noChangeAspect="1"/>
          </p:cNvPicPr>
          <p:nvPr/>
        </p:nvPicPr>
        <p:blipFill>
          <a:blip r:embed="rId5"/>
          <a:stretch>
            <a:fillRect/>
          </a:stretch>
        </p:blipFill>
        <p:spPr>
          <a:xfrm>
            <a:off x="9329910" y="2625902"/>
            <a:ext cx="788086" cy="563484"/>
          </a:xfrm>
          <a:prstGeom prst="rect">
            <a:avLst/>
          </a:prstGeom>
        </p:spPr>
      </p:pic>
      <p:pic>
        <p:nvPicPr>
          <p:cNvPr id="12" name="Picture 11" descr="Forbes PNG Transparent Forbes.PNG Images. | PlusPNG">
            <a:extLst>
              <a:ext uri="{FF2B5EF4-FFF2-40B4-BE49-F238E27FC236}">
                <a16:creationId xmlns:a16="http://schemas.microsoft.com/office/drawing/2014/main" id="{F2B796C6-0384-8242-FF83-0E8EC7E10687}"/>
              </a:ext>
            </a:extLst>
          </p:cNvPr>
          <p:cNvPicPr>
            <a:picLocks noChangeAspect="1"/>
          </p:cNvPicPr>
          <p:nvPr/>
        </p:nvPicPr>
        <p:blipFill>
          <a:blip r:embed="rId6"/>
          <a:stretch>
            <a:fillRect/>
          </a:stretch>
        </p:blipFill>
        <p:spPr>
          <a:xfrm>
            <a:off x="10343896" y="2802325"/>
            <a:ext cx="1243367" cy="284048"/>
          </a:xfrm>
          <a:prstGeom prst="rect">
            <a:avLst/>
          </a:prstGeom>
        </p:spPr>
      </p:pic>
      <p:sp>
        <p:nvSpPr>
          <p:cNvPr id="28" name="TextBox 27">
            <a:extLst>
              <a:ext uri="{FF2B5EF4-FFF2-40B4-BE49-F238E27FC236}">
                <a16:creationId xmlns:a16="http://schemas.microsoft.com/office/drawing/2014/main" id="{B14946FA-C0EE-D802-D6B6-AD2C8F1EADC2}"/>
              </a:ext>
            </a:extLst>
          </p:cNvPr>
          <p:cNvSpPr txBox="1"/>
          <p:nvPr/>
        </p:nvSpPr>
        <p:spPr>
          <a:xfrm>
            <a:off x="5062047" y="2319867"/>
            <a:ext cx="3879741" cy="7155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50" b="1"/>
              <a:t>Approach: </a:t>
            </a:r>
            <a:r>
              <a:rPr lang="en-US" sz="1350"/>
              <a:t>Targeted media briefings</a:t>
            </a:r>
          </a:p>
          <a:p>
            <a:endParaRPr lang="en-US" sz="1350"/>
          </a:p>
          <a:p>
            <a:r>
              <a:rPr lang="en-US" sz="1350" b="1"/>
              <a:t>Timing: </a:t>
            </a:r>
            <a:r>
              <a:rPr lang="en-US" sz="1350"/>
              <a:t>TBD </a:t>
            </a:r>
          </a:p>
        </p:txBody>
      </p:sp>
      <p:sp>
        <p:nvSpPr>
          <p:cNvPr id="6" name="TextBox 5">
            <a:extLst>
              <a:ext uri="{FF2B5EF4-FFF2-40B4-BE49-F238E27FC236}">
                <a16:creationId xmlns:a16="http://schemas.microsoft.com/office/drawing/2014/main" id="{D9DFF72E-ED43-E0BA-13C0-62FF1C67CED3}"/>
              </a:ext>
            </a:extLst>
          </p:cNvPr>
          <p:cNvSpPr txBox="1"/>
          <p:nvPr/>
        </p:nvSpPr>
        <p:spPr>
          <a:xfrm>
            <a:off x="741948" y="1068709"/>
            <a:ext cx="1070810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accent1"/>
                </a:solidFill>
              </a:rPr>
              <a:t>The thought-starter ideas below are presented to inspire conversation about how we might reach priority media outlets in 2025 through proactive storytelling to raise awareness about BMP’s work.</a:t>
            </a:r>
          </a:p>
        </p:txBody>
      </p:sp>
      <p:sp>
        <p:nvSpPr>
          <p:cNvPr id="10" name="Rectangle 9">
            <a:extLst>
              <a:ext uri="{FF2B5EF4-FFF2-40B4-BE49-F238E27FC236}">
                <a16:creationId xmlns:a16="http://schemas.microsoft.com/office/drawing/2014/main" id="{C70F0892-317B-9F4D-6FF6-E149C007944A}"/>
              </a:ext>
            </a:extLst>
          </p:cNvPr>
          <p:cNvSpPr/>
          <p:nvPr/>
        </p:nvSpPr>
        <p:spPr>
          <a:xfrm>
            <a:off x="8631936" y="1688"/>
            <a:ext cx="3560064" cy="56523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CONTINUE &amp; ENHANCE</a:t>
            </a:r>
          </a:p>
        </p:txBody>
      </p:sp>
    </p:spTree>
    <p:extLst>
      <p:ext uri="{BB962C8B-B14F-4D97-AF65-F5344CB8AC3E}">
        <p14:creationId xmlns:p14="http://schemas.microsoft.com/office/powerpoint/2010/main" val="29201477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35E13-F0B3-560B-F374-5BB964667C57}"/>
              </a:ext>
            </a:extLst>
          </p:cNvPr>
          <p:cNvSpPr>
            <a:spLocks noGrp="1"/>
          </p:cNvSpPr>
          <p:nvPr>
            <p:ph type="title"/>
          </p:nvPr>
        </p:nvSpPr>
        <p:spPr>
          <a:xfrm>
            <a:off x="621235" y="319406"/>
            <a:ext cx="10515600" cy="541094"/>
          </a:xfrm>
        </p:spPr>
        <p:txBody>
          <a:bodyPr/>
          <a:lstStyle/>
          <a:p>
            <a:r>
              <a:rPr lang="en-US">
                <a:latin typeface="LeMonde Livre"/>
              </a:rPr>
              <a:t>Corporate Newsletter + Amplify</a:t>
            </a:r>
          </a:p>
        </p:txBody>
      </p:sp>
      <p:sp>
        <p:nvSpPr>
          <p:cNvPr id="3" name="Content Placeholder 2">
            <a:extLst>
              <a:ext uri="{FF2B5EF4-FFF2-40B4-BE49-F238E27FC236}">
                <a16:creationId xmlns:a16="http://schemas.microsoft.com/office/drawing/2014/main" id="{5C949466-FF7A-2C7E-6C6C-546B30D5AFC3}"/>
              </a:ext>
            </a:extLst>
          </p:cNvPr>
          <p:cNvSpPr>
            <a:spLocks noGrp="1"/>
          </p:cNvSpPr>
          <p:nvPr>
            <p:ph idx="1"/>
          </p:nvPr>
        </p:nvSpPr>
        <p:spPr>
          <a:xfrm>
            <a:off x="812801" y="1079817"/>
            <a:ext cx="5171167" cy="4901883"/>
          </a:xfrm>
        </p:spPr>
        <p:txBody>
          <a:bodyPr vert="horz" lIns="91440" tIns="45720" rIns="91440" bIns="45720" rtlCol="0" anchor="t">
            <a:normAutofit fontScale="92500" lnSpcReduction="10000"/>
          </a:bodyPr>
          <a:lstStyle/>
          <a:p>
            <a:pPr marL="0" indent="0">
              <a:lnSpc>
                <a:spcPct val="100000"/>
              </a:lnSpc>
              <a:spcBef>
                <a:spcPts val="0"/>
              </a:spcBef>
              <a:buNone/>
            </a:pPr>
            <a:r>
              <a:rPr lang="en-US" sz="1600" b="1">
                <a:solidFill>
                  <a:schemeClr val="tx2"/>
                </a:solidFill>
                <a:latin typeface="+mn-lt"/>
                <a:cs typeface="Arial"/>
              </a:rPr>
              <a:t>OVERVIEW: </a:t>
            </a:r>
            <a:r>
              <a:rPr lang="en-US" sz="1600">
                <a:latin typeface="+mn-lt"/>
                <a:cs typeface="Arial"/>
              </a:rPr>
              <a:t>The corporate newsletter is an established communications vehicle for BMP with consistently solid open and engagement rates. In 2025 we aim to publish four issues, bi-monthly, to improve publication regularity.</a:t>
            </a:r>
          </a:p>
          <a:p>
            <a:pPr marL="0" indent="0">
              <a:lnSpc>
                <a:spcPct val="100000"/>
              </a:lnSpc>
              <a:spcBef>
                <a:spcPts val="0"/>
              </a:spcBef>
              <a:buNone/>
            </a:pPr>
            <a:endParaRPr lang="en-US" sz="1600" u="sng">
              <a:latin typeface="+mn-lt"/>
              <a:cs typeface="Arial"/>
            </a:endParaRPr>
          </a:p>
          <a:p>
            <a:pPr marL="0" indent="0">
              <a:lnSpc>
                <a:spcPct val="100000"/>
              </a:lnSpc>
              <a:spcBef>
                <a:spcPts val="0"/>
              </a:spcBef>
              <a:buNone/>
            </a:pPr>
            <a:r>
              <a:rPr lang="en-US" sz="1600" b="1">
                <a:solidFill>
                  <a:schemeClr val="tx2"/>
                </a:solidFill>
                <a:latin typeface="+mn-lt"/>
                <a:cs typeface="Arial"/>
              </a:rPr>
              <a:t>APPROACH: </a:t>
            </a:r>
            <a:r>
              <a:rPr lang="en-US" sz="1600">
                <a:latin typeface="+mn-lt"/>
                <a:cs typeface="Arial"/>
              </a:rPr>
              <a:t>We will introduce standing sections- one highlighting investees and one for BMP leaders. The main content will be inspired by a milestone or impediment from the Comprehensive Frame and tie to a known commemoration for the month of publication. All told, this has the potential to land as a content series that we can build on for the future under a “Cradle to Career” umbrella. In addition, we intend to amplify newsletter content through a complementary communications channel timed with the newsletter publication date.  </a:t>
            </a:r>
          </a:p>
          <a:p>
            <a:pPr marL="0" indent="0">
              <a:lnSpc>
                <a:spcPct val="100000"/>
              </a:lnSpc>
              <a:spcBef>
                <a:spcPts val="0"/>
              </a:spcBef>
              <a:buNone/>
            </a:pPr>
            <a:endParaRPr lang="en-US" sz="1600" b="1">
              <a:solidFill>
                <a:schemeClr val="tx2"/>
              </a:solidFill>
              <a:latin typeface="+mn-lt"/>
              <a:cs typeface="Arial"/>
            </a:endParaRPr>
          </a:p>
          <a:p>
            <a:pPr marL="0" indent="0">
              <a:lnSpc>
                <a:spcPct val="100000"/>
              </a:lnSpc>
              <a:spcBef>
                <a:spcPts val="0"/>
              </a:spcBef>
              <a:buNone/>
            </a:pPr>
            <a:r>
              <a:rPr lang="en-US" sz="1600" b="1">
                <a:solidFill>
                  <a:schemeClr val="tx2"/>
                </a:solidFill>
                <a:latin typeface="+mn-lt"/>
                <a:cs typeface="Arial"/>
              </a:rPr>
              <a:t>ANTICIPATED OUTCOMES: </a:t>
            </a:r>
            <a:r>
              <a:rPr lang="en-US" sz="1600">
                <a:latin typeface="+mn-lt"/>
                <a:cs typeface="Arial"/>
              </a:rPr>
              <a:t> A regular publication schedule will help keep BMP top-of-mind among stakeholders and keep them informed about our work.</a:t>
            </a:r>
          </a:p>
          <a:p>
            <a:pPr marL="0" indent="0">
              <a:lnSpc>
                <a:spcPct val="100000"/>
              </a:lnSpc>
              <a:spcBef>
                <a:spcPts val="0"/>
              </a:spcBef>
              <a:buNone/>
            </a:pPr>
            <a:r>
              <a:rPr lang="en-US" sz="1600">
                <a:latin typeface="+mn-lt"/>
                <a:cs typeface="Arial"/>
              </a:rPr>
              <a:t>Our +Amplify execution will leverage our investment in the newsletter to increase our reach and provide content that Investor Relations can share with current and prospective partners.</a:t>
            </a:r>
          </a:p>
          <a:p>
            <a:pPr marL="0" indent="0">
              <a:lnSpc>
                <a:spcPct val="100000"/>
              </a:lnSpc>
              <a:spcBef>
                <a:spcPts val="0"/>
              </a:spcBef>
              <a:buNone/>
            </a:pPr>
            <a:endParaRPr lang="en-US" sz="1800">
              <a:solidFill>
                <a:srgbClr val="FF0000"/>
              </a:solidFill>
              <a:highlight>
                <a:srgbClr val="FFFF00"/>
              </a:highlight>
            </a:endParaRPr>
          </a:p>
          <a:p>
            <a:pPr marL="285750" indent="-285750"/>
            <a:endParaRPr lang="en-US" sz="1800"/>
          </a:p>
          <a:p>
            <a:pPr marL="0" indent="0">
              <a:buNone/>
            </a:pPr>
            <a:endParaRPr lang="en-US" sz="1800"/>
          </a:p>
          <a:p>
            <a:pPr marL="0" indent="0">
              <a:buNone/>
            </a:pPr>
            <a:endParaRPr lang="en-US" sz="1800"/>
          </a:p>
        </p:txBody>
      </p:sp>
      <p:sp>
        <p:nvSpPr>
          <p:cNvPr id="5" name="Rectangle 4">
            <a:extLst>
              <a:ext uri="{FF2B5EF4-FFF2-40B4-BE49-F238E27FC236}">
                <a16:creationId xmlns:a16="http://schemas.microsoft.com/office/drawing/2014/main" id="{ED97A52A-45B7-2741-40B3-EC8F97388773}"/>
              </a:ext>
            </a:extLst>
          </p:cNvPr>
          <p:cNvSpPr/>
          <p:nvPr/>
        </p:nvSpPr>
        <p:spPr>
          <a:xfrm>
            <a:off x="8631936" y="1688"/>
            <a:ext cx="3560064" cy="56523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CONTINUE &amp; ENHANCE</a:t>
            </a:r>
          </a:p>
        </p:txBody>
      </p:sp>
      <p:sp>
        <p:nvSpPr>
          <p:cNvPr id="6" name="TextBox 5">
            <a:extLst>
              <a:ext uri="{FF2B5EF4-FFF2-40B4-BE49-F238E27FC236}">
                <a16:creationId xmlns:a16="http://schemas.microsoft.com/office/drawing/2014/main" id="{3F59D8FD-E843-A02E-4828-2BCFA2C6B5F2}"/>
              </a:ext>
            </a:extLst>
          </p:cNvPr>
          <p:cNvSpPr txBox="1"/>
          <p:nvPr/>
        </p:nvSpPr>
        <p:spPr>
          <a:xfrm>
            <a:off x="6208034" y="1079817"/>
            <a:ext cx="5171167" cy="4493538"/>
          </a:xfrm>
          <a:prstGeom prst="rect">
            <a:avLst/>
          </a:prstGeom>
          <a:solidFill>
            <a:schemeClr val="bg1">
              <a:lumMod val="85000"/>
            </a:schemeClr>
          </a:solidFill>
          <a:ln w="22225">
            <a:solidFill>
              <a:schemeClr val="accent1"/>
            </a:solidFill>
          </a:ln>
        </p:spPr>
        <p:txBody>
          <a:bodyPr rot="0" spcFirstLastPara="0" vertOverflow="overflow" horzOverflow="overflow" vert="horz" wrap="square" lIns="182880" tIns="91440" rIns="182880" bIns="91440" numCol="1" spcCol="0" rtlCol="0" fromWordArt="0" anchor="t" anchorCtr="0" forceAA="0" compatLnSpc="1">
            <a:prstTxWarp prst="textNoShape">
              <a:avLst/>
            </a:prstTxWarp>
            <a:spAutoFit/>
          </a:bodyPr>
          <a:lstStyle/>
          <a:p>
            <a:r>
              <a:rPr lang="en-US" sz="2400" b="1">
                <a:solidFill>
                  <a:schemeClr val="accent1"/>
                </a:solidFill>
                <a:cs typeface="Arial"/>
              </a:rPr>
              <a:t>+Amplify</a:t>
            </a:r>
          </a:p>
          <a:p>
            <a:endParaRPr lang="en-US" sz="1600">
              <a:latin typeface="Camphor Std"/>
              <a:cs typeface="Segoe UI"/>
            </a:endParaRPr>
          </a:p>
          <a:p>
            <a:r>
              <a:rPr lang="en-US" sz="1600">
                <a:cs typeface="Segoe UI"/>
              </a:rPr>
              <a:t>+Amplify is a proposed approach to enhance each corporate newsletter by promoting related content (often in a different medium) via supplementary media channels. </a:t>
            </a:r>
          </a:p>
          <a:p>
            <a:endParaRPr lang="en-US" sz="1600">
              <a:cs typeface="Segoe UI"/>
            </a:endParaRPr>
          </a:p>
          <a:p>
            <a:r>
              <a:rPr lang="en-US" sz="1600">
                <a:cs typeface="Segoe UI"/>
              </a:rPr>
              <a:t>The +Amplify medium and channel will be selected on a case-by-case basis through consideration of the topic and what might work best from a creative perspective.  +Amplify examples include: </a:t>
            </a:r>
            <a:endParaRPr lang="en-US" sz="1600"/>
          </a:p>
          <a:p>
            <a:r>
              <a:rPr lang="en-US" sz="1600">
                <a:cs typeface="Segoe UI"/>
              </a:rPr>
              <a:t>​</a:t>
            </a:r>
          </a:p>
          <a:p>
            <a:pPr marL="685800" indent="-685800">
              <a:buFont typeface="Wingdings,Sans-Serif"/>
              <a:buChar char="§"/>
            </a:pPr>
            <a:r>
              <a:rPr lang="en-US" sz="1600">
                <a:cs typeface="Segoe UI"/>
              </a:rPr>
              <a:t>Dynamic infographics </a:t>
            </a:r>
          </a:p>
          <a:p>
            <a:pPr marL="685800" indent="-685800">
              <a:buFont typeface="Wingdings,Sans-Serif"/>
              <a:buChar char="§"/>
            </a:pPr>
            <a:r>
              <a:rPr lang="en-US" sz="1600">
                <a:cs typeface="Segoe UI"/>
              </a:rPr>
              <a:t>Essay or op-ed</a:t>
            </a:r>
          </a:p>
          <a:p>
            <a:pPr marL="685800" indent="-685800">
              <a:buFont typeface="Wingdings,Sans-Serif"/>
              <a:buChar char="§"/>
            </a:pPr>
            <a:r>
              <a:rPr lang="en-US" sz="1600">
                <a:cs typeface="Segoe UI"/>
              </a:rPr>
              <a:t>Podcast-style audio</a:t>
            </a:r>
          </a:p>
          <a:p>
            <a:pPr marL="685800" indent="-685800">
              <a:buFont typeface="Wingdings,Sans-Serif"/>
              <a:buChar char="§"/>
            </a:pPr>
            <a:r>
              <a:rPr lang="en-US" sz="1600">
                <a:cs typeface="Segoe UI"/>
              </a:rPr>
              <a:t>Brief video or animation</a:t>
            </a:r>
          </a:p>
          <a:p>
            <a:pPr marL="685800" indent="-685800">
              <a:buFont typeface="Wingdings,Sans-Serif"/>
              <a:buChar char="§"/>
            </a:pPr>
            <a:r>
              <a:rPr lang="en-US" sz="1600">
                <a:cs typeface="Segoe UI"/>
              </a:rPr>
              <a:t>Targeted feature story pitch​</a:t>
            </a:r>
          </a:p>
        </p:txBody>
      </p:sp>
    </p:spTree>
    <p:extLst>
      <p:ext uri="{BB962C8B-B14F-4D97-AF65-F5344CB8AC3E}">
        <p14:creationId xmlns:p14="http://schemas.microsoft.com/office/powerpoint/2010/main" val="32068169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EF8DC-8044-9F26-A8F4-AC05B4E882BE}"/>
              </a:ext>
            </a:extLst>
          </p:cNvPr>
          <p:cNvSpPr>
            <a:spLocks noGrp="1"/>
          </p:cNvSpPr>
          <p:nvPr>
            <p:ph type="title"/>
          </p:nvPr>
        </p:nvSpPr>
        <p:spPr>
          <a:xfrm>
            <a:off x="416039" y="135319"/>
            <a:ext cx="10515600" cy="756917"/>
          </a:xfrm>
        </p:spPr>
        <p:txBody>
          <a:bodyPr/>
          <a:lstStyle/>
          <a:p>
            <a:r>
              <a:rPr lang="en-US">
                <a:latin typeface="LeMonde Livre"/>
              </a:rPr>
              <a:t>Corporate Newsletter Outlook </a:t>
            </a:r>
          </a:p>
        </p:txBody>
      </p:sp>
      <p:sp>
        <p:nvSpPr>
          <p:cNvPr id="7" name="Rectangle 6">
            <a:extLst>
              <a:ext uri="{FF2B5EF4-FFF2-40B4-BE49-F238E27FC236}">
                <a16:creationId xmlns:a16="http://schemas.microsoft.com/office/drawing/2014/main" id="{8D44A88E-2C33-CB53-2834-0B510D107F5C}"/>
              </a:ext>
            </a:extLst>
          </p:cNvPr>
          <p:cNvSpPr/>
          <p:nvPr/>
        </p:nvSpPr>
        <p:spPr>
          <a:xfrm>
            <a:off x="419345" y="2553355"/>
            <a:ext cx="2443144" cy="2381736"/>
          </a:xfrm>
          <a:prstGeom prst="rect">
            <a:avLst/>
          </a:prstGeom>
          <a:noFill/>
          <a:ln w="19050">
            <a:solidFill>
              <a:srgbClr val="0091C8"/>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45720" rtlCol="0" anchor="t"/>
          <a:lstStyle/>
          <a:p>
            <a:pPr>
              <a:spcAft>
                <a:spcPts val="200"/>
              </a:spcAft>
            </a:pPr>
            <a:r>
              <a:rPr lang="en-US" sz="1200" b="1">
                <a:solidFill>
                  <a:schemeClr val="tx1"/>
                </a:solidFill>
                <a:ea typeface="+mn-lt"/>
                <a:cs typeface="+mn-lt"/>
              </a:rPr>
              <a:t>MAIN CONTENT/TOPICAL INTRODUCTION: </a:t>
            </a:r>
            <a:r>
              <a:rPr lang="en-US" sz="1200">
                <a:solidFill>
                  <a:schemeClr val="tx1"/>
                </a:solidFill>
                <a:ea typeface="+mn-lt"/>
                <a:cs typeface="+mn-lt"/>
              </a:rPr>
              <a:t>Safety/Justice</a:t>
            </a:r>
          </a:p>
          <a:p>
            <a:endParaRPr lang="en-US" sz="1200" b="1">
              <a:solidFill>
                <a:schemeClr val="tx1"/>
              </a:solidFill>
              <a:ea typeface="+mn-lt"/>
              <a:cs typeface="+mn-lt"/>
            </a:endParaRPr>
          </a:p>
          <a:p>
            <a:r>
              <a:rPr lang="en-US" sz="1200" b="1">
                <a:solidFill>
                  <a:schemeClr val="tx1"/>
                </a:solidFill>
                <a:ea typeface="+mn-lt"/>
                <a:cs typeface="+mn-lt"/>
              </a:rPr>
              <a:t>INVESTEE HIGHLIGHT: </a:t>
            </a:r>
            <a:r>
              <a:rPr lang="en-US" sz="1200">
                <a:solidFill>
                  <a:schemeClr val="tx1"/>
                </a:solidFill>
                <a:ea typeface="+mn-lt"/>
                <a:cs typeface="+mn-lt"/>
              </a:rPr>
              <a:t>FreeWorld</a:t>
            </a:r>
            <a:r>
              <a:rPr lang="en-US" sz="1200" b="1">
                <a:solidFill>
                  <a:schemeClr val="tx1"/>
                </a:solidFill>
                <a:ea typeface="+mn-lt"/>
                <a:cs typeface="+mn-lt"/>
              </a:rPr>
              <a:t> </a:t>
            </a:r>
            <a:r>
              <a:rPr lang="en-US" sz="1200">
                <a:solidFill>
                  <a:schemeClr val="tx1"/>
                </a:solidFill>
                <a:ea typeface="+mn-lt"/>
                <a:cs typeface="+mn-lt"/>
              </a:rPr>
              <a:t>OR CEO</a:t>
            </a:r>
            <a:endParaRPr lang="en-US" sz="1200">
              <a:solidFill>
                <a:schemeClr val="tx1"/>
              </a:solidFill>
            </a:endParaRPr>
          </a:p>
          <a:p>
            <a:endParaRPr lang="en-US" sz="1200">
              <a:solidFill>
                <a:schemeClr val="tx1"/>
              </a:solidFill>
              <a:ea typeface="+mn-lt"/>
              <a:cs typeface="+mn-lt"/>
            </a:endParaRPr>
          </a:p>
          <a:p>
            <a:r>
              <a:rPr lang="en-US" sz="1200" b="1">
                <a:solidFill>
                  <a:schemeClr val="tx1"/>
                </a:solidFill>
                <a:ea typeface="+mn-lt"/>
                <a:cs typeface="+mn-lt"/>
              </a:rPr>
              <a:t>STAFF SPOTLIGHT: </a:t>
            </a:r>
            <a:r>
              <a:rPr lang="en-US" sz="1200">
                <a:solidFill>
                  <a:schemeClr val="tx1"/>
                </a:solidFill>
                <a:ea typeface="+mn-lt"/>
                <a:cs typeface="+mn-lt"/>
              </a:rPr>
              <a:t>Allana</a:t>
            </a:r>
          </a:p>
          <a:p>
            <a:pPr marL="91440" indent="-91440">
              <a:buFont typeface="Arial" panose="020B0604020202020204" pitchFamily="34" charset="0"/>
              <a:buChar char="•"/>
            </a:pPr>
            <a:endParaRPr lang="en-US" sz="1200">
              <a:solidFill>
                <a:schemeClr val="tx1"/>
              </a:solidFill>
              <a:ea typeface="+mn-lt"/>
              <a:cs typeface="+mn-lt"/>
            </a:endParaRPr>
          </a:p>
        </p:txBody>
      </p:sp>
      <p:sp>
        <p:nvSpPr>
          <p:cNvPr id="8" name="Rectangle 7">
            <a:extLst>
              <a:ext uri="{FF2B5EF4-FFF2-40B4-BE49-F238E27FC236}">
                <a16:creationId xmlns:a16="http://schemas.microsoft.com/office/drawing/2014/main" id="{945827EB-2C0A-C073-9C10-0714D14E6D93}"/>
              </a:ext>
            </a:extLst>
          </p:cNvPr>
          <p:cNvSpPr/>
          <p:nvPr/>
        </p:nvSpPr>
        <p:spPr>
          <a:xfrm>
            <a:off x="416039" y="1868420"/>
            <a:ext cx="2446450" cy="689331"/>
          </a:xfrm>
          <a:prstGeom prst="rect">
            <a:avLst/>
          </a:prstGeom>
          <a:solidFill>
            <a:srgbClr val="0091C8"/>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300" b="1">
                <a:solidFill>
                  <a:schemeClr val="bg1"/>
                </a:solidFill>
              </a:rPr>
              <a:t>April </a:t>
            </a:r>
            <a:endParaRPr lang="en-US" sz="1300">
              <a:solidFill>
                <a:schemeClr val="bg1"/>
              </a:solidFill>
            </a:endParaRPr>
          </a:p>
          <a:p>
            <a:pPr algn="ctr"/>
            <a:r>
              <a:rPr lang="en-US" sz="1300">
                <a:solidFill>
                  <a:schemeClr val="bg1"/>
                </a:solidFill>
              </a:rPr>
              <a:t>Second Chance Month/Youth Violence Prevention Week</a:t>
            </a:r>
          </a:p>
        </p:txBody>
      </p:sp>
      <p:sp>
        <p:nvSpPr>
          <p:cNvPr id="9" name="Rectangle 8">
            <a:extLst>
              <a:ext uri="{FF2B5EF4-FFF2-40B4-BE49-F238E27FC236}">
                <a16:creationId xmlns:a16="http://schemas.microsoft.com/office/drawing/2014/main" id="{401F7A8D-E57B-E0FC-669B-AD65BAA974D8}"/>
              </a:ext>
            </a:extLst>
          </p:cNvPr>
          <p:cNvSpPr/>
          <p:nvPr/>
        </p:nvSpPr>
        <p:spPr>
          <a:xfrm>
            <a:off x="3487324" y="1868420"/>
            <a:ext cx="2446450" cy="68933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chemeClr val="bg1"/>
                </a:solidFill>
              </a:rPr>
              <a:t>June</a:t>
            </a:r>
          </a:p>
          <a:p>
            <a:pPr algn="ctr"/>
            <a:r>
              <a:rPr lang="en-US" sz="1400">
                <a:solidFill>
                  <a:schemeClr val="bg1"/>
                </a:solidFill>
              </a:rPr>
              <a:t>Youth Employment Month/Graduation Season</a:t>
            </a:r>
          </a:p>
        </p:txBody>
      </p:sp>
      <p:sp>
        <p:nvSpPr>
          <p:cNvPr id="11" name="Rectangle 10">
            <a:extLst>
              <a:ext uri="{FF2B5EF4-FFF2-40B4-BE49-F238E27FC236}">
                <a16:creationId xmlns:a16="http://schemas.microsoft.com/office/drawing/2014/main" id="{FB25731D-8B9B-647F-DEC9-58547EEC8052}"/>
              </a:ext>
            </a:extLst>
          </p:cNvPr>
          <p:cNvSpPr/>
          <p:nvPr/>
        </p:nvSpPr>
        <p:spPr>
          <a:xfrm>
            <a:off x="3483445" y="2514674"/>
            <a:ext cx="2443144" cy="2378664"/>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45720" rtlCol="0" anchor="t"/>
          <a:lstStyle/>
          <a:p>
            <a:pPr>
              <a:spcAft>
                <a:spcPts val="200"/>
              </a:spcAft>
            </a:pPr>
            <a:r>
              <a:rPr lang="en-US" sz="1200" b="1">
                <a:solidFill>
                  <a:schemeClr val="tx1"/>
                </a:solidFill>
                <a:ea typeface="+mn-lt"/>
                <a:cs typeface="+mn-lt"/>
              </a:rPr>
              <a:t>MAIN CONTENT/TOPICAL INTRODUCTION: </a:t>
            </a:r>
          </a:p>
          <a:p>
            <a:pPr>
              <a:spcAft>
                <a:spcPts val="200"/>
              </a:spcAft>
            </a:pPr>
            <a:r>
              <a:rPr lang="en-US" sz="1200">
                <a:solidFill>
                  <a:schemeClr val="tx1"/>
                </a:solidFill>
                <a:ea typeface="+mn-lt"/>
                <a:cs typeface="+mn-lt"/>
              </a:rPr>
              <a:t>Workforce</a:t>
            </a:r>
          </a:p>
          <a:p>
            <a:pPr>
              <a:spcAft>
                <a:spcPts val="200"/>
              </a:spcAft>
            </a:pPr>
            <a:endParaRPr lang="en-US" sz="1200" b="1">
              <a:solidFill>
                <a:schemeClr val="tx1"/>
              </a:solidFill>
              <a:ea typeface="+mn-lt"/>
              <a:cs typeface="+mn-lt"/>
            </a:endParaRPr>
          </a:p>
          <a:p>
            <a:pPr>
              <a:spcAft>
                <a:spcPts val="200"/>
              </a:spcAft>
            </a:pPr>
            <a:r>
              <a:rPr lang="en-US" sz="1200" b="1">
                <a:solidFill>
                  <a:schemeClr val="tx1"/>
                </a:solidFill>
                <a:ea typeface="+mn-lt"/>
                <a:cs typeface="+mn-lt"/>
              </a:rPr>
              <a:t>INVESTEE HIGHLIGHT: </a:t>
            </a:r>
            <a:r>
              <a:rPr lang="en-US" sz="1200">
                <a:solidFill>
                  <a:schemeClr val="tx1"/>
                </a:solidFill>
                <a:ea typeface="+mn-lt"/>
                <a:cs typeface="+mn-lt"/>
              </a:rPr>
              <a:t>Grameen America OR Per Scholas</a:t>
            </a:r>
          </a:p>
          <a:p>
            <a:pPr>
              <a:spcAft>
                <a:spcPts val="200"/>
              </a:spcAft>
            </a:pPr>
            <a:endParaRPr lang="en-US" sz="1200" b="1">
              <a:solidFill>
                <a:schemeClr val="tx1"/>
              </a:solidFill>
              <a:ea typeface="+mn-lt"/>
              <a:cs typeface="+mn-lt"/>
            </a:endParaRPr>
          </a:p>
          <a:p>
            <a:pPr>
              <a:spcAft>
                <a:spcPts val="200"/>
              </a:spcAft>
            </a:pPr>
            <a:r>
              <a:rPr lang="en-US" sz="1200" b="1">
                <a:solidFill>
                  <a:schemeClr val="tx1"/>
                </a:solidFill>
                <a:ea typeface="+mn-lt"/>
                <a:cs typeface="+mn-lt"/>
              </a:rPr>
              <a:t>STAFF SPOTLIGHT: </a:t>
            </a:r>
            <a:r>
              <a:rPr lang="en-US" sz="1200">
                <a:solidFill>
                  <a:schemeClr val="tx1"/>
                </a:solidFill>
                <a:ea typeface="+mn-lt"/>
                <a:cs typeface="+mn-lt"/>
              </a:rPr>
              <a:t>Spencer Kympton</a:t>
            </a:r>
          </a:p>
        </p:txBody>
      </p:sp>
      <p:sp>
        <p:nvSpPr>
          <p:cNvPr id="13" name="Rectangle 12">
            <a:extLst>
              <a:ext uri="{FF2B5EF4-FFF2-40B4-BE49-F238E27FC236}">
                <a16:creationId xmlns:a16="http://schemas.microsoft.com/office/drawing/2014/main" id="{63CA4D15-846E-C90A-2CCB-54AF4AA4127C}"/>
              </a:ext>
            </a:extLst>
          </p:cNvPr>
          <p:cNvSpPr/>
          <p:nvPr/>
        </p:nvSpPr>
        <p:spPr>
          <a:xfrm>
            <a:off x="6311421" y="2522653"/>
            <a:ext cx="2445432" cy="2385886"/>
          </a:xfrm>
          <a:prstGeom prst="rect">
            <a:avLst/>
          </a:prstGeom>
          <a:solidFill>
            <a:schemeClr val="bg1"/>
          </a:solidFill>
          <a:ln w="19050">
            <a:solidFill>
              <a:srgbClr val="0091C8"/>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45720" rtlCol="0" anchor="t"/>
          <a:lstStyle/>
          <a:p>
            <a:pPr>
              <a:spcAft>
                <a:spcPts val="200"/>
              </a:spcAft>
            </a:pPr>
            <a:r>
              <a:rPr lang="en-US" sz="1200" b="1">
                <a:solidFill>
                  <a:schemeClr val="tx1"/>
                </a:solidFill>
                <a:ea typeface="+mn-lt"/>
                <a:cs typeface="+mn-lt"/>
              </a:rPr>
              <a:t>MAIN CONTENT/TOPICAL INTRODUCTION:</a:t>
            </a:r>
            <a:r>
              <a:rPr lang="en-US" sz="1200">
                <a:solidFill>
                  <a:schemeClr val="tx1"/>
                </a:solidFill>
                <a:ea typeface="+mn-lt"/>
                <a:cs typeface="+mn-lt"/>
              </a:rPr>
              <a:t> </a:t>
            </a:r>
          </a:p>
          <a:p>
            <a:pPr>
              <a:spcAft>
                <a:spcPts val="200"/>
              </a:spcAft>
            </a:pPr>
            <a:r>
              <a:rPr lang="en-US" sz="1200">
                <a:solidFill>
                  <a:schemeClr val="tx1"/>
                </a:solidFill>
                <a:ea typeface="+mn-lt"/>
                <a:cs typeface="+mn-lt"/>
              </a:rPr>
              <a:t>The Power of Place</a:t>
            </a:r>
          </a:p>
          <a:p>
            <a:endParaRPr lang="en-US" sz="1200">
              <a:solidFill>
                <a:schemeClr val="tx1"/>
              </a:solidFill>
              <a:ea typeface="+mn-lt"/>
              <a:cs typeface="+mn-lt"/>
            </a:endParaRPr>
          </a:p>
          <a:p>
            <a:r>
              <a:rPr lang="en-US" sz="1200" b="1">
                <a:solidFill>
                  <a:schemeClr val="tx1"/>
                </a:solidFill>
                <a:ea typeface="+mn-lt"/>
                <a:cs typeface="+mn-lt"/>
              </a:rPr>
              <a:t>INVESTEE HIGHLIGHT: </a:t>
            </a:r>
          </a:p>
          <a:p>
            <a:r>
              <a:rPr lang="en-US" sz="1200">
                <a:solidFill>
                  <a:schemeClr val="tx1"/>
                </a:solidFill>
                <a:ea typeface="+mn-lt"/>
                <a:cs typeface="+mn-lt"/>
              </a:rPr>
              <a:t>San Antonio</a:t>
            </a:r>
            <a:r>
              <a:rPr lang="en-US" sz="1200" b="1">
                <a:solidFill>
                  <a:schemeClr val="tx1"/>
                </a:solidFill>
                <a:ea typeface="+mn-lt"/>
                <a:cs typeface="+mn-lt"/>
              </a:rPr>
              <a:t> </a:t>
            </a:r>
            <a:r>
              <a:rPr lang="en-US" sz="1200">
                <a:solidFill>
                  <a:schemeClr val="tx1"/>
                </a:solidFill>
                <a:ea typeface="+mn-lt"/>
                <a:cs typeface="+mn-lt"/>
              </a:rPr>
              <a:t>or Dallas</a:t>
            </a:r>
          </a:p>
          <a:p>
            <a:endParaRPr lang="en-US" sz="1200">
              <a:solidFill>
                <a:schemeClr val="tx1"/>
              </a:solidFill>
              <a:ea typeface="+mn-lt"/>
              <a:cs typeface="+mn-lt"/>
            </a:endParaRPr>
          </a:p>
          <a:p>
            <a:r>
              <a:rPr lang="en-US" sz="1200" b="1">
                <a:solidFill>
                  <a:schemeClr val="tx1"/>
                </a:solidFill>
                <a:ea typeface="+mn-lt"/>
                <a:cs typeface="+mn-lt"/>
              </a:rPr>
              <a:t>STAFF SPOTLIGHT: </a:t>
            </a:r>
            <a:endParaRPr lang="en-US" sz="1200">
              <a:solidFill>
                <a:schemeClr val="tx1"/>
              </a:solidFill>
            </a:endParaRPr>
          </a:p>
          <a:p>
            <a:r>
              <a:rPr lang="en-US" sz="1200">
                <a:solidFill>
                  <a:schemeClr val="tx1"/>
                </a:solidFill>
              </a:rPr>
              <a:t>Othello and/or Melinda</a:t>
            </a:r>
          </a:p>
        </p:txBody>
      </p:sp>
      <p:sp>
        <p:nvSpPr>
          <p:cNvPr id="14" name="Rectangle 13">
            <a:extLst>
              <a:ext uri="{FF2B5EF4-FFF2-40B4-BE49-F238E27FC236}">
                <a16:creationId xmlns:a16="http://schemas.microsoft.com/office/drawing/2014/main" id="{E02CD63D-6CA8-D61E-E197-1D5671EDDB28}"/>
              </a:ext>
            </a:extLst>
          </p:cNvPr>
          <p:cNvSpPr/>
          <p:nvPr/>
        </p:nvSpPr>
        <p:spPr>
          <a:xfrm>
            <a:off x="6313710" y="1822885"/>
            <a:ext cx="2452370" cy="689330"/>
          </a:xfrm>
          <a:prstGeom prst="rect">
            <a:avLst/>
          </a:prstGeom>
          <a:solidFill>
            <a:srgbClr val="0091C8"/>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chemeClr val="bg1"/>
                </a:solidFill>
              </a:rPr>
              <a:t>August</a:t>
            </a:r>
          </a:p>
          <a:p>
            <a:pPr algn="ctr"/>
            <a:r>
              <a:rPr lang="en-US" sz="1400">
                <a:solidFill>
                  <a:schemeClr val="bg1"/>
                </a:solidFill>
              </a:rPr>
              <a:t>International Youth Day </a:t>
            </a:r>
          </a:p>
        </p:txBody>
      </p:sp>
      <p:sp>
        <p:nvSpPr>
          <p:cNvPr id="15" name="Rectangle 14">
            <a:extLst>
              <a:ext uri="{FF2B5EF4-FFF2-40B4-BE49-F238E27FC236}">
                <a16:creationId xmlns:a16="http://schemas.microsoft.com/office/drawing/2014/main" id="{0BEF0249-C035-4A3C-0C7D-CAAE0645646B}"/>
              </a:ext>
            </a:extLst>
          </p:cNvPr>
          <p:cNvSpPr/>
          <p:nvPr/>
        </p:nvSpPr>
        <p:spPr>
          <a:xfrm>
            <a:off x="9081457" y="1822886"/>
            <a:ext cx="2488203" cy="6893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chemeClr val="bg1"/>
                </a:solidFill>
              </a:rPr>
              <a:t>October</a:t>
            </a:r>
          </a:p>
          <a:p>
            <a:pPr algn="ctr"/>
            <a:r>
              <a:rPr lang="en-US" sz="1400">
                <a:solidFill>
                  <a:schemeClr val="bg1"/>
                </a:solidFill>
              </a:rPr>
              <a:t>National Early Childhood Education Month</a:t>
            </a:r>
          </a:p>
        </p:txBody>
      </p:sp>
      <p:sp>
        <p:nvSpPr>
          <p:cNvPr id="17" name="Rectangle 16">
            <a:extLst>
              <a:ext uri="{FF2B5EF4-FFF2-40B4-BE49-F238E27FC236}">
                <a16:creationId xmlns:a16="http://schemas.microsoft.com/office/drawing/2014/main" id="{B83F5A2D-9F7A-E1E4-5E86-C1664A24918F}"/>
              </a:ext>
            </a:extLst>
          </p:cNvPr>
          <p:cNvSpPr/>
          <p:nvPr/>
        </p:nvSpPr>
        <p:spPr>
          <a:xfrm>
            <a:off x="9085975" y="2512215"/>
            <a:ext cx="2483686" cy="2392609"/>
          </a:xfrm>
          <a:prstGeom prst="rect">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45720" rtlCol="0" anchor="t"/>
          <a:lstStyle/>
          <a:p>
            <a:pPr>
              <a:spcAft>
                <a:spcPts val="200"/>
              </a:spcAft>
            </a:pPr>
            <a:r>
              <a:rPr lang="en-US" sz="1200" b="1">
                <a:solidFill>
                  <a:schemeClr val="tx1"/>
                </a:solidFill>
                <a:ea typeface="+mn-lt"/>
                <a:cs typeface="+mn-lt"/>
              </a:rPr>
              <a:t>MAIN CONTENT/TOPICAL INTRODUCTION: </a:t>
            </a:r>
            <a:r>
              <a:rPr lang="en-US" sz="1200">
                <a:solidFill>
                  <a:schemeClr val="tx1"/>
                </a:solidFill>
                <a:ea typeface="+mn-lt"/>
                <a:cs typeface="+mn-lt"/>
              </a:rPr>
              <a:t>Care Economy/Early Education</a:t>
            </a:r>
            <a:endParaRPr lang="en-US" sz="1200" b="1">
              <a:solidFill>
                <a:schemeClr val="tx1"/>
              </a:solidFill>
              <a:ea typeface="+mn-lt"/>
              <a:cs typeface="+mn-lt"/>
            </a:endParaRPr>
          </a:p>
          <a:p>
            <a:pPr>
              <a:spcAft>
                <a:spcPts val="200"/>
              </a:spcAft>
            </a:pPr>
            <a:endParaRPr lang="en-US" sz="1200" b="1">
              <a:solidFill>
                <a:schemeClr val="tx1"/>
              </a:solidFill>
              <a:ea typeface="+mn-lt"/>
              <a:cs typeface="+mn-lt"/>
            </a:endParaRPr>
          </a:p>
          <a:p>
            <a:pPr>
              <a:spcAft>
                <a:spcPts val="200"/>
              </a:spcAft>
            </a:pPr>
            <a:r>
              <a:rPr lang="en-US" sz="1200" b="1">
                <a:solidFill>
                  <a:schemeClr val="tx1"/>
                </a:solidFill>
                <a:ea typeface="+mn-lt"/>
                <a:cs typeface="+mn-lt"/>
              </a:rPr>
              <a:t>INVESTEE HIGHLIGHT: </a:t>
            </a:r>
          </a:p>
          <a:p>
            <a:pPr>
              <a:spcAft>
                <a:spcPts val="200"/>
              </a:spcAft>
            </a:pPr>
            <a:r>
              <a:rPr lang="en-US" sz="1200">
                <a:solidFill>
                  <a:schemeClr val="tx1"/>
                </a:solidFill>
                <a:ea typeface="+mn-lt"/>
                <a:cs typeface="+mn-lt"/>
              </a:rPr>
              <a:t>Communities In Schools?</a:t>
            </a:r>
          </a:p>
          <a:p>
            <a:pPr>
              <a:spcAft>
                <a:spcPts val="200"/>
              </a:spcAft>
            </a:pPr>
            <a:endParaRPr lang="en-US" sz="1200" b="1">
              <a:solidFill>
                <a:schemeClr val="tx1"/>
              </a:solidFill>
              <a:ea typeface="+mn-lt"/>
              <a:cs typeface="+mn-lt"/>
            </a:endParaRPr>
          </a:p>
          <a:p>
            <a:pPr>
              <a:spcAft>
                <a:spcPts val="200"/>
              </a:spcAft>
            </a:pPr>
            <a:r>
              <a:rPr lang="en-US" sz="1200" b="1">
                <a:solidFill>
                  <a:schemeClr val="tx1"/>
                </a:solidFill>
                <a:ea typeface="+mn-lt"/>
                <a:cs typeface="+mn-lt"/>
              </a:rPr>
              <a:t>STAFF SPOTLIGHT</a:t>
            </a:r>
          </a:p>
          <a:p>
            <a:r>
              <a:rPr lang="en-US" sz="1200">
                <a:solidFill>
                  <a:schemeClr val="tx1"/>
                </a:solidFill>
                <a:latin typeface="Camphor Std"/>
                <a:ea typeface="+mn-lt"/>
                <a:cs typeface="+mn-lt"/>
              </a:rPr>
              <a:t>Lizz?</a:t>
            </a:r>
            <a:endParaRPr lang="en-US" sz="1000">
              <a:solidFill>
                <a:schemeClr val="tx1"/>
              </a:solidFill>
              <a:ea typeface="+mn-lt"/>
              <a:cs typeface="+mn-lt"/>
            </a:endParaRPr>
          </a:p>
        </p:txBody>
      </p:sp>
      <p:sp>
        <p:nvSpPr>
          <p:cNvPr id="10" name="Rectangle 9">
            <a:extLst>
              <a:ext uri="{FF2B5EF4-FFF2-40B4-BE49-F238E27FC236}">
                <a16:creationId xmlns:a16="http://schemas.microsoft.com/office/drawing/2014/main" id="{F15D475E-7F06-969E-5F5D-D024A7E179C9}"/>
              </a:ext>
            </a:extLst>
          </p:cNvPr>
          <p:cNvSpPr/>
          <p:nvPr/>
        </p:nvSpPr>
        <p:spPr>
          <a:xfrm>
            <a:off x="419345" y="5036854"/>
            <a:ext cx="2449936" cy="799553"/>
          </a:xfrm>
          <a:prstGeom prst="rect">
            <a:avLst/>
          </a:prstGeom>
          <a:solidFill>
            <a:schemeClr val="bg1">
              <a:lumMod val="8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u="sng">
                <a:solidFill>
                  <a:schemeClr val="tx1"/>
                </a:solidFill>
              </a:rPr>
              <a:t>Voices:</a:t>
            </a:r>
            <a:r>
              <a:rPr lang="en-US" sz="1200">
                <a:solidFill>
                  <a:schemeClr val="tx1"/>
                </a:solidFill>
              </a:rPr>
              <a:t> 1:1 Chat </a:t>
            </a:r>
          </a:p>
          <a:p>
            <a:pPr algn="ctr"/>
            <a:r>
              <a:rPr lang="en-US" sz="1200">
                <a:solidFill>
                  <a:schemeClr val="tx1"/>
                </a:solidFill>
              </a:rPr>
              <a:t>– Bill and Allana</a:t>
            </a:r>
          </a:p>
        </p:txBody>
      </p:sp>
      <p:sp>
        <p:nvSpPr>
          <p:cNvPr id="6" name="TextBox 5">
            <a:extLst>
              <a:ext uri="{FF2B5EF4-FFF2-40B4-BE49-F238E27FC236}">
                <a16:creationId xmlns:a16="http://schemas.microsoft.com/office/drawing/2014/main" id="{CABCE2FA-8415-31DD-4866-05A9940BB70D}"/>
              </a:ext>
            </a:extLst>
          </p:cNvPr>
          <p:cNvSpPr txBox="1"/>
          <p:nvPr/>
        </p:nvSpPr>
        <p:spPr>
          <a:xfrm>
            <a:off x="416039" y="5880512"/>
            <a:ext cx="1113786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*Specific investee stories to be developed in partnership with relevant portfolio members</a:t>
            </a:r>
          </a:p>
        </p:txBody>
      </p:sp>
      <p:sp>
        <p:nvSpPr>
          <p:cNvPr id="3" name="Rectangle 2">
            <a:extLst>
              <a:ext uri="{FF2B5EF4-FFF2-40B4-BE49-F238E27FC236}">
                <a16:creationId xmlns:a16="http://schemas.microsoft.com/office/drawing/2014/main" id="{4D95939F-50E2-0C2B-4448-6FFC0A2F1B8D}"/>
              </a:ext>
            </a:extLst>
          </p:cNvPr>
          <p:cNvSpPr/>
          <p:nvPr/>
        </p:nvSpPr>
        <p:spPr>
          <a:xfrm>
            <a:off x="3486160" y="5036854"/>
            <a:ext cx="2487565" cy="799553"/>
          </a:xfrm>
          <a:prstGeom prst="rect">
            <a:avLst/>
          </a:prstGeom>
          <a:solidFill>
            <a:schemeClr val="bg1">
              <a:lumMod val="8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u="sng">
                <a:solidFill>
                  <a:schemeClr val="tx1"/>
                </a:solidFill>
              </a:rPr>
              <a:t>Voices: </a:t>
            </a:r>
            <a:r>
              <a:rPr lang="en-US" sz="1200">
                <a:solidFill>
                  <a:schemeClr val="tx1"/>
                </a:solidFill>
              </a:rPr>
              <a:t>Op-Ed or Q&amp;A Spencer Kympton</a:t>
            </a:r>
          </a:p>
        </p:txBody>
      </p:sp>
      <p:sp>
        <p:nvSpPr>
          <p:cNvPr id="16" name="Rectangle 15">
            <a:extLst>
              <a:ext uri="{FF2B5EF4-FFF2-40B4-BE49-F238E27FC236}">
                <a16:creationId xmlns:a16="http://schemas.microsoft.com/office/drawing/2014/main" id="{D69AF909-8685-105B-59B6-84F02A4A5676}"/>
              </a:ext>
            </a:extLst>
          </p:cNvPr>
          <p:cNvSpPr/>
          <p:nvPr/>
        </p:nvSpPr>
        <p:spPr>
          <a:xfrm>
            <a:off x="6311421" y="5036853"/>
            <a:ext cx="2487565" cy="799553"/>
          </a:xfrm>
          <a:prstGeom prst="rect">
            <a:avLst/>
          </a:prstGeom>
          <a:solidFill>
            <a:schemeClr val="bg1">
              <a:lumMod val="8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200" b="1" u="sng">
                <a:solidFill>
                  <a:schemeClr val="tx1"/>
                </a:solidFill>
              </a:rPr>
              <a:t>Voices:</a:t>
            </a:r>
            <a:r>
              <a:rPr lang="en-US" sz="1200">
                <a:solidFill>
                  <a:schemeClr val="tx1"/>
                </a:solidFill>
              </a:rPr>
              <a:t> Write-in Answers – Melinda &amp; Othello</a:t>
            </a:r>
          </a:p>
        </p:txBody>
      </p:sp>
      <p:sp>
        <p:nvSpPr>
          <p:cNvPr id="18" name="Rectangle 17">
            <a:extLst>
              <a:ext uri="{FF2B5EF4-FFF2-40B4-BE49-F238E27FC236}">
                <a16:creationId xmlns:a16="http://schemas.microsoft.com/office/drawing/2014/main" id="{61869350-A7EA-C083-6AAC-65A9DBBD6B28}"/>
              </a:ext>
            </a:extLst>
          </p:cNvPr>
          <p:cNvSpPr/>
          <p:nvPr/>
        </p:nvSpPr>
        <p:spPr>
          <a:xfrm>
            <a:off x="9066343" y="5036852"/>
            <a:ext cx="2487565" cy="799553"/>
          </a:xfrm>
          <a:prstGeom prst="rect">
            <a:avLst/>
          </a:prstGeom>
          <a:solidFill>
            <a:schemeClr val="bg1">
              <a:lumMod val="8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200" b="1" u="sng">
                <a:solidFill>
                  <a:schemeClr val="tx1"/>
                </a:solidFill>
              </a:rPr>
              <a:t>Voices: </a:t>
            </a:r>
            <a:r>
              <a:rPr lang="en-US" sz="1200">
                <a:solidFill>
                  <a:schemeClr val="tx1"/>
                </a:solidFill>
              </a:rPr>
              <a:t> 1:1 Chat – Micah Carr and Lizz Pawlson?</a:t>
            </a:r>
          </a:p>
        </p:txBody>
      </p:sp>
      <p:sp>
        <p:nvSpPr>
          <p:cNvPr id="19" name="Rectangle 18">
            <a:extLst>
              <a:ext uri="{FF2B5EF4-FFF2-40B4-BE49-F238E27FC236}">
                <a16:creationId xmlns:a16="http://schemas.microsoft.com/office/drawing/2014/main" id="{C6537973-5848-F31C-04FB-3A41C90367CD}"/>
              </a:ext>
            </a:extLst>
          </p:cNvPr>
          <p:cNvSpPr/>
          <p:nvPr/>
        </p:nvSpPr>
        <p:spPr>
          <a:xfrm>
            <a:off x="8631936" y="1688"/>
            <a:ext cx="3560064" cy="56523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CONTINUE &amp; ENHANCE</a:t>
            </a:r>
          </a:p>
        </p:txBody>
      </p:sp>
      <p:sp>
        <p:nvSpPr>
          <p:cNvPr id="20" name="Text Placeholder 3">
            <a:extLst>
              <a:ext uri="{FF2B5EF4-FFF2-40B4-BE49-F238E27FC236}">
                <a16:creationId xmlns:a16="http://schemas.microsoft.com/office/drawing/2014/main" id="{4BC19F67-54E0-74B9-5DA8-5BCCBC1D970C}"/>
              </a:ext>
            </a:extLst>
          </p:cNvPr>
          <p:cNvSpPr txBox="1">
            <a:spLocks/>
          </p:cNvSpPr>
          <p:nvPr/>
        </p:nvSpPr>
        <p:spPr>
          <a:xfrm>
            <a:off x="416039" y="930501"/>
            <a:ext cx="11481794" cy="790621"/>
          </a:xfrm>
          <a:prstGeom prst="rect">
            <a:avLst/>
          </a:prstGeom>
        </p:spPr>
        <p:txBody>
          <a:bodyPr vert="horz" lIns="91440" tIns="45720" rIns="91440" bIns="45720" rtlCol="0" anchor="ctr">
            <a:noAutofit/>
          </a:bodyPr>
          <a:lstStyle>
            <a:defPPr>
              <a:defRPr lang="en-US"/>
            </a:defPPr>
            <a:lvl1pPr marL="0" algn="r" defTabSz="457200" rtl="0" eaLnBrk="1" latinLnBrk="0" hangingPunct="1">
              <a:defRPr sz="1200" kern="1200">
                <a:solidFill>
                  <a:schemeClr val="bg1"/>
                </a:solidFill>
                <a:latin typeface="Camphor Std" panose="020B0504030404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2000">
                <a:solidFill>
                  <a:schemeClr val="accent1"/>
                </a:solidFill>
              </a:rPr>
              <a:t>Four, bi-monthly issues planned for 2025 linked to a theme. We will introduce standing sections - highlighting investees and a BMP leader. The main content is inspired by a part of the Comp. Frame. </a:t>
            </a:r>
          </a:p>
        </p:txBody>
      </p:sp>
      <p:sp>
        <p:nvSpPr>
          <p:cNvPr id="4" name="Star: 5 Points 3">
            <a:extLst>
              <a:ext uri="{FF2B5EF4-FFF2-40B4-BE49-F238E27FC236}">
                <a16:creationId xmlns:a16="http://schemas.microsoft.com/office/drawing/2014/main" id="{538B555E-0623-03A0-F295-A0A31D04E4A6}"/>
              </a:ext>
            </a:extLst>
          </p:cNvPr>
          <p:cNvSpPr/>
          <p:nvPr/>
        </p:nvSpPr>
        <p:spPr>
          <a:xfrm>
            <a:off x="11333480" y="6268046"/>
            <a:ext cx="575355" cy="541095"/>
          </a:xfrm>
          <a:prstGeom prst="star5">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92765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65131-9E06-90B0-40EF-226ACCB8D4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30F3E-3E99-B352-DE8A-327E26C6C6AA}"/>
              </a:ext>
            </a:extLst>
          </p:cNvPr>
          <p:cNvSpPr>
            <a:spLocks noGrp="1"/>
          </p:cNvSpPr>
          <p:nvPr>
            <p:ph type="title"/>
          </p:nvPr>
        </p:nvSpPr>
        <p:spPr>
          <a:xfrm>
            <a:off x="416039" y="135319"/>
            <a:ext cx="10515600" cy="756917"/>
          </a:xfrm>
        </p:spPr>
        <p:txBody>
          <a:bodyPr/>
          <a:lstStyle/>
          <a:p>
            <a:r>
              <a:rPr lang="en-US" sz="4000">
                <a:latin typeface="LeMonde Livre"/>
              </a:rPr>
              <a:t>Corporate Newsletter: 2025 Outlook </a:t>
            </a:r>
          </a:p>
        </p:txBody>
      </p:sp>
      <p:sp>
        <p:nvSpPr>
          <p:cNvPr id="20" name="Text Placeholder 3">
            <a:extLst>
              <a:ext uri="{FF2B5EF4-FFF2-40B4-BE49-F238E27FC236}">
                <a16:creationId xmlns:a16="http://schemas.microsoft.com/office/drawing/2014/main" id="{5C29B1FC-9AF6-7419-A909-171F3F5B7A55}"/>
              </a:ext>
            </a:extLst>
          </p:cNvPr>
          <p:cNvSpPr txBox="1">
            <a:spLocks/>
          </p:cNvSpPr>
          <p:nvPr/>
        </p:nvSpPr>
        <p:spPr>
          <a:xfrm>
            <a:off x="416039" y="890917"/>
            <a:ext cx="11481794" cy="790621"/>
          </a:xfrm>
          <a:prstGeom prst="rect">
            <a:avLst/>
          </a:prstGeom>
        </p:spPr>
        <p:txBody>
          <a:bodyPr vert="horz" lIns="91440" tIns="45720" rIns="91440" bIns="45720" rtlCol="0" anchor="ctr">
            <a:noAutofit/>
          </a:bodyPr>
          <a:lstStyle>
            <a:defPPr>
              <a:defRPr lang="en-US"/>
            </a:defPPr>
            <a:lvl1pPr marL="0" algn="r" defTabSz="457200" rtl="0" eaLnBrk="1" latinLnBrk="0" hangingPunct="1">
              <a:defRPr sz="1200" kern="1200">
                <a:solidFill>
                  <a:schemeClr val="bg1"/>
                </a:solidFill>
                <a:latin typeface="Camphor Std" panose="020B0504030404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2000">
                <a:solidFill>
                  <a:schemeClr val="accent1"/>
                </a:solidFill>
                <a:latin typeface="Camphor Std"/>
              </a:rPr>
              <a:t>Four issues planned for 2025, starting bi-monthly in April. Each issue will have three standing sections with the main content as the anchor. </a:t>
            </a:r>
          </a:p>
        </p:txBody>
      </p:sp>
      <p:graphicFrame>
        <p:nvGraphicFramePr>
          <p:cNvPr id="3" name="Table 2">
            <a:extLst>
              <a:ext uri="{FF2B5EF4-FFF2-40B4-BE49-F238E27FC236}">
                <a16:creationId xmlns:a16="http://schemas.microsoft.com/office/drawing/2014/main" id="{B1D1EA72-FEE7-9CAC-32C0-AE452573AD53}"/>
              </a:ext>
            </a:extLst>
          </p:cNvPr>
          <p:cNvGraphicFramePr>
            <a:graphicFrameLocks noGrp="1"/>
          </p:cNvGraphicFramePr>
          <p:nvPr/>
        </p:nvGraphicFramePr>
        <p:xfrm>
          <a:off x="543030" y="2366331"/>
          <a:ext cx="3645786" cy="3594549"/>
        </p:xfrm>
        <a:graphic>
          <a:graphicData uri="http://schemas.openxmlformats.org/drawingml/2006/table">
            <a:tbl>
              <a:tblPr firstRow="1" bandRow="1">
                <a:tableStyleId>{BC89EF96-8CEA-46FF-86C4-4CE0E7609802}</a:tableStyleId>
              </a:tblPr>
              <a:tblGrid>
                <a:gridCol w="1215262">
                  <a:extLst>
                    <a:ext uri="{9D8B030D-6E8A-4147-A177-3AD203B41FA5}">
                      <a16:colId xmlns:a16="http://schemas.microsoft.com/office/drawing/2014/main" val="1723040562"/>
                    </a:ext>
                  </a:extLst>
                </a:gridCol>
                <a:gridCol w="1215262">
                  <a:extLst>
                    <a:ext uri="{9D8B030D-6E8A-4147-A177-3AD203B41FA5}">
                      <a16:colId xmlns:a16="http://schemas.microsoft.com/office/drawing/2014/main" val="87500882"/>
                    </a:ext>
                  </a:extLst>
                </a:gridCol>
                <a:gridCol w="1215262">
                  <a:extLst>
                    <a:ext uri="{9D8B030D-6E8A-4147-A177-3AD203B41FA5}">
                      <a16:colId xmlns:a16="http://schemas.microsoft.com/office/drawing/2014/main" val="1039055332"/>
                    </a:ext>
                  </a:extLst>
                </a:gridCol>
              </a:tblGrid>
              <a:tr h="327672">
                <a:tc>
                  <a:txBody>
                    <a:bodyPr/>
                    <a:lstStyle/>
                    <a:p>
                      <a:pPr algn="ctr"/>
                      <a:r>
                        <a:rPr lang="en-US" sz="1400"/>
                        <a:t>JAN</a:t>
                      </a:r>
                    </a:p>
                  </a:txBody>
                  <a:tcPr/>
                </a:tc>
                <a:tc>
                  <a:txBody>
                    <a:bodyPr/>
                    <a:lstStyle/>
                    <a:p>
                      <a:pPr algn="ctr"/>
                      <a:r>
                        <a:rPr lang="en-US" sz="1400"/>
                        <a:t>FEB</a:t>
                      </a:r>
                    </a:p>
                  </a:txBody>
                  <a:tcPr/>
                </a:tc>
                <a:tc>
                  <a:txBody>
                    <a:bodyPr/>
                    <a:lstStyle/>
                    <a:p>
                      <a:pPr algn="ctr"/>
                      <a:r>
                        <a:rPr lang="en-US" sz="1400"/>
                        <a:t>MAR</a:t>
                      </a:r>
                    </a:p>
                  </a:txBody>
                  <a:tcPr/>
                </a:tc>
                <a:extLst>
                  <a:ext uri="{0D108BD9-81ED-4DB2-BD59-A6C34878D82A}">
                    <a16:rowId xmlns:a16="http://schemas.microsoft.com/office/drawing/2014/main" val="2919307913"/>
                  </a:ext>
                </a:extLst>
              </a:tr>
              <a:tr h="557911">
                <a:tc>
                  <a:txBody>
                    <a:bodyPr/>
                    <a:lstStyle/>
                    <a:p>
                      <a:pPr algn="ctr"/>
                      <a:endParaRPr lang="en-US" sz="1400"/>
                    </a:p>
                  </a:txBody>
                  <a:tcPr>
                    <a:solidFill>
                      <a:schemeClr val="accent6">
                        <a:lumMod val="60000"/>
                        <a:lumOff val="40000"/>
                        <a:alpha val="20000"/>
                      </a:schemeClr>
                    </a:solidFill>
                  </a:tcPr>
                </a:tc>
                <a:tc>
                  <a:txBody>
                    <a:bodyPr/>
                    <a:lstStyle/>
                    <a:p>
                      <a:pPr algn="ctr"/>
                      <a:endParaRPr lang="en-US" sz="1400"/>
                    </a:p>
                  </a:txBody>
                  <a:tcPr>
                    <a:solidFill>
                      <a:schemeClr val="accent6">
                        <a:lumMod val="60000"/>
                        <a:lumOff val="40000"/>
                        <a:alpha val="20000"/>
                      </a:schemeClr>
                    </a:solidFill>
                  </a:tcPr>
                </a:tc>
                <a:tc>
                  <a:txBody>
                    <a:bodyPr/>
                    <a:lstStyle/>
                    <a:p>
                      <a:pPr algn="ctr"/>
                      <a:endParaRPr lang="en-US" sz="1400"/>
                    </a:p>
                  </a:txBody>
                  <a:tcPr>
                    <a:solidFill>
                      <a:schemeClr val="accent6">
                        <a:lumMod val="60000"/>
                        <a:lumOff val="40000"/>
                        <a:alpha val="20000"/>
                      </a:schemeClr>
                    </a:solidFill>
                  </a:tcPr>
                </a:tc>
                <a:extLst>
                  <a:ext uri="{0D108BD9-81ED-4DB2-BD59-A6C34878D82A}">
                    <a16:rowId xmlns:a16="http://schemas.microsoft.com/office/drawing/2014/main" val="3646035017"/>
                  </a:ext>
                </a:extLst>
              </a:tr>
              <a:tr h="318401">
                <a:tc>
                  <a:txBody>
                    <a:bodyPr/>
                    <a:lstStyle/>
                    <a:p>
                      <a:pPr algn="ctr"/>
                      <a:r>
                        <a:rPr lang="en-US" sz="1400" b="1"/>
                        <a:t>APR</a:t>
                      </a:r>
                    </a:p>
                  </a:txBody>
                  <a:tcPr/>
                </a:tc>
                <a:tc>
                  <a:txBody>
                    <a:bodyPr/>
                    <a:lstStyle/>
                    <a:p>
                      <a:pPr algn="ctr"/>
                      <a:r>
                        <a:rPr lang="en-US" sz="1400" b="1"/>
                        <a:t>MAY</a:t>
                      </a:r>
                    </a:p>
                  </a:txBody>
                  <a:tcPr/>
                </a:tc>
                <a:tc>
                  <a:txBody>
                    <a:bodyPr/>
                    <a:lstStyle/>
                    <a:p>
                      <a:pPr algn="ctr"/>
                      <a:r>
                        <a:rPr lang="en-US" sz="1400" b="1"/>
                        <a:t>JUN</a:t>
                      </a:r>
                    </a:p>
                  </a:txBody>
                  <a:tcPr/>
                </a:tc>
                <a:extLst>
                  <a:ext uri="{0D108BD9-81ED-4DB2-BD59-A6C34878D82A}">
                    <a16:rowId xmlns:a16="http://schemas.microsoft.com/office/drawing/2014/main" val="316819015"/>
                  </a:ext>
                </a:extLst>
              </a:tr>
              <a:tr h="557911">
                <a:tc>
                  <a:txBody>
                    <a:bodyPr/>
                    <a:lstStyle/>
                    <a:p>
                      <a:pPr algn="ctr"/>
                      <a:endParaRPr lang="en-US" sz="1400" b="1"/>
                    </a:p>
                  </a:txBody>
                  <a:tcPr/>
                </a:tc>
                <a:tc>
                  <a:txBody>
                    <a:bodyPr/>
                    <a:lstStyle/>
                    <a:p>
                      <a:pPr algn="ctr"/>
                      <a:endParaRPr lang="en-US" sz="1400" b="1"/>
                    </a:p>
                  </a:txBody>
                  <a:tcPr/>
                </a:tc>
                <a:tc>
                  <a:txBody>
                    <a:bodyPr/>
                    <a:lstStyle/>
                    <a:p>
                      <a:pPr algn="ctr"/>
                      <a:endParaRPr lang="en-US" sz="1400" b="1"/>
                    </a:p>
                  </a:txBody>
                  <a:tcPr/>
                </a:tc>
                <a:extLst>
                  <a:ext uri="{0D108BD9-81ED-4DB2-BD59-A6C34878D82A}">
                    <a16:rowId xmlns:a16="http://schemas.microsoft.com/office/drawing/2014/main" val="1085922033"/>
                  </a:ext>
                </a:extLst>
              </a:tr>
              <a:tr h="362293">
                <a:tc>
                  <a:txBody>
                    <a:bodyPr/>
                    <a:lstStyle/>
                    <a:p>
                      <a:pPr algn="ctr"/>
                      <a:r>
                        <a:rPr lang="en-US" sz="1400" b="1"/>
                        <a:t>JUL</a:t>
                      </a:r>
                    </a:p>
                  </a:txBody>
                  <a:tcPr/>
                </a:tc>
                <a:tc>
                  <a:txBody>
                    <a:bodyPr/>
                    <a:lstStyle/>
                    <a:p>
                      <a:pPr algn="ctr"/>
                      <a:r>
                        <a:rPr lang="en-US" sz="1400" b="1"/>
                        <a:t>AUG</a:t>
                      </a:r>
                    </a:p>
                  </a:txBody>
                  <a:tcPr/>
                </a:tc>
                <a:tc>
                  <a:txBody>
                    <a:bodyPr/>
                    <a:lstStyle/>
                    <a:p>
                      <a:pPr algn="ctr"/>
                      <a:r>
                        <a:rPr lang="en-US" sz="1400" b="1"/>
                        <a:t>SEPT</a:t>
                      </a:r>
                    </a:p>
                  </a:txBody>
                  <a:tcPr/>
                </a:tc>
                <a:extLst>
                  <a:ext uri="{0D108BD9-81ED-4DB2-BD59-A6C34878D82A}">
                    <a16:rowId xmlns:a16="http://schemas.microsoft.com/office/drawing/2014/main" val="775023957"/>
                  </a:ext>
                </a:extLst>
              </a:tr>
              <a:tr h="557911">
                <a:tc>
                  <a:txBody>
                    <a:bodyPr/>
                    <a:lstStyle/>
                    <a:p>
                      <a:pPr algn="ctr"/>
                      <a:endParaRPr lang="en-US" sz="1400" b="1"/>
                    </a:p>
                  </a:txBody>
                  <a:tcPr/>
                </a:tc>
                <a:tc>
                  <a:txBody>
                    <a:bodyPr/>
                    <a:lstStyle/>
                    <a:p>
                      <a:pPr algn="ctr"/>
                      <a:endParaRPr lang="en-US" sz="1400" b="1"/>
                    </a:p>
                  </a:txBody>
                  <a:tcPr/>
                </a:tc>
                <a:tc>
                  <a:txBody>
                    <a:bodyPr/>
                    <a:lstStyle/>
                    <a:p>
                      <a:pPr algn="ctr"/>
                      <a:endParaRPr lang="en-US" sz="1400" b="1"/>
                    </a:p>
                  </a:txBody>
                  <a:tcPr/>
                </a:tc>
                <a:extLst>
                  <a:ext uri="{0D108BD9-81ED-4DB2-BD59-A6C34878D82A}">
                    <a16:rowId xmlns:a16="http://schemas.microsoft.com/office/drawing/2014/main" val="3490476998"/>
                  </a:ext>
                </a:extLst>
              </a:tr>
              <a:tr h="354539">
                <a:tc>
                  <a:txBody>
                    <a:bodyPr/>
                    <a:lstStyle/>
                    <a:p>
                      <a:pPr algn="ctr"/>
                      <a:r>
                        <a:rPr lang="en-US" sz="1400" b="1"/>
                        <a:t>OCT</a:t>
                      </a:r>
                    </a:p>
                  </a:txBody>
                  <a:tcPr/>
                </a:tc>
                <a:tc>
                  <a:txBody>
                    <a:bodyPr/>
                    <a:lstStyle/>
                    <a:p>
                      <a:pPr algn="ctr"/>
                      <a:r>
                        <a:rPr lang="en-US" sz="1400" b="1"/>
                        <a:t>NOV</a:t>
                      </a:r>
                    </a:p>
                  </a:txBody>
                  <a:tcPr/>
                </a:tc>
                <a:tc>
                  <a:txBody>
                    <a:bodyPr/>
                    <a:lstStyle/>
                    <a:p>
                      <a:pPr algn="ctr"/>
                      <a:r>
                        <a:rPr lang="en-US" sz="1400" b="1"/>
                        <a:t>DEC</a:t>
                      </a:r>
                    </a:p>
                  </a:txBody>
                  <a:tcPr/>
                </a:tc>
                <a:extLst>
                  <a:ext uri="{0D108BD9-81ED-4DB2-BD59-A6C34878D82A}">
                    <a16:rowId xmlns:a16="http://schemas.microsoft.com/office/drawing/2014/main" val="2087542933"/>
                  </a:ext>
                </a:extLst>
              </a:tr>
              <a:tr h="557911">
                <a:tc>
                  <a:txBody>
                    <a:bodyPr/>
                    <a:lstStyle/>
                    <a:p>
                      <a:pPr algn="ctr"/>
                      <a:endParaRPr lang="en-US" sz="1400" b="1"/>
                    </a:p>
                  </a:txBody>
                  <a:tcPr/>
                </a:tc>
                <a:tc>
                  <a:txBody>
                    <a:bodyPr/>
                    <a:lstStyle/>
                    <a:p>
                      <a:pPr algn="ctr"/>
                      <a:endParaRPr lang="en-US" sz="1400" b="1"/>
                    </a:p>
                  </a:txBody>
                  <a:tcPr/>
                </a:tc>
                <a:tc>
                  <a:txBody>
                    <a:bodyPr/>
                    <a:lstStyle/>
                    <a:p>
                      <a:pPr algn="ctr"/>
                      <a:endParaRPr lang="en-US" sz="1400" b="1"/>
                    </a:p>
                  </a:txBody>
                  <a:tcPr/>
                </a:tc>
                <a:extLst>
                  <a:ext uri="{0D108BD9-81ED-4DB2-BD59-A6C34878D82A}">
                    <a16:rowId xmlns:a16="http://schemas.microsoft.com/office/drawing/2014/main" val="633561637"/>
                  </a:ext>
                </a:extLst>
              </a:tr>
            </a:tbl>
          </a:graphicData>
        </a:graphic>
      </p:graphicFrame>
      <p:sp>
        <p:nvSpPr>
          <p:cNvPr id="5" name="Oval 4">
            <a:extLst>
              <a:ext uri="{FF2B5EF4-FFF2-40B4-BE49-F238E27FC236}">
                <a16:creationId xmlns:a16="http://schemas.microsoft.com/office/drawing/2014/main" id="{00DAA72D-F6E0-3F4B-AD83-D797D5284473}"/>
              </a:ext>
            </a:extLst>
          </p:cNvPr>
          <p:cNvSpPr/>
          <p:nvPr/>
        </p:nvSpPr>
        <p:spPr>
          <a:xfrm>
            <a:off x="1576457" y="3653919"/>
            <a:ext cx="350896" cy="329616"/>
          </a:xfrm>
          <a:prstGeom prst="ellips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6485B66-1EE3-AC51-7453-B40AE66BBECB}"/>
              </a:ext>
            </a:extLst>
          </p:cNvPr>
          <p:cNvSpPr/>
          <p:nvPr/>
        </p:nvSpPr>
        <p:spPr>
          <a:xfrm>
            <a:off x="3419065" y="3651529"/>
            <a:ext cx="350896" cy="329616"/>
          </a:xfrm>
          <a:prstGeom prst="ellips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255CD8B-6C81-C008-BC28-2FAF8E054C9B}"/>
              </a:ext>
            </a:extLst>
          </p:cNvPr>
          <p:cNvSpPr/>
          <p:nvPr/>
        </p:nvSpPr>
        <p:spPr>
          <a:xfrm>
            <a:off x="2203609" y="4598685"/>
            <a:ext cx="350896" cy="329616"/>
          </a:xfrm>
          <a:prstGeom prst="ellips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60FC13F-2036-AA75-46B0-6B3F1FABBF01}"/>
              </a:ext>
            </a:extLst>
          </p:cNvPr>
          <p:cNvSpPr/>
          <p:nvPr/>
        </p:nvSpPr>
        <p:spPr>
          <a:xfrm>
            <a:off x="539611" y="1682752"/>
            <a:ext cx="3678893" cy="5635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Timing/Cadence</a:t>
            </a:r>
          </a:p>
        </p:txBody>
      </p:sp>
      <p:sp>
        <p:nvSpPr>
          <p:cNvPr id="14" name="Rectangle 13">
            <a:extLst>
              <a:ext uri="{FF2B5EF4-FFF2-40B4-BE49-F238E27FC236}">
                <a16:creationId xmlns:a16="http://schemas.microsoft.com/office/drawing/2014/main" id="{8BB9B257-484D-D38E-5C3B-ABE24E6A2DED}"/>
              </a:ext>
            </a:extLst>
          </p:cNvPr>
          <p:cNvSpPr/>
          <p:nvPr/>
        </p:nvSpPr>
        <p:spPr>
          <a:xfrm>
            <a:off x="5340620" y="1653064"/>
            <a:ext cx="6109172" cy="6229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Newsletter Sections (internal shorthand)</a:t>
            </a:r>
          </a:p>
        </p:txBody>
      </p:sp>
      <p:sp>
        <p:nvSpPr>
          <p:cNvPr id="16" name="Oval 15">
            <a:extLst>
              <a:ext uri="{FF2B5EF4-FFF2-40B4-BE49-F238E27FC236}">
                <a16:creationId xmlns:a16="http://schemas.microsoft.com/office/drawing/2014/main" id="{0798C9A6-B899-C650-BDCB-57109C5817C1}"/>
              </a:ext>
            </a:extLst>
          </p:cNvPr>
          <p:cNvSpPr/>
          <p:nvPr/>
        </p:nvSpPr>
        <p:spPr>
          <a:xfrm>
            <a:off x="2820333" y="5509127"/>
            <a:ext cx="350896" cy="329616"/>
          </a:xfrm>
          <a:prstGeom prst="ellipse">
            <a:avLst/>
          </a:prstGeom>
          <a:solidFill>
            <a:srgbClr val="ABFFC9"/>
          </a:solidFill>
          <a:ln w="19050">
            <a:solidFill>
              <a:schemeClr val="accent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2A3D8039-F725-E615-76E7-A81DBD146A13}"/>
              </a:ext>
            </a:extLst>
          </p:cNvPr>
          <p:cNvSpPr txBox="1"/>
          <p:nvPr/>
        </p:nvSpPr>
        <p:spPr>
          <a:xfrm>
            <a:off x="3168497" y="2841426"/>
            <a:ext cx="500458" cy="307777"/>
          </a:xfrm>
          <a:prstGeom prst="rect">
            <a:avLst/>
          </a:prstGeom>
          <a:noFill/>
        </p:spPr>
        <p:txBody>
          <a:bodyPr wrap="none" rtlCol="0">
            <a:spAutoFit/>
          </a:bodyPr>
          <a:lstStyle/>
          <a:p>
            <a:r>
              <a:rPr lang="en-US" sz="1400">
                <a:solidFill>
                  <a:schemeClr val="accent6"/>
                </a:solidFill>
              </a:rPr>
              <a:t>N/A</a:t>
            </a:r>
          </a:p>
        </p:txBody>
      </p:sp>
      <p:sp>
        <p:nvSpPr>
          <p:cNvPr id="18" name="TextBox 17">
            <a:extLst>
              <a:ext uri="{FF2B5EF4-FFF2-40B4-BE49-F238E27FC236}">
                <a16:creationId xmlns:a16="http://schemas.microsoft.com/office/drawing/2014/main" id="{40661716-A16D-2069-77A4-E9E2B2CB0BD2}"/>
              </a:ext>
            </a:extLst>
          </p:cNvPr>
          <p:cNvSpPr txBox="1"/>
          <p:nvPr/>
        </p:nvSpPr>
        <p:spPr>
          <a:xfrm>
            <a:off x="1949300" y="2834334"/>
            <a:ext cx="500458" cy="307777"/>
          </a:xfrm>
          <a:prstGeom prst="rect">
            <a:avLst/>
          </a:prstGeom>
          <a:noFill/>
        </p:spPr>
        <p:txBody>
          <a:bodyPr wrap="none" rtlCol="0">
            <a:spAutoFit/>
          </a:bodyPr>
          <a:lstStyle/>
          <a:p>
            <a:r>
              <a:rPr lang="en-US" sz="1400">
                <a:solidFill>
                  <a:schemeClr val="accent6"/>
                </a:solidFill>
              </a:rPr>
              <a:t>N/A</a:t>
            </a:r>
          </a:p>
        </p:txBody>
      </p:sp>
      <p:sp>
        <p:nvSpPr>
          <p:cNvPr id="21" name="TextBox 20">
            <a:extLst>
              <a:ext uri="{FF2B5EF4-FFF2-40B4-BE49-F238E27FC236}">
                <a16:creationId xmlns:a16="http://schemas.microsoft.com/office/drawing/2014/main" id="{2E5BEAA8-9CEF-9218-9900-DD39926DF412}"/>
              </a:ext>
            </a:extLst>
          </p:cNvPr>
          <p:cNvSpPr txBox="1"/>
          <p:nvPr/>
        </p:nvSpPr>
        <p:spPr>
          <a:xfrm>
            <a:off x="740732" y="2848508"/>
            <a:ext cx="500458" cy="307777"/>
          </a:xfrm>
          <a:prstGeom prst="rect">
            <a:avLst/>
          </a:prstGeom>
          <a:noFill/>
        </p:spPr>
        <p:txBody>
          <a:bodyPr wrap="none" rtlCol="0">
            <a:spAutoFit/>
          </a:bodyPr>
          <a:lstStyle/>
          <a:p>
            <a:r>
              <a:rPr lang="en-US" sz="1400">
                <a:solidFill>
                  <a:schemeClr val="accent6"/>
                </a:solidFill>
              </a:rPr>
              <a:t>N/A</a:t>
            </a:r>
          </a:p>
        </p:txBody>
      </p:sp>
      <p:sp>
        <p:nvSpPr>
          <p:cNvPr id="22" name="TextBox 21">
            <a:extLst>
              <a:ext uri="{FF2B5EF4-FFF2-40B4-BE49-F238E27FC236}">
                <a16:creationId xmlns:a16="http://schemas.microsoft.com/office/drawing/2014/main" id="{6FA1D053-7A21-B243-8797-AD9AB42A8027}"/>
              </a:ext>
            </a:extLst>
          </p:cNvPr>
          <p:cNvSpPr txBox="1"/>
          <p:nvPr/>
        </p:nvSpPr>
        <p:spPr>
          <a:xfrm>
            <a:off x="5340621" y="2275636"/>
            <a:ext cx="6110647" cy="3985706"/>
          </a:xfrm>
          <a:prstGeom prst="rect">
            <a:avLst/>
          </a:prstGeom>
          <a:noFill/>
        </p:spPr>
        <p:txBody>
          <a:bodyPr wrap="square" lIns="91440" tIns="45720" rIns="91440" bIns="45720" rtlCol="0" anchor="t">
            <a:spAutoFit/>
          </a:bodyPr>
          <a:lstStyle/>
          <a:p>
            <a:pPr marL="285750" indent="-285750">
              <a:spcBef>
                <a:spcPts val="600"/>
              </a:spcBef>
              <a:buClr>
                <a:srgbClr val="0091C8"/>
              </a:buClr>
              <a:buFont typeface="Arial" panose="020B0604020202020204" pitchFamily="34" charset="0"/>
              <a:buChar char="•"/>
            </a:pPr>
            <a:r>
              <a:rPr lang="en-US"/>
              <a:t>Main topic </a:t>
            </a:r>
            <a:r>
              <a:rPr lang="en-US" i="1"/>
              <a:t>(existing)</a:t>
            </a:r>
          </a:p>
          <a:p>
            <a:pPr marL="800100" lvl="1" indent="-342900">
              <a:spcBef>
                <a:spcPts val="600"/>
              </a:spcBef>
              <a:buClr>
                <a:srgbClr val="0091C8"/>
              </a:buClr>
              <a:buFont typeface="Courier New" panose="02070309020205020404" pitchFamily="49" charset="0"/>
              <a:buChar char="o"/>
            </a:pPr>
            <a:r>
              <a:rPr lang="en-US" sz="1400"/>
              <a:t>This is the core topic </a:t>
            </a:r>
            <a:r>
              <a:rPr lang="en-US" sz="1400" b="1">
                <a:highlight>
                  <a:srgbClr val="FFFF00"/>
                </a:highlight>
              </a:rPr>
              <a:t>and the primary thing we seek agreement on with leaders upfront</a:t>
            </a:r>
            <a:r>
              <a:rPr lang="en-US" sz="1400"/>
              <a:t>, as it will dictate other content. </a:t>
            </a:r>
          </a:p>
          <a:p>
            <a:pPr marL="800100" lvl="1" indent="-342900">
              <a:spcBef>
                <a:spcPts val="600"/>
              </a:spcBef>
              <a:buClr>
                <a:srgbClr val="0091C8"/>
              </a:buClr>
              <a:buFont typeface="Courier New" panose="02070309020205020404" pitchFamily="49" charset="0"/>
              <a:buChar char="o"/>
            </a:pPr>
            <a:r>
              <a:rPr lang="en-US" sz="1400"/>
              <a:t>Topic inspired by the Comprehensive Frame + will aim to link to an external happening/day/theme month (where possible). </a:t>
            </a:r>
            <a:endParaRPr lang="en-US"/>
          </a:p>
          <a:p>
            <a:pPr marL="285750" indent="-285750">
              <a:spcBef>
                <a:spcPts val="600"/>
              </a:spcBef>
              <a:buClr>
                <a:srgbClr val="0091C8"/>
              </a:buClr>
              <a:buFont typeface="Arial" panose="020B0604020202020204" pitchFamily="34" charset="0"/>
              <a:buChar char="•"/>
            </a:pPr>
            <a:r>
              <a:rPr lang="en-US"/>
              <a:t>Investee Highlight </a:t>
            </a:r>
            <a:r>
              <a:rPr lang="en-US" i="1"/>
              <a:t>(used in past but making standard)</a:t>
            </a:r>
          </a:p>
          <a:p>
            <a:pPr marL="800100" lvl="1" indent="-342900">
              <a:spcBef>
                <a:spcPts val="600"/>
              </a:spcBef>
              <a:buClr>
                <a:srgbClr val="0091C8"/>
              </a:buClr>
              <a:buFont typeface="Courier New" panose="02070309020205020404" pitchFamily="49" charset="0"/>
              <a:buChar char="o"/>
            </a:pPr>
            <a:r>
              <a:rPr lang="en-US" sz="1400"/>
              <a:t>1 or 2 longer examples, such as data points with explanations</a:t>
            </a:r>
          </a:p>
          <a:p>
            <a:pPr marL="800100" lvl="1" indent="-342900">
              <a:spcBef>
                <a:spcPts val="600"/>
              </a:spcBef>
              <a:buClr>
                <a:srgbClr val="0091C8"/>
              </a:buClr>
              <a:buFont typeface="Courier New" panose="02070309020205020404" pitchFamily="49" charset="0"/>
              <a:buChar char="o"/>
            </a:pPr>
            <a:r>
              <a:rPr lang="en-US" sz="1400"/>
              <a:t>2-4 briefer examples, such as leader photo plus short quote</a:t>
            </a:r>
          </a:p>
          <a:p>
            <a:pPr marL="285750" indent="-285750">
              <a:spcBef>
                <a:spcPts val="600"/>
              </a:spcBef>
              <a:buClr>
                <a:srgbClr val="0091C8"/>
              </a:buClr>
              <a:buFont typeface="Arial" panose="020B0604020202020204" pitchFamily="34" charset="0"/>
              <a:buChar char="•"/>
            </a:pPr>
            <a:r>
              <a:rPr lang="en-US"/>
              <a:t>Staff Spotlight </a:t>
            </a:r>
            <a:r>
              <a:rPr lang="en-US" i="1"/>
              <a:t>(new for 2025)</a:t>
            </a:r>
          </a:p>
          <a:p>
            <a:pPr marL="800100" lvl="1" indent="-342900">
              <a:spcBef>
                <a:spcPts val="600"/>
              </a:spcBef>
              <a:buClr>
                <a:srgbClr val="0091C8"/>
              </a:buClr>
              <a:buFont typeface="Courier New" panose="02070309020205020404" pitchFamily="49" charset="0"/>
              <a:buChar char="o"/>
            </a:pPr>
            <a:r>
              <a:rPr lang="en-US" sz="1400"/>
              <a:t>Most likely MDs, but could be Chiefs who can offer related commentary on the main topic</a:t>
            </a:r>
          </a:p>
          <a:p>
            <a:pPr marL="800100" lvl="1" indent="-342900">
              <a:spcBef>
                <a:spcPts val="600"/>
              </a:spcBef>
              <a:buClr>
                <a:srgbClr val="0091C8"/>
              </a:buClr>
              <a:buFont typeface="Courier New" panose="02070309020205020404" pitchFamily="49" charset="0"/>
              <a:buChar char="o"/>
            </a:pPr>
            <a:r>
              <a:rPr lang="en-US" sz="1400"/>
              <a:t>Seek to rotate through different people</a:t>
            </a:r>
          </a:p>
          <a:p>
            <a:pPr marL="800100" lvl="1" indent="-342900">
              <a:spcBef>
                <a:spcPts val="600"/>
              </a:spcBef>
              <a:buClr>
                <a:srgbClr val="0091C8"/>
              </a:buClr>
              <a:buFont typeface="Courier New" panose="02070309020205020404" pitchFamily="49" charset="0"/>
              <a:buChar char="o"/>
            </a:pPr>
            <a:r>
              <a:rPr lang="en-US" sz="1400"/>
              <a:t>Newsletter could offer a clip of a longer version = “Voices” piece posted on our website. </a:t>
            </a:r>
            <a:endParaRPr lang="en-US"/>
          </a:p>
        </p:txBody>
      </p:sp>
      <p:sp>
        <p:nvSpPr>
          <p:cNvPr id="4" name="Oval 3">
            <a:extLst>
              <a:ext uri="{FF2B5EF4-FFF2-40B4-BE49-F238E27FC236}">
                <a16:creationId xmlns:a16="http://schemas.microsoft.com/office/drawing/2014/main" id="{8046394F-9C0B-EFFC-1EA6-75EC76B07202}"/>
              </a:ext>
            </a:extLst>
          </p:cNvPr>
          <p:cNvSpPr/>
          <p:nvPr/>
        </p:nvSpPr>
        <p:spPr>
          <a:xfrm>
            <a:off x="1542706" y="5509127"/>
            <a:ext cx="350896" cy="329616"/>
          </a:xfrm>
          <a:prstGeom prst="ellips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5907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9EBB1-CC14-ECDE-077B-1AF68F7306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3CDF8E-84FF-A4F8-BA01-87FB9E37B12D}"/>
              </a:ext>
            </a:extLst>
          </p:cNvPr>
          <p:cNvSpPr>
            <a:spLocks noGrp="1"/>
          </p:cNvSpPr>
          <p:nvPr>
            <p:ph type="title"/>
          </p:nvPr>
        </p:nvSpPr>
        <p:spPr>
          <a:xfrm>
            <a:off x="413548" y="172402"/>
            <a:ext cx="10515600" cy="756917"/>
          </a:xfrm>
        </p:spPr>
        <p:txBody>
          <a:bodyPr/>
          <a:lstStyle/>
          <a:p>
            <a:r>
              <a:rPr lang="en-US">
                <a:latin typeface="LeMonde Livre"/>
              </a:rPr>
              <a:t>Corporate Newsletter: May</a:t>
            </a:r>
          </a:p>
        </p:txBody>
      </p:sp>
      <p:sp>
        <p:nvSpPr>
          <p:cNvPr id="7" name="Rectangle 6">
            <a:extLst>
              <a:ext uri="{FF2B5EF4-FFF2-40B4-BE49-F238E27FC236}">
                <a16:creationId xmlns:a16="http://schemas.microsoft.com/office/drawing/2014/main" id="{674F9739-7A4F-F1F0-7ED6-749EE463374F}"/>
              </a:ext>
            </a:extLst>
          </p:cNvPr>
          <p:cNvSpPr/>
          <p:nvPr/>
        </p:nvSpPr>
        <p:spPr>
          <a:xfrm>
            <a:off x="428990" y="1473720"/>
            <a:ext cx="7512933" cy="2933894"/>
          </a:xfrm>
          <a:prstGeom prst="rect">
            <a:avLst/>
          </a:prstGeom>
          <a:noFill/>
          <a:ln w="19050">
            <a:solidFill>
              <a:srgbClr val="0091C8"/>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45720" rtlCol="0" anchor="t"/>
          <a:lstStyle/>
          <a:p>
            <a:pPr>
              <a:spcAft>
                <a:spcPts val="200"/>
              </a:spcAft>
            </a:pPr>
            <a:r>
              <a:rPr lang="en-US" b="1">
                <a:solidFill>
                  <a:schemeClr val="tx1"/>
                </a:solidFill>
                <a:ea typeface="+mn-lt"/>
                <a:cs typeface="+mn-lt"/>
              </a:rPr>
              <a:t>MAIN CONTENT/TOPICAL INTRODUCTION: </a:t>
            </a:r>
          </a:p>
          <a:p>
            <a:pPr>
              <a:spcAft>
                <a:spcPts val="200"/>
              </a:spcAft>
            </a:pPr>
            <a:r>
              <a:rPr lang="en-US">
                <a:solidFill>
                  <a:schemeClr val="tx1"/>
                </a:solidFill>
                <a:ea typeface="+mn-lt"/>
                <a:cs typeface="+mn-lt"/>
              </a:rPr>
              <a:t>Nationwide Presence/ Geographic Diversity*</a:t>
            </a:r>
          </a:p>
          <a:p>
            <a:pPr marL="171450" indent="-171450">
              <a:spcAft>
                <a:spcPts val="200"/>
              </a:spcAft>
              <a:buFont typeface="Arial" panose="020B0604020202020204" pitchFamily="34" charset="0"/>
              <a:buChar char="•"/>
            </a:pPr>
            <a:r>
              <a:rPr lang="en-US">
                <a:solidFill>
                  <a:schemeClr val="tx1"/>
                </a:solidFill>
                <a:ea typeface="+mn-lt"/>
                <a:cs typeface="+mn-lt"/>
              </a:rPr>
              <a:t>Highlight the range of Blue Meridian investees across the country – amplifying both PM and Nationwide Solutions investments</a:t>
            </a:r>
          </a:p>
          <a:p>
            <a:pPr marL="171450" indent="-171450">
              <a:spcAft>
                <a:spcPts val="200"/>
              </a:spcAft>
              <a:buFont typeface="Arial" panose="020B0604020202020204" pitchFamily="34" charset="0"/>
              <a:buChar char="•"/>
            </a:pPr>
            <a:r>
              <a:rPr lang="en-US">
                <a:solidFill>
                  <a:schemeClr val="tx1"/>
                </a:solidFill>
                <a:ea typeface="+mn-lt"/>
                <a:cs typeface="+mn-lt"/>
              </a:rPr>
              <a:t>Provide a stat about # of states with investee presence</a:t>
            </a:r>
          </a:p>
          <a:p>
            <a:pPr marL="628650" lvl="1" indent="-171450">
              <a:spcAft>
                <a:spcPts val="200"/>
              </a:spcAft>
              <a:buFont typeface="Arial" panose="020B0604020202020204" pitchFamily="34" charset="0"/>
              <a:buChar char="•"/>
            </a:pPr>
            <a:r>
              <a:rPr lang="en-US">
                <a:solidFill>
                  <a:schemeClr val="tx1"/>
                </a:solidFill>
                <a:ea typeface="+mn-lt"/>
                <a:cs typeface="+mn-lt"/>
              </a:rPr>
              <a:t>Leverage LEM team, ensure IT alignment for accuracy</a:t>
            </a:r>
          </a:p>
          <a:p>
            <a:pPr marL="171450" indent="-171450">
              <a:spcAft>
                <a:spcPts val="200"/>
              </a:spcAft>
              <a:buFont typeface="Arial" panose="020B0604020202020204" pitchFamily="34" charset="0"/>
              <a:buChar char="•"/>
            </a:pPr>
            <a:r>
              <a:rPr lang="en-US">
                <a:solidFill>
                  <a:schemeClr val="tx1"/>
                </a:solidFill>
                <a:ea typeface="+mn-lt"/>
                <a:cs typeface="+mn-lt"/>
              </a:rPr>
              <a:t>Investees to lift up (aiming for at least 4, max 6 in the prose)</a:t>
            </a:r>
          </a:p>
          <a:p>
            <a:pPr marL="628650" lvl="1" indent="-171450">
              <a:spcAft>
                <a:spcPts val="200"/>
              </a:spcAft>
              <a:buFont typeface="Arial" panose="020B0604020202020204" pitchFamily="34" charset="0"/>
              <a:buChar char="•"/>
            </a:pPr>
            <a:r>
              <a:rPr lang="en-US">
                <a:solidFill>
                  <a:schemeClr val="tx1"/>
                </a:solidFill>
                <a:ea typeface="+mn-lt"/>
                <a:cs typeface="+mn-lt"/>
              </a:rPr>
              <a:t>Youth Villages, WWK, Dallas, Tulsa</a:t>
            </a:r>
          </a:p>
          <a:p>
            <a:pPr>
              <a:spcAft>
                <a:spcPts val="200"/>
              </a:spcAft>
            </a:pPr>
            <a:r>
              <a:rPr lang="en-US">
                <a:solidFill>
                  <a:schemeClr val="tx1"/>
                </a:solidFill>
                <a:ea typeface="+mn-lt"/>
                <a:cs typeface="+mn-lt"/>
              </a:rPr>
              <a:t>*Incorporate the relevance of philanthropy in the current context</a:t>
            </a:r>
          </a:p>
        </p:txBody>
      </p:sp>
      <p:sp>
        <p:nvSpPr>
          <p:cNvPr id="10" name="Rectangle 9">
            <a:extLst>
              <a:ext uri="{FF2B5EF4-FFF2-40B4-BE49-F238E27FC236}">
                <a16:creationId xmlns:a16="http://schemas.microsoft.com/office/drawing/2014/main" id="{5C70778C-FDB2-1EB6-A481-ED42A58196AF}"/>
              </a:ext>
            </a:extLst>
          </p:cNvPr>
          <p:cNvSpPr/>
          <p:nvPr/>
        </p:nvSpPr>
        <p:spPr>
          <a:xfrm>
            <a:off x="413548" y="4536664"/>
            <a:ext cx="5463270" cy="1476910"/>
          </a:xfrm>
          <a:prstGeom prst="rect">
            <a:avLst/>
          </a:prstGeom>
          <a:solidFill>
            <a:schemeClr val="bg1">
              <a:lumMod val="8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nchorCtr="0"/>
          <a:lstStyle/>
          <a:p>
            <a:r>
              <a:rPr lang="en-US" b="1" u="sng">
                <a:solidFill>
                  <a:schemeClr val="tx1"/>
                </a:solidFill>
              </a:rPr>
              <a:t>Voices:</a:t>
            </a:r>
            <a:r>
              <a:rPr lang="en-US">
                <a:solidFill>
                  <a:schemeClr val="tx1"/>
                </a:solidFill>
              </a:rPr>
              <a:t> 1:1 Chat </a:t>
            </a:r>
          </a:p>
          <a:p>
            <a:pPr marL="285750" indent="-285750">
              <a:buFont typeface="Arial" panose="020B0604020202020204" pitchFamily="34" charset="0"/>
              <a:buChar char="•"/>
            </a:pPr>
            <a:r>
              <a:rPr lang="en-US">
                <a:solidFill>
                  <a:schemeClr val="tx1"/>
                </a:solidFill>
              </a:rPr>
              <a:t>Allana Jackson interviewed by Bill Furmanski</a:t>
            </a:r>
          </a:p>
          <a:p>
            <a:r>
              <a:rPr lang="en-US">
                <a:solidFill>
                  <a:schemeClr val="tx1"/>
                </a:solidFill>
              </a:rPr>
              <a:t> </a:t>
            </a:r>
          </a:p>
        </p:txBody>
      </p:sp>
      <p:sp>
        <p:nvSpPr>
          <p:cNvPr id="20" name="Text Placeholder 3">
            <a:extLst>
              <a:ext uri="{FF2B5EF4-FFF2-40B4-BE49-F238E27FC236}">
                <a16:creationId xmlns:a16="http://schemas.microsoft.com/office/drawing/2014/main" id="{9E782D74-728C-994B-B100-81C765CE3CFB}"/>
              </a:ext>
            </a:extLst>
          </p:cNvPr>
          <p:cNvSpPr txBox="1">
            <a:spLocks/>
          </p:cNvSpPr>
          <p:nvPr/>
        </p:nvSpPr>
        <p:spPr>
          <a:xfrm>
            <a:off x="416039" y="930501"/>
            <a:ext cx="11481794" cy="543219"/>
          </a:xfrm>
          <a:prstGeom prst="rect">
            <a:avLst/>
          </a:prstGeom>
        </p:spPr>
        <p:txBody>
          <a:bodyPr vert="horz" lIns="91440" tIns="45720" rIns="91440" bIns="45720" rtlCol="0" anchor="ctr">
            <a:noAutofit/>
          </a:bodyPr>
          <a:lstStyle>
            <a:defPPr>
              <a:defRPr lang="en-US"/>
            </a:defPPr>
            <a:lvl1pPr marL="0" algn="r" defTabSz="457200" rtl="0" eaLnBrk="1" latinLnBrk="0" hangingPunct="1">
              <a:defRPr sz="1200" kern="1200">
                <a:solidFill>
                  <a:schemeClr val="bg1"/>
                </a:solidFill>
                <a:latin typeface="Camphor Std" panose="020B0504030404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2000" b="1">
                <a:solidFill>
                  <a:schemeClr val="accent1"/>
                </a:solidFill>
                <a:latin typeface="Camphor Std"/>
              </a:rPr>
              <a:t>Target publication: </a:t>
            </a:r>
            <a:endParaRPr lang="en-US">
              <a:solidFill>
                <a:schemeClr val="accent1"/>
              </a:solidFill>
            </a:endParaRPr>
          </a:p>
        </p:txBody>
      </p:sp>
      <p:sp>
        <p:nvSpPr>
          <p:cNvPr id="3" name="Rectangle 2">
            <a:extLst>
              <a:ext uri="{FF2B5EF4-FFF2-40B4-BE49-F238E27FC236}">
                <a16:creationId xmlns:a16="http://schemas.microsoft.com/office/drawing/2014/main" id="{9C5B4C66-95EF-E11D-9A6F-7B63BBD72D00}"/>
              </a:ext>
            </a:extLst>
          </p:cNvPr>
          <p:cNvSpPr/>
          <p:nvPr/>
        </p:nvSpPr>
        <p:spPr>
          <a:xfrm>
            <a:off x="6299739" y="4542425"/>
            <a:ext cx="5463270" cy="1476910"/>
          </a:xfrm>
          <a:prstGeom prst="rect">
            <a:avLst/>
          </a:prstGeom>
          <a:solidFill>
            <a:schemeClr val="bg1">
              <a:lumMod val="8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nchorCtr="0"/>
          <a:lstStyle/>
          <a:p>
            <a:r>
              <a:rPr lang="en-US" b="1" u="sng">
                <a:solidFill>
                  <a:schemeClr val="tx1"/>
                </a:solidFill>
              </a:rPr>
              <a:t>+Amplify: </a:t>
            </a:r>
            <a:r>
              <a:rPr lang="en-US">
                <a:solidFill>
                  <a:schemeClr val="tx1"/>
                </a:solidFill>
              </a:rPr>
              <a:t>Video – YouTube &amp; SM</a:t>
            </a:r>
          </a:p>
          <a:p>
            <a:r>
              <a:rPr lang="en-US">
                <a:solidFill>
                  <a:schemeClr val="tx1"/>
                </a:solidFill>
              </a:rPr>
              <a:t>Dallas (CPAL)</a:t>
            </a:r>
          </a:p>
          <a:p>
            <a:r>
              <a:rPr lang="en-US">
                <a:solidFill>
                  <a:schemeClr val="tx1"/>
                </a:solidFill>
              </a:rPr>
              <a:t>- Use Summit Voices from the Field presentation to 1) create video of presentation for YouTube, and 2) create "</a:t>
            </a:r>
            <a:r>
              <a:rPr lang="en-US" err="1">
                <a:solidFill>
                  <a:schemeClr val="tx1"/>
                </a:solidFill>
              </a:rPr>
              <a:t>snackables</a:t>
            </a:r>
            <a:r>
              <a:rPr lang="en-US">
                <a:solidFill>
                  <a:schemeClr val="tx1"/>
                </a:solidFill>
              </a:rPr>
              <a:t>" for social media rollout</a:t>
            </a:r>
          </a:p>
        </p:txBody>
      </p:sp>
      <p:sp>
        <p:nvSpPr>
          <p:cNvPr id="11" name="Rectangle 10">
            <a:extLst>
              <a:ext uri="{FF2B5EF4-FFF2-40B4-BE49-F238E27FC236}">
                <a16:creationId xmlns:a16="http://schemas.microsoft.com/office/drawing/2014/main" id="{380DEF28-C3E1-FA70-F0F7-95DE1B8CE421}"/>
              </a:ext>
            </a:extLst>
          </p:cNvPr>
          <p:cNvSpPr/>
          <p:nvPr/>
        </p:nvSpPr>
        <p:spPr>
          <a:xfrm>
            <a:off x="8143981" y="1473720"/>
            <a:ext cx="3631980" cy="1322173"/>
          </a:xfrm>
          <a:prstGeom prst="rect">
            <a:avLst/>
          </a:prstGeom>
          <a:noFill/>
          <a:ln w="19050">
            <a:solidFill>
              <a:srgbClr val="0091C8"/>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45720" rtlCol="0" anchor="t"/>
          <a:lstStyle/>
          <a:p>
            <a:r>
              <a:rPr lang="en-US" b="1">
                <a:solidFill>
                  <a:schemeClr val="tx1"/>
                </a:solidFill>
                <a:ea typeface="+mn-lt"/>
                <a:cs typeface="+mn-lt"/>
              </a:rPr>
              <a:t>INVESTEE HIGHLIGHT (1 or 2): </a:t>
            </a:r>
          </a:p>
          <a:p>
            <a:pPr marL="171450" indent="-171450">
              <a:buFont typeface="Arial" panose="020B0604020202020204" pitchFamily="34" charset="0"/>
              <a:buChar char="•"/>
            </a:pPr>
            <a:r>
              <a:rPr lang="en-US">
                <a:solidFill>
                  <a:schemeClr val="tx1"/>
                </a:solidFill>
                <a:ea typeface="+mn-lt"/>
                <a:cs typeface="+mn-lt"/>
              </a:rPr>
              <a:t>Dallas (CPAL) - Pull data from CPAL Summit presentation for ‘impact highlight’</a:t>
            </a:r>
          </a:p>
          <a:p>
            <a:pPr marL="91440" indent="-91440">
              <a:buFont typeface="Arial" panose="020B0604020202020204" pitchFamily="34" charset="0"/>
              <a:buChar char="•"/>
            </a:pPr>
            <a:endParaRPr lang="en-US" sz="1100">
              <a:solidFill>
                <a:schemeClr val="tx1"/>
              </a:solidFill>
              <a:ea typeface="+mn-lt"/>
              <a:cs typeface="+mn-lt"/>
            </a:endParaRPr>
          </a:p>
        </p:txBody>
      </p:sp>
      <p:sp>
        <p:nvSpPr>
          <p:cNvPr id="12" name="Rectangle 11">
            <a:extLst>
              <a:ext uri="{FF2B5EF4-FFF2-40B4-BE49-F238E27FC236}">
                <a16:creationId xmlns:a16="http://schemas.microsoft.com/office/drawing/2014/main" id="{28CA2809-66B1-83F4-BF61-B667C7D26F99}"/>
              </a:ext>
            </a:extLst>
          </p:cNvPr>
          <p:cNvSpPr/>
          <p:nvPr/>
        </p:nvSpPr>
        <p:spPr>
          <a:xfrm>
            <a:off x="8143981" y="2930704"/>
            <a:ext cx="3619028" cy="1476910"/>
          </a:xfrm>
          <a:prstGeom prst="rect">
            <a:avLst/>
          </a:prstGeom>
          <a:noFill/>
          <a:ln w="19050">
            <a:solidFill>
              <a:srgbClr val="0091C8"/>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45720" rtlCol="0" anchor="t"/>
          <a:lstStyle/>
          <a:p>
            <a:r>
              <a:rPr lang="en-US" b="1">
                <a:solidFill>
                  <a:schemeClr val="tx1"/>
                </a:solidFill>
                <a:ea typeface="+mn-lt"/>
                <a:cs typeface="+mn-lt"/>
              </a:rPr>
              <a:t>STAFF SPOTLIGHT: </a:t>
            </a:r>
          </a:p>
          <a:p>
            <a:pPr marL="285750" indent="-285750">
              <a:buFont typeface="Arial" panose="020B0604020202020204" pitchFamily="34" charset="0"/>
              <a:buChar char="•"/>
            </a:pPr>
            <a:r>
              <a:rPr lang="en-US">
                <a:solidFill>
                  <a:schemeClr val="tx1"/>
                </a:solidFill>
                <a:ea typeface="+mn-lt"/>
                <a:cs typeface="+mn-lt"/>
              </a:rPr>
              <a:t>Allana</a:t>
            </a:r>
          </a:p>
          <a:p>
            <a:pPr marL="285750" indent="-285750">
              <a:buFont typeface="Arial" panose="020B0604020202020204" pitchFamily="34" charset="0"/>
              <a:buChar char="•"/>
            </a:pPr>
            <a:r>
              <a:rPr lang="en-US">
                <a:solidFill>
                  <a:schemeClr val="tx1"/>
                </a:solidFill>
                <a:ea typeface="+mn-lt"/>
                <a:cs typeface="+mn-lt"/>
              </a:rPr>
              <a:t>Pull quote from Voices piece</a:t>
            </a:r>
          </a:p>
          <a:p>
            <a:pPr marL="91440" indent="-91440">
              <a:buFont typeface="Arial" panose="020B0604020202020204" pitchFamily="34" charset="0"/>
              <a:buChar char="•"/>
            </a:pPr>
            <a:endParaRPr lang="en-US" sz="1100">
              <a:solidFill>
                <a:schemeClr val="tx1"/>
              </a:solidFill>
              <a:ea typeface="+mn-lt"/>
              <a:cs typeface="+mn-lt"/>
            </a:endParaRPr>
          </a:p>
        </p:txBody>
      </p:sp>
    </p:spTree>
    <p:extLst>
      <p:ext uri="{BB962C8B-B14F-4D97-AF65-F5344CB8AC3E}">
        <p14:creationId xmlns:p14="http://schemas.microsoft.com/office/powerpoint/2010/main" val="3262031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CAF54-3C9E-B7ED-3371-8FC56AA3CF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02A21F-088F-54CA-BD68-8EB3F3D44ADD}"/>
              </a:ext>
            </a:extLst>
          </p:cNvPr>
          <p:cNvSpPr>
            <a:spLocks noGrp="1"/>
          </p:cNvSpPr>
          <p:nvPr>
            <p:ph type="title"/>
          </p:nvPr>
        </p:nvSpPr>
        <p:spPr>
          <a:xfrm>
            <a:off x="416039" y="135319"/>
            <a:ext cx="6806694" cy="756917"/>
          </a:xfrm>
        </p:spPr>
        <p:txBody>
          <a:bodyPr/>
          <a:lstStyle/>
          <a:p>
            <a:r>
              <a:rPr lang="en-US">
                <a:latin typeface="LeMonde Livre"/>
              </a:rPr>
              <a:t>Corporate Newsletter: June</a:t>
            </a:r>
          </a:p>
        </p:txBody>
      </p:sp>
      <p:sp>
        <p:nvSpPr>
          <p:cNvPr id="10" name="Rectangle 9">
            <a:extLst>
              <a:ext uri="{FF2B5EF4-FFF2-40B4-BE49-F238E27FC236}">
                <a16:creationId xmlns:a16="http://schemas.microsoft.com/office/drawing/2014/main" id="{69A5E186-A3B7-4623-395B-11277C343D8C}"/>
              </a:ext>
            </a:extLst>
          </p:cNvPr>
          <p:cNvSpPr/>
          <p:nvPr/>
        </p:nvSpPr>
        <p:spPr>
          <a:xfrm>
            <a:off x="526026" y="4809892"/>
            <a:ext cx="5289148" cy="1342815"/>
          </a:xfrm>
          <a:prstGeom prst="rect">
            <a:avLst/>
          </a:prstGeom>
          <a:solidFill>
            <a:schemeClr val="bg1">
              <a:lumMod val="8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nchorCtr="0"/>
          <a:lstStyle/>
          <a:p>
            <a:r>
              <a:rPr lang="en-US" b="1" u="sng">
                <a:solidFill>
                  <a:schemeClr val="tx1"/>
                </a:solidFill>
              </a:rPr>
              <a:t>Voices: </a:t>
            </a:r>
            <a:r>
              <a:rPr lang="en-US">
                <a:solidFill>
                  <a:schemeClr val="tx1"/>
                </a:solidFill>
              </a:rPr>
              <a:t>1:1 Chat</a:t>
            </a:r>
          </a:p>
          <a:p>
            <a:r>
              <a:rPr lang="en-US">
                <a:solidFill>
                  <a:schemeClr val="tx1"/>
                </a:solidFill>
              </a:rPr>
              <a:t>Spencer – interviewed by Meti OR Jim – Q&amp;A assembled by B&amp;C from Social Innovation Summit speech </a:t>
            </a:r>
          </a:p>
        </p:txBody>
      </p:sp>
      <p:sp>
        <p:nvSpPr>
          <p:cNvPr id="20" name="Text Placeholder 3">
            <a:extLst>
              <a:ext uri="{FF2B5EF4-FFF2-40B4-BE49-F238E27FC236}">
                <a16:creationId xmlns:a16="http://schemas.microsoft.com/office/drawing/2014/main" id="{C5974246-CE55-C49D-1CC1-4A5A9C44E0B2}"/>
              </a:ext>
            </a:extLst>
          </p:cNvPr>
          <p:cNvSpPr txBox="1">
            <a:spLocks/>
          </p:cNvSpPr>
          <p:nvPr/>
        </p:nvSpPr>
        <p:spPr>
          <a:xfrm>
            <a:off x="416039" y="838804"/>
            <a:ext cx="11481794" cy="790621"/>
          </a:xfrm>
          <a:prstGeom prst="rect">
            <a:avLst/>
          </a:prstGeom>
        </p:spPr>
        <p:txBody>
          <a:bodyPr vert="horz" lIns="91440" tIns="45720" rIns="91440" bIns="45720" rtlCol="0" anchor="ctr">
            <a:noAutofit/>
          </a:bodyPr>
          <a:lstStyle>
            <a:defPPr>
              <a:defRPr lang="en-US"/>
            </a:defPPr>
            <a:lvl1pPr marL="0" algn="r" defTabSz="457200" rtl="0" eaLnBrk="1" latinLnBrk="0" hangingPunct="1">
              <a:defRPr sz="1200" kern="1200">
                <a:solidFill>
                  <a:schemeClr val="bg1"/>
                </a:solidFill>
                <a:latin typeface="Camphor Std" panose="020B0504030404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2000">
                <a:solidFill>
                  <a:schemeClr val="bg2"/>
                </a:solidFill>
                <a:latin typeface="Camphor Std"/>
                <a:cs typeface="Segoe UI"/>
              </a:rPr>
              <a:t>Hook: Jim’s Social Innovation Summit presentation [Graduation season/youth employment month]</a:t>
            </a:r>
          </a:p>
          <a:p>
            <a:pPr algn="l"/>
            <a:r>
              <a:rPr lang="en-US" sz="2000">
                <a:solidFill>
                  <a:schemeClr val="bg2"/>
                </a:solidFill>
                <a:latin typeface="Camphor Std"/>
                <a:cs typeface="Segoe UI"/>
              </a:rPr>
              <a:t>Target Publication Date:  June XX</a:t>
            </a:r>
            <a:endParaRPr lang="en-US" sz="2000">
              <a:solidFill>
                <a:schemeClr val="bg2"/>
              </a:solidFill>
              <a:latin typeface="Camphor Std"/>
            </a:endParaRPr>
          </a:p>
        </p:txBody>
      </p:sp>
      <p:sp>
        <p:nvSpPr>
          <p:cNvPr id="6" name="Rectangle 5">
            <a:extLst>
              <a:ext uri="{FF2B5EF4-FFF2-40B4-BE49-F238E27FC236}">
                <a16:creationId xmlns:a16="http://schemas.microsoft.com/office/drawing/2014/main" id="{51B988C4-2CC4-351C-41FC-A6FA966B6EDB}"/>
              </a:ext>
            </a:extLst>
          </p:cNvPr>
          <p:cNvSpPr/>
          <p:nvPr/>
        </p:nvSpPr>
        <p:spPr>
          <a:xfrm>
            <a:off x="531193" y="1750454"/>
            <a:ext cx="7410731" cy="2938409"/>
          </a:xfrm>
          <a:prstGeom prst="rect">
            <a:avLst/>
          </a:prstGeom>
          <a:noFill/>
          <a:ln w="19050">
            <a:solidFill>
              <a:srgbClr val="0091C8"/>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45720" rtlCol="0" anchor="t"/>
          <a:lstStyle/>
          <a:p>
            <a:pPr>
              <a:spcAft>
                <a:spcPts val="200"/>
              </a:spcAft>
            </a:pPr>
            <a:r>
              <a:rPr lang="en-US" b="1">
                <a:solidFill>
                  <a:schemeClr val="tx1"/>
                </a:solidFill>
                <a:ea typeface="+mn-lt"/>
                <a:cs typeface="+mn-lt"/>
              </a:rPr>
              <a:t>MAIN CONTENT/TOPICAL INTRODUCTION:</a:t>
            </a:r>
            <a:endParaRPr lang="en-US">
              <a:solidFill>
                <a:schemeClr val="tx1"/>
              </a:solidFill>
              <a:ea typeface="+mn-lt"/>
              <a:cs typeface="+mn-lt"/>
            </a:endParaRPr>
          </a:p>
          <a:p>
            <a:pPr>
              <a:spcAft>
                <a:spcPts val="200"/>
              </a:spcAft>
            </a:pPr>
            <a:r>
              <a:rPr lang="en-US">
                <a:solidFill>
                  <a:schemeClr val="tx1"/>
                </a:solidFill>
                <a:ea typeface="+mn-lt"/>
                <a:cs typeface="+mn-lt"/>
              </a:rPr>
              <a:t>Technology – Leveraging AI and Employment Opportunities in Tech</a:t>
            </a:r>
          </a:p>
          <a:p>
            <a:pPr marL="171450" indent="-171450">
              <a:spcAft>
                <a:spcPts val="200"/>
              </a:spcAft>
              <a:buFont typeface="Arial"/>
              <a:buChar char="•"/>
            </a:pPr>
            <a:r>
              <a:rPr lang="en-US">
                <a:solidFill>
                  <a:schemeClr val="tx1"/>
                </a:solidFill>
                <a:ea typeface="+mn-lt"/>
                <a:cs typeface="+mn-lt"/>
              </a:rPr>
              <a:t>Amid disruptions, new opportunities in technology are on the rise that have the potential to enable economic opportunity </a:t>
            </a:r>
          </a:p>
          <a:p>
            <a:pPr marL="171450" indent="-171450">
              <a:spcAft>
                <a:spcPts val="200"/>
              </a:spcAft>
              <a:buFont typeface="Arial"/>
              <a:buChar char="•"/>
            </a:pPr>
            <a:r>
              <a:rPr lang="en-US">
                <a:solidFill>
                  <a:schemeClr val="tx1"/>
                </a:solidFill>
                <a:ea typeface="+mn-lt"/>
                <a:cs typeface="+mn-lt"/>
              </a:rPr>
              <a:t>Highlight investees pivoting to leverage AI and those that prepare Americans for jobs in tech</a:t>
            </a:r>
          </a:p>
          <a:p>
            <a:pPr marL="171450" indent="-171450">
              <a:spcAft>
                <a:spcPts val="200"/>
              </a:spcAft>
              <a:buFont typeface="Arial"/>
              <a:buChar char="•"/>
            </a:pPr>
            <a:r>
              <a:rPr lang="en-US">
                <a:solidFill>
                  <a:schemeClr val="tx1"/>
                </a:solidFill>
                <a:ea typeface="+mn-lt"/>
                <a:cs typeface="+mn-lt"/>
              </a:rPr>
              <a:t>Investees to lift up (aiming for at least 4, max 6 in the prose): Merit America, Per Scholas, Code for America (ask IT team for additional recs as needed)</a:t>
            </a:r>
          </a:p>
        </p:txBody>
      </p:sp>
      <p:sp>
        <p:nvSpPr>
          <p:cNvPr id="15" name="Rectangle 14">
            <a:extLst>
              <a:ext uri="{FF2B5EF4-FFF2-40B4-BE49-F238E27FC236}">
                <a16:creationId xmlns:a16="http://schemas.microsoft.com/office/drawing/2014/main" id="{2BA8D318-368A-BD68-BD19-D95038044890}"/>
              </a:ext>
            </a:extLst>
          </p:cNvPr>
          <p:cNvSpPr/>
          <p:nvPr/>
        </p:nvSpPr>
        <p:spPr>
          <a:xfrm>
            <a:off x="6376828" y="4809892"/>
            <a:ext cx="5395829" cy="1342815"/>
          </a:xfrm>
          <a:prstGeom prst="rect">
            <a:avLst/>
          </a:prstGeom>
          <a:solidFill>
            <a:schemeClr val="bg1">
              <a:lumMod val="8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nchorCtr="0"/>
          <a:lstStyle/>
          <a:p>
            <a:r>
              <a:rPr lang="en-US" b="1" u="sng">
                <a:solidFill>
                  <a:schemeClr val="tx1"/>
                </a:solidFill>
              </a:rPr>
              <a:t>+Amplify</a:t>
            </a:r>
            <a:r>
              <a:rPr lang="en-US" b="1">
                <a:solidFill>
                  <a:schemeClr val="tx1"/>
                </a:solidFill>
              </a:rPr>
              <a:t>:</a:t>
            </a:r>
            <a:r>
              <a:rPr lang="en-US">
                <a:solidFill>
                  <a:schemeClr val="tx1"/>
                </a:solidFill>
              </a:rPr>
              <a:t> Social Media Toolkit leveraging key BMP staff OR Video</a:t>
            </a:r>
          </a:p>
          <a:p>
            <a:r>
              <a:rPr lang="en-US" sz="1400">
                <a:solidFill>
                  <a:schemeClr val="tx1"/>
                </a:solidFill>
              </a:rPr>
              <a:t>Option 1) Social Media Toolkit with graphics leveraging Voices quotes </a:t>
            </a:r>
            <a:r>
              <a:rPr lang="en-US" sz="1400" i="1">
                <a:solidFill>
                  <a:schemeClr val="tx1"/>
                </a:solidFill>
              </a:rPr>
              <a:t>and</a:t>
            </a:r>
            <a:r>
              <a:rPr lang="en-US" sz="1400">
                <a:solidFill>
                  <a:schemeClr val="tx1"/>
                </a:solidFill>
              </a:rPr>
              <a:t> vetted investee data shared by key BMP staff Option 2) Video products from Social Innovation Summit speech (TBD)</a:t>
            </a:r>
          </a:p>
        </p:txBody>
      </p:sp>
      <p:sp>
        <p:nvSpPr>
          <p:cNvPr id="4" name="Rectangle 3">
            <a:extLst>
              <a:ext uri="{FF2B5EF4-FFF2-40B4-BE49-F238E27FC236}">
                <a16:creationId xmlns:a16="http://schemas.microsoft.com/office/drawing/2014/main" id="{11B65AC9-60FC-790E-4BDC-BD13E25C12D1}"/>
              </a:ext>
            </a:extLst>
          </p:cNvPr>
          <p:cNvSpPr/>
          <p:nvPr/>
        </p:nvSpPr>
        <p:spPr>
          <a:xfrm>
            <a:off x="8140677" y="1750454"/>
            <a:ext cx="3631980" cy="1322173"/>
          </a:xfrm>
          <a:prstGeom prst="rect">
            <a:avLst/>
          </a:prstGeom>
          <a:noFill/>
          <a:ln w="19050">
            <a:solidFill>
              <a:srgbClr val="0091C8"/>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45720" rtlCol="0" anchor="t"/>
          <a:lstStyle/>
          <a:p>
            <a:r>
              <a:rPr lang="en-US" b="1">
                <a:solidFill>
                  <a:schemeClr val="tx1"/>
                </a:solidFill>
                <a:ea typeface="+mn-lt"/>
                <a:cs typeface="+mn-lt"/>
              </a:rPr>
              <a:t>INVESTEE HIGHLIGHT: </a:t>
            </a:r>
          </a:p>
          <a:p>
            <a:pPr marL="171450" indent="-171450">
              <a:buFont typeface="Arial" panose="020B0604020202020204" pitchFamily="34" charset="0"/>
              <a:buChar char="•"/>
            </a:pPr>
            <a:r>
              <a:rPr lang="en-US">
                <a:solidFill>
                  <a:schemeClr val="tx1"/>
                </a:solidFill>
                <a:ea typeface="+mn-lt"/>
                <a:cs typeface="+mn-lt"/>
              </a:rPr>
              <a:t>Per Scholas</a:t>
            </a:r>
          </a:p>
          <a:p>
            <a:pPr marL="171450" indent="-171450">
              <a:buFont typeface="Arial" panose="020B0604020202020204" pitchFamily="34" charset="0"/>
              <a:buChar char="•"/>
            </a:pPr>
            <a:r>
              <a:rPr lang="en-US">
                <a:solidFill>
                  <a:schemeClr val="tx1"/>
                </a:solidFill>
                <a:ea typeface="+mn-lt"/>
                <a:cs typeface="+mn-lt"/>
              </a:rPr>
              <a:t>Data pulled from Per Scholas website or BMP materials</a:t>
            </a:r>
          </a:p>
          <a:p>
            <a:pPr marL="91440" indent="-91440">
              <a:buFont typeface="Arial" panose="020B0604020202020204" pitchFamily="34" charset="0"/>
              <a:buChar char="•"/>
            </a:pPr>
            <a:endParaRPr lang="en-US" sz="1100">
              <a:solidFill>
                <a:schemeClr val="tx1"/>
              </a:solidFill>
              <a:ea typeface="+mn-lt"/>
              <a:cs typeface="+mn-lt"/>
            </a:endParaRPr>
          </a:p>
        </p:txBody>
      </p:sp>
      <p:sp>
        <p:nvSpPr>
          <p:cNvPr id="5" name="Rectangle 4">
            <a:extLst>
              <a:ext uri="{FF2B5EF4-FFF2-40B4-BE49-F238E27FC236}">
                <a16:creationId xmlns:a16="http://schemas.microsoft.com/office/drawing/2014/main" id="{E807700B-12BF-87D7-ED56-96E2B2ED33A6}"/>
              </a:ext>
            </a:extLst>
          </p:cNvPr>
          <p:cNvSpPr/>
          <p:nvPr/>
        </p:nvSpPr>
        <p:spPr>
          <a:xfrm>
            <a:off x="8140677" y="3366690"/>
            <a:ext cx="3631980" cy="1322173"/>
          </a:xfrm>
          <a:prstGeom prst="rect">
            <a:avLst/>
          </a:prstGeom>
          <a:noFill/>
          <a:ln w="19050">
            <a:solidFill>
              <a:srgbClr val="0091C8"/>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45720" rtlCol="0" anchor="t"/>
          <a:lstStyle/>
          <a:p>
            <a:r>
              <a:rPr lang="en-US" sz="1800" b="1">
                <a:solidFill>
                  <a:schemeClr val="tx1"/>
                </a:solidFill>
                <a:ea typeface="+mn-lt"/>
                <a:cs typeface="+mn-lt"/>
              </a:rPr>
              <a:t>STAFF SPOTLIGHT: </a:t>
            </a:r>
          </a:p>
          <a:p>
            <a:pPr marL="285750" indent="-285750">
              <a:buFont typeface="Arial" panose="020B0604020202020204" pitchFamily="34" charset="0"/>
              <a:buChar char="•"/>
            </a:pPr>
            <a:r>
              <a:rPr lang="en-US" sz="1800">
                <a:solidFill>
                  <a:schemeClr val="tx1"/>
                </a:solidFill>
                <a:ea typeface="+mn-lt"/>
                <a:cs typeface="+mn-lt"/>
              </a:rPr>
              <a:t>Spencer OR Jim (depending on Voices piece)</a:t>
            </a:r>
            <a:endParaRPr lang="en-US">
              <a:solidFill>
                <a:schemeClr val="tx1"/>
              </a:solidFill>
              <a:ea typeface="+mn-lt"/>
              <a:cs typeface="+mn-lt"/>
            </a:endParaRPr>
          </a:p>
          <a:p>
            <a:pPr marL="91440" indent="-91440">
              <a:buFont typeface="Arial" panose="020B0604020202020204" pitchFamily="34" charset="0"/>
              <a:buChar char="•"/>
            </a:pPr>
            <a:endParaRPr lang="en-US" sz="1100">
              <a:solidFill>
                <a:schemeClr val="tx1"/>
              </a:solidFill>
              <a:ea typeface="+mn-lt"/>
              <a:cs typeface="+mn-lt"/>
            </a:endParaRPr>
          </a:p>
        </p:txBody>
      </p:sp>
    </p:spTree>
    <p:extLst>
      <p:ext uri="{BB962C8B-B14F-4D97-AF65-F5344CB8AC3E}">
        <p14:creationId xmlns:p14="http://schemas.microsoft.com/office/powerpoint/2010/main" val="765608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155C3-59AA-BABA-40DA-24B387329E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D30945-19F2-6BF2-AA70-0E612681ECF1}"/>
              </a:ext>
            </a:extLst>
          </p:cNvPr>
          <p:cNvSpPr>
            <a:spLocks noGrp="1"/>
          </p:cNvSpPr>
          <p:nvPr>
            <p:ph type="title"/>
          </p:nvPr>
        </p:nvSpPr>
        <p:spPr>
          <a:xfrm>
            <a:off x="416039" y="135319"/>
            <a:ext cx="10515600" cy="756917"/>
          </a:xfrm>
        </p:spPr>
        <p:txBody>
          <a:bodyPr/>
          <a:lstStyle/>
          <a:p>
            <a:r>
              <a:rPr lang="en-US">
                <a:latin typeface="LeMonde Livre"/>
              </a:rPr>
              <a:t>Corporate Newsletter: Second Half of 2025</a:t>
            </a:r>
          </a:p>
        </p:txBody>
      </p:sp>
      <p:sp>
        <p:nvSpPr>
          <p:cNvPr id="7" name="Rectangle 6">
            <a:extLst>
              <a:ext uri="{FF2B5EF4-FFF2-40B4-BE49-F238E27FC236}">
                <a16:creationId xmlns:a16="http://schemas.microsoft.com/office/drawing/2014/main" id="{59FE2C39-6343-C187-F1EC-73D5F09183AA}"/>
              </a:ext>
            </a:extLst>
          </p:cNvPr>
          <p:cNvSpPr/>
          <p:nvPr/>
        </p:nvSpPr>
        <p:spPr>
          <a:xfrm>
            <a:off x="480912" y="2989362"/>
            <a:ext cx="11416921" cy="2143077"/>
          </a:xfrm>
          <a:prstGeom prst="rect">
            <a:avLst/>
          </a:prstGeom>
          <a:noFill/>
          <a:ln w="19050">
            <a:solidFill>
              <a:srgbClr val="0091C8"/>
            </a:solidFill>
          </a:ln>
        </p:spPr>
        <p:style>
          <a:lnRef idx="2">
            <a:schemeClr val="accent1">
              <a:shade val="50000"/>
            </a:schemeClr>
          </a:lnRef>
          <a:fillRef idx="1">
            <a:schemeClr val="accent1"/>
          </a:fillRef>
          <a:effectRef idx="0">
            <a:schemeClr val="accent1"/>
          </a:effectRef>
          <a:fontRef idx="minor">
            <a:schemeClr val="lt1"/>
          </a:fontRef>
        </p:style>
        <p:txBody>
          <a:bodyPr lIns="182880" tIns="91440" rIns="182880" bIns="45720" rtlCol="0" anchor="t"/>
          <a:lstStyle/>
          <a:p>
            <a:pPr marL="91440" indent="-91440">
              <a:buFont typeface="Arial" panose="020B0604020202020204" pitchFamily="34" charset="0"/>
              <a:buChar char="•"/>
            </a:pPr>
            <a:endParaRPr lang="en-US" sz="1100">
              <a:solidFill>
                <a:schemeClr val="tx1"/>
              </a:solidFill>
              <a:ea typeface="+mn-lt"/>
              <a:cs typeface="+mn-lt"/>
            </a:endParaRPr>
          </a:p>
        </p:txBody>
      </p:sp>
      <p:sp>
        <p:nvSpPr>
          <p:cNvPr id="8" name="Rectangle 7">
            <a:extLst>
              <a:ext uri="{FF2B5EF4-FFF2-40B4-BE49-F238E27FC236}">
                <a16:creationId xmlns:a16="http://schemas.microsoft.com/office/drawing/2014/main" id="{48D70D21-FE8F-65B0-4E55-FC80FCD87302}"/>
              </a:ext>
            </a:extLst>
          </p:cNvPr>
          <p:cNvSpPr/>
          <p:nvPr/>
        </p:nvSpPr>
        <p:spPr>
          <a:xfrm>
            <a:off x="480912" y="1759387"/>
            <a:ext cx="11416921" cy="1012976"/>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solidFill>
                  <a:schemeClr val="bg1"/>
                </a:solidFill>
              </a:rPr>
              <a:t>Newsletter Topic Ideas</a:t>
            </a:r>
            <a:endParaRPr lang="en-US" b="1">
              <a:solidFill>
                <a:schemeClr val="bg1"/>
              </a:solidFill>
            </a:endParaRPr>
          </a:p>
          <a:p>
            <a:pPr algn="ctr"/>
            <a:r>
              <a:rPr lang="en-US" b="1">
                <a:solidFill>
                  <a:schemeClr val="bg1"/>
                </a:solidFill>
              </a:rPr>
              <a:t>For </a:t>
            </a:r>
            <a:r>
              <a:rPr lang="en-US" b="1" u="sng">
                <a:solidFill>
                  <a:schemeClr val="bg1"/>
                </a:solidFill>
              </a:rPr>
              <a:t>2 Issues</a:t>
            </a:r>
            <a:r>
              <a:rPr lang="en-US" b="1">
                <a:solidFill>
                  <a:schemeClr val="bg1"/>
                </a:solidFill>
              </a:rPr>
              <a:t> between July and Dec 2025 (targeting </a:t>
            </a:r>
            <a:r>
              <a:rPr lang="en-US" b="1" u="sng">
                <a:solidFill>
                  <a:schemeClr val="bg1"/>
                </a:solidFill>
              </a:rPr>
              <a:t>Aug </a:t>
            </a:r>
            <a:r>
              <a:rPr lang="en-US" b="1">
                <a:solidFill>
                  <a:schemeClr val="bg1"/>
                </a:solidFill>
              </a:rPr>
              <a:t>and </a:t>
            </a:r>
            <a:r>
              <a:rPr lang="en-US" b="1" u="sng">
                <a:solidFill>
                  <a:schemeClr val="bg1"/>
                </a:solidFill>
              </a:rPr>
              <a:t>Oct/Nov, </a:t>
            </a:r>
            <a:r>
              <a:rPr lang="en-US" b="1">
                <a:solidFill>
                  <a:schemeClr val="bg1"/>
                </a:solidFill>
              </a:rPr>
              <a:t>Dec if useful)</a:t>
            </a:r>
            <a:endParaRPr lang="en-US" sz="1300">
              <a:solidFill>
                <a:schemeClr val="bg1"/>
              </a:solidFill>
            </a:endParaRPr>
          </a:p>
        </p:txBody>
      </p:sp>
      <p:sp>
        <p:nvSpPr>
          <p:cNvPr id="20" name="Text Placeholder 3">
            <a:extLst>
              <a:ext uri="{FF2B5EF4-FFF2-40B4-BE49-F238E27FC236}">
                <a16:creationId xmlns:a16="http://schemas.microsoft.com/office/drawing/2014/main" id="{7D90B603-7062-2BE4-CEF9-EE9F9B682F33}"/>
              </a:ext>
            </a:extLst>
          </p:cNvPr>
          <p:cNvSpPr txBox="1">
            <a:spLocks/>
          </p:cNvSpPr>
          <p:nvPr/>
        </p:nvSpPr>
        <p:spPr>
          <a:xfrm>
            <a:off x="416039" y="930501"/>
            <a:ext cx="11481794" cy="790621"/>
          </a:xfrm>
          <a:prstGeom prst="rect">
            <a:avLst/>
          </a:prstGeom>
        </p:spPr>
        <p:txBody>
          <a:bodyPr vert="horz" lIns="91440" tIns="45720" rIns="91440" bIns="45720" rtlCol="0" anchor="ctr">
            <a:noAutofit/>
          </a:bodyPr>
          <a:lstStyle>
            <a:defPPr>
              <a:defRPr lang="en-US"/>
            </a:defPPr>
            <a:lvl1pPr marL="0" algn="r" defTabSz="457200" rtl="0" eaLnBrk="1" latinLnBrk="0" hangingPunct="1">
              <a:defRPr sz="1200" kern="1200">
                <a:solidFill>
                  <a:schemeClr val="bg1"/>
                </a:solidFill>
                <a:latin typeface="Camphor Std" panose="020B0504030404020204" pitchFamily="34"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2000" b="1">
                <a:solidFill>
                  <a:schemeClr val="accent1"/>
                </a:solidFill>
              </a:rPr>
              <a:t>FYI: </a:t>
            </a:r>
            <a:r>
              <a:rPr lang="en-US" sz="2000">
                <a:solidFill>
                  <a:schemeClr val="accent1"/>
                </a:solidFill>
              </a:rPr>
              <a:t>Assuming we send two issues by June, we aim to maintain our cadence and send two issues in the final six months of 2025. Below are potential topics under consideration.</a:t>
            </a:r>
          </a:p>
        </p:txBody>
      </p:sp>
      <p:sp>
        <p:nvSpPr>
          <p:cNvPr id="5" name="TextBox 4">
            <a:extLst>
              <a:ext uri="{FF2B5EF4-FFF2-40B4-BE49-F238E27FC236}">
                <a16:creationId xmlns:a16="http://schemas.microsoft.com/office/drawing/2014/main" id="{2A1FD92A-EC3E-314E-D871-97882C0A2914}"/>
              </a:ext>
            </a:extLst>
          </p:cNvPr>
          <p:cNvSpPr txBox="1"/>
          <p:nvPr/>
        </p:nvSpPr>
        <p:spPr>
          <a:xfrm>
            <a:off x="585216" y="3029148"/>
            <a:ext cx="1131261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mj-lt"/>
              <a:buAutoNum type="arabicPeriod"/>
            </a:pPr>
            <a:r>
              <a:rPr lang="en-US" dirty="0">
                <a:solidFill>
                  <a:schemeClr val="bg2"/>
                </a:solidFill>
              </a:rPr>
              <a:t>Studio Investees</a:t>
            </a:r>
            <a:r>
              <a:rPr lang="en-US" dirty="0"/>
              <a:t> – </a:t>
            </a:r>
            <a:r>
              <a:rPr lang="en-US" b="1" dirty="0"/>
              <a:t>AUGUST lead idea</a:t>
            </a:r>
            <a:r>
              <a:rPr lang="en-US" dirty="0"/>
              <a:t> (before 8 investments -Ed Recovery cohort and Bespoke- end) </a:t>
            </a:r>
            <a:endParaRPr lang="en-US" dirty="0">
              <a:solidFill>
                <a:schemeClr val="bg2"/>
              </a:solidFill>
            </a:endParaRPr>
          </a:p>
          <a:p>
            <a:pPr marL="457200" indent="-457200">
              <a:buFont typeface="+mj-lt"/>
              <a:buAutoNum type="arabicPeriod"/>
            </a:pPr>
            <a:endParaRPr lang="en-US" dirty="0">
              <a:solidFill>
                <a:schemeClr val="bg2"/>
              </a:solidFill>
            </a:endParaRPr>
          </a:p>
          <a:p>
            <a:pPr marL="457200" indent="-457200">
              <a:buFont typeface="+mj-lt"/>
              <a:buAutoNum type="arabicPeriod"/>
            </a:pPr>
            <a:r>
              <a:rPr lang="en-US" dirty="0">
                <a:solidFill>
                  <a:schemeClr val="bg2"/>
                </a:solidFill>
              </a:rPr>
              <a:t>Financial Wellbeing</a:t>
            </a:r>
            <a:r>
              <a:rPr lang="en-US" dirty="0"/>
              <a:t> (investees working to create financial stability) </a:t>
            </a:r>
          </a:p>
          <a:p>
            <a:pPr marL="457200" indent="-457200">
              <a:buFont typeface="+mj-lt"/>
              <a:buAutoNum type="arabicPeriod"/>
            </a:pPr>
            <a:r>
              <a:rPr lang="en-US" dirty="0">
                <a:solidFill>
                  <a:schemeClr val="bg2"/>
                </a:solidFill>
              </a:rPr>
              <a:t>Place Matters w/ PRI focus</a:t>
            </a:r>
            <a:r>
              <a:rPr lang="en-US" dirty="0"/>
              <a:t> (or work happening in “red states” across portfolios, such as OK Justice fund, as a follow-up to April)</a:t>
            </a:r>
            <a:endParaRPr lang="en-US" dirty="0">
              <a:solidFill>
                <a:schemeClr val="bg2"/>
              </a:solidFill>
            </a:endParaRPr>
          </a:p>
          <a:p>
            <a:pPr marL="457200" indent="-457200">
              <a:buFont typeface="+mj-lt"/>
              <a:buAutoNum type="arabicPeriod"/>
            </a:pPr>
            <a:r>
              <a:rPr lang="en-US" dirty="0">
                <a:solidFill>
                  <a:schemeClr val="bg2"/>
                </a:solidFill>
              </a:rPr>
              <a:t>Investees in the News</a:t>
            </a:r>
            <a:r>
              <a:rPr lang="en-US" dirty="0"/>
              <a:t> (general roundup, we have done this before and it has performed well)</a:t>
            </a:r>
          </a:p>
        </p:txBody>
      </p:sp>
    </p:spTree>
    <p:extLst>
      <p:ext uri="{BB962C8B-B14F-4D97-AF65-F5344CB8AC3E}">
        <p14:creationId xmlns:p14="http://schemas.microsoft.com/office/powerpoint/2010/main" val="841462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214F-BD03-C9F4-CDE9-CF0A9DB5895F}"/>
              </a:ext>
            </a:extLst>
          </p:cNvPr>
          <p:cNvSpPr>
            <a:spLocks noGrp="1"/>
          </p:cNvSpPr>
          <p:nvPr>
            <p:ph type="title"/>
          </p:nvPr>
        </p:nvSpPr>
        <p:spPr/>
        <p:txBody>
          <a:bodyPr/>
          <a:lstStyle/>
          <a:p>
            <a:r>
              <a:rPr lang="en-US">
                <a:latin typeface="LeMonde Livre"/>
              </a:rPr>
              <a:t>Voices </a:t>
            </a:r>
            <a:endParaRPr lang="en-US"/>
          </a:p>
        </p:txBody>
      </p:sp>
      <p:sp>
        <p:nvSpPr>
          <p:cNvPr id="4" name="Date Placeholder 3">
            <a:extLst>
              <a:ext uri="{FF2B5EF4-FFF2-40B4-BE49-F238E27FC236}">
                <a16:creationId xmlns:a16="http://schemas.microsoft.com/office/drawing/2014/main" id="{7CB26A2A-F507-D20A-99DB-3D78B3153C19}"/>
              </a:ext>
            </a:extLst>
          </p:cNvPr>
          <p:cNvSpPr>
            <a:spLocks noGrp="1"/>
          </p:cNvSpPr>
          <p:nvPr>
            <p:ph type="dt" sz="half" idx="10"/>
          </p:nvPr>
        </p:nvSpPr>
        <p:spPr/>
        <p:txBody>
          <a:bodyPr/>
          <a:lstStyle/>
          <a:p>
            <a:fld id="{8DB92475-3296-4345-824D-7D38AF573589}" type="datetime1">
              <a:rPr lang="en-US"/>
              <a:t>5/30/2025</a:t>
            </a:fld>
            <a:endParaRPr lang="en-US"/>
          </a:p>
        </p:txBody>
      </p:sp>
      <p:sp>
        <p:nvSpPr>
          <p:cNvPr id="6" name="Rectangle 5">
            <a:extLst>
              <a:ext uri="{FF2B5EF4-FFF2-40B4-BE49-F238E27FC236}">
                <a16:creationId xmlns:a16="http://schemas.microsoft.com/office/drawing/2014/main" id="{C95E8441-38DC-C357-A34D-F422A96CDE5A}"/>
              </a:ext>
            </a:extLst>
          </p:cNvPr>
          <p:cNvSpPr/>
          <p:nvPr/>
        </p:nvSpPr>
        <p:spPr>
          <a:xfrm>
            <a:off x="817880" y="1017800"/>
            <a:ext cx="10736121" cy="20459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nchorCtr="0"/>
          <a:lstStyle/>
          <a:p>
            <a:r>
              <a:rPr lang="en-US" sz="2000" b="1" u="sng"/>
              <a:t>2025 Goals</a:t>
            </a:r>
          </a:p>
          <a:p>
            <a:pPr marL="342900" indent="-342900">
              <a:buAutoNum type="arabicParenR"/>
            </a:pPr>
            <a:r>
              <a:rPr lang="en-US"/>
              <a:t>Leverage Voices channel to 'introduce' external audiences to select Blue Meridian spokespeople across investments who may later be leveraged in earned media and other public forums</a:t>
            </a:r>
          </a:p>
          <a:p>
            <a:pPr marL="342900" indent="-342900">
              <a:buAutoNum type="arabicParenR"/>
            </a:pPr>
            <a:r>
              <a:rPr lang="en-US"/>
              <a:t>Integrate articulation or examples of Blue Meridian’s “value add” for partners and investees in Voices pieces </a:t>
            </a:r>
          </a:p>
          <a:p>
            <a:pPr marL="342900" indent="-342900">
              <a:buAutoNum type="arabicParenR"/>
            </a:pPr>
            <a:r>
              <a:rPr lang="en-US"/>
              <a:t>Leverage Voices content to increase consistency in LinkedIn Newsletter cadence</a:t>
            </a:r>
          </a:p>
        </p:txBody>
      </p:sp>
      <p:sp>
        <p:nvSpPr>
          <p:cNvPr id="8" name="Rectangle 7">
            <a:extLst>
              <a:ext uri="{FF2B5EF4-FFF2-40B4-BE49-F238E27FC236}">
                <a16:creationId xmlns:a16="http://schemas.microsoft.com/office/drawing/2014/main" id="{DFBACBF7-E502-415B-821A-F3E8DCBB8C75}"/>
              </a:ext>
            </a:extLst>
          </p:cNvPr>
          <p:cNvSpPr/>
          <p:nvPr/>
        </p:nvSpPr>
        <p:spPr>
          <a:xfrm>
            <a:off x="739142" y="3107181"/>
            <a:ext cx="5246992" cy="2758734"/>
          </a:xfrm>
          <a:prstGeom prst="rect">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nchorCtr="0"/>
          <a:lstStyle/>
          <a:p>
            <a:r>
              <a:rPr lang="en-US" sz="2000" b="1" u="sng">
                <a:solidFill>
                  <a:schemeClr val="tx1"/>
                </a:solidFill>
              </a:rPr>
              <a:t>2025 Tactics</a:t>
            </a:r>
            <a:endParaRPr lang="en-US" sz="2000">
              <a:solidFill>
                <a:schemeClr val="tx1"/>
              </a:solidFill>
            </a:endParaRPr>
          </a:p>
          <a:p>
            <a:pPr marL="285750" indent="-285750">
              <a:buFont typeface="Arial" panose="020B0604020202020204" pitchFamily="34" charset="0"/>
              <a:buChar char="•"/>
            </a:pPr>
            <a:r>
              <a:rPr lang="en-US" sz="1600">
                <a:solidFill>
                  <a:schemeClr val="tx1"/>
                </a:solidFill>
              </a:rPr>
              <a:t>Publish 4 Voices pieces – 1 per calendar quarter </a:t>
            </a:r>
          </a:p>
          <a:p>
            <a:pPr marL="285750" indent="-285750">
              <a:buFont typeface="Arial" panose="020B0604020202020204" pitchFamily="34" charset="0"/>
              <a:buChar char="•"/>
            </a:pPr>
            <a:r>
              <a:rPr lang="en-US" sz="1600">
                <a:solidFill>
                  <a:schemeClr val="tx1"/>
                </a:solidFill>
              </a:rPr>
              <a:t>Connect Voices pieces to corporate newsletter topics (diverging if needed to meet comm priority) </a:t>
            </a:r>
          </a:p>
          <a:p>
            <a:pPr marL="285750" indent="-285750">
              <a:buFont typeface="Arial" panose="020B0604020202020204" pitchFamily="34" charset="0"/>
              <a:buChar char="•"/>
            </a:pPr>
            <a:r>
              <a:rPr lang="en-US" sz="1600">
                <a:solidFill>
                  <a:schemeClr val="tx1"/>
                </a:solidFill>
              </a:rPr>
              <a:t>Link to Voices piece from each corporate newsletter, leveraging Staff Spotlight as CTA </a:t>
            </a:r>
          </a:p>
          <a:p>
            <a:pPr marL="285750" indent="-285750">
              <a:buFont typeface="Arial" panose="020B0604020202020204" pitchFamily="34" charset="0"/>
              <a:buChar char="•"/>
            </a:pPr>
            <a:r>
              <a:rPr lang="en-US" sz="1600">
                <a:solidFill>
                  <a:schemeClr val="tx1"/>
                </a:solidFill>
              </a:rPr>
              <a:t>Send Voices piece content via Blue Meridian's corporate LinkedIn Newsletter ~45 days after corporate newsletter send such that we are posting ~6 weeks </a:t>
            </a:r>
          </a:p>
          <a:p>
            <a:pPr lvl="1"/>
            <a:endParaRPr lang="en-US">
              <a:solidFill>
                <a:schemeClr val="tx1"/>
              </a:solidFill>
            </a:endParaRPr>
          </a:p>
          <a:p>
            <a:pPr lvl="1"/>
            <a:endParaRPr lang="en-US">
              <a:solidFill>
                <a:schemeClr val="tx1"/>
              </a:solidFill>
            </a:endParaRPr>
          </a:p>
          <a:p>
            <a:pPr marL="742950" lvl="1" indent="-285750">
              <a:buFont typeface="Arial" panose="020B0604020202020204" pitchFamily="34" charset="0"/>
              <a:buChar char="•"/>
            </a:pPr>
            <a:endParaRPr lang="en-US">
              <a:solidFill>
                <a:schemeClr val="tx1"/>
              </a:solidFill>
            </a:endParaRPr>
          </a:p>
          <a:p>
            <a:pPr lvl="1"/>
            <a:endParaRPr lang="en-US">
              <a:solidFill>
                <a:schemeClr val="tx1"/>
              </a:solidFill>
            </a:endParaRPr>
          </a:p>
        </p:txBody>
      </p:sp>
      <p:sp>
        <p:nvSpPr>
          <p:cNvPr id="10" name="Rectangle 9">
            <a:extLst>
              <a:ext uri="{FF2B5EF4-FFF2-40B4-BE49-F238E27FC236}">
                <a16:creationId xmlns:a16="http://schemas.microsoft.com/office/drawing/2014/main" id="{B16EB543-94AA-A13E-F07B-3F9AA390836F}"/>
              </a:ext>
            </a:extLst>
          </p:cNvPr>
          <p:cNvSpPr/>
          <p:nvPr/>
        </p:nvSpPr>
        <p:spPr>
          <a:xfrm>
            <a:off x="6333463" y="3107181"/>
            <a:ext cx="5216101" cy="2758731"/>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nchorCtr="0"/>
          <a:lstStyle/>
          <a:p>
            <a:r>
              <a:rPr lang="en-US" sz="2000" b="1" u="sng">
                <a:solidFill>
                  <a:schemeClr val="tx1"/>
                </a:solidFill>
              </a:rPr>
              <a:t>2025 Business As Usual</a:t>
            </a:r>
          </a:p>
          <a:p>
            <a:pPr marL="342900" indent="-342900">
              <a:buFont typeface="Arial"/>
              <a:buChar char="•"/>
            </a:pPr>
            <a:r>
              <a:rPr lang="en-US" sz="1600">
                <a:solidFill>
                  <a:schemeClr val="tx1"/>
                </a:solidFill>
              </a:rPr>
              <a:t>Apply unused digital updates for Voices appearance on Bluemeridian.org</a:t>
            </a:r>
          </a:p>
          <a:p>
            <a:pPr marL="342900" indent="-342900">
              <a:buFont typeface="Arial"/>
              <a:buChar char="•"/>
            </a:pPr>
            <a:r>
              <a:rPr lang="en-US" sz="1600">
                <a:solidFill>
                  <a:schemeClr val="tx1"/>
                </a:solidFill>
              </a:rPr>
              <a:t>Utilize B&amp;C's Voices Style Guide to align on content 'types' </a:t>
            </a:r>
          </a:p>
          <a:p>
            <a:pPr marL="342900" indent="-342900">
              <a:buFont typeface="Arial"/>
              <a:buChar char="•"/>
            </a:pPr>
            <a:r>
              <a:rPr lang="en-US" sz="1600">
                <a:solidFill>
                  <a:schemeClr val="tx1"/>
                </a:solidFill>
              </a:rPr>
              <a:t>Repeat 2-month workplan and practices of Voices creation, leveraging West Wing Writers for assistance </a:t>
            </a:r>
          </a:p>
          <a:p>
            <a:pPr marL="342900" indent="-342900">
              <a:buFont typeface="Arial"/>
              <a:buChar char="•"/>
            </a:pPr>
            <a:r>
              <a:rPr lang="en-US" sz="1600">
                <a:solidFill>
                  <a:schemeClr val="tx1"/>
                </a:solidFill>
              </a:rPr>
              <a:t>Report on analytics at 24-hour and 1-month post-publish dates</a:t>
            </a:r>
          </a:p>
          <a:p>
            <a:pPr marL="285750" indent="-285750">
              <a:buFont typeface="Arial" panose="020B0604020202020204" pitchFamily="34" charset="0"/>
              <a:buChar char="•"/>
            </a:pPr>
            <a:endParaRPr lang="en-US" sz="1600">
              <a:solidFill>
                <a:schemeClr val="tx1"/>
              </a:solidFill>
            </a:endParaRPr>
          </a:p>
          <a:p>
            <a:pPr marL="285750" indent="-285750">
              <a:buFont typeface="Arial" panose="020B0604020202020204" pitchFamily="34" charset="0"/>
              <a:buChar char="•"/>
            </a:pPr>
            <a:endParaRPr lang="en-US">
              <a:solidFill>
                <a:schemeClr val="tx1"/>
              </a:solidFill>
            </a:endParaRPr>
          </a:p>
          <a:p>
            <a:pPr lvl="1"/>
            <a:endParaRPr lang="en-US">
              <a:solidFill>
                <a:schemeClr val="tx1"/>
              </a:solidFill>
            </a:endParaRPr>
          </a:p>
        </p:txBody>
      </p:sp>
      <p:cxnSp>
        <p:nvCxnSpPr>
          <p:cNvPr id="12" name="Straight Connector 11">
            <a:extLst>
              <a:ext uri="{FF2B5EF4-FFF2-40B4-BE49-F238E27FC236}">
                <a16:creationId xmlns:a16="http://schemas.microsoft.com/office/drawing/2014/main" id="{0C3E7C77-E06C-6B08-2E1D-547B8B917D17}"/>
              </a:ext>
            </a:extLst>
          </p:cNvPr>
          <p:cNvCxnSpPr>
            <a:cxnSpLocks/>
          </p:cNvCxnSpPr>
          <p:nvPr/>
        </p:nvCxnSpPr>
        <p:spPr>
          <a:xfrm>
            <a:off x="808074" y="967563"/>
            <a:ext cx="1138392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46595092-3433-8E65-968C-AB8D6D4A2B6B}"/>
              </a:ext>
            </a:extLst>
          </p:cNvPr>
          <p:cNvSpPr/>
          <p:nvPr/>
        </p:nvSpPr>
        <p:spPr>
          <a:xfrm>
            <a:off x="8631936" y="1688"/>
            <a:ext cx="3560064" cy="56523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CONTINUE &amp; ENHANCE</a:t>
            </a:r>
          </a:p>
        </p:txBody>
      </p:sp>
    </p:spTree>
    <p:extLst>
      <p:ext uri="{BB962C8B-B14F-4D97-AF65-F5344CB8AC3E}">
        <p14:creationId xmlns:p14="http://schemas.microsoft.com/office/powerpoint/2010/main" val="1816909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1076B-F20D-01C3-76EE-6991B2B9C4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E56D3-74C7-310F-9B95-093DBEE83340}"/>
              </a:ext>
            </a:extLst>
          </p:cNvPr>
          <p:cNvSpPr>
            <a:spLocks noGrp="1"/>
          </p:cNvSpPr>
          <p:nvPr>
            <p:ph type="title"/>
          </p:nvPr>
        </p:nvSpPr>
        <p:spPr/>
        <p:txBody>
          <a:bodyPr/>
          <a:lstStyle/>
          <a:p>
            <a:r>
              <a:rPr lang="en-US">
                <a:latin typeface="LeMonde Livre"/>
              </a:rPr>
              <a:t>Website </a:t>
            </a:r>
            <a:endParaRPr lang="en-US"/>
          </a:p>
        </p:txBody>
      </p:sp>
      <p:sp>
        <p:nvSpPr>
          <p:cNvPr id="4" name="Date Placeholder 3">
            <a:extLst>
              <a:ext uri="{FF2B5EF4-FFF2-40B4-BE49-F238E27FC236}">
                <a16:creationId xmlns:a16="http://schemas.microsoft.com/office/drawing/2014/main" id="{D1F47F3A-C717-398F-C315-E033F3517672}"/>
              </a:ext>
            </a:extLst>
          </p:cNvPr>
          <p:cNvSpPr>
            <a:spLocks noGrp="1"/>
          </p:cNvSpPr>
          <p:nvPr>
            <p:ph type="dt" sz="half" idx="10"/>
          </p:nvPr>
        </p:nvSpPr>
        <p:spPr/>
        <p:txBody>
          <a:bodyPr/>
          <a:lstStyle/>
          <a:p>
            <a:fld id="{8DB92475-3296-4345-824D-7D38AF573589}" type="datetime1">
              <a:rPr lang="en-US"/>
              <a:t>5/30/2025</a:t>
            </a:fld>
            <a:endParaRPr lang="en-US"/>
          </a:p>
        </p:txBody>
      </p:sp>
      <p:sp>
        <p:nvSpPr>
          <p:cNvPr id="6" name="Rectangle 5">
            <a:extLst>
              <a:ext uri="{FF2B5EF4-FFF2-40B4-BE49-F238E27FC236}">
                <a16:creationId xmlns:a16="http://schemas.microsoft.com/office/drawing/2014/main" id="{60234999-78CE-8A99-51A7-EB25C40529D9}"/>
              </a:ext>
            </a:extLst>
          </p:cNvPr>
          <p:cNvSpPr/>
          <p:nvPr/>
        </p:nvSpPr>
        <p:spPr>
          <a:xfrm>
            <a:off x="817880" y="1017800"/>
            <a:ext cx="10736121" cy="20459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nchorCtr="0"/>
          <a:lstStyle/>
          <a:p>
            <a:r>
              <a:rPr lang="en-US" sz="2000" b="1" u="sng"/>
              <a:t>2025 Goals</a:t>
            </a:r>
          </a:p>
          <a:p>
            <a:pPr marL="342900" indent="-342900">
              <a:buAutoNum type="arabicParenR"/>
            </a:pPr>
            <a:r>
              <a:rPr lang="en-US"/>
              <a:t>Refresh website design and UX to align with organizational comms strategy, including but not limited to reducing focus on portfolios, landing a new design and adding space to share value adds for Partners and Investees</a:t>
            </a:r>
          </a:p>
          <a:p>
            <a:pPr marL="342900" indent="-342900">
              <a:buAutoNum type="arabicParenR"/>
            </a:pPr>
            <a:r>
              <a:rPr lang="en-US"/>
              <a:t>Develop/add site features that support executive visibility and thought leadership efforts</a:t>
            </a:r>
          </a:p>
          <a:p>
            <a:pPr marL="342900" indent="-342900">
              <a:buAutoNum type="arabicParenR"/>
            </a:pPr>
            <a:r>
              <a:rPr lang="en-US"/>
              <a:t>Update messaging throughout site to align with external context and messaging updates</a:t>
            </a:r>
          </a:p>
        </p:txBody>
      </p:sp>
      <p:sp>
        <p:nvSpPr>
          <p:cNvPr id="8" name="Rectangle 7">
            <a:extLst>
              <a:ext uri="{FF2B5EF4-FFF2-40B4-BE49-F238E27FC236}">
                <a16:creationId xmlns:a16="http://schemas.microsoft.com/office/drawing/2014/main" id="{F9A804C7-0D8F-5631-F2CB-1BF64366215C}"/>
              </a:ext>
            </a:extLst>
          </p:cNvPr>
          <p:cNvSpPr/>
          <p:nvPr/>
        </p:nvSpPr>
        <p:spPr>
          <a:xfrm>
            <a:off x="739142" y="3107181"/>
            <a:ext cx="5246992" cy="2758734"/>
          </a:xfrm>
          <a:prstGeom prst="rect">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nchorCtr="0"/>
          <a:lstStyle/>
          <a:p>
            <a:r>
              <a:rPr lang="en-US" sz="2000" b="1" u="sng">
                <a:solidFill>
                  <a:schemeClr val="tx1"/>
                </a:solidFill>
              </a:rPr>
              <a:t>2025 Tactics</a:t>
            </a:r>
            <a:endParaRPr lang="en-US" sz="2000">
              <a:solidFill>
                <a:schemeClr val="tx1"/>
              </a:solidFill>
            </a:endParaRPr>
          </a:p>
          <a:p>
            <a:pPr marL="285750" indent="-285750">
              <a:buFont typeface="Arial" panose="020B0604020202020204" pitchFamily="34" charset="0"/>
              <a:buChar char="•"/>
            </a:pPr>
            <a:r>
              <a:rPr lang="en-US" sz="1600">
                <a:solidFill>
                  <a:schemeClr val="tx1"/>
                </a:solidFill>
              </a:rPr>
              <a:t>Land and Execute User Testing on BlueMeridian.org</a:t>
            </a:r>
          </a:p>
          <a:p>
            <a:pPr marL="285750" indent="-285750">
              <a:buFont typeface="Arial" panose="020B0604020202020204" pitchFamily="34" charset="0"/>
              <a:buChar char="•"/>
            </a:pPr>
            <a:r>
              <a:rPr lang="en-US" sz="1600">
                <a:solidFill>
                  <a:schemeClr val="tx1"/>
                </a:solidFill>
              </a:rPr>
              <a:t>Conduct UI Mapping Exploration </a:t>
            </a:r>
          </a:p>
          <a:p>
            <a:pPr marL="285750" indent="-285750">
              <a:buFont typeface="Arial" panose="020B0604020202020204" pitchFamily="34" charset="0"/>
              <a:buChar char="•"/>
            </a:pPr>
            <a:r>
              <a:rPr lang="en-US" sz="1600">
                <a:solidFill>
                  <a:schemeClr val="tx1"/>
                </a:solidFill>
              </a:rPr>
              <a:t>Work with consultant and internal teams to design and develop website 3.0 </a:t>
            </a:r>
          </a:p>
          <a:p>
            <a:pPr marL="285750" indent="-285750">
              <a:buFont typeface="Arial" panose="020B0604020202020204" pitchFamily="34" charset="0"/>
              <a:buChar char="•"/>
            </a:pPr>
            <a:endParaRPr lang="en-US" sz="1600">
              <a:solidFill>
                <a:schemeClr val="tx1"/>
              </a:solidFill>
            </a:endParaRPr>
          </a:p>
          <a:p>
            <a:pPr lvl="1"/>
            <a:endParaRPr lang="en-US">
              <a:solidFill>
                <a:schemeClr val="tx1"/>
              </a:solidFill>
            </a:endParaRPr>
          </a:p>
          <a:p>
            <a:pPr lvl="1"/>
            <a:endParaRPr lang="en-US">
              <a:solidFill>
                <a:schemeClr val="tx1"/>
              </a:solidFill>
            </a:endParaRPr>
          </a:p>
          <a:p>
            <a:pPr marL="742950" lvl="1" indent="-285750">
              <a:buFont typeface="Arial" panose="020B0604020202020204" pitchFamily="34" charset="0"/>
              <a:buChar char="•"/>
            </a:pPr>
            <a:endParaRPr lang="en-US">
              <a:solidFill>
                <a:schemeClr val="tx1"/>
              </a:solidFill>
            </a:endParaRPr>
          </a:p>
          <a:p>
            <a:pPr lvl="1"/>
            <a:endParaRPr lang="en-US">
              <a:solidFill>
                <a:schemeClr val="tx1"/>
              </a:solidFill>
            </a:endParaRPr>
          </a:p>
        </p:txBody>
      </p:sp>
      <p:sp>
        <p:nvSpPr>
          <p:cNvPr id="10" name="Rectangle 9">
            <a:extLst>
              <a:ext uri="{FF2B5EF4-FFF2-40B4-BE49-F238E27FC236}">
                <a16:creationId xmlns:a16="http://schemas.microsoft.com/office/drawing/2014/main" id="{442369F7-A8E8-7688-DD40-30EF9F56806A}"/>
              </a:ext>
            </a:extLst>
          </p:cNvPr>
          <p:cNvSpPr/>
          <p:nvPr/>
        </p:nvSpPr>
        <p:spPr>
          <a:xfrm>
            <a:off x="6333463" y="3107181"/>
            <a:ext cx="5216101" cy="2758731"/>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nchorCtr="0"/>
          <a:lstStyle/>
          <a:p>
            <a:r>
              <a:rPr lang="en-US" sz="2000" b="1" u="sng">
                <a:solidFill>
                  <a:schemeClr val="tx1"/>
                </a:solidFill>
              </a:rPr>
              <a:t>2025 Business As Usual</a:t>
            </a:r>
          </a:p>
          <a:p>
            <a:pPr marL="342900" indent="-342900">
              <a:buFont typeface="Arial"/>
              <a:buChar char="•"/>
            </a:pPr>
            <a:r>
              <a:rPr lang="en-US" sz="1600">
                <a:solidFill>
                  <a:schemeClr val="tx1"/>
                </a:solidFill>
              </a:rPr>
              <a:t>Daily CMS additions as needed – IE. News Items, new staff members, etc. </a:t>
            </a:r>
          </a:p>
          <a:p>
            <a:pPr marL="342900" indent="-342900">
              <a:buFont typeface="Arial"/>
              <a:buChar char="•"/>
            </a:pPr>
            <a:r>
              <a:rPr lang="en-US" sz="1600">
                <a:solidFill>
                  <a:schemeClr val="tx1"/>
                </a:solidFill>
              </a:rPr>
              <a:t>Report on analytics quarterly </a:t>
            </a:r>
          </a:p>
          <a:p>
            <a:pPr marL="342900" indent="-342900">
              <a:buFont typeface="Arial"/>
              <a:buChar char="•"/>
            </a:pPr>
            <a:r>
              <a:rPr lang="en-US" sz="1600">
                <a:solidFill>
                  <a:schemeClr val="tx1"/>
                </a:solidFill>
              </a:rPr>
              <a:t>Revitalize 'analytics storytelling' to gather information on specific pages, user paths, and more based on hypothesis</a:t>
            </a:r>
          </a:p>
          <a:p>
            <a:pPr marL="342900" indent="-342900">
              <a:buFont typeface="Arial"/>
              <a:buChar char="•"/>
            </a:pPr>
            <a:r>
              <a:rPr lang="en-US" sz="1600">
                <a:solidFill>
                  <a:schemeClr val="tx1"/>
                </a:solidFill>
              </a:rPr>
              <a:t>Leverage analytics to improve UX</a:t>
            </a:r>
          </a:p>
          <a:p>
            <a:pPr marL="285750" indent="-285750">
              <a:buFont typeface="Arial" panose="020B0604020202020204" pitchFamily="34" charset="0"/>
              <a:buChar char="•"/>
            </a:pPr>
            <a:endParaRPr lang="en-US">
              <a:solidFill>
                <a:schemeClr val="tx1"/>
              </a:solidFill>
            </a:endParaRPr>
          </a:p>
          <a:p>
            <a:pPr lvl="1"/>
            <a:endParaRPr lang="en-US">
              <a:solidFill>
                <a:schemeClr val="tx1"/>
              </a:solidFill>
            </a:endParaRPr>
          </a:p>
        </p:txBody>
      </p:sp>
      <p:cxnSp>
        <p:nvCxnSpPr>
          <p:cNvPr id="12" name="Straight Connector 11">
            <a:extLst>
              <a:ext uri="{FF2B5EF4-FFF2-40B4-BE49-F238E27FC236}">
                <a16:creationId xmlns:a16="http://schemas.microsoft.com/office/drawing/2014/main" id="{4D9EC1AE-F5E5-B241-DA50-AAEBA71510C2}"/>
              </a:ext>
            </a:extLst>
          </p:cNvPr>
          <p:cNvCxnSpPr>
            <a:cxnSpLocks/>
          </p:cNvCxnSpPr>
          <p:nvPr/>
        </p:nvCxnSpPr>
        <p:spPr>
          <a:xfrm>
            <a:off x="808074" y="967563"/>
            <a:ext cx="1138392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2C2A291-1BE9-DB55-A2D1-95523A4F6D65}"/>
              </a:ext>
            </a:extLst>
          </p:cNvPr>
          <p:cNvSpPr/>
          <p:nvPr/>
        </p:nvSpPr>
        <p:spPr>
          <a:xfrm>
            <a:off x="8631936" y="1688"/>
            <a:ext cx="3560064" cy="56523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CONTINUE &amp; ENHANCE</a:t>
            </a:r>
          </a:p>
        </p:txBody>
      </p:sp>
    </p:spTree>
    <p:extLst>
      <p:ext uri="{BB962C8B-B14F-4D97-AF65-F5344CB8AC3E}">
        <p14:creationId xmlns:p14="http://schemas.microsoft.com/office/powerpoint/2010/main" val="20834931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21C768D-0DCD-FB7E-710F-41B85E740636}"/>
              </a:ext>
            </a:extLst>
          </p:cNvPr>
          <p:cNvSpPr>
            <a:spLocks noGrp="1"/>
          </p:cNvSpPr>
          <p:nvPr>
            <p:ph type="title"/>
          </p:nvPr>
        </p:nvSpPr>
        <p:spPr>
          <a:xfrm>
            <a:off x="721084" y="-4338"/>
            <a:ext cx="10515600" cy="1325563"/>
          </a:xfrm>
        </p:spPr>
        <p:txBody>
          <a:bodyPr/>
          <a:lstStyle/>
          <a:p>
            <a:r>
              <a:rPr lang="en-US">
                <a:latin typeface="LeMonde Livre"/>
              </a:rPr>
              <a:t>Social Media</a:t>
            </a:r>
            <a:endParaRPr lang="en-US"/>
          </a:p>
        </p:txBody>
      </p:sp>
      <p:sp>
        <p:nvSpPr>
          <p:cNvPr id="6" name="Rectangle 5">
            <a:extLst>
              <a:ext uri="{FF2B5EF4-FFF2-40B4-BE49-F238E27FC236}">
                <a16:creationId xmlns:a16="http://schemas.microsoft.com/office/drawing/2014/main" id="{C8A0CE49-7771-77DA-EF2C-C0E907F9723C}"/>
              </a:ext>
            </a:extLst>
          </p:cNvPr>
          <p:cNvSpPr/>
          <p:nvPr/>
        </p:nvSpPr>
        <p:spPr>
          <a:xfrm>
            <a:off x="759735" y="1028097"/>
            <a:ext cx="10783969" cy="15310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2000" b="1" u="sng"/>
              <a:t>2025 Goals</a:t>
            </a:r>
          </a:p>
          <a:p>
            <a:pPr marL="342900" indent="-342900">
              <a:buAutoNum type="arabicParenR"/>
            </a:pPr>
            <a:r>
              <a:rPr lang="en-US"/>
              <a:t>Amplify the achievements of Blue Meridian investees </a:t>
            </a:r>
          </a:p>
          <a:p>
            <a:pPr marL="342900" indent="-342900">
              <a:buAutoNum type="arabicParenR"/>
            </a:pPr>
            <a:r>
              <a:rPr lang="en-US"/>
              <a:t>Amplify Blue Meridian’s thought leadership and the “voices” of management team</a:t>
            </a:r>
          </a:p>
          <a:p>
            <a:pPr marL="342900" indent="-342900">
              <a:buAutoNum type="arabicParenR"/>
            </a:pPr>
            <a:r>
              <a:rPr lang="en-US"/>
              <a:t>Grow social media audiences among targeted influencers especially on LinkedIn: financial services industry and Partners’ philanthropic institution employees</a:t>
            </a:r>
          </a:p>
          <a:p>
            <a:pPr marL="342900" indent="-342900">
              <a:buAutoNum type="arabicParenR"/>
            </a:pPr>
            <a:endParaRPr lang="en-US"/>
          </a:p>
        </p:txBody>
      </p:sp>
      <p:sp>
        <p:nvSpPr>
          <p:cNvPr id="8" name="Rectangle 7">
            <a:extLst>
              <a:ext uri="{FF2B5EF4-FFF2-40B4-BE49-F238E27FC236}">
                <a16:creationId xmlns:a16="http://schemas.microsoft.com/office/drawing/2014/main" id="{245A9BD1-2590-19EB-D853-F1C12A99F8CA}"/>
              </a:ext>
            </a:extLst>
          </p:cNvPr>
          <p:cNvSpPr/>
          <p:nvPr/>
        </p:nvSpPr>
        <p:spPr>
          <a:xfrm>
            <a:off x="739142" y="2695289"/>
            <a:ext cx="5246992" cy="2758734"/>
          </a:xfrm>
          <a:prstGeom prst="rect">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nchorCtr="0"/>
          <a:lstStyle/>
          <a:p>
            <a:r>
              <a:rPr lang="en-US" sz="2000" b="1" u="sng">
                <a:solidFill>
                  <a:schemeClr val="tx1"/>
                </a:solidFill>
              </a:rPr>
              <a:t>2025 Tactics</a:t>
            </a:r>
            <a:endParaRPr lang="en-US" sz="2000">
              <a:solidFill>
                <a:schemeClr val="tx1"/>
              </a:solidFill>
            </a:endParaRPr>
          </a:p>
          <a:p>
            <a:pPr marL="285750" indent="-285750">
              <a:buFont typeface="Arial" panose="020B0604020202020204" pitchFamily="34" charset="0"/>
              <a:buChar char="•"/>
            </a:pPr>
            <a:r>
              <a:rPr lang="en-US" sz="1600">
                <a:solidFill>
                  <a:schemeClr val="tx1"/>
                </a:solidFill>
              </a:rPr>
              <a:t>Initiate paid promotion plan to reach desired audiences and convert them to followers </a:t>
            </a:r>
          </a:p>
          <a:p>
            <a:pPr marL="285750" indent="-285750">
              <a:buFont typeface="Arial" panose="020B0604020202020204" pitchFamily="34" charset="0"/>
              <a:buChar char="•"/>
            </a:pPr>
            <a:r>
              <a:rPr lang="en-US" sz="1600">
                <a:solidFill>
                  <a:schemeClr val="tx1"/>
                </a:solidFill>
              </a:rPr>
              <a:t>Launch Content Organization Framework, focusing on LinkedIn</a:t>
            </a:r>
          </a:p>
          <a:p>
            <a:pPr marL="285750" indent="-285750">
              <a:buFont typeface="Arial" panose="020B0604020202020204" pitchFamily="34" charset="0"/>
              <a:buChar char="•"/>
            </a:pPr>
            <a:r>
              <a:rPr lang="en-US" sz="1600">
                <a:solidFill>
                  <a:schemeClr val="tx1"/>
                </a:solidFill>
              </a:rPr>
              <a:t>Share Newsletter and Voices content via LinkedIn (on platform newsletter) following corporate send</a:t>
            </a:r>
          </a:p>
          <a:p>
            <a:pPr marL="285750" indent="-285750">
              <a:buFont typeface="Arial" panose="020B0604020202020204" pitchFamily="34" charset="0"/>
              <a:buChar char="•"/>
            </a:pPr>
            <a:r>
              <a:rPr lang="en-US" sz="1600">
                <a:solidFill>
                  <a:schemeClr val="tx1"/>
                </a:solidFill>
              </a:rPr>
              <a:t>Consider and Land Platform Usage: </a:t>
            </a:r>
          </a:p>
          <a:p>
            <a:pPr marL="742950" lvl="1" indent="-285750">
              <a:buFont typeface="Arial" panose="020B0604020202020204" pitchFamily="34" charset="0"/>
              <a:buChar char="•"/>
            </a:pPr>
            <a:r>
              <a:rPr lang="en-US" sz="1600">
                <a:solidFill>
                  <a:schemeClr val="tx1"/>
                </a:solidFill>
              </a:rPr>
              <a:t>Presence on X</a:t>
            </a:r>
          </a:p>
          <a:p>
            <a:pPr marL="742950" lvl="1" indent="-285750">
              <a:buFont typeface="Arial" panose="020B0604020202020204" pitchFamily="34" charset="0"/>
              <a:buChar char="•"/>
            </a:pPr>
            <a:r>
              <a:rPr lang="en-US" sz="1600">
                <a:solidFill>
                  <a:schemeClr val="tx1"/>
                </a:solidFill>
              </a:rPr>
              <a:t>Addition of Bluesky</a:t>
            </a:r>
          </a:p>
          <a:p>
            <a:pPr marL="742950" lvl="1" indent="-285750">
              <a:buFont typeface="Arial" panose="020B0604020202020204" pitchFamily="34" charset="0"/>
              <a:buChar char="•"/>
            </a:pPr>
            <a:r>
              <a:rPr lang="en-US" sz="1600">
                <a:solidFill>
                  <a:schemeClr val="tx1"/>
                </a:solidFill>
              </a:rPr>
              <a:t>Addition of Instagram </a:t>
            </a:r>
          </a:p>
          <a:p>
            <a:pPr lvl="1"/>
            <a:endParaRPr lang="en-US">
              <a:solidFill>
                <a:schemeClr val="tx1"/>
              </a:solidFill>
            </a:endParaRPr>
          </a:p>
          <a:p>
            <a:pPr lvl="1"/>
            <a:endParaRPr lang="en-US">
              <a:solidFill>
                <a:schemeClr val="tx1"/>
              </a:solidFill>
            </a:endParaRPr>
          </a:p>
          <a:p>
            <a:pPr marL="742950" lvl="1" indent="-285750">
              <a:buFont typeface="Arial" panose="020B0604020202020204" pitchFamily="34" charset="0"/>
              <a:buChar char="•"/>
            </a:pPr>
            <a:endParaRPr lang="en-US">
              <a:solidFill>
                <a:schemeClr val="tx1"/>
              </a:solidFill>
            </a:endParaRPr>
          </a:p>
          <a:p>
            <a:pPr lvl="1"/>
            <a:endParaRPr lang="en-US">
              <a:solidFill>
                <a:schemeClr val="tx1"/>
              </a:solidFill>
            </a:endParaRPr>
          </a:p>
        </p:txBody>
      </p:sp>
      <p:sp>
        <p:nvSpPr>
          <p:cNvPr id="9" name="Rectangle 8">
            <a:extLst>
              <a:ext uri="{FF2B5EF4-FFF2-40B4-BE49-F238E27FC236}">
                <a16:creationId xmlns:a16="http://schemas.microsoft.com/office/drawing/2014/main" id="{0839A685-5B21-B22B-688E-352559735969}"/>
              </a:ext>
            </a:extLst>
          </p:cNvPr>
          <p:cNvSpPr/>
          <p:nvPr/>
        </p:nvSpPr>
        <p:spPr>
          <a:xfrm>
            <a:off x="6333463" y="2695289"/>
            <a:ext cx="5216101" cy="2758731"/>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nchorCtr="0"/>
          <a:lstStyle/>
          <a:p>
            <a:r>
              <a:rPr lang="en-US" sz="2000" b="1" u="sng">
                <a:solidFill>
                  <a:schemeClr val="tx1"/>
                </a:solidFill>
              </a:rPr>
              <a:t>2025 Business As Usual</a:t>
            </a:r>
          </a:p>
          <a:p>
            <a:pPr marL="285750" indent="-285750">
              <a:buFont typeface="Arial" panose="020B0604020202020204" pitchFamily="34" charset="0"/>
              <a:buChar char="•"/>
            </a:pPr>
            <a:r>
              <a:rPr lang="en-US" sz="1600">
                <a:solidFill>
                  <a:schemeClr val="tx1"/>
                </a:solidFill>
              </a:rPr>
              <a:t>Post daily according to Content Organization Framework </a:t>
            </a:r>
          </a:p>
          <a:p>
            <a:pPr marL="742950" lvl="1" indent="-285750">
              <a:buFont typeface="Arial" panose="020B0604020202020204" pitchFamily="34" charset="0"/>
              <a:buChar char="•"/>
            </a:pPr>
            <a:r>
              <a:rPr lang="en-US" sz="1600">
                <a:solidFill>
                  <a:schemeClr val="tx1"/>
                </a:solidFill>
              </a:rPr>
              <a:t>Leverage daily news monitoring</a:t>
            </a:r>
          </a:p>
          <a:p>
            <a:pPr marL="742950" lvl="1" indent="-285750">
              <a:buFont typeface="Arial" panose="020B0604020202020204" pitchFamily="34" charset="0"/>
              <a:buChar char="•"/>
            </a:pPr>
            <a:r>
              <a:rPr lang="en-US" sz="1600">
                <a:solidFill>
                  <a:schemeClr val="tx1"/>
                </a:solidFill>
              </a:rPr>
              <a:t>Leverage Blue Meridian messaging</a:t>
            </a:r>
          </a:p>
          <a:p>
            <a:pPr marL="742950" lvl="1" indent="-285750">
              <a:buFont typeface="Arial" panose="020B0604020202020204" pitchFamily="34" charset="0"/>
              <a:buChar char="•"/>
            </a:pPr>
            <a:r>
              <a:rPr lang="en-US" sz="1600">
                <a:solidFill>
                  <a:schemeClr val="tx1"/>
                </a:solidFill>
              </a:rPr>
              <a:t>Leverage approved video snapshots</a:t>
            </a:r>
          </a:p>
          <a:p>
            <a:pPr marL="285750" indent="-285750">
              <a:buFont typeface="Arial" panose="020B0604020202020204" pitchFamily="34" charset="0"/>
              <a:buChar char="•"/>
            </a:pPr>
            <a:r>
              <a:rPr lang="en-US" sz="1600">
                <a:solidFill>
                  <a:schemeClr val="tx1"/>
                </a:solidFill>
              </a:rPr>
              <a:t>Share posts from our community daily</a:t>
            </a:r>
          </a:p>
          <a:p>
            <a:pPr marL="285750" indent="-285750">
              <a:buFont typeface="Arial" panose="020B0604020202020204" pitchFamily="34" charset="0"/>
              <a:buChar char="•"/>
            </a:pPr>
            <a:r>
              <a:rPr lang="en-US" sz="1600">
                <a:solidFill>
                  <a:schemeClr val="tx1"/>
                </a:solidFill>
              </a:rPr>
              <a:t>Engage in Social Listening practices on Tuesdays and Thursday, with a focus on LinkedIn</a:t>
            </a:r>
          </a:p>
        </p:txBody>
      </p:sp>
      <p:cxnSp>
        <p:nvCxnSpPr>
          <p:cNvPr id="11" name="Straight Connector 10">
            <a:extLst>
              <a:ext uri="{FF2B5EF4-FFF2-40B4-BE49-F238E27FC236}">
                <a16:creationId xmlns:a16="http://schemas.microsoft.com/office/drawing/2014/main" id="{4B506592-9F15-AC3D-59F2-FDFD88E31E79}"/>
              </a:ext>
            </a:extLst>
          </p:cNvPr>
          <p:cNvCxnSpPr>
            <a:cxnSpLocks/>
          </p:cNvCxnSpPr>
          <p:nvPr/>
        </p:nvCxnSpPr>
        <p:spPr>
          <a:xfrm>
            <a:off x="808074" y="967563"/>
            <a:ext cx="1138392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0143F375-C41B-A0F9-0452-3FEDF920CEA6}"/>
              </a:ext>
            </a:extLst>
          </p:cNvPr>
          <p:cNvSpPr/>
          <p:nvPr/>
        </p:nvSpPr>
        <p:spPr>
          <a:xfrm>
            <a:off x="729255" y="5570780"/>
            <a:ext cx="10842115" cy="420065"/>
          </a:xfrm>
          <a:prstGeom prst="rect">
            <a:avLst/>
          </a:prstGeom>
          <a:solidFill>
            <a:schemeClr val="bg1">
              <a:lumMod val="8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000" b="1" u="sng">
                <a:solidFill>
                  <a:schemeClr val="tx1"/>
                </a:solidFill>
              </a:rPr>
              <a:t>KPIs</a:t>
            </a:r>
          </a:p>
          <a:p>
            <a:r>
              <a:rPr lang="en-US" sz="1100">
                <a:solidFill>
                  <a:schemeClr val="tx1"/>
                </a:solidFill>
              </a:rPr>
              <a:t>LinkedIn Engagement Rate over 5% + Quality new followers on LinkedIn from desired industries and organizations + Platform Usage Landed and Applied by June1</a:t>
            </a:r>
          </a:p>
        </p:txBody>
      </p:sp>
      <p:sp>
        <p:nvSpPr>
          <p:cNvPr id="3" name="Rectangle 2">
            <a:extLst>
              <a:ext uri="{FF2B5EF4-FFF2-40B4-BE49-F238E27FC236}">
                <a16:creationId xmlns:a16="http://schemas.microsoft.com/office/drawing/2014/main" id="{F1D55731-CA39-7BEE-D5DA-855F212C2740}"/>
              </a:ext>
            </a:extLst>
          </p:cNvPr>
          <p:cNvSpPr/>
          <p:nvPr/>
        </p:nvSpPr>
        <p:spPr>
          <a:xfrm>
            <a:off x="8631936" y="1688"/>
            <a:ext cx="3560064" cy="56523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CONTINUE &amp; ENHANCE</a:t>
            </a:r>
          </a:p>
        </p:txBody>
      </p:sp>
    </p:spTree>
    <p:extLst>
      <p:ext uri="{BB962C8B-B14F-4D97-AF65-F5344CB8AC3E}">
        <p14:creationId xmlns:p14="http://schemas.microsoft.com/office/powerpoint/2010/main" val="38619825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033E9F-6291-9964-F5D4-D983C6DCD465}"/>
              </a:ext>
            </a:extLst>
          </p:cNvPr>
          <p:cNvSpPr>
            <a:spLocks noGrp="1"/>
          </p:cNvSpPr>
          <p:nvPr>
            <p:ph idx="1"/>
          </p:nvPr>
        </p:nvSpPr>
        <p:spPr>
          <a:xfrm>
            <a:off x="812800" y="902424"/>
            <a:ext cx="7021846" cy="5079275"/>
          </a:xfrm>
        </p:spPr>
        <p:txBody>
          <a:bodyPr vert="horz" lIns="91440" tIns="45720" rIns="91440" bIns="45720" rtlCol="0" anchor="t">
            <a:noAutofit/>
          </a:bodyPr>
          <a:lstStyle/>
          <a:p>
            <a:pPr marL="0" indent="0">
              <a:buNone/>
            </a:pPr>
            <a:r>
              <a:rPr lang="en-US" sz="1200">
                <a:latin typeface="Camphor Std"/>
              </a:rPr>
              <a:t>High net worth individuals in the U.S. increasingly rely on digital and social channels for actionable information: </a:t>
            </a:r>
          </a:p>
          <a:p>
            <a:pPr>
              <a:buFont typeface="Wingdings" pitchFamily="2" charset="2"/>
              <a:buChar char="§"/>
            </a:pPr>
            <a:r>
              <a:rPr lang="en-US" sz="1200">
                <a:latin typeface="Camphor Std"/>
              </a:rPr>
              <a:t>70% of U.S. HNWIs use social media, and their usage is high across all asset ranges — from affluent to über affluent. </a:t>
            </a:r>
          </a:p>
          <a:p>
            <a:pPr>
              <a:buFont typeface="Wingdings" pitchFamily="2" charset="2"/>
              <a:buChar char="§"/>
            </a:pPr>
            <a:r>
              <a:rPr lang="en-US" sz="1200">
                <a:latin typeface="Camphor Std"/>
              </a:rPr>
              <a:t>Most HNWIs tend to access social media via a desktop computer (66%), while nearly half access social media via tablet and 2 in 5 access via mobile. </a:t>
            </a:r>
          </a:p>
          <a:p>
            <a:pPr>
              <a:buFont typeface="Wingdings" pitchFamily="2" charset="2"/>
              <a:buChar char="§"/>
            </a:pPr>
            <a:r>
              <a:rPr lang="en-US" sz="1200" b="1">
                <a:latin typeface="Camphor Std"/>
              </a:rPr>
              <a:t>Among those that access social media from desktop, 67% access LinkedIn via desktop weekly</a:t>
            </a:r>
            <a:r>
              <a:rPr lang="en-US" sz="1200">
                <a:latin typeface="Camphor Std"/>
              </a:rPr>
              <a:t>.</a:t>
            </a:r>
          </a:p>
          <a:p>
            <a:pPr>
              <a:buFont typeface="Wingdings" pitchFamily="2" charset="2"/>
              <a:buChar char="§"/>
            </a:pPr>
            <a:r>
              <a:rPr lang="en-US" sz="1200">
                <a:latin typeface="Camphor Std"/>
              </a:rPr>
              <a:t>The vast majority use LinkedIn to connect with and read updates or posts from business colleagues.</a:t>
            </a:r>
          </a:p>
          <a:p>
            <a:pPr>
              <a:buFont typeface="Wingdings" pitchFamily="2" charset="2"/>
              <a:buChar char="§"/>
            </a:pPr>
            <a:r>
              <a:rPr lang="en-US" sz="1200">
                <a:latin typeface="Camphor Std"/>
              </a:rPr>
              <a:t>When looking for specific types of financial-related information on LinkedIn, 42% of U.S. HNWIs primarily seek “bigger picture” financial information such as market or economic commentary.</a:t>
            </a:r>
          </a:p>
          <a:p>
            <a:pPr marL="228600" lvl="1" indent="0">
              <a:buNone/>
            </a:pPr>
            <a:endParaRPr lang="en-US" sz="1200"/>
          </a:p>
          <a:p>
            <a:pPr marL="0" lvl="1" indent="0">
              <a:spcBef>
                <a:spcPts val="1000"/>
              </a:spcBef>
              <a:buNone/>
            </a:pPr>
            <a:r>
              <a:rPr lang="en-US" sz="1200">
                <a:latin typeface="Camphor Std"/>
              </a:rPr>
              <a:t>With a $30 trillion financial and non-financial intergenerational wealth transfer expected over the next 35 years, this represents a significant opportunity for financial institutions to educate the next generation of HNWIs. </a:t>
            </a:r>
          </a:p>
          <a:p>
            <a:pPr marL="171450" lvl="1" indent="-171450">
              <a:spcBef>
                <a:spcPts val="1000"/>
              </a:spcBef>
            </a:pPr>
            <a:r>
              <a:rPr lang="en-US" sz="1200">
                <a:latin typeface="Camphor Std"/>
              </a:rPr>
              <a:t>To reach this younger audience, digital will be critical as 77% of those under 40 expect to use digital channels to manage their wealth portfolios.</a:t>
            </a:r>
            <a:endParaRPr lang="en-US" sz="1200"/>
          </a:p>
          <a:p>
            <a:pPr marL="0" lvl="1" indent="0">
              <a:spcBef>
                <a:spcPts val="1000"/>
              </a:spcBef>
              <a:buNone/>
            </a:pPr>
            <a:endParaRPr lang="en-US" sz="1200" b="1">
              <a:solidFill>
                <a:schemeClr val="tx2"/>
              </a:solidFill>
              <a:latin typeface="Camphor Std"/>
            </a:endParaRPr>
          </a:p>
          <a:p>
            <a:pPr marL="0" lvl="1" indent="0">
              <a:spcBef>
                <a:spcPts val="1000"/>
              </a:spcBef>
              <a:buNone/>
            </a:pPr>
            <a:r>
              <a:rPr lang="en-US" sz="1200" b="1">
                <a:solidFill>
                  <a:schemeClr val="tx2"/>
                </a:solidFill>
                <a:latin typeface="Camphor Std"/>
              </a:rPr>
              <a:t>What this means for BMP: </a:t>
            </a:r>
            <a:r>
              <a:rPr lang="en-US" sz="1200">
                <a:latin typeface="Camphor Std"/>
              </a:rPr>
              <a:t>While BMP does not offer direct commentary on the state of markets or the economy, these data show that potential partners are present on this platform and actively seeking content that can inform their investment decisions, creating an opportunity for BMP to reach this audience. </a:t>
            </a:r>
          </a:p>
        </p:txBody>
      </p:sp>
      <p:sp>
        <p:nvSpPr>
          <p:cNvPr id="5" name="Title 4">
            <a:extLst>
              <a:ext uri="{FF2B5EF4-FFF2-40B4-BE49-F238E27FC236}">
                <a16:creationId xmlns:a16="http://schemas.microsoft.com/office/drawing/2014/main" id="{7B7784DB-E5ED-7970-FFF8-6888EB0D7EBC}"/>
              </a:ext>
            </a:extLst>
          </p:cNvPr>
          <p:cNvSpPr>
            <a:spLocks noGrp="1"/>
          </p:cNvSpPr>
          <p:nvPr>
            <p:ph type="title"/>
          </p:nvPr>
        </p:nvSpPr>
        <p:spPr>
          <a:xfrm>
            <a:off x="616877" y="111975"/>
            <a:ext cx="10515600" cy="790450"/>
          </a:xfrm>
        </p:spPr>
        <p:txBody>
          <a:bodyPr/>
          <a:lstStyle/>
          <a:p>
            <a:r>
              <a:rPr lang="en-US"/>
              <a:t>Social: LinkedIn Users include HNWIs</a:t>
            </a:r>
          </a:p>
        </p:txBody>
      </p:sp>
      <p:pic>
        <p:nvPicPr>
          <p:cNvPr id="9" name="Picture 8">
            <a:extLst>
              <a:ext uri="{FF2B5EF4-FFF2-40B4-BE49-F238E27FC236}">
                <a16:creationId xmlns:a16="http://schemas.microsoft.com/office/drawing/2014/main" id="{4FDC9DEB-42F9-7FF7-1B5F-3FED535053C4}"/>
              </a:ext>
            </a:extLst>
          </p:cNvPr>
          <p:cNvPicPr>
            <a:picLocks noChangeAspect="1"/>
          </p:cNvPicPr>
          <p:nvPr/>
        </p:nvPicPr>
        <p:blipFill>
          <a:blip r:embed="rId2"/>
          <a:stretch>
            <a:fillRect/>
          </a:stretch>
        </p:blipFill>
        <p:spPr>
          <a:xfrm>
            <a:off x="7679964" y="1352995"/>
            <a:ext cx="4159464" cy="3587934"/>
          </a:xfrm>
          <a:prstGeom prst="rect">
            <a:avLst/>
          </a:prstGeom>
        </p:spPr>
      </p:pic>
      <p:sp>
        <p:nvSpPr>
          <p:cNvPr id="11" name="TextBox 10">
            <a:extLst>
              <a:ext uri="{FF2B5EF4-FFF2-40B4-BE49-F238E27FC236}">
                <a16:creationId xmlns:a16="http://schemas.microsoft.com/office/drawing/2014/main" id="{E4439BCE-6D57-F124-FC66-89F60FEC5D33}"/>
              </a:ext>
            </a:extLst>
          </p:cNvPr>
          <p:cNvSpPr txBox="1"/>
          <p:nvPr/>
        </p:nvSpPr>
        <p:spPr>
          <a:xfrm>
            <a:off x="9471326" y="5759773"/>
            <a:ext cx="2752838" cy="307777"/>
          </a:xfrm>
          <a:prstGeom prst="rect">
            <a:avLst/>
          </a:prstGeom>
          <a:noFill/>
        </p:spPr>
        <p:txBody>
          <a:bodyPr wrap="square">
            <a:spAutoFit/>
          </a:bodyPr>
          <a:lstStyle/>
          <a:p>
            <a:r>
              <a:rPr lang="en-US" sz="1400">
                <a:hlinkClick r:id="rId3">
                  <a:extLst>
                    <a:ext uri="{A12FA001-AC4F-418D-AE19-62706E023703}">
                      <ahyp:hlinkClr xmlns:ahyp="http://schemas.microsoft.com/office/drawing/2018/hyperlinkcolor" val="tx"/>
                    </a:ext>
                  </a:extLst>
                </a:hlinkClick>
              </a:rPr>
              <a:t>Source: </a:t>
            </a:r>
            <a:r>
              <a:rPr lang="en-US" sz="1400">
                <a:solidFill>
                  <a:srgbClr val="0563C1"/>
                </a:solidFill>
                <a:hlinkClick r:id="rId3">
                  <a:extLst>
                    <a:ext uri="{A12FA001-AC4F-418D-AE19-62706E023703}">
                      <ahyp:hlinkClr xmlns:ahyp="http://schemas.microsoft.com/office/drawing/2018/hyperlinkcolor" val="tx"/>
                    </a:ext>
                  </a:extLst>
                </a:hlinkClick>
              </a:rPr>
              <a:t>HNWI US eBook.pdf</a:t>
            </a:r>
            <a:endParaRPr lang="en-US" sz="1400"/>
          </a:p>
        </p:txBody>
      </p:sp>
      <p:sp>
        <p:nvSpPr>
          <p:cNvPr id="3" name="TextBox 2">
            <a:extLst>
              <a:ext uri="{FF2B5EF4-FFF2-40B4-BE49-F238E27FC236}">
                <a16:creationId xmlns:a16="http://schemas.microsoft.com/office/drawing/2014/main" id="{1A08E82C-AED1-0882-D108-4E660AE04390}"/>
              </a:ext>
            </a:extLst>
          </p:cNvPr>
          <p:cNvSpPr txBox="1"/>
          <p:nvPr/>
        </p:nvSpPr>
        <p:spPr>
          <a:xfrm>
            <a:off x="10439400" y="31894"/>
            <a:ext cx="1707858" cy="646331"/>
          </a:xfrm>
          <a:prstGeom prst="rect">
            <a:avLst/>
          </a:prstGeom>
          <a:solidFill>
            <a:schemeClr val="tx1"/>
          </a:solidFill>
        </p:spPr>
        <p:txBody>
          <a:bodyPr wrap="square" rtlCol="0">
            <a:spAutoFit/>
          </a:bodyPr>
          <a:lstStyle/>
          <a:p>
            <a:pPr algn="ctr"/>
            <a:r>
              <a:rPr lang="en-US" b="1">
                <a:solidFill>
                  <a:schemeClr val="bg1"/>
                </a:solidFill>
              </a:rPr>
              <a:t>Supporting</a:t>
            </a:r>
          </a:p>
          <a:p>
            <a:pPr algn="ctr"/>
            <a:r>
              <a:rPr lang="en-US" b="1">
                <a:solidFill>
                  <a:schemeClr val="bg1"/>
                </a:solidFill>
              </a:rPr>
              <a:t>Information</a:t>
            </a:r>
          </a:p>
        </p:txBody>
      </p:sp>
    </p:spTree>
    <p:extLst>
      <p:ext uri="{BB962C8B-B14F-4D97-AF65-F5344CB8AC3E}">
        <p14:creationId xmlns:p14="http://schemas.microsoft.com/office/powerpoint/2010/main" val="30339133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96BF7-D081-D399-8683-7AAD1422AACD}"/>
            </a:ext>
          </a:extLst>
        </p:cNvPr>
        <p:cNvGrpSpPr/>
        <p:nvPr/>
      </p:nvGrpSpPr>
      <p:grpSpPr>
        <a:xfrm>
          <a:off x="0" y="0"/>
          <a:ext cx="0" cy="0"/>
          <a:chOff x="0" y="0"/>
          <a:chExt cx="0" cy="0"/>
        </a:xfrm>
      </p:grpSpPr>
      <p:sp>
        <p:nvSpPr>
          <p:cNvPr id="11" name="Title 3">
            <a:extLst>
              <a:ext uri="{FF2B5EF4-FFF2-40B4-BE49-F238E27FC236}">
                <a16:creationId xmlns:a16="http://schemas.microsoft.com/office/drawing/2014/main" id="{4C23CC25-54A0-4494-9A84-393E76EFBB71}"/>
              </a:ext>
            </a:extLst>
          </p:cNvPr>
          <p:cNvSpPr>
            <a:spLocks noGrp="1"/>
          </p:cNvSpPr>
          <p:nvPr>
            <p:ph type="title"/>
          </p:nvPr>
        </p:nvSpPr>
        <p:spPr>
          <a:xfrm>
            <a:off x="758551" y="293013"/>
            <a:ext cx="7822554" cy="506307"/>
          </a:xfrm>
        </p:spPr>
        <p:txBody>
          <a:bodyPr>
            <a:normAutofit fontScale="90000"/>
          </a:bodyPr>
          <a:lstStyle/>
          <a:p>
            <a:r>
              <a:rPr lang="es-ES">
                <a:latin typeface="LeMonde Livre"/>
              </a:rPr>
              <a:t>Authored Article</a:t>
            </a:r>
          </a:p>
        </p:txBody>
      </p:sp>
      <p:sp>
        <p:nvSpPr>
          <p:cNvPr id="2" name="Slide Number Placeholder 1">
            <a:extLst>
              <a:ext uri="{FF2B5EF4-FFF2-40B4-BE49-F238E27FC236}">
                <a16:creationId xmlns:a16="http://schemas.microsoft.com/office/drawing/2014/main" id="{C267363B-DB70-6E2D-4D37-13B2A776CEB0}"/>
              </a:ext>
            </a:extLst>
          </p:cNvPr>
          <p:cNvSpPr>
            <a:spLocks noGrp="1"/>
          </p:cNvSpPr>
          <p:nvPr>
            <p:ph type="sldNum" sz="quarter" idx="12"/>
          </p:nvPr>
        </p:nvSpPr>
        <p:spPr>
          <a:xfrm>
            <a:off x="11436345" y="6281930"/>
            <a:ext cx="685621" cy="593912"/>
          </a:xfrm>
        </p:spPr>
        <p:txBody>
          <a:bodyPr/>
          <a:lstStyle/>
          <a:p>
            <a:pPr lvl="0"/>
            <a:fld id="{A696438A-1E6B-4737-ACFE-A3A055DFAB44}" type="slidenum">
              <a:rPr lang="en-US" noProof="0" smtClean="0"/>
              <a:pPr lvl="0"/>
              <a:t>32</a:t>
            </a:fld>
            <a:endParaRPr lang="en-US" noProof="0"/>
          </a:p>
        </p:txBody>
      </p:sp>
      <p:cxnSp>
        <p:nvCxnSpPr>
          <p:cNvPr id="24" name="Straight Connector 23">
            <a:extLst>
              <a:ext uri="{FF2B5EF4-FFF2-40B4-BE49-F238E27FC236}">
                <a16:creationId xmlns:a16="http://schemas.microsoft.com/office/drawing/2014/main" id="{276994BB-97F0-8444-E575-B5970CCA4E76}"/>
              </a:ext>
            </a:extLst>
          </p:cNvPr>
          <p:cNvCxnSpPr>
            <a:cxnSpLocks/>
          </p:cNvCxnSpPr>
          <p:nvPr/>
        </p:nvCxnSpPr>
        <p:spPr>
          <a:xfrm>
            <a:off x="698357" y="6728204"/>
            <a:ext cx="1080625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A749595-093E-A521-5D60-DEF07C861056}"/>
              </a:ext>
            </a:extLst>
          </p:cNvPr>
          <p:cNvSpPr/>
          <p:nvPr/>
        </p:nvSpPr>
        <p:spPr>
          <a:xfrm>
            <a:off x="8631936" y="1688"/>
            <a:ext cx="3560064" cy="56523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CONTINUE &amp; ENHANCE</a:t>
            </a:r>
          </a:p>
        </p:txBody>
      </p:sp>
      <p:sp>
        <p:nvSpPr>
          <p:cNvPr id="6" name="TextBox 5">
            <a:extLst>
              <a:ext uri="{FF2B5EF4-FFF2-40B4-BE49-F238E27FC236}">
                <a16:creationId xmlns:a16="http://schemas.microsoft.com/office/drawing/2014/main" id="{E95824B0-A2E4-91C6-DE08-FBC7C19DFCBA}"/>
              </a:ext>
            </a:extLst>
          </p:cNvPr>
          <p:cNvSpPr txBox="1"/>
          <p:nvPr/>
        </p:nvSpPr>
        <p:spPr>
          <a:xfrm>
            <a:off x="758551" y="1138398"/>
            <a:ext cx="1067104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1B3169"/>
                </a:solidFill>
              </a:rPr>
              <a:t>OVERVIEW:</a:t>
            </a:r>
            <a:r>
              <a:rPr lang="en-US" b="1">
                <a:solidFill>
                  <a:srgbClr val="1B3169"/>
                </a:solidFill>
                <a:latin typeface="Camphor Std"/>
              </a:rPr>
              <a:t> </a:t>
            </a:r>
            <a:r>
              <a:rPr lang="en-US">
                <a:latin typeface="Camphor Std"/>
              </a:rPr>
              <a:t>Jim Shelton will author a piece inspired in part by Raj Chetty’s article, </a:t>
            </a:r>
            <a:r>
              <a:rPr lang="en-US" i="1"/>
              <a:t>Changing Opportunity: Sociological Mechanisms Underlying Growing Class Gaps and Shrinking Race Gaps in Economic Mobility</a:t>
            </a:r>
            <a:r>
              <a:rPr lang="en-US"/>
              <a:t>, offering perspectives on the challenges and opportunities on transforming the life trajectories of young people and families living in poverty. </a:t>
            </a:r>
          </a:p>
          <a:p>
            <a:endParaRPr lang="en-US">
              <a:latin typeface="Camphor Std"/>
            </a:endParaRPr>
          </a:p>
          <a:p>
            <a:r>
              <a:rPr lang="en-US" b="1">
                <a:solidFill>
                  <a:srgbClr val="1B3169"/>
                </a:solidFill>
              </a:rPr>
              <a:t>ANTICIPATED RESULT: </a:t>
            </a:r>
            <a:r>
              <a:rPr lang="en-US">
                <a:solidFill>
                  <a:srgbClr val="000000"/>
                </a:solidFill>
                <a:ea typeface="+mn-lt"/>
                <a:cs typeface="+mn-lt"/>
              </a:rPr>
              <a:t>We seek publication by a high-profile platform, such as </a:t>
            </a:r>
            <a:r>
              <a:rPr lang="en-US" i="1">
                <a:solidFill>
                  <a:srgbClr val="000000"/>
                </a:solidFill>
                <a:ea typeface="+mn-lt"/>
                <a:cs typeface="+mn-lt"/>
              </a:rPr>
              <a:t>The Atlantic</a:t>
            </a:r>
            <a:r>
              <a:rPr lang="en-US">
                <a:solidFill>
                  <a:srgbClr val="000000"/>
                </a:solidFill>
                <a:ea typeface="+mn-lt"/>
                <a:cs typeface="+mn-lt"/>
              </a:rPr>
              <a:t>, to garner attention for BMP and Jim in his CEO role and spur conversational buzz around scaling solutions to economic and social mobility. The article will serve as a signature piece, creating opportunity to amplify and repurpose through other BMP channels.   </a:t>
            </a:r>
            <a:endParaRPr lang="en-US">
              <a:ea typeface="+mn-lt"/>
              <a:cs typeface="+mn-lt"/>
            </a:endParaRPr>
          </a:p>
          <a:p>
            <a:endParaRPr lang="en-US">
              <a:solidFill>
                <a:srgbClr val="000000"/>
              </a:solidFill>
              <a:highlight>
                <a:srgbClr val="FFFF00"/>
              </a:highlight>
            </a:endParaRPr>
          </a:p>
          <a:p>
            <a:r>
              <a:rPr lang="en-US" b="1">
                <a:solidFill>
                  <a:srgbClr val="1B3169"/>
                </a:solidFill>
              </a:rPr>
              <a:t>CAREFUL ENGAGEMENT RECOMMENDATION:</a:t>
            </a:r>
            <a:r>
              <a:rPr lang="en-US">
                <a:solidFill>
                  <a:srgbClr val="1B3169"/>
                </a:solidFill>
              </a:rPr>
              <a:t> </a:t>
            </a:r>
            <a:r>
              <a:rPr lang="en-US"/>
              <a:t>Consider news hook and CTA and how these fit against the backdrop of current media discussions </a:t>
            </a:r>
            <a:endParaRPr lang="en-US">
              <a:solidFill>
                <a:srgbClr val="000000"/>
              </a:solidFill>
              <a:highlight>
                <a:srgbClr val="FFFF00"/>
              </a:highlight>
            </a:endParaRPr>
          </a:p>
        </p:txBody>
      </p:sp>
      <p:graphicFrame>
        <p:nvGraphicFramePr>
          <p:cNvPr id="3" name="Table 2">
            <a:extLst>
              <a:ext uri="{FF2B5EF4-FFF2-40B4-BE49-F238E27FC236}">
                <a16:creationId xmlns:a16="http://schemas.microsoft.com/office/drawing/2014/main" id="{87F1D5C6-327E-1DD3-AD81-2CB3E56F06F3}"/>
              </a:ext>
            </a:extLst>
          </p:cNvPr>
          <p:cNvGraphicFramePr>
            <a:graphicFrameLocks noGrp="1"/>
          </p:cNvGraphicFramePr>
          <p:nvPr>
            <p:extLst>
              <p:ext uri="{D42A27DB-BD31-4B8C-83A1-F6EECF244321}">
                <p14:modId xmlns:p14="http://schemas.microsoft.com/office/powerpoint/2010/main" val="3842795306"/>
              </p:ext>
            </p:extLst>
          </p:nvPr>
        </p:nvGraphicFramePr>
        <p:xfrm>
          <a:off x="833573" y="4751805"/>
          <a:ext cx="6862627" cy="1112520"/>
        </p:xfrm>
        <a:graphic>
          <a:graphicData uri="http://schemas.openxmlformats.org/drawingml/2006/table">
            <a:tbl>
              <a:tblPr firstRow="1" bandRow="1">
                <a:tableStyleId>{5C22544A-7EE6-4342-B048-85BDC9FD1C3A}</a:tableStyleId>
              </a:tblPr>
              <a:tblGrid>
                <a:gridCol w="2549707">
                  <a:extLst>
                    <a:ext uri="{9D8B030D-6E8A-4147-A177-3AD203B41FA5}">
                      <a16:colId xmlns:a16="http://schemas.microsoft.com/office/drawing/2014/main" val="759229298"/>
                    </a:ext>
                  </a:extLst>
                </a:gridCol>
                <a:gridCol w="4312920">
                  <a:extLst>
                    <a:ext uri="{9D8B030D-6E8A-4147-A177-3AD203B41FA5}">
                      <a16:colId xmlns:a16="http://schemas.microsoft.com/office/drawing/2014/main" val="104778490"/>
                    </a:ext>
                  </a:extLst>
                </a:gridCol>
              </a:tblGrid>
              <a:tr h="370840">
                <a:tc gridSpan="2">
                  <a:txBody>
                    <a:bodyPr/>
                    <a:lstStyle/>
                    <a:p>
                      <a:r>
                        <a:rPr lang="en-US" b="0"/>
                        <a:t>ARTICLE DEVELOPMENT &amp; PLACEMENT TIMING</a:t>
                      </a:r>
                      <a:endParaRPr lang="en-US" b="0" i="1"/>
                    </a:p>
                  </a:txBody>
                  <a:tcPr/>
                </a:tc>
                <a:tc hMerge="1">
                  <a:txBody>
                    <a:bodyPr/>
                    <a:lstStyle/>
                    <a:p>
                      <a:endParaRPr lang="en-US"/>
                    </a:p>
                  </a:txBody>
                  <a:tcPr/>
                </a:tc>
                <a:extLst>
                  <a:ext uri="{0D108BD9-81ED-4DB2-BD59-A6C34878D82A}">
                    <a16:rowId xmlns:a16="http://schemas.microsoft.com/office/drawing/2014/main" val="119490417"/>
                  </a:ext>
                </a:extLst>
              </a:tr>
              <a:tr h="370840">
                <a:tc>
                  <a:txBody>
                    <a:bodyPr/>
                    <a:lstStyle/>
                    <a:p>
                      <a:r>
                        <a:rPr lang="en-US"/>
                        <a:t>CONCEPT &amp; WRITING</a:t>
                      </a:r>
                    </a:p>
                  </a:txBody>
                  <a:tcPr/>
                </a:tc>
                <a:tc>
                  <a:txBody>
                    <a:bodyPr/>
                    <a:lstStyle/>
                    <a:p>
                      <a:r>
                        <a:rPr lang="en-US"/>
                        <a:t>March to May</a:t>
                      </a:r>
                    </a:p>
                  </a:txBody>
                  <a:tcPr/>
                </a:tc>
                <a:extLst>
                  <a:ext uri="{0D108BD9-81ED-4DB2-BD59-A6C34878D82A}">
                    <a16:rowId xmlns:a16="http://schemas.microsoft.com/office/drawing/2014/main" val="790470036"/>
                  </a:ext>
                </a:extLst>
              </a:tr>
              <a:tr h="370840">
                <a:tc>
                  <a:txBody>
                    <a:bodyPr/>
                    <a:lstStyle/>
                    <a:p>
                      <a:r>
                        <a:rPr lang="en-US"/>
                        <a:t>PLACEMENT:</a:t>
                      </a:r>
                    </a:p>
                  </a:txBody>
                  <a:tcPr/>
                </a:tc>
                <a:tc>
                  <a:txBody>
                    <a:bodyPr/>
                    <a:lstStyle/>
                    <a:p>
                      <a:r>
                        <a:rPr lang="en-US"/>
                        <a:t>June to September</a:t>
                      </a:r>
                    </a:p>
                  </a:txBody>
                  <a:tcPr/>
                </a:tc>
                <a:extLst>
                  <a:ext uri="{0D108BD9-81ED-4DB2-BD59-A6C34878D82A}">
                    <a16:rowId xmlns:a16="http://schemas.microsoft.com/office/drawing/2014/main" val="3641350788"/>
                  </a:ext>
                </a:extLst>
              </a:tr>
            </a:tbl>
          </a:graphicData>
        </a:graphic>
      </p:graphicFrame>
      <p:sp>
        <p:nvSpPr>
          <p:cNvPr id="5" name="TextBox 4">
            <a:extLst>
              <a:ext uri="{FF2B5EF4-FFF2-40B4-BE49-F238E27FC236}">
                <a16:creationId xmlns:a16="http://schemas.microsoft.com/office/drawing/2014/main" id="{C72D9AFC-CAAA-5187-0BEB-EB037772ABEE}"/>
              </a:ext>
            </a:extLst>
          </p:cNvPr>
          <p:cNvSpPr txBox="1"/>
          <p:nvPr/>
        </p:nvSpPr>
        <p:spPr>
          <a:xfrm>
            <a:off x="7696200" y="5140568"/>
            <a:ext cx="3808413" cy="646331"/>
          </a:xfrm>
          <a:prstGeom prst="rect">
            <a:avLst/>
          </a:prstGeom>
          <a:noFill/>
        </p:spPr>
        <p:txBody>
          <a:bodyPr wrap="square" lIns="91440" tIns="45720" rIns="91440" bIns="45720" anchor="t">
            <a:spAutoFit/>
          </a:bodyPr>
          <a:lstStyle/>
          <a:p>
            <a:r>
              <a:rPr lang="en-US" sz="1200">
                <a:solidFill>
                  <a:srgbClr val="000000"/>
                </a:solidFill>
              </a:rPr>
              <a:t>Note: A number of factors, including the timeliness of the topic and media interest/editorial priorities, will drive publication.</a:t>
            </a:r>
          </a:p>
        </p:txBody>
      </p:sp>
    </p:spTree>
    <p:extLst>
      <p:ext uri="{BB962C8B-B14F-4D97-AF65-F5344CB8AC3E}">
        <p14:creationId xmlns:p14="http://schemas.microsoft.com/office/powerpoint/2010/main" val="12668785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B93DC-8761-A1C2-9137-C9B2862BFB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E094FF-B03C-A077-28FF-8FDAC048C250}"/>
              </a:ext>
            </a:extLst>
          </p:cNvPr>
          <p:cNvSpPr>
            <a:spLocks noGrp="1"/>
          </p:cNvSpPr>
          <p:nvPr>
            <p:ph type="ctrTitle"/>
          </p:nvPr>
        </p:nvSpPr>
        <p:spPr>
          <a:solidFill>
            <a:schemeClr val="accent3"/>
          </a:solidFill>
        </p:spPr>
        <p:txBody>
          <a:bodyPr>
            <a:normAutofit fontScale="90000"/>
          </a:bodyPr>
          <a:lstStyle/>
          <a:p>
            <a:r>
              <a:rPr lang="en-US"/>
              <a:t> </a:t>
            </a:r>
            <a:br>
              <a:rPr lang="en-US"/>
            </a:br>
            <a:r>
              <a:rPr lang="en-US" sz="5300">
                <a:solidFill>
                  <a:schemeClr val="bg1"/>
                </a:solidFill>
              </a:rPr>
              <a:t>CREATE &amp; ACTIVATE </a:t>
            </a:r>
            <a:br>
              <a:rPr lang="en-US"/>
            </a:br>
            <a:endParaRPr lang="en-US"/>
          </a:p>
        </p:txBody>
      </p:sp>
      <p:sp>
        <p:nvSpPr>
          <p:cNvPr id="3" name="Subtitle 2">
            <a:extLst>
              <a:ext uri="{FF2B5EF4-FFF2-40B4-BE49-F238E27FC236}">
                <a16:creationId xmlns:a16="http://schemas.microsoft.com/office/drawing/2014/main" id="{73FDBDEB-0C04-44FD-29FE-9D04C2FED84E}"/>
              </a:ext>
            </a:extLst>
          </p:cNvPr>
          <p:cNvSpPr>
            <a:spLocks noGrp="1"/>
          </p:cNvSpPr>
          <p:nvPr>
            <p:ph type="subTitle" idx="1"/>
          </p:nvPr>
        </p:nvSpPr>
        <p:spPr/>
        <p:txBody>
          <a:bodyPr>
            <a:normAutofit/>
          </a:bodyPr>
          <a:lstStyle/>
          <a:p>
            <a:r>
              <a:rPr lang="en-US" sz="4000"/>
              <a:t>Proposed Activations</a:t>
            </a:r>
          </a:p>
        </p:txBody>
      </p:sp>
      <p:sp>
        <p:nvSpPr>
          <p:cNvPr id="4" name="Date Placeholder 3">
            <a:extLst>
              <a:ext uri="{FF2B5EF4-FFF2-40B4-BE49-F238E27FC236}">
                <a16:creationId xmlns:a16="http://schemas.microsoft.com/office/drawing/2014/main" id="{21B8174B-B61A-8BDD-2ABE-A694F5F58050}"/>
              </a:ext>
            </a:extLst>
          </p:cNvPr>
          <p:cNvSpPr>
            <a:spLocks noGrp="1"/>
          </p:cNvSpPr>
          <p:nvPr>
            <p:ph type="dt" sz="half" idx="10"/>
          </p:nvPr>
        </p:nvSpPr>
        <p:spPr/>
        <p:txBody>
          <a:bodyPr/>
          <a:lstStyle/>
          <a:p>
            <a:fld id="{ABA5BFED-BDFB-45DB-8843-AC9E74FA3CDB}" type="datetime1">
              <a:rPr lang="en-US" smtClean="0"/>
              <a:t>5/30/2025</a:t>
            </a:fld>
            <a:endParaRPr lang="en-US"/>
          </a:p>
        </p:txBody>
      </p:sp>
    </p:spTree>
    <p:extLst>
      <p:ext uri="{BB962C8B-B14F-4D97-AF65-F5344CB8AC3E}">
        <p14:creationId xmlns:p14="http://schemas.microsoft.com/office/powerpoint/2010/main" val="21978467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8BB2F-5E15-207C-8924-4346E6B13B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67FA42-4D5F-174F-F183-2C1270E57F96}"/>
              </a:ext>
            </a:extLst>
          </p:cNvPr>
          <p:cNvSpPr>
            <a:spLocks noGrp="1"/>
          </p:cNvSpPr>
          <p:nvPr>
            <p:ph type="title"/>
          </p:nvPr>
        </p:nvSpPr>
        <p:spPr>
          <a:xfrm>
            <a:off x="817880" y="319405"/>
            <a:ext cx="10302404" cy="583195"/>
          </a:xfrm>
        </p:spPr>
        <p:txBody>
          <a:bodyPr/>
          <a:lstStyle/>
          <a:p>
            <a:r>
              <a:rPr lang="en-US" dirty="0">
                <a:latin typeface="LeMonde Livre"/>
              </a:rPr>
              <a:t>Leveraging Leadership for External Comms</a:t>
            </a:r>
            <a:endParaRPr lang="en-US" dirty="0">
              <a:solidFill>
                <a:srgbClr val="FF0000"/>
              </a:solidFill>
            </a:endParaRPr>
          </a:p>
        </p:txBody>
      </p:sp>
      <p:sp>
        <p:nvSpPr>
          <p:cNvPr id="4" name="Date Placeholder 3">
            <a:extLst>
              <a:ext uri="{FF2B5EF4-FFF2-40B4-BE49-F238E27FC236}">
                <a16:creationId xmlns:a16="http://schemas.microsoft.com/office/drawing/2014/main" id="{4EDE0A50-7553-85D0-79ED-4244311E9525}"/>
              </a:ext>
            </a:extLst>
          </p:cNvPr>
          <p:cNvSpPr>
            <a:spLocks noGrp="1"/>
          </p:cNvSpPr>
          <p:nvPr>
            <p:ph type="dt" sz="half" idx="10"/>
          </p:nvPr>
        </p:nvSpPr>
        <p:spPr/>
        <p:txBody>
          <a:bodyPr/>
          <a:lstStyle/>
          <a:p>
            <a:fld id="{9E706EA3-3863-4953-9BCE-AA8584D6F9E2}" type="datetime1">
              <a:rPr lang="en-US" smtClean="0"/>
              <a:t>5/30/2025</a:t>
            </a:fld>
            <a:endParaRPr lang="en-US"/>
          </a:p>
        </p:txBody>
      </p:sp>
      <p:sp>
        <p:nvSpPr>
          <p:cNvPr id="5" name="TextBox 4">
            <a:extLst>
              <a:ext uri="{FF2B5EF4-FFF2-40B4-BE49-F238E27FC236}">
                <a16:creationId xmlns:a16="http://schemas.microsoft.com/office/drawing/2014/main" id="{82A02D43-CD32-49BF-BF69-F7710E7B0221}"/>
              </a:ext>
            </a:extLst>
          </p:cNvPr>
          <p:cNvSpPr txBox="1"/>
          <p:nvPr/>
        </p:nvSpPr>
        <p:spPr>
          <a:xfrm>
            <a:off x="842371" y="2874081"/>
            <a:ext cx="10613029" cy="2031325"/>
          </a:xfrm>
          <a:prstGeom prst="rect">
            <a:avLst/>
          </a:prstGeom>
          <a:noFill/>
          <a:ln w="28575">
            <a:solidFill>
              <a:srgbClr val="7030A0"/>
            </a:solidFill>
          </a:ln>
        </p:spPr>
        <p:txBody>
          <a:bodyPr wrap="square" lIns="91440" tIns="45720" rIns="91440" bIns="45720" rtlCol="0" anchor="t">
            <a:spAutoFit/>
          </a:bodyPr>
          <a:lstStyle/>
          <a:p>
            <a:pPr marL="285750" indent="-285750" defTabSz="914400">
              <a:buFont typeface="Arial" panose="020B0604020202020204" pitchFamily="34" charset="0"/>
              <a:buChar char="•"/>
              <a:defRPr/>
            </a:pPr>
            <a:endParaRPr lang="en-US" sz="1400">
              <a:latin typeface="Zilla Slab"/>
            </a:endParaRPr>
          </a:p>
          <a:p>
            <a:pPr marL="285750" indent="-285750" defTabSz="914400">
              <a:buFont typeface="Arial" panose="020B0604020202020204" pitchFamily="34" charset="0"/>
              <a:buChar char="•"/>
              <a:defRPr/>
            </a:pPr>
            <a:r>
              <a:rPr lang="en-US" sz="1400">
                <a:latin typeface="Zilla Slab"/>
              </a:rPr>
              <a:t>Build trust by creating platforms for Nancy and Jim to serve as thought leaders via</a:t>
            </a:r>
            <a:r>
              <a:rPr kumimoji="0" lang="en-US" sz="1400" b="0" i="0" u="none" strike="noStrike" kern="1200" cap="none" spc="0" normalizeH="0" baseline="0" noProof="0">
                <a:ln>
                  <a:noFill/>
                </a:ln>
                <a:effectLst/>
                <a:uLnTx/>
                <a:uFillTx/>
                <a:latin typeface="Zilla Slab"/>
                <a:ea typeface="+mn-ea"/>
                <a:cs typeface="+mn-cs"/>
              </a:rPr>
              <a:t> </a:t>
            </a:r>
            <a:r>
              <a:rPr lang="en-US" sz="1400">
                <a:latin typeface="Zilla Slab"/>
              </a:rPr>
              <a:t>LinkedIn, earned media briefings, etc., with an intent to refine and broaden these activities the future</a:t>
            </a:r>
            <a:endParaRPr kumimoji="0" lang="en-US" sz="1400" b="0" i="0" u="none" strike="noStrike" kern="1200" cap="none" spc="0" normalizeH="0" baseline="0" noProof="0">
              <a:ln>
                <a:noFill/>
              </a:ln>
              <a:effectLst/>
              <a:uLnTx/>
              <a:uFillTx/>
              <a:latin typeface="Zilla Slab"/>
              <a:ea typeface="+mn-ea"/>
              <a:cs typeface="+mn-cs"/>
            </a:endParaRPr>
          </a:p>
          <a:p>
            <a:pPr marL="285750" indent="-285750" defTabSz="914400">
              <a:buFont typeface="Arial" panose="020B0604020202020204" pitchFamily="34" charset="0"/>
              <a:buChar char="•"/>
              <a:defRPr/>
            </a:pPr>
            <a:endParaRPr lang="en-US" sz="1400">
              <a:latin typeface="Zilla Slab"/>
            </a:endParaRPr>
          </a:p>
          <a:p>
            <a:pPr marL="285750" indent="-285750" defTabSz="914400">
              <a:buFont typeface="Arial" panose="020B0604020202020204" pitchFamily="34" charset="0"/>
              <a:buChar char="•"/>
              <a:defRPr/>
            </a:pPr>
            <a:r>
              <a:rPr lang="en-US" sz="1400">
                <a:latin typeface="Zilla Slab"/>
              </a:rPr>
              <a:t>Plant the seeds to increase awareness and drive engagement through speaking opportunities at select social impact and philanthropic events that might serve as building blocks for future opportunities</a:t>
            </a:r>
            <a:endParaRPr kumimoji="0" lang="en-US" sz="1400" b="0" i="0" u="none" strike="noStrike" kern="1200" cap="none" spc="0" normalizeH="0" baseline="0" noProof="0">
              <a:ln>
                <a:noFill/>
              </a:ln>
              <a:effectLst/>
              <a:uLnTx/>
              <a:uFillTx/>
              <a:latin typeface="Zilla Slab"/>
              <a:ea typeface="+mn-ea"/>
              <a:cs typeface="+mn-cs"/>
            </a:endParaRPr>
          </a:p>
          <a:p>
            <a:pPr marL="285750" indent="-285750" defTabSz="914400">
              <a:buFont typeface="Arial" panose="020B0604020202020204" pitchFamily="34" charset="0"/>
              <a:buChar char="•"/>
              <a:defRPr/>
            </a:pPr>
            <a:endParaRPr kumimoji="0" lang="en-US" sz="1400" b="0" i="0" u="none" strike="noStrike" kern="1200" cap="none" spc="0" normalizeH="0" baseline="0" noProof="0">
              <a:ln>
                <a:noFill/>
              </a:ln>
              <a:effectLst/>
              <a:uLnTx/>
              <a:uFillTx/>
              <a:latin typeface="Zilla Slab"/>
              <a:ea typeface="+mn-ea"/>
              <a:cs typeface="+mn-cs"/>
            </a:endParaRPr>
          </a:p>
          <a:p>
            <a:pPr marL="285750" indent="-285750" defTabSz="914400">
              <a:buFont typeface="Arial" panose="020B0604020202020204" pitchFamily="34" charset="0"/>
              <a:buChar char="•"/>
              <a:defRPr/>
            </a:pPr>
            <a:r>
              <a:rPr kumimoji="0" lang="en-US" sz="1400" b="0" i="0" u="none" strike="noStrike" kern="1200" cap="none" spc="0" normalizeH="0" baseline="0" noProof="0">
                <a:ln>
                  <a:noFill/>
                </a:ln>
                <a:effectLst/>
                <a:uLnTx/>
                <a:uFillTx/>
                <a:latin typeface="Zilla Slab"/>
                <a:ea typeface="+mn-ea"/>
                <a:cs typeface="+mn-cs"/>
              </a:rPr>
              <a:t>Secure recognition</a:t>
            </a:r>
            <a:r>
              <a:rPr lang="en-US" sz="1400">
                <a:latin typeface="Zilla Slab"/>
              </a:rPr>
              <a:t> of</a:t>
            </a:r>
            <a:r>
              <a:rPr kumimoji="0" lang="en-US" sz="1400" b="0" i="0" u="none" strike="noStrike" kern="1200" cap="none" spc="0" normalizeH="0" baseline="0" noProof="0">
                <a:ln>
                  <a:noFill/>
                </a:ln>
                <a:effectLst/>
                <a:uLnTx/>
                <a:uFillTx/>
                <a:latin typeface="Zilla Slab"/>
                <a:ea typeface="+mn-ea"/>
                <a:cs typeface="+mn-cs"/>
              </a:rPr>
              <a:t> </a:t>
            </a:r>
            <a:r>
              <a:rPr lang="en-US" sz="1400">
                <a:latin typeface="Zilla Slab"/>
              </a:rPr>
              <a:t>BMP, Nancy and Jim to expand our footprint, gain mindshare, and earn third-party validation through select business</a:t>
            </a:r>
            <a:r>
              <a:rPr kumimoji="0" lang="en-US" sz="1400" b="0" i="0" u="none" strike="noStrike" kern="1200" cap="none" spc="0" normalizeH="0" baseline="0" noProof="0">
                <a:ln>
                  <a:noFill/>
                </a:ln>
                <a:effectLst/>
                <a:uLnTx/>
                <a:uFillTx/>
                <a:latin typeface="Zilla Slab"/>
                <a:ea typeface="+mn-ea"/>
                <a:cs typeface="+mn-cs"/>
              </a:rPr>
              <a:t> and nonprofit lists and awards</a:t>
            </a:r>
            <a:endParaRPr lang="en-US" sz="1400">
              <a:latin typeface="Zilla Slab"/>
            </a:endParaRPr>
          </a:p>
        </p:txBody>
      </p:sp>
      <p:sp>
        <p:nvSpPr>
          <p:cNvPr id="10" name="Content Placeholder 2">
            <a:extLst>
              <a:ext uri="{FF2B5EF4-FFF2-40B4-BE49-F238E27FC236}">
                <a16:creationId xmlns:a16="http://schemas.microsoft.com/office/drawing/2014/main" id="{CF2B40EE-2BA0-C6E3-6B52-02C915C1D20A}"/>
              </a:ext>
            </a:extLst>
          </p:cNvPr>
          <p:cNvSpPr txBox="1">
            <a:spLocks/>
          </p:cNvSpPr>
          <p:nvPr/>
        </p:nvSpPr>
        <p:spPr>
          <a:xfrm>
            <a:off x="826222" y="1097180"/>
            <a:ext cx="10953749" cy="823253"/>
          </a:xfrm>
          <a:prstGeom prst="rect">
            <a:avLst/>
          </a:prstGeom>
        </p:spPr>
        <p:txBody>
          <a:bodyPr vert="horz" lIns="91440" tIns="45720" rIns="91440" bIns="45720" rtlCol="0" anchor="t">
            <a:normAutofit fontScale="92500"/>
          </a:bodyPr>
          <a:lstStyle>
            <a:lvl1pPr marL="228600" indent="-228600" algn="l" defTabSz="914400" rtl="0" eaLnBrk="1" latinLnBrk="0" hangingPunct="1">
              <a:lnSpc>
                <a:spcPct val="90000"/>
              </a:lnSpc>
              <a:spcBef>
                <a:spcPts val="1000"/>
              </a:spcBef>
              <a:buClr>
                <a:schemeClr val="bg2"/>
              </a:buClr>
              <a:buFont typeface="Arial" panose="020B0604020202020204" pitchFamily="34" charset="0"/>
              <a:buChar char="•"/>
              <a:defRPr sz="2800" kern="1200">
                <a:solidFill>
                  <a:schemeClr val="tx1"/>
                </a:solidFill>
                <a:latin typeface="Camphor Std" panose="020B0504030404020204" pitchFamily="34" charset="0"/>
                <a:ea typeface="+mn-ea"/>
                <a:cs typeface="+mn-cs"/>
              </a:defRPr>
            </a:lvl1pPr>
            <a:lvl2pPr marL="685800" indent="-228600" algn="l" defTabSz="914400" rtl="0" eaLnBrk="1" latinLnBrk="0" hangingPunct="1">
              <a:lnSpc>
                <a:spcPct val="90000"/>
              </a:lnSpc>
              <a:spcBef>
                <a:spcPts val="500"/>
              </a:spcBef>
              <a:buClr>
                <a:schemeClr val="bg2"/>
              </a:buClr>
              <a:buSzPct val="100000"/>
              <a:buFont typeface="Wingdings" panose="05000000000000000000" pitchFamily="2" charset="2"/>
              <a:buChar char="§"/>
              <a:defRPr sz="2400" kern="1200">
                <a:solidFill>
                  <a:schemeClr val="tx1"/>
                </a:solidFill>
                <a:latin typeface="Camphor Std" panose="020B0504030404020204" pitchFamily="34" charset="0"/>
                <a:ea typeface="+mn-ea"/>
                <a:cs typeface="+mn-cs"/>
              </a:defRPr>
            </a:lvl2pPr>
            <a:lvl3pPr marL="1143000" indent="-228600" algn="l" defTabSz="914400" rtl="0" eaLnBrk="1" latinLnBrk="0" hangingPunct="1">
              <a:lnSpc>
                <a:spcPct val="90000"/>
              </a:lnSpc>
              <a:spcBef>
                <a:spcPts val="500"/>
              </a:spcBef>
              <a:buClr>
                <a:schemeClr val="bg2"/>
              </a:buClr>
              <a:buFont typeface="Calibri" panose="020F0502020204030204" pitchFamily="34" charset="0"/>
              <a:buChar char="–"/>
              <a:defRPr sz="2000" kern="1200">
                <a:solidFill>
                  <a:schemeClr val="tx1"/>
                </a:solidFill>
                <a:latin typeface="Camphor Std" panose="020B0504030404020204" pitchFamily="34" charset="0"/>
                <a:ea typeface="+mn-ea"/>
                <a:cs typeface="+mn-cs"/>
              </a:defRPr>
            </a:lvl3pPr>
            <a:lvl4pPr marL="1600200" indent="-228600" algn="l" defTabSz="914400" rtl="0" eaLnBrk="1" latinLnBrk="0" hangingPunct="1">
              <a:lnSpc>
                <a:spcPct val="90000"/>
              </a:lnSpc>
              <a:spcBef>
                <a:spcPts val="500"/>
              </a:spcBef>
              <a:buClr>
                <a:schemeClr val="bg2"/>
              </a:buClr>
              <a:buSzPct val="90000"/>
              <a:buFont typeface="Courier New" panose="02070309020205020404" pitchFamily="49" charset="0"/>
              <a:buChar char="o"/>
              <a:defRPr sz="1800" kern="1200">
                <a:solidFill>
                  <a:schemeClr val="tx1"/>
                </a:solidFill>
                <a:latin typeface="Camphor Std" panose="020B0504030404020204" pitchFamily="34" charset="0"/>
                <a:ea typeface="+mn-ea"/>
                <a:cs typeface="+mn-cs"/>
              </a:defRPr>
            </a:lvl4pPr>
            <a:lvl5pPr marL="2057400" indent="-228600" algn="l" defTabSz="914400" rtl="0" eaLnBrk="1" latinLnBrk="0" hangingPunct="1">
              <a:lnSpc>
                <a:spcPct val="90000"/>
              </a:lnSpc>
              <a:spcBef>
                <a:spcPts val="500"/>
              </a:spcBef>
              <a:buClr>
                <a:schemeClr val="bg2"/>
              </a:buClr>
              <a:buFont typeface="Calibri" panose="020F0502020204030204" pitchFamily="34" charset="0"/>
              <a:buChar char="›"/>
              <a:defRPr sz="1800" kern="1200">
                <a:solidFill>
                  <a:schemeClr val="tx1"/>
                </a:solidFill>
                <a:latin typeface="Camphor Std" panose="020B05040304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a:solidFill>
                  <a:srgbClr val="0091C8"/>
                </a:solidFill>
                <a:latin typeface="Camphor Std"/>
              </a:rPr>
              <a:t>A cornerstone of our external communications strategy is to leverage Nancy and Jim as BMP ambassadors and sector thought leaders. Organizational leaders are essential representatives and credible spokespeople as the face of the organization and its best storytellers. To this end, we propose a two-fold approach for 2025.</a:t>
            </a:r>
            <a:endParaRPr lang="en-US" sz="1800">
              <a:solidFill>
                <a:srgbClr val="0091C8"/>
              </a:solidFill>
            </a:endParaRPr>
          </a:p>
        </p:txBody>
      </p:sp>
      <p:sp>
        <p:nvSpPr>
          <p:cNvPr id="12" name="Content Placeholder 2">
            <a:extLst>
              <a:ext uri="{FF2B5EF4-FFF2-40B4-BE49-F238E27FC236}">
                <a16:creationId xmlns:a16="http://schemas.microsoft.com/office/drawing/2014/main" id="{A18064AB-0F6E-4AF8-2E36-5EB36E05A5CF}"/>
              </a:ext>
            </a:extLst>
          </p:cNvPr>
          <p:cNvSpPr txBox="1">
            <a:spLocks/>
          </p:cNvSpPr>
          <p:nvPr/>
        </p:nvSpPr>
        <p:spPr>
          <a:xfrm>
            <a:off x="7409377" y="1986678"/>
            <a:ext cx="4062172" cy="536257"/>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bg2"/>
              </a:buClr>
              <a:buFont typeface="Arial" panose="020B0604020202020204" pitchFamily="34" charset="0"/>
              <a:buChar char="•"/>
              <a:defRPr sz="2800" kern="1200">
                <a:solidFill>
                  <a:schemeClr val="tx1"/>
                </a:solidFill>
                <a:latin typeface="Camphor Std" panose="020B0504030404020204" pitchFamily="34" charset="0"/>
                <a:ea typeface="+mn-ea"/>
                <a:cs typeface="+mn-cs"/>
              </a:defRPr>
            </a:lvl1pPr>
            <a:lvl2pPr marL="685800" indent="-228600" algn="l" defTabSz="914400" rtl="0" eaLnBrk="1" latinLnBrk="0" hangingPunct="1">
              <a:lnSpc>
                <a:spcPct val="90000"/>
              </a:lnSpc>
              <a:spcBef>
                <a:spcPts val="500"/>
              </a:spcBef>
              <a:buClr>
                <a:schemeClr val="bg2"/>
              </a:buClr>
              <a:buSzPct val="100000"/>
              <a:buFont typeface="Wingdings" panose="05000000000000000000" pitchFamily="2" charset="2"/>
              <a:buChar char="§"/>
              <a:defRPr sz="2400" kern="1200">
                <a:solidFill>
                  <a:schemeClr val="tx1"/>
                </a:solidFill>
                <a:latin typeface="Camphor Std" panose="020B0504030404020204" pitchFamily="34" charset="0"/>
                <a:ea typeface="+mn-ea"/>
                <a:cs typeface="+mn-cs"/>
              </a:defRPr>
            </a:lvl2pPr>
            <a:lvl3pPr marL="1143000" indent="-228600" algn="l" defTabSz="914400" rtl="0" eaLnBrk="1" latinLnBrk="0" hangingPunct="1">
              <a:lnSpc>
                <a:spcPct val="90000"/>
              </a:lnSpc>
              <a:spcBef>
                <a:spcPts val="500"/>
              </a:spcBef>
              <a:buClr>
                <a:schemeClr val="bg2"/>
              </a:buClr>
              <a:buFont typeface="Calibri" panose="020F0502020204030204" pitchFamily="34" charset="0"/>
              <a:buChar char="–"/>
              <a:defRPr sz="2000" kern="1200">
                <a:solidFill>
                  <a:schemeClr val="tx1"/>
                </a:solidFill>
                <a:latin typeface="Camphor Std" panose="020B0504030404020204" pitchFamily="34" charset="0"/>
                <a:ea typeface="+mn-ea"/>
                <a:cs typeface="+mn-cs"/>
              </a:defRPr>
            </a:lvl3pPr>
            <a:lvl4pPr marL="1600200" indent="-228600" algn="l" defTabSz="914400" rtl="0" eaLnBrk="1" latinLnBrk="0" hangingPunct="1">
              <a:lnSpc>
                <a:spcPct val="90000"/>
              </a:lnSpc>
              <a:spcBef>
                <a:spcPts val="500"/>
              </a:spcBef>
              <a:buClr>
                <a:schemeClr val="bg2"/>
              </a:buClr>
              <a:buSzPct val="90000"/>
              <a:buFont typeface="Courier New" panose="02070309020205020404" pitchFamily="49" charset="0"/>
              <a:buChar char="o"/>
              <a:defRPr sz="1800" kern="1200">
                <a:solidFill>
                  <a:schemeClr val="tx1"/>
                </a:solidFill>
                <a:latin typeface="Camphor Std" panose="020B0504030404020204" pitchFamily="34" charset="0"/>
                <a:ea typeface="+mn-ea"/>
                <a:cs typeface="+mn-cs"/>
              </a:defRPr>
            </a:lvl4pPr>
            <a:lvl5pPr marL="2057400" indent="-228600" algn="l" defTabSz="914400" rtl="0" eaLnBrk="1" latinLnBrk="0" hangingPunct="1">
              <a:lnSpc>
                <a:spcPct val="90000"/>
              </a:lnSpc>
              <a:spcBef>
                <a:spcPts val="500"/>
              </a:spcBef>
              <a:buClr>
                <a:schemeClr val="bg2"/>
              </a:buClr>
              <a:buFont typeface="Calibri" panose="020F0502020204030204" pitchFamily="34" charset="0"/>
              <a:buChar char="›"/>
              <a:defRPr sz="1800" kern="1200">
                <a:solidFill>
                  <a:schemeClr val="tx1"/>
                </a:solidFill>
                <a:latin typeface="Camphor Std" panose="020B05040304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a:latin typeface="Camphor Std"/>
              </a:rPr>
              <a:t>Lay the groundwork for long-lead and larger opportunities in 2026-27</a:t>
            </a:r>
            <a:endParaRPr lang="en-US" sz="2000"/>
          </a:p>
        </p:txBody>
      </p:sp>
      <p:sp>
        <p:nvSpPr>
          <p:cNvPr id="13" name="Oval 12">
            <a:extLst>
              <a:ext uri="{FF2B5EF4-FFF2-40B4-BE49-F238E27FC236}">
                <a16:creationId xmlns:a16="http://schemas.microsoft.com/office/drawing/2014/main" id="{06B56F21-B298-D899-DAF4-BA737037E9EA}"/>
              </a:ext>
            </a:extLst>
          </p:cNvPr>
          <p:cNvSpPr/>
          <p:nvPr/>
        </p:nvSpPr>
        <p:spPr>
          <a:xfrm>
            <a:off x="6668025" y="1907080"/>
            <a:ext cx="725203" cy="725329"/>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2</a:t>
            </a:r>
          </a:p>
        </p:txBody>
      </p:sp>
      <p:sp>
        <p:nvSpPr>
          <p:cNvPr id="14" name="Oval 13">
            <a:extLst>
              <a:ext uri="{FF2B5EF4-FFF2-40B4-BE49-F238E27FC236}">
                <a16:creationId xmlns:a16="http://schemas.microsoft.com/office/drawing/2014/main" id="{5D09A87B-1C93-E0A8-49F7-DFF933C1906A}"/>
              </a:ext>
            </a:extLst>
          </p:cNvPr>
          <p:cNvSpPr/>
          <p:nvPr/>
        </p:nvSpPr>
        <p:spPr>
          <a:xfrm>
            <a:off x="842371" y="1967003"/>
            <a:ext cx="725203" cy="725329"/>
          </a:xfrm>
          <a:prstGeom prst="ellipse">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1</a:t>
            </a:r>
          </a:p>
        </p:txBody>
      </p:sp>
      <p:sp>
        <p:nvSpPr>
          <p:cNvPr id="16" name="Content Placeholder 2">
            <a:extLst>
              <a:ext uri="{FF2B5EF4-FFF2-40B4-BE49-F238E27FC236}">
                <a16:creationId xmlns:a16="http://schemas.microsoft.com/office/drawing/2014/main" id="{12EDDC8F-99FF-A51D-5257-147BA672BF5D}"/>
              </a:ext>
            </a:extLst>
          </p:cNvPr>
          <p:cNvSpPr txBox="1">
            <a:spLocks/>
          </p:cNvSpPr>
          <p:nvPr/>
        </p:nvSpPr>
        <p:spPr>
          <a:xfrm>
            <a:off x="1632404" y="2001617"/>
            <a:ext cx="4247996" cy="536257"/>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bg2"/>
              </a:buClr>
              <a:buFont typeface="Arial" panose="020B0604020202020204" pitchFamily="34" charset="0"/>
              <a:buChar char="•"/>
              <a:defRPr sz="2800" kern="1200">
                <a:solidFill>
                  <a:schemeClr val="tx1"/>
                </a:solidFill>
                <a:latin typeface="Camphor Std" panose="020B0504030404020204" pitchFamily="34" charset="0"/>
                <a:ea typeface="+mn-ea"/>
                <a:cs typeface="+mn-cs"/>
              </a:defRPr>
            </a:lvl1pPr>
            <a:lvl2pPr marL="685800" indent="-228600" algn="l" defTabSz="914400" rtl="0" eaLnBrk="1" latinLnBrk="0" hangingPunct="1">
              <a:lnSpc>
                <a:spcPct val="90000"/>
              </a:lnSpc>
              <a:spcBef>
                <a:spcPts val="500"/>
              </a:spcBef>
              <a:buClr>
                <a:schemeClr val="bg2"/>
              </a:buClr>
              <a:buSzPct val="100000"/>
              <a:buFont typeface="Wingdings" panose="05000000000000000000" pitchFamily="2" charset="2"/>
              <a:buChar char="§"/>
              <a:defRPr sz="2400" kern="1200">
                <a:solidFill>
                  <a:schemeClr val="tx1"/>
                </a:solidFill>
                <a:latin typeface="Camphor Std" panose="020B0504030404020204" pitchFamily="34" charset="0"/>
                <a:ea typeface="+mn-ea"/>
                <a:cs typeface="+mn-cs"/>
              </a:defRPr>
            </a:lvl2pPr>
            <a:lvl3pPr marL="1143000" indent="-228600" algn="l" defTabSz="914400" rtl="0" eaLnBrk="1" latinLnBrk="0" hangingPunct="1">
              <a:lnSpc>
                <a:spcPct val="90000"/>
              </a:lnSpc>
              <a:spcBef>
                <a:spcPts val="500"/>
              </a:spcBef>
              <a:buClr>
                <a:schemeClr val="bg2"/>
              </a:buClr>
              <a:buFont typeface="Calibri" panose="020F0502020204030204" pitchFamily="34" charset="0"/>
              <a:buChar char="–"/>
              <a:defRPr sz="2000" kern="1200">
                <a:solidFill>
                  <a:schemeClr val="tx1"/>
                </a:solidFill>
                <a:latin typeface="Camphor Std" panose="020B0504030404020204" pitchFamily="34" charset="0"/>
                <a:ea typeface="+mn-ea"/>
                <a:cs typeface="+mn-cs"/>
              </a:defRPr>
            </a:lvl3pPr>
            <a:lvl4pPr marL="1600200" indent="-228600" algn="l" defTabSz="914400" rtl="0" eaLnBrk="1" latinLnBrk="0" hangingPunct="1">
              <a:lnSpc>
                <a:spcPct val="90000"/>
              </a:lnSpc>
              <a:spcBef>
                <a:spcPts val="500"/>
              </a:spcBef>
              <a:buClr>
                <a:schemeClr val="bg2"/>
              </a:buClr>
              <a:buSzPct val="90000"/>
              <a:buFont typeface="Courier New" panose="02070309020205020404" pitchFamily="49" charset="0"/>
              <a:buChar char="o"/>
              <a:defRPr sz="1800" kern="1200">
                <a:solidFill>
                  <a:schemeClr val="tx1"/>
                </a:solidFill>
                <a:latin typeface="Camphor Std" panose="020B0504030404020204" pitchFamily="34" charset="0"/>
                <a:ea typeface="+mn-ea"/>
                <a:cs typeface="+mn-cs"/>
              </a:defRPr>
            </a:lvl4pPr>
            <a:lvl5pPr marL="2057400" indent="-228600" algn="l" defTabSz="914400" rtl="0" eaLnBrk="1" latinLnBrk="0" hangingPunct="1">
              <a:lnSpc>
                <a:spcPct val="90000"/>
              </a:lnSpc>
              <a:spcBef>
                <a:spcPts val="500"/>
              </a:spcBef>
              <a:buClr>
                <a:schemeClr val="bg2"/>
              </a:buClr>
              <a:buFont typeface="Calibri" panose="020F0502020204030204" pitchFamily="34" charset="0"/>
              <a:buChar char="›"/>
              <a:defRPr sz="1800" kern="1200">
                <a:solidFill>
                  <a:schemeClr val="tx1"/>
                </a:solidFill>
                <a:latin typeface="Camphor Std" panose="020B05040304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a:latin typeface="Camphor Std"/>
              </a:rPr>
              <a:t>Garner awareness and recognition via select placements in 2025</a:t>
            </a:r>
            <a:endParaRPr lang="en-US" sz="2000"/>
          </a:p>
        </p:txBody>
      </p:sp>
      <p:sp>
        <p:nvSpPr>
          <p:cNvPr id="20" name="TextBox 19">
            <a:extLst>
              <a:ext uri="{FF2B5EF4-FFF2-40B4-BE49-F238E27FC236}">
                <a16:creationId xmlns:a16="http://schemas.microsoft.com/office/drawing/2014/main" id="{94D6CD4E-FCF3-F6FB-A000-CCB2AC31C0E5}"/>
              </a:ext>
            </a:extLst>
          </p:cNvPr>
          <p:cNvSpPr txBox="1"/>
          <p:nvPr/>
        </p:nvSpPr>
        <p:spPr>
          <a:xfrm>
            <a:off x="1219200" y="5150361"/>
            <a:ext cx="4333240" cy="830997"/>
          </a:xfrm>
          <a:prstGeom prst="rect">
            <a:avLst/>
          </a:prstGeom>
          <a:solidFill>
            <a:srgbClr val="7030A0"/>
          </a:solidFill>
          <a:ln w="28575">
            <a:solidFill>
              <a:srgbClr val="7030A0"/>
            </a:solidFill>
          </a:ln>
        </p:spPr>
        <p:txBody>
          <a:bodyPr wrap="square" lIns="91440" tIns="45720" rIns="91440" bIns="45720" rtlCol="0" anchor="t">
            <a:spAutoFit/>
          </a:bodyPr>
          <a:lstStyle/>
          <a:p>
            <a:pPr marL="285750" indent="-285750" defTabSz="914400">
              <a:buFont typeface="Arial" panose="020B0604020202020204" pitchFamily="34" charset="0"/>
              <a:buChar char="•"/>
              <a:defRPr/>
            </a:pPr>
            <a:r>
              <a:rPr lang="en-US" sz="1600" b="1">
                <a:solidFill>
                  <a:schemeClr val="bg1"/>
                </a:solidFill>
              </a:rPr>
              <a:t>LAND PLACEMENT</a:t>
            </a:r>
          </a:p>
          <a:p>
            <a:pPr marL="285750" indent="-285750" defTabSz="914400">
              <a:buFont typeface="Arial" panose="020B0604020202020204" pitchFamily="34" charset="0"/>
              <a:buChar char="•"/>
              <a:defRPr/>
            </a:pPr>
            <a:r>
              <a:rPr lang="en-US" sz="1600" b="1">
                <a:solidFill>
                  <a:schemeClr val="bg1"/>
                </a:solidFill>
              </a:rPr>
              <a:t>ALIGN ON CRITERIA</a:t>
            </a:r>
          </a:p>
          <a:p>
            <a:pPr marL="285750" indent="-285750" defTabSz="914400">
              <a:buFont typeface="Arial" panose="020B0604020202020204" pitchFamily="34" charset="0"/>
              <a:buChar char="•"/>
              <a:defRPr/>
            </a:pPr>
            <a:r>
              <a:rPr lang="en-US" sz="1600" b="1">
                <a:solidFill>
                  <a:schemeClr val="bg1"/>
                </a:solidFill>
              </a:rPr>
              <a:t>PILOT PROCESSES</a:t>
            </a:r>
          </a:p>
        </p:txBody>
      </p:sp>
      <p:sp>
        <p:nvSpPr>
          <p:cNvPr id="21" name="TextBox 20">
            <a:extLst>
              <a:ext uri="{FF2B5EF4-FFF2-40B4-BE49-F238E27FC236}">
                <a16:creationId xmlns:a16="http://schemas.microsoft.com/office/drawing/2014/main" id="{13FC2A7C-3531-B0B2-A7BD-1C9935FB51A1}"/>
              </a:ext>
            </a:extLst>
          </p:cNvPr>
          <p:cNvSpPr txBox="1"/>
          <p:nvPr/>
        </p:nvSpPr>
        <p:spPr>
          <a:xfrm>
            <a:off x="7044322" y="5150361"/>
            <a:ext cx="4343515" cy="830997"/>
          </a:xfrm>
          <a:prstGeom prst="rect">
            <a:avLst/>
          </a:prstGeom>
          <a:solidFill>
            <a:srgbClr val="7030A0"/>
          </a:solidFill>
          <a:ln w="28575">
            <a:solidFill>
              <a:srgbClr val="7030A0"/>
            </a:solidFill>
          </a:ln>
        </p:spPr>
        <p:txBody>
          <a:bodyPr wrap="square" lIns="91440" tIns="45720" rIns="91440" bIns="45720" rtlCol="0" anchor="t">
            <a:spAutoFit/>
          </a:bodyPr>
          <a:lstStyle/>
          <a:p>
            <a:pPr marL="285750" indent="-285750" defTabSz="914400">
              <a:buFont typeface="Arial" panose="020B0604020202020204" pitchFamily="34" charset="0"/>
              <a:buChar char="•"/>
              <a:defRPr/>
            </a:pPr>
            <a:r>
              <a:rPr lang="en-US" sz="1600" b="1">
                <a:solidFill>
                  <a:schemeClr val="bg1"/>
                </a:solidFill>
              </a:rPr>
              <a:t>ASSESS WHAT WORKED, WHAT DIDN’T</a:t>
            </a:r>
          </a:p>
          <a:p>
            <a:pPr marL="285750" indent="-285750" defTabSz="914400">
              <a:buFont typeface="Arial" panose="020B0604020202020204" pitchFamily="34" charset="0"/>
              <a:buChar char="•"/>
              <a:defRPr/>
            </a:pPr>
            <a:r>
              <a:rPr lang="en-US" sz="1600" b="1">
                <a:solidFill>
                  <a:schemeClr val="bg1"/>
                </a:solidFill>
              </a:rPr>
              <a:t>RESERVE CAPACITY/RESOURCES</a:t>
            </a:r>
          </a:p>
          <a:p>
            <a:pPr marL="285750" indent="-285750" defTabSz="914400">
              <a:buFont typeface="Arial" panose="020B0604020202020204" pitchFamily="34" charset="0"/>
              <a:buChar char="•"/>
              <a:defRPr/>
            </a:pPr>
            <a:r>
              <a:rPr lang="en-US" sz="1600" b="1">
                <a:solidFill>
                  <a:schemeClr val="bg1"/>
                </a:solidFill>
              </a:rPr>
              <a:t>STREAMLINE APPROACHES</a:t>
            </a:r>
          </a:p>
        </p:txBody>
      </p:sp>
      <p:sp>
        <p:nvSpPr>
          <p:cNvPr id="22" name="Rectangle 21">
            <a:extLst>
              <a:ext uri="{FF2B5EF4-FFF2-40B4-BE49-F238E27FC236}">
                <a16:creationId xmlns:a16="http://schemas.microsoft.com/office/drawing/2014/main" id="{E02AF767-F50D-8A2B-151C-AC7D590700A0}"/>
              </a:ext>
            </a:extLst>
          </p:cNvPr>
          <p:cNvSpPr/>
          <p:nvPr/>
        </p:nvSpPr>
        <p:spPr>
          <a:xfrm rot="16200000">
            <a:off x="571492" y="5395107"/>
            <a:ext cx="823253" cy="330478"/>
          </a:xfrm>
          <a:prstGeom prst="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7030A0"/>
                </a:solidFill>
              </a:rPr>
              <a:t>2025</a:t>
            </a:r>
          </a:p>
        </p:txBody>
      </p:sp>
      <p:sp>
        <p:nvSpPr>
          <p:cNvPr id="24" name="Rectangle 23">
            <a:extLst>
              <a:ext uri="{FF2B5EF4-FFF2-40B4-BE49-F238E27FC236}">
                <a16:creationId xmlns:a16="http://schemas.microsoft.com/office/drawing/2014/main" id="{A7B549CE-0BE0-5ED0-F109-CA50E52F9958}"/>
              </a:ext>
            </a:extLst>
          </p:cNvPr>
          <p:cNvSpPr/>
          <p:nvPr/>
        </p:nvSpPr>
        <p:spPr>
          <a:xfrm rot="16200000">
            <a:off x="6318769" y="5299579"/>
            <a:ext cx="823253" cy="521533"/>
          </a:xfrm>
          <a:prstGeom prst="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2026+</a:t>
            </a:r>
          </a:p>
        </p:txBody>
      </p:sp>
    </p:spTree>
    <p:extLst>
      <p:ext uri="{BB962C8B-B14F-4D97-AF65-F5344CB8AC3E}">
        <p14:creationId xmlns:p14="http://schemas.microsoft.com/office/powerpoint/2010/main" val="8578230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E0804-62B3-6BDA-EF8F-F321A2B060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3B2151-81AA-2BA7-219D-6E98A1ACF6B1}"/>
              </a:ext>
            </a:extLst>
          </p:cNvPr>
          <p:cNvSpPr>
            <a:spLocks noGrp="1"/>
          </p:cNvSpPr>
          <p:nvPr>
            <p:ph type="title"/>
          </p:nvPr>
        </p:nvSpPr>
        <p:spPr>
          <a:xfrm>
            <a:off x="817880" y="319405"/>
            <a:ext cx="9469120" cy="583195"/>
          </a:xfrm>
        </p:spPr>
        <p:txBody>
          <a:bodyPr/>
          <a:lstStyle/>
          <a:p>
            <a:r>
              <a:rPr lang="en-US">
                <a:latin typeface="LeMonde Livre"/>
              </a:rPr>
              <a:t>Living Into the Leadership Transition</a:t>
            </a:r>
            <a:endParaRPr lang="en-US">
              <a:solidFill>
                <a:srgbClr val="FF0000"/>
              </a:solidFill>
            </a:endParaRPr>
          </a:p>
        </p:txBody>
      </p:sp>
      <p:sp>
        <p:nvSpPr>
          <p:cNvPr id="4" name="Date Placeholder 3">
            <a:extLst>
              <a:ext uri="{FF2B5EF4-FFF2-40B4-BE49-F238E27FC236}">
                <a16:creationId xmlns:a16="http://schemas.microsoft.com/office/drawing/2014/main" id="{5F6596D5-6D73-499D-E8B1-36CA3EF102FF}"/>
              </a:ext>
            </a:extLst>
          </p:cNvPr>
          <p:cNvSpPr>
            <a:spLocks noGrp="1"/>
          </p:cNvSpPr>
          <p:nvPr>
            <p:ph type="dt" sz="half" idx="10"/>
          </p:nvPr>
        </p:nvSpPr>
        <p:spPr/>
        <p:txBody>
          <a:bodyPr/>
          <a:lstStyle/>
          <a:p>
            <a:fld id="{9E706EA3-3863-4953-9BCE-AA8584D6F9E2}" type="datetime1">
              <a:rPr lang="en-US" smtClean="0"/>
              <a:t>5/30/2025</a:t>
            </a:fld>
            <a:endParaRPr lang="en-US"/>
          </a:p>
        </p:txBody>
      </p:sp>
      <p:sp>
        <p:nvSpPr>
          <p:cNvPr id="10" name="Content Placeholder 2">
            <a:extLst>
              <a:ext uri="{FF2B5EF4-FFF2-40B4-BE49-F238E27FC236}">
                <a16:creationId xmlns:a16="http://schemas.microsoft.com/office/drawing/2014/main" id="{B70428AF-9D6B-E366-117A-6ADE5AB6971F}"/>
              </a:ext>
            </a:extLst>
          </p:cNvPr>
          <p:cNvSpPr txBox="1">
            <a:spLocks/>
          </p:cNvSpPr>
          <p:nvPr/>
        </p:nvSpPr>
        <p:spPr>
          <a:xfrm>
            <a:off x="826222" y="1097180"/>
            <a:ext cx="10953749" cy="823253"/>
          </a:xfrm>
          <a:prstGeom prst="rect">
            <a:avLst/>
          </a:prstGeom>
        </p:spPr>
        <p:txBody>
          <a:bodyPr vert="horz" lIns="91440" tIns="45720" rIns="91440" bIns="45720" rtlCol="0" anchor="t">
            <a:normAutofit fontScale="92500"/>
          </a:bodyPr>
          <a:lstStyle>
            <a:lvl1pPr marL="228600" indent="-228600" algn="l" defTabSz="914400" rtl="0" eaLnBrk="1" latinLnBrk="0" hangingPunct="1">
              <a:lnSpc>
                <a:spcPct val="90000"/>
              </a:lnSpc>
              <a:spcBef>
                <a:spcPts val="1000"/>
              </a:spcBef>
              <a:buClr>
                <a:schemeClr val="bg2"/>
              </a:buClr>
              <a:buFont typeface="Arial" panose="020B0604020202020204" pitchFamily="34" charset="0"/>
              <a:buChar char="•"/>
              <a:defRPr sz="2800" kern="1200">
                <a:solidFill>
                  <a:schemeClr val="tx1"/>
                </a:solidFill>
                <a:latin typeface="Camphor Std" panose="020B0504030404020204" pitchFamily="34" charset="0"/>
                <a:ea typeface="+mn-ea"/>
                <a:cs typeface="+mn-cs"/>
              </a:defRPr>
            </a:lvl1pPr>
            <a:lvl2pPr marL="685800" indent="-228600" algn="l" defTabSz="914400" rtl="0" eaLnBrk="1" latinLnBrk="0" hangingPunct="1">
              <a:lnSpc>
                <a:spcPct val="90000"/>
              </a:lnSpc>
              <a:spcBef>
                <a:spcPts val="500"/>
              </a:spcBef>
              <a:buClr>
                <a:schemeClr val="bg2"/>
              </a:buClr>
              <a:buSzPct val="100000"/>
              <a:buFont typeface="Wingdings" panose="05000000000000000000" pitchFamily="2" charset="2"/>
              <a:buChar char="§"/>
              <a:defRPr sz="2400" kern="1200">
                <a:solidFill>
                  <a:schemeClr val="tx1"/>
                </a:solidFill>
                <a:latin typeface="Camphor Std" panose="020B0504030404020204" pitchFamily="34" charset="0"/>
                <a:ea typeface="+mn-ea"/>
                <a:cs typeface="+mn-cs"/>
              </a:defRPr>
            </a:lvl2pPr>
            <a:lvl3pPr marL="1143000" indent="-228600" algn="l" defTabSz="914400" rtl="0" eaLnBrk="1" latinLnBrk="0" hangingPunct="1">
              <a:lnSpc>
                <a:spcPct val="90000"/>
              </a:lnSpc>
              <a:spcBef>
                <a:spcPts val="500"/>
              </a:spcBef>
              <a:buClr>
                <a:schemeClr val="bg2"/>
              </a:buClr>
              <a:buFont typeface="Calibri" panose="020F0502020204030204" pitchFamily="34" charset="0"/>
              <a:buChar char="–"/>
              <a:defRPr sz="2000" kern="1200">
                <a:solidFill>
                  <a:schemeClr val="tx1"/>
                </a:solidFill>
                <a:latin typeface="Camphor Std" panose="020B0504030404020204" pitchFamily="34" charset="0"/>
                <a:ea typeface="+mn-ea"/>
                <a:cs typeface="+mn-cs"/>
              </a:defRPr>
            </a:lvl3pPr>
            <a:lvl4pPr marL="1600200" indent="-228600" algn="l" defTabSz="914400" rtl="0" eaLnBrk="1" latinLnBrk="0" hangingPunct="1">
              <a:lnSpc>
                <a:spcPct val="90000"/>
              </a:lnSpc>
              <a:spcBef>
                <a:spcPts val="500"/>
              </a:spcBef>
              <a:buClr>
                <a:schemeClr val="bg2"/>
              </a:buClr>
              <a:buSzPct val="90000"/>
              <a:buFont typeface="Courier New" panose="02070309020205020404" pitchFamily="49" charset="0"/>
              <a:buChar char="o"/>
              <a:defRPr sz="1800" kern="1200">
                <a:solidFill>
                  <a:schemeClr val="tx1"/>
                </a:solidFill>
                <a:latin typeface="Camphor Std" panose="020B0504030404020204" pitchFamily="34" charset="0"/>
                <a:ea typeface="+mn-ea"/>
                <a:cs typeface="+mn-cs"/>
              </a:defRPr>
            </a:lvl4pPr>
            <a:lvl5pPr marL="2057400" indent="-228600" algn="l" defTabSz="914400" rtl="0" eaLnBrk="1" latinLnBrk="0" hangingPunct="1">
              <a:lnSpc>
                <a:spcPct val="90000"/>
              </a:lnSpc>
              <a:spcBef>
                <a:spcPts val="500"/>
              </a:spcBef>
              <a:buClr>
                <a:schemeClr val="bg2"/>
              </a:buClr>
              <a:buFont typeface="Calibri" panose="020F0502020204030204" pitchFamily="34" charset="0"/>
              <a:buChar char="›"/>
              <a:defRPr sz="1800" kern="1200">
                <a:solidFill>
                  <a:schemeClr val="tx1"/>
                </a:solidFill>
                <a:latin typeface="Camphor Std" panose="020B05040304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a:solidFill>
                  <a:srgbClr val="0091C8"/>
                </a:solidFill>
                <a:latin typeface="Camphor Std"/>
              </a:rPr>
              <a:t>External communications in 2025 offers opportunities to reinforce BMP’s leadership transition, allowing Nancy and Jim individually to cement their new roles and lay the groundwork for the work they want to accomplish. Together, we can curate a set of complementary activities inspired by your interests and priorities. </a:t>
            </a:r>
            <a:endParaRPr lang="en-US" sz="1800">
              <a:solidFill>
                <a:srgbClr val="0091C8"/>
              </a:solidFill>
            </a:endParaRPr>
          </a:p>
        </p:txBody>
      </p:sp>
      <p:sp>
        <p:nvSpPr>
          <p:cNvPr id="3" name="Rectangle 2">
            <a:extLst>
              <a:ext uri="{FF2B5EF4-FFF2-40B4-BE49-F238E27FC236}">
                <a16:creationId xmlns:a16="http://schemas.microsoft.com/office/drawing/2014/main" id="{E4B9BC09-9846-BBF6-CF89-63200463C92B}"/>
              </a:ext>
            </a:extLst>
          </p:cNvPr>
          <p:cNvSpPr/>
          <p:nvPr/>
        </p:nvSpPr>
        <p:spPr>
          <a:xfrm>
            <a:off x="698902" y="1939363"/>
            <a:ext cx="4958948" cy="696019"/>
          </a:xfrm>
          <a:prstGeom prst="rect">
            <a:avLst/>
          </a:prstGeom>
          <a:solidFill>
            <a:srgbClr val="C3C3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rPr>
              <a:t>Nancy Roob</a:t>
            </a:r>
          </a:p>
        </p:txBody>
      </p:sp>
      <p:sp>
        <p:nvSpPr>
          <p:cNvPr id="6" name="Rectangle 5">
            <a:extLst>
              <a:ext uri="{FF2B5EF4-FFF2-40B4-BE49-F238E27FC236}">
                <a16:creationId xmlns:a16="http://schemas.microsoft.com/office/drawing/2014/main" id="{0519A7EE-C41E-7F3C-98D8-0DCB89E610FA}"/>
              </a:ext>
            </a:extLst>
          </p:cNvPr>
          <p:cNvSpPr/>
          <p:nvPr/>
        </p:nvSpPr>
        <p:spPr>
          <a:xfrm>
            <a:off x="6534150" y="1926289"/>
            <a:ext cx="4958948" cy="709093"/>
          </a:xfrm>
          <a:prstGeom prst="rect">
            <a:avLst/>
          </a:prstGeom>
          <a:solidFill>
            <a:srgbClr val="C3C3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rPr>
              <a:t>Jim Shelton</a:t>
            </a:r>
          </a:p>
        </p:txBody>
      </p:sp>
      <p:sp>
        <p:nvSpPr>
          <p:cNvPr id="8" name="TextBox 7">
            <a:extLst>
              <a:ext uri="{FF2B5EF4-FFF2-40B4-BE49-F238E27FC236}">
                <a16:creationId xmlns:a16="http://schemas.microsoft.com/office/drawing/2014/main" id="{7DAB8207-2C5A-0DD9-6602-9FF10B723F63}"/>
              </a:ext>
            </a:extLst>
          </p:cNvPr>
          <p:cNvSpPr txBox="1"/>
          <p:nvPr/>
        </p:nvSpPr>
        <p:spPr>
          <a:xfrm rot="16200000">
            <a:off x="5193506" y="3323015"/>
            <a:ext cx="1804988" cy="646331"/>
          </a:xfrm>
          <a:prstGeom prst="rect">
            <a:avLst/>
          </a:prstGeom>
          <a:solidFill>
            <a:schemeClr val="tx2"/>
          </a:solidFill>
        </p:spPr>
        <p:txBody>
          <a:bodyPr wrap="square" rtlCol="0">
            <a:spAutoFit/>
          </a:bodyPr>
          <a:lstStyle/>
          <a:p>
            <a:pPr algn="ctr"/>
            <a:r>
              <a:rPr lang="en-US" b="1">
                <a:solidFill>
                  <a:schemeClr val="bg1"/>
                </a:solidFill>
              </a:rPr>
              <a:t>CONTINUE</a:t>
            </a:r>
          </a:p>
          <a:p>
            <a:pPr algn="ctr"/>
            <a:r>
              <a:rPr lang="en-US" b="1">
                <a:solidFill>
                  <a:schemeClr val="bg1"/>
                </a:solidFill>
              </a:rPr>
              <a:t>&amp; ENHANCE</a:t>
            </a:r>
          </a:p>
        </p:txBody>
      </p:sp>
      <p:sp>
        <p:nvSpPr>
          <p:cNvPr id="9" name="TextBox 8">
            <a:extLst>
              <a:ext uri="{FF2B5EF4-FFF2-40B4-BE49-F238E27FC236}">
                <a16:creationId xmlns:a16="http://schemas.microsoft.com/office/drawing/2014/main" id="{0AA67DE9-7E3E-2E40-204F-46D186A87C4E}"/>
              </a:ext>
            </a:extLst>
          </p:cNvPr>
          <p:cNvSpPr txBox="1"/>
          <p:nvPr/>
        </p:nvSpPr>
        <p:spPr>
          <a:xfrm rot="16200000">
            <a:off x="5317259" y="5048762"/>
            <a:ext cx="1562099" cy="646331"/>
          </a:xfrm>
          <a:prstGeom prst="rect">
            <a:avLst/>
          </a:prstGeom>
          <a:solidFill>
            <a:schemeClr val="accent3"/>
          </a:solidFill>
        </p:spPr>
        <p:txBody>
          <a:bodyPr wrap="square" rtlCol="0">
            <a:spAutoFit/>
          </a:bodyPr>
          <a:lstStyle/>
          <a:p>
            <a:pPr algn="ctr"/>
            <a:r>
              <a:rPr lang="en-US" b="1">
                <a:solidFill>
                  <a:schemeClr val="bg1"/>
                </a:solidFill>
              </a:rPr>
              <a:t>CREATE</a:t>
            </a:r>
          </a:p>
          <a:p>
            <a:pPr algn="ctr"/>
            <a:r>
              <a:rPr lang="en-US" b="1">
                <a:solidFill>
                  <a:schemeClr val="bg1"/>
                </a:solidFill>
              </a:rPr>
              <a:t>&amp; ACTIVATE</a:t>
            </a:r>
          </a:p>
        </p:txBody>
      </p:sp>
      <p:sp>
        <p:nvSpPr>
          <p:cNvPr id="11" name="Rectangle 10">
            <a:extLst>
              <a:ext uri="{FF2B5EF4-FFF2-40B4-BE49-F238E27FC236}">
                <a16:creationId xmlns:a16="http://schemas.microsoft.com/office/drawing/2014/main" id="{F188122A-D9D6-5DAA-41DE-AD5350041903}"/>
              </a:ext>
            </a:extLst>
          </p:cNvPr>
          <p:cNvSpPr/>
          <p:nvPr/>
        </p:nvSpPr>
        <p:spPr>
          <a:xfrm>
            <a:off x="698902" y="2743685"/>
            <a:ext cx="4958948" cy="1804989"/>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2"/>
                </a:solidFill>
              </a:rPr>
              <a:t>Earned Media – Inside Philanthropy</a:t>
            </a:r>
          </a:p>
          <a:p>
            <a:pPr algn="ctr"/>
            <a:r>
              <a:rPr lang="en-US" sz="2000" b="1">
                <a:solidFill>
                  <a:schemeClr val="tx2"/>
                </a:solidFill>
              </a:rPr>
              <a:t>Voices Feature</a:t>
            </a:r>
          </a:p>
          <a:p>
            <a:pPr algn="ctr"/>
            <a:endParaRPr lang="en-US" sz="2000" b="1">
              <a:solidFill>
                <a:schemeClr val="tx2"/>
              </a:solidFill>
            </a:endParaRPr>
          </a:p>
        </p:txBody>
      </p:sp>
      <p:sp>
        <p:nvSpPr>
          <p:cNvPr id="15" name="Rectangle 14">
            <a:extLst>
              <a:ext uri="{FF2B5EF4-FFF2-40B4-BE49-F238E27FC236}">
                <a16:creationId xmlns:a16="http://schemas.microsoft.com/office/drawing/2014/main" id="{22A80A11-0EFF-D745-F6DD-ACFE9F8B051E}"/>
              </a:ext>
            </a:extLst>
          </p:cNvPr>
          <p:cNvSpPr/>
          <p:nvPr/>
        </p:nvSpPr>
        <p:spPr>
          <a:xfrm>
            <a:off x="6534150" y="2743686"/>
            <a:ext cx="4958948" cy="1804988"/>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2"/>
                </a:solidFill>
              </a:rPr>
              <a:t>Authored Article</a:t>
            </a:r>
          </a:p>
          <a:p>
            <a:pPr algn="ctr"/>
            <a:r>
              <a:rPr lang="en-US" sz="2000" b="1">
                <a:solidFill>
                  <a:schemeClr val="tx2"/>
                </a:solidFill>
              </a:rPr>
              <a:t>Voices Feature</a:t>
            </a:r>
          </a:p>
        </p:txBody>
      </p:sp>
      <p:sp>
        <p:nvSpPr>
          <p:cNvPr id="18" name="Rectangle 17">
            <a:extLst>
              <a:ext uri="{FF2B5EF4-FFF2-40B4-BE49-F238E27FC236}">
                <a16:creationId xmlns:a16="http://schemas.microsoft.com/office/drawing/2014/main" id="{556183FE-5A13-C5C5-F1A4-77AE656B05AC}"/>
              </a:ext>
            </a:extLst>
          </p:cNvPr>
          <p:cNvSpPr/>
          <p:nvPr/>
        </p:nvSpPr>
        <p:spPr>
          <a:xfrm>
            <a:off x="698902" y="4610414"/>
            <a:ext cx="4958948" cy="1404624"/>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2"/>
                </a:solidFill>
              </a:rPr>
              <a:t>Media Briefings</a:t>
            </a:r>
          </a:p>
          <a:p>
            <a:pPr algn="ctr"/>
            <a:r>
              <a:rPr lang="en-US" sz="2000" b="1">
                <a:solidFill>
                  <a:schemeClr val="tx2"/>
                </a:solidFill>
              </a:rPr>
              <a:t>Live Event </a:t>
            </a:r>
          </a:p>
          <a:p>
            <a:pPr algn="ctr"/>
            <a:r>
              <a:rPr lang="en-US" sz="2000" b="1">
                <a:solidFill>
                  <a:schemeClr val="tx2"/>
                </a:solidFill>
              </a:rPr>
              <a:t>Award Nomination</a:t>
            </a:r>
          </a:p>
        </p:txBody>
      </p:sp>
      <p:sp>
        <p:nvSpPr>
          <p:cNvPr id="19" name="Rectangle 18">
            <a:extLst>
              <a:ext uri="{FF2B5EF4-FFF2-40B4-BE49-F238E27FC236}">
                <a16:creationId xmlns:a16="http://schemas.microsoft.com/office/drawing/2014/main" id="{8B19D8AD-92CA-F0D8-9B8D-7E0DB4BA35A9}"/>
              </a:ext>
            </a:extLst>
          </p:cNvPr>
          <p:cNvSpPr/>
          <p:nvPr/>
        </p:nvSpPr>
        <p:spPr>
          <a:xfrm>
            <a:off x="6534150" y="4610414"/>
            <a:ext cx="4958948" cy="1404624"/>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2"/>
                </a:solidFill>
              </a:rPr>
              <a:t>Media Briefings</a:t>
            </a:r>
          </a:p>
          <a:p>
            <a:pPr algn="ctr"/>
            <a:r>
              <a:rPr lang="en-US" sz="2000" b="1">
                <a:solidFill>
                  <a:schemeClr val="tx2"/>
                </a:solidFill>
              </a:rPr>
              <a:t>Fireside Chat</a:t>
            </a:r>
          </a:p>
          <a:p>
            <a:pPr algn="ctr"/>
            <a:r>
              <a:rPr lang="en-US" sz="2000" b="1">
                <a:solidFill>
                  <a:schemeClr val="tx2"/>
                </a:solidFill>
              </a:rPr>
              <a:t>LinkedIn Strategy</a:t>
            </a:r>
          </a:p>
          <a:p>
            <a:pPr algn="ctr"/>
            <a:r>
              <a:rPr lang="en-US" sz="2000" b="1">
                <a:solidFill>
                  <a:schemeClr val="tx2"/>
                </a:solidFill>
              </a:rPr>
              <a:t>Award Nomination</a:t>
            </a:r>
          </a:p>
        </p:txBody>
      </p:sp>
    </p:spTree>
    <p:extLst>
      <p:ext uri="{BB962C8B-B14F-4D97-AF65-F5344CB8AC3E}">
        <p14:creationId xmlns:p14="http://schemas.microsoft.com/office/powerpoint/2010/main" val="17699967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44606-628E-9E90-FE9C-504CE12B2666}"/>
              </a:ext>
            </a:extLst>
          </p:cNvPr>
          <p:cNvSpPr>
            <a:spLocks noGrp="1"/>
          </p:cNvSpPr>
          <p:nvPr>
            <p:ph type="title"/>
          </p:nvPr>
        </p:nvSpPr>
        <p:spPr/>
        <p:txBody>
          <a:bodyPr/>
          <a:lstStyle/>
          <a:p>
            <a:r>
              <a:rPr lang="en-US"/>
              <a:t>“30 for 2030” Media Briefings</a:t>
            </a:r>
          </a:p>
        </p:txBody>
      </p:sp>
      <p:sp>
        <p:nvSpPr>
          <p:cNvPr id="3" name="Content Placeholder 2">
            <a:extLst>
              <a:ext uri="{FF2B5EF4-FFF2-40B4-BE49-F238E27FC236}">
                <a16:creationId xmlns:a16="http://schemas.microsoft.com/office/drawing/2014/main" id="{4937AB79-0172-BB89-721E-CF23CD2E8BE7}"/>
              </a:ext>
            </a:extLst>
          </p:cNvPr>
          <p:cNvSpPr>
            <a:spLocks noGrp="1"/>
          </p:cNvSpPr>
          <p:nvPr>
            <p:ph idx="1"/>
          </p:nvPr>
        </p:nvSpPr>
        <p:spPr/>
        <p:txBody>
          <a:bodyPr vert="horz" lIns="91440" tIns="45720" rIns="91440" bIns="45720" rtlCol="0" anchor="t">
            <a:noAutofit/>
          </a:bodyPr>
          <a:lstStyle/>
          <a:p>
            <a:pPr marL="0" indent="0">
              <a:lnSpc>
                <a:spcPct val="100000"/>
              </a:lnSpc>
              <a:spcBef>
                <a:spcPts val="0"/>
              </a:spcBef>
              <a:buNone/>
            </a:pPr>
            <a:r>
              <a:rPr lang="en-US" sz="1600" b="1">
                <a:solidFill>
                  <a:schemeClr val="accent3"/>
                </a:solidFill>
                <a:latin typeface="Camphor Std"/>
              </a:rPr>
              <a:t>OVERVIEW: </a:t>
            </a:r>
            <a:r>
              <a:rPr lang="en-US" sz="1600">
                <a:latin typeface="Camphor Std"/>
              </a:rPr>
              <a:t>We propose to begin a series of introductory meetings with representatives from key media outlets with a goal to identify and engage 30 editors and reporters over three years. </a:t>
            </a:r>
          </a:p>
          <a:p>
            <a:pPr marL="0" indent="0">
              <a:lnSpc>
                <a:spcPct val="100000"/>
              </a:lnSpc>
              <a:spcBef>
                <a:spcPts val="0"/>
              </a:spcBef>
              <a:buNone/>
            </a:pPr>
            <a:endParaRPr lang="en-US" sz="1600" b="1">
              <a:solidFill>
                <a:schemeClr val="accent3"/>
              </a:solidFill>
            </a:endParaRPr>
          </a:p>
          <a:p>
            <a:pPr marL="0" indent="0">
              <a:lnSpc>
                <a:spcPct val="100000"/>
              </a:lnSpc>
              <a:spcBef>
                <a:spcPts val="0"/>
              </a:spcBef>
              <a:buNone/>
            </a:pPr>
            <a:r>
              <a:rPr lang="en-US" sz="1600" b="1">
                <a:solidFill>
                  <a:schemeClr val="accent3"/>
                </a:solidFill>
                <a:latin typeface="Camphor Std"/>
              </a:rPr>
              <a:t>APPROACH: </a:t>
            </a:r>
            <a:r>
              <a:rPr lang="en-US" sz="1600">
                <a:latin typeface="Camphor Std"/>
              </a:rPr>
              <a:t>These media briefings with Jim and/or Nancy may come to life as a deskside office meeting, a formal editorial briefing, a side conversation at an event or speaking engagement, a Zoom/virtual meeting, or a casual introduction over coffee. Our goal would be to secure 1-2 briefings per quarter beginning in second quarter 2025 (April to June).</a:t>
            </a:r>
          </a:p>
          <a:p>
            <a:pPr marL="0" indent="0">
              <a:lnSpc>
                <a:spcPct val="100000"/>
              </a:lnSpc>
              <a:spcBef>
                <a:spcPts val="0"/>
              </a:spcBef>
              <a:buNone/>
            </a:pPr>
            <a:endParaRPr lang="en-US" sz="1600"/>
          </a:p>
          <a:p>
            <a:pPr marL="0" indent="0">
              <a:lnSpc>
                <a:spcPct val="100000"/>
              </a:lnSpc>
              <a:spcBef>
                <a:spcPts val="0"/>
              </a:spcBef>
              <a:buNone/>
            </a:pPr>
            <a:r>
              <a:rPr lang="en-US" sz="1600">
                <a:latin typeface="Camphor Std"/>
              </a:rPr>
              <a:t>The briefings will cover various aspects of BMP’s work. While the overarching angle will be BMP as a driver of a "new normal" for philanthropy, we will develop specific pitches and messages based on timing, a reporter's specific are of interest, and the external news environment to leverage appropriate timely news hooks.   </a:t>
            </a:r>
          </a:p>
          <a:p>
            <a:pPr marL="0" indent="0">
              <a:lnSpc>
                <a:spcPct val="100000"/>
              </a:lnSpc>
              <a:spcBef>
                <a:spcPts val="0"/>
              </a:spcBef>
              <a:buNone/>
            </a:pPr>
            <a:endParaRPr lang="en-US" sz="1600"/>
          </a:p>
          <a:p>
            <a:pPr marL="0" indent="0">
              <a:lnSpc>
                <a:spcPct val="100000"/>
              </a:lnSpc>
              <a:spcBef>
                <a:spcPts val="0"/>
              </a:spcBef>
              <a:buNone/>
            </a:pPr>
            <a:r>
              <a:rPr lang="en-US" sz="1600" b="1">
                <a:solidFill>
                  <a:schemeClr val="accent3"/>
                </a:solidFill>
                <a:latin typeface="Camphor Std"/>
              </a:rPr>
              <a:t>ANTICIPATED RESULT: </a:t>
            </a:r>
            <a:r>
              <a:rPr lang="en-US" sz="1600">
                <a:latin typeface="Camphor Std"/>
              </a:rPr>
              <a:t>The overarching aim of this effort is to proactively establish relationships with influential members of the media and increase awareness and understanding about Blue Meridian and its work. While some interviews may result in immediate coverage, the briefings more likely lay the groundwork for inbound interviews, quotes, and commentary. Over time the briefings will serve to secure positive media coverage that reaches our priority audiences. </a:t>
            </a:r>
          </a:p>
        </p:txBody>
      </p:sp>
      <p:sp>
        <p:nvSpPr>
          <p:cNvPr id="4" name="Date Placeholder 3">
            <a:extLst>
              <a:ext uri="{FF2B5EF4-FFF2-40B4-BE49-F238E27FC236}">
                <a16:creationId xmlns:a16="http://schemas.microsoft.com/office/drawing/2014/main" id="{86F79F1F-2BA4-D684-5590-737B3342967C}"/>
              </a:ext>
            </a:extLst>
          </p:cNvPr>
          <p:cNvSpPr>
            <a:spLocks noGrp="1"/>
          </p:cNvSpPr>
          <p:nvPr>
            <p:ph type="dt" sz="half" idx="10"/>
          </p:nvPr>
        </p:nvSpPr>
        <p:spPr/>
        <p:txBody>
          <a:bodyPr/>
          <a:lstStyle/>
          <a:p>
            <a:fld id="{BC3D03DF-0342-4622-8B20-72834246CB10}" type="datetime1">
              <a:rPr lang="en-US" smtClean="0"/>
              <a:t>5/30/2025</a:t>
            </a:fld>
            <a:endParaRPr lang="en-US"/>
          </a:p>
        </p:txBody>
      </p:sp>
      <p:sp>
        <p:nvSpPr>
          <p:cNvPr id="5" name="Rectangle 4">
            <a:extLst>
              <a:ext uri="{FF2B5EF4-FFF2-40B4-BE49-F238E27FC236}">
                <a16:creationId xmlns:a16="http://schemas.microsoft.com/office/drawing/2014/main" id="{154EBACE-5108-B304-B616-7C81C66D1993}"/>
              </a:ext>
            </a:extLst>
          </p:cNvPr>
          <p:cNvSpPr/>
          <p:nvPr/>
        </p:nvSpPr>
        <p:spPr>
          <a:xfrm>
            <a:off x="8631936" y="1688"/>
            <a:ext cx="3560064" cy="565237"/>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CREATE &amp; ACTIVIATE</a:t>
            </a:r>
          </a:p>
        </p:txBody>
      </p:sp>
    </p:spTree>
    <p:extLst>
      <p:ext uri="{BB962C8B-B14F-4D97-AF65-F5344CB8AC3E}">
        <p14:creationId xmlns:p14="http://schemas.microsoft.com/office/powerpoint/2010/main" val="32291176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84CE47-C706-D947-1C9C-4EB9737022F8}"/>
              </a:ext>
            </a:extLst>
          </p:cNvPr>
          <p:cNvSpPr>
            <a:spLocks noGrp="1"/>
          </p:cNvSpPr>
          <p:nvPr>
            <p:ph idx="1"/>
          </p:nvPr>
        </p:nvSpPr>
        <p:spPr>
          <a:xfrm>
            <a:off x="722229" y="2033575"/>
            <a:ext cx="5087067" cy="4571361"/>
          </a:xfrm>
        </p:spPr>
        <p:txBody>
          <a:bodyPr numCol="1">
            <a:noAutofit/>
          </a:bodyPr>
          <a:lstStyle/>
          <a:p>
            <a:pPr marL="0" indent="0">
              <a:lnSpc>
                <a:spcPct val="120000"/>
              </a:lnSpc>
              <a:spcBef>
                <a:spcPts val="0"/>
              </a:spcBef>
              <a:buNone/>
            </a:pPr>
            <a:r>
              <a:rPr lang="en-US" sz="1000" b="1">
                <a:solidFill>
                  <a:srgbClr val="000000"/>
                </a:solidFill>
                <a:latin typeface="Camphor Std"/>
                <a:ea typeface="Calibri"/>
                <a:cs typeface="Calibri"/>
              </a:rPr>
              <a:t>Associated Press, Thalia </a:t>
            </a:r>
            <a:r>
              <a:rPr lang="en-US" sz="1000" b="1">
                <a:latin typeface="Camphor Std"/>
              </a:rPr>
              <a:t>Beatty</a:t>
            </a:r>
            <a:r>
              <a:rPr lang="en-US" sz="1000">
                <a:latin typeface="Camphor Std"/>
              </a:rPr>
              <a:t>. A reporter covering </a:t>
            </a:r>
            <a:r>
              <a:rPr lang="en-US" sz="1000">
                <a:latin typeface="Camphor Std"/>
                <a:ea typeface="+mn-lt"/>
                <a:cs typeface="+mn-lt"/>
              </a:rPr>
              <a:t>all aspects of philanthropy, she has written about billionaire giving, nonprofits, and social issues. She spoke with Jim in Fall 2023 about Place Matters bundle and is due for a follow-up conversation.</a:t>
            </a:r>
            <a:endParaRPr lang="en-US" sz="1000">
              <a:latin typeface="Camphor Std"/>
              <a:ea typeface="Calibri"/>
              <a:cs typeface="Calibri"/>
            </a:endParaRPr>
          </a:p>
          <a:p>
            <a:pPr marL="0" indent="0">
              <a:lnSpc>
                <a:spcPct val="120000"/>
              </a:lnSpc>
              <a:spcBef>
                <a:spcPts val="0"/>
              </a:spcBef>
              <a:buNone/>
            </a:pPr>
            <a:endParaRPr lang="en-US" sz="1000" b="1">
              <a:solidFill>
                <a:srgbClr val="000000"/>
              </a:solidFill>
              <a:latin typeface="Camphor Std"/>
              <a:ea typeface="Calibri"/>
              <a:cs typeface="Times New Roman"/>
            </a:endParaRPr>
          </a:p>
          <a:p>
            <a:pPr marL="0" indent="0">
              <a:lnSpc>
                <a:spcPct val="120000"/>
              </a:lnSpc>
              <a:spcBef>
                <a:spcPts val="0"/>
              </a:spcBef>
              <a:buNone/>
            </a:pPr>
            <a:r>
              <a:rPr lang="en-US" sz="1000" b="1">
                <a:solidFill>
                  <a:srgbClr val="000000"/>
                </a:solidFill>
                <a:latin typeface="Camphor Std"/>
                <a:ea typeface="Calibri"/>
                <a:cs typeface="Times New Roman"/>
              </a:rPr>
              <a:t>Bloomberg</a:t>
            </a:r>
            <a:r>
              <a:rPr lang="en-US" sz="1000">
                <a:solidFill>
                  <a:srgbClr val="000000"/>
                </a:solidFill>
                <a:latin typeface="Camphor Std"/>
                <a:ea typeface="Calibri"/>
                <a:cs typeface="Times New Roman"/>
              </a:rPr>
              <a:t>, </a:t>
            </a:r>
            <a:r>
              <a:rPr lang="en-US" sz="1000" b="1">
                <a:solidFill>
                  <a:srgbClr val="000000"/>
                </a:solidFill>
                <a:latin typeface="Camphor Std"/>
                <a:ea typeface="Calibri"/>
                <a:cs typeface="Times New Roman"/>
              </a:rPr>
              <a:t>Justin Fox</a:t>
            </a:r>
            <a:r>
              <a:rPr lang="en-US" sz="1000">
                <a:solidFill>
                  <a:srgbClr val="000000"/>
                </a:solidFill>
                <a:latin typeface="Camphor Std"/>
                <a:ea typeface="Calibri"/>
                <a:cs typeface="Times New Roman"/>
              </a:rPr>
              <a:t>. An Opinion columnist covering business and economics, including economic policy, philanthropy, and social impact investing, he may be interested in learning more about BMP's approach to transforming communities through strategic investments. </a:t>
            </a:r>
          </a:p>
          <a:p>
            <a:pPr marL="0" indent="0">
              <a:lnSpc>
                <a:spcPct val="120000"/>
              </a:lnSpc>
              <a:spcBef>
                <a:spcPts val="0"/>
              </a:spcBef>
              <a:buNone/>
            </a:pPr>
            <a:endParaRPr lang="en-US" sz="1000" b="1">
              <a:solidFill>
                <a:srgbClr val="000000"/>
              </a:solidFill>
              <a:latin typeface="Camphor Std"/>
              <a:ea typeface="Calibri"/>
              <a:cs typeface="Calibri"/>
            </a:endParaRPr>
          </a:p>
          <a:p>
            <a:pPr marL="0" indent="0">
              <a:lnSpc>
                <a:spcPct val="120000"/>
              </a:lnSpc>
              <a:spcBef>
                <a:spcPts val="0"/>
              </a:spcBef>
              <a:buNone/>
            </a:pPr>
            <a:r>
              <a:rPr lang="en-US" sz="1000" b="1">
                <a:solidFill>
                  <a:srgbClr val="000000"/>
                </a:solidFill>
                <a:latin typeface="Camphor Std"/>
                <a:ea typeface="Calibri"/>
                <a:cs typeface="Calibri"/>
              </a:rPr>
              <a:t>CNBC</a:t>
            </a:r>
            <a:r>
              <a:rPr lang="en-US" sz="1000">
                <a:solidFill>
                  <a:srgbClr val="000000"/>
                </a:solidFill>
                <a:latin typeface="Camphor Std"/>
                <a:ea typeface="Calibri"/>
                <a:cs typeface="Calibri"/>
              </a:rPr>
              <a:t>,</a:t>
            </a:r>
            <a:r>
              <a:rPr lang="en-US" sz="1000">
                <a:latin typeface="Camphor Std"/>
                <a:ea typeface="Calibri"/>
                <a:cs typeface="Calibri"/>
              </a:rPr>
              <a:t> </a:t>
            </a:r>
            <a:r>
              <a:rPr lang="en-US" sz="1000" b="1">
                <a:latin typeface="Camphor Std"/>
                <a:ea typeface="Calibri"/>
                <a:cs typeface="Calibri"/>
              </a:rPr>
              <a:t>Robert Frank</a:t>
            </a:r>
            <a:r>
              <a:rPr lang="en-US" sz="1000">
                <a:latin typeface="Camphor Std"/>
                <a:ea typeface="Calibri"/>
                <a:cs typeface="Calibri"/>
              </a:rPr>
              <a:t>. The host "Inside Wealth" interviews with some of the world's highest profile investors as part of coverage of family offices, high-net-worth investors and consumers. He can bring a business-focused perspective to conversations about impact and systemic change. </a:t>
            </a:r>
            <a:endParaRPr lang="en-US" sz="1000"/>
          </a:p>
          <a:p>
            <a:pPr marL="0" indent="0">
              <a:lnSpc>
                <a:spcPct val="120000"/>
              </a:lnSpc>
              <a:spcBef>
                <a:spcPts val="0"/>
              </a:spcBef>
              <a:buNone/>
            </a:pPr>
            <a:endParaRPr lang="en-US" sz="1000" b="1">
              <a:latin typeface="Camphor Std"/>
              <a:ea typeface="Calibri"/>
              <a:cs typeface="Calibri"/>
            </a:endParaRPr>
          </a:p>
          <a:p>
            <a:pPr marL="0" indent="0">
              <a:lnSpc>
                <a:spcPct val="120000"/>
              </a:lnSpc>
              <a:spcBef>
                <a:spcPts val="0"/>
              </a:spcBef>
              <a:buNone/>
            </a:pPr>
            <a:r>
              <a:rPr lang="en-US" sz="1000" b="1">
                <a:latin typeface="Camphor Std"/>
                <a:ea typeface="Calibri"/>
                <a:cs typeface="Calibri"/>
              </a:rPr>
              <a:t>Financial Times</a:t>
            </a:r>
            <a:r>
              <a:rPr lang="en-US" sz="1000">
                <a:latin typeface="Camphor Std"/>
                <a:ea typeface="Calibri"/>
                <a:cs typeface="Calibri"/>
              </a:rPr>
              <a:t>, </a:t>
            </a:r>
            <a:r>
              <a:rPr lang="en-US" sz="1000" b="1">
                <a:latin typeface="Camphor Std"/>
                <a:ea typeface="Calibri"/>
                <a:cs typeface="Calibri"/>
              </a:rPr>
              <a:t>Taylor Nicole Rogers</a:t>
            </a:r>
            <a:r>
              <a:rPr lang="en-US" sz="1000">
                <a:latin typeface="Camphor Std"/>
                <a:ea typeface="Calibri"/>
                <a:cs typeface="Calibri"/>
              </a:rPr>
              <a:t>. As the US labor and equality correspondent, she reports on the financial, social and policy barriers limiting equal market participation in minority communities and may be interested in the intersection of racial equity, social justice and philanthropy. </a:t>
            </a:r>
            <a:endParaRPr lang="en-US" sz="1000">
              <a:solidFill>
                <a:srgbClr val="000000"/>
              </a:solidFill>
              <a:ea typeface="Calibri"/>
              <a:cs typeface="Calibri"/>
            </a:endParaRPr>
          </a:p>
          <a:p>
            <a:pPr marL="0" indent="0">
              <a:lnSpc>
                <a:spcPct val="120000"/>
              </a:lnSpc>
              <a:spcBef>
                <a:spcPts val="0"/>
              </a:spcBef>
              <a:buNone/>
            </a:pPr>
            <a:endParaRPr lang="en-US" sz="1000" b="1">
              <a:latin typeface="Camphor Std"/>
              <a:ea typeface="Calibri"/>
              <a:cs typeface="Calibri"/>
            </a:endParaRPr>
          </a:p>
          <a:p>
            <a:pPr marL="0" indent="0">
              <a:lnSpc>
                <a:spcPct val="120000"/>
              </a:lnSpc>
              <a:spcBef>
                <a:spcPts val="0"/>
              </a:spcBef>
              <a:buNone/>
            </a:pPr>
            <a:r>
              <a:rPr lang="en-US" sz="1000" b="1">
                <a:latin typeface="Camphor Std"/>
                <a:ea typeface="Calibri"/>
                <a:cs typeface="Calibri"/>
              </a:rPr>
              <a:t>Fortune*</a:t>
            </a:r>
            <a:r>
              <a:rPr lang="en-US" sz="1000">
                <a:latin typeface="Camphor Std"/>
                <a:ea typeface="Calibri"/>
                <a:cs typeface="Calibri"/>
              </a:rPr>
              <a:t>, </a:t>
            </a:r>
            <a:r>
              <a:rPr lang="en-US" sz="1000" b="1">
                <a:latin typeface="Camphor Std"/>
                <a:ea typeface="Calibri"/>
                <a:cs typeface="Calibri"/>
              </a:rPr>
              <a:t>Lila MacLellan</a:t>
            </a:r>
            <a:r>
              <a:rPr lang="en-US" sz="1000">
                <a:latin typeface="Camphor Std"/>
                <a:ea typeface="Calibri"/>
                <a:cs typeface="Calibri"/>
              </a:rPr>
              <a:t>. As a senior writer, she covers topics in leadership and is interested in how broader business and economic trends are shaping the future of systemic change and equity. </a:t>
            </a:r>
          </a:p>
          <a:p>
            <a:pPr marL="0" indent="0">
              <a:lnSpc>
                <a:spcPct val="120000"/>
              </a:lnSpc>
              <a:spcBef>
                <a:spcPts val="0"/>
              </a:spcBef>
              <a:buNone/>
            </a:pPr>
            <a:endParaRPr lang="en-US" sz="1000" b="1">
              <a:ea typeface="Calibri"/>
              <a:cs typeface="Calibri"/>
            </a:endParaRPr>
          </a:p>
          <a:p>
            <a:pPr marL="0" indent="0">
              <a:lnSpc>
                <a:spcPct val="120000"/>
              </a:lnSpc>
              <a:spcBef>
                <a:spcPts val="0"/>
              </a:spcBef>
              <a:buNone/>
            </a:pPr>
            <a:endParaRPr lang="en-US" sz="1000" b="1">
              <a:ea typeface="Calibri"/>
              <a:cs typeface="Calibri"/>
            </a:endParaRPr>
          </a:p>
          <a:p>
            <a:pPr marL="0" indent="0">
              <a:lnSpc>
                <a:spcPct val="120000"/>
              </a:lnSpc>
              <a:spcBef>
                <a:spcPts val="0"/>
              </a:spcBef>
              <a:buNone/>
            </a:pPr>
            <a:endParaRPr lang="en-US" sz="1000" b="1">
              <a:ea typeface="Calibri"/>
              <a:cs typeface="Calibri"/>
            </a:endParaRPr>
          </a:p>
          <a:p>
            <a:pPr marL="0" indent="0">
              <a:lnSpc>
                <a:spcPct val="120000"/>
              </a:lnSpc>
              <a:spcBef>
                <a:spcPts val="0"/>
              </a:spcBef>
              <a:buNone/>
            </a:pPr>
            <a:endParaRPr lang="en-US" sz="1000" b="1">
              <a:ea typeface="Calibri"/>
              <a:cs typeface="Calibri"/>
            </a:endParaRPr>
          </a:p>
          <a:p>
            <a:pPr marL="0" indent="0">
              <a:lnSpc>
                <a:spcPct val="120000"/>
              </a:lnSpc>
              <a:spcBef>
                <a:spcPts val="0"/>
              </a:spcBef>
              <a:buNone/>
            </a:pPr>
            <a:endParaRPr lang="en-US" sz="1000" b="1">
              <a:ea typeface="Calibri"/>
              <a:cs typeface="Calibri"/>
            </a:endParaRPr>
          </a:p>
          <a:p>
            <a:pPr marL="0" indent="0">
              <a:lnSpc>
                <a:spcPct val="120000"/>
              </a:lnSpc>
              <a:spcBef>
                <a:spcPts val="0"/>
              </a:spcBef>
              <a:buNone/>
            </a:pPr>
            <a:endParaRPr lang="en-US" sz="1000" b="1">
              <a:ea typeface="Calibri"/>
              <a:cs typeface="Calibri"/>
            </a:endParaRPr>
          </a:p>
          <a:p>
            <a:pPr marL="0" indent="0">
              <a:lnSpc>
                <a:spcPct val="120000"/>
              </a:lnSpc>
              <a:spcBef>
                <a:spcPts val="0"/>
              </a:spcBef>
              <a:buNone/>
            </a:pPr>
            <a:endParaRPr lang="en-US" sz="1000" b="1">
              <a:ea typeface="Calibri"/>
              <a:cs typeface="Calibri"/>
            </a:endParaRPr>
          </a:p>
          <a:p>
            <a:pPr marL="0" indent="0">
              <a:lnSpc>
                <a:spcPct val="120000"/>
              </a:lnSpc>
              <a:spcBef>
                <a:spcPts val="0"/>
              </a:spcBef>
              <a:buNone/>
            </a:pPr>
            <a:endParaRPr lang="en-US" sz="1000" b="1">
              <a:ea typeface="Calibri"/>
              <a:cs typeface="Calibri"/>
            </a:endParaRPr>
          </a:p>
          <a:p>
            <a:pPr marL="0" indent="0">
              <a:lnSpc>
                <a:spcPct val="120000"/>
              </a:lnSpc>
              <a:spcBef>
                <a:spcPts val="0"/>
              </a:spcBef>
              <a:buNone/>
            </a:pPr>
            <a:endParaRPr lang="en-US" sz="1000" b="1">
              <a:ea typeface="Calibri"/>
              <a:cs typeface="Calibri"/>
            </a:endParaRPr>
          </a:p>
          <a:p>
            <a:pPr marL="0" indent="0">
              <a:lnSpc>
                <a:spcPct val="120000"/>
              </a:lnSpc>
              <a:spcBef>
                <a:spcPts val="0"/>
              </a:spcBef>
              <a:buNone/>
            </a:pPr>
            <a:endParaRPr lang="en-US" sz="1000">
              <a:solidFill>
                <a:srgbClr val="000000"/>
              </a:solidFill>
              <a:ea typeface="Calibri"/>
              <a:cs typeface="Calibri"/>
            </a:endParaRPr>
          </a:p>
          <a:p>
            <a:endParaRPr lang="en-US"/>
          </a:p>
        </p:txBody>
      </p:sp>
      <p:sp>
        <p:nvSpPr>
          <p:cNvPr id="3" name="Text Placeholder 2">
            <a:extLst>
              <a:ext uri="{FF2B5EF4-FFF2-40B4-BE49-F238E27FC236}">
                <a16:creationId xmlns:a16="http://schemas.microsoft.com/office/drawing/2014/main" id="{98576AAE-AAFF-BBC6-7361-34788B741532}"/>
              </a:ext>
            </a:extLst>
          </p:cNvPr>
          <p:cNvSpPr>
            <a:spLocks noGrp="1"/>
          </p:cNvSpPr>
          <p:nvPr>
            <p:ph type="body" sz="quarter" idx="13"/>
          </p:nvPr>
        </p:nvSpPr>
        <p:spPr/>
        <p:txBody>
          <a:bodyPr/>
          <a:lstStyle/>
          <a:p>
            <a:r>
              <a:rPr lang="en-US"/>
              <a:t>We welcome your feedback on the reporters below, who were selected based on (1) the outlet’s ability to reach our priority audiences; and (2) alignment between a reporter’s focus area and Blue Meridian’s work. Our goal for 2025 will be 6 briefings (2 per quarter, 2025 calendar year).</a:t>
            </a:r>
          </a:p>
        </p:txBody>
      </p:sp>
      <p:sp>
        <p:nvSpPr>
          <p:cNvPr id="5" name="Title 4">
            <a:extLst>
              <a:ext uri="{FF2B5EF4-FFF2-40B4-BE49-F238E27FC236}">
                <a16:creationId xmlns:a16="http://schemas.microsoft.com/office/drawing/2014/main" id="{DEB2EBBD-0B6F-D422-DF87-91829AFAC160}"/>
              </a:ext>
            </a:extLst>
          </p:cNvPr>
          <p:cNvSpPr>
            <a:spLocks noGrp="1"/>
          </p:cNvSpPr>
          <p:nvPr>
            <p:ph type="title"/>
          </p:nvPr>
        </p:nvSpPr>
        <p:spPr>
          <a:xfrm>
            <a:off x="695937" y="354217"/>
            <a:ext cx="10515600" cy="537030"/>
          </a:xfrm>
        </p:spPr>
        <p:txBody>
          <a:bodyPr>
            <a:normAutofit fontScale="90000"/>
          </a:bodyPr>
          <a:lstStyle/>
          <a:p>
            <a:r>
              <a:rPr lang="en-US"/>
              <a:t>Proposed Targets for 2025</a:t>
            </a:r>
          </a:p>
        </p:txBody>
      </p:sp>
      <p:sp>
        <p:nvSpPr>
          <p:cNvPr id="6" name="Rectangle 5">
            <a:extLst>
              <a:ext uri="{FF2B5EF4-FFF2-40B4-BE49-F238E27FC236}">
                <a16:creationId xmlns:a16="http://schemas.microsoft.com/office/drawing/2014/main" id="{FACD42ED-B3B9-D9DB-CF7C-C8876D2483F6}"/>
              </a:ext>
            </a:extLst>
          </p:cNvPr>
          <p:cNvSpPr/>
          <p:nvPr/>
        </p:nvSpPr>
        <p:spPr>
          <a:xfrm>
            <a:off x="8631936" y="1688"/>
            <a:ext cx="3560064" cy="565237"/>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CREATE &amp; ACTIVIATE</a:t>
            </a:r>
          </a:p>
        </p:txBody>
      </p:sp>
      <p:sp>
        <p:nvSpPr>
          <p:cNvPr id="9" name="Content Placeholder 1">
            <a:extLst>
              <a:ext uri="{FF2B5EF4-FFF2-40B4-BE49-F238E27FC236}">
                <a16:creationId xmlns:a16="http://schemas.microsoft.com/office/drawing/2014/main" id="{0B9FFD1A-5A4B-D89D-D45E-E94BBAC520EE}"/>
              </a:ext>
            </a:extLst>
          </p:cNvPr>
          <p:cNvSpPr txBox="1">
            <a:spLocks/>
          </p:cNvSpPr>
          <p:nvPr/>
        </p:nvSpPr>
        <p:spPr>
          <a:xfrm>
            <a:off x="6382706" y="2024050"/>
            <a:ext cx="5239464" cy="4571361"/>
          </a:xfrm>
          <a:prstGeom prst="rect">
            <a:avLst/>
          </a:prstGeom>
        </p:spPr>
        <p:txBody>
          <a:bodyPr vert="horz" lIns="91440" tIns="45720" rIns="91440" bIns="45720" numCol="1" rtlCol="0" anchor="t">
            <a:noAutofit/>
          </a:bodyPr>
          <a:lstStyle>
            <a:lvl1pPr marL="228600" indent="-228600" algn="l" defTabSz="914400" rtl="0" eaLnBrk="1" latinLnBrk="0" hangingPunct="1">
              <a:lnSpc>
                <a:spcPct val="90000"/>
              </a:lnSpc>
              <a:spcBef>
                <a:spcPts val="1000"/>
              </a:spcBef>
              <a:buClr>
                <a:schemeClr val="bg2"/>
              </a:buClr>
              <a:buFont typeface="Arial" panose="020B0604020202020204" pitchFamily="34" charset="0"/>
              <a:buChar char="•"/>
              <a:defRPr sz="2800" kern="1200">
                <a:solidFill>
                  <a:schemeClr val="tx1"/>
                </a:solidFill>
                <a:latin typeface="Camphor Std" panose="020B0504030404020204" pitchFamily="34" charset="0"/>
                <a:ea typeface="+mn-ea"/>
                <a:cs typeface="+mn-cs"/>
              </a:defRPr>
            </a:lvl1pPr>
            <a:lvl2pPr marL="457200" indent="-228600" algn="l" defTabSz="914400" rtl="0" eaLnBrk="1" latinLnBrk="0" hangingPunct="1">
              <a:lnSpc>
                <a:spcPct val="90000"/>
              </a:lnSpc>
              <a:spcBef>
                <a:spcPts val="500"/>
              </a:spcBef>
              <a:buClr>
                <a:schemeClr val="bg2"/>
              </a:buClr>
              <a:buSzPct val="100000"/>
              <a:buFont typeface="Wingdings" panose="05000000000000000000" pitchFamily="2" charset="2"/>
              <a:buChar char="§"/>
              <a:defRPr sz="2400" kern="1200">
                <a:solidFill>
                  <a:schemeClr val="tx1"/>
                </a:solidFill>
                <a:latin typeface="Camphor Std" panose="020B0504030404020204" pitchFamily="34" charset="0"/>
                <a:ea typeface="+mn-ea"/>
                <a:cs typeface="+mn-cs"/>
              </a:defRPr>
            </a:lvl2pPr>
            <a:lvl3pPr marL="685800" indent="-228600" algn="l" defTabSz="914400" rtl="0" eaLnBrk="1" latinLnBrk="0" hangingPunct="1">
              <a:lnSpc>
                <a:spcPct val="90000"/>
              </a:lnSpc>
              <a:spcBef>
                <a:spcPts val="500"/>
              </a:spcBef>
              <a:buClr>
                <a:schemeClr val="bg2"/>
              </a:buClr>
              <a:buFont typeface="Calibri" panose="020F0502020204030204" pitchFamily="34" charset="0"/>
              <a:buChar char="–"/>
              <a:defRPr sz="2000" kern="1200">
                <a:solidFill>
                  <a:schemeClr val="tx1"/>
                </a:solidFill>
                <a:latin typeface="Camphor Std" panose="020B0504030404020204" pitchFamily="34" charset="0"/>
                <a:ea typeface="+mn-ea"/>
                <a:cs typeface="+mn-cs"/>
              </a:defRPr>
            </a:lvl3pPr>
            <a:lvl4pPr marL="914400" indent="-228600" algn="l" defTabSz="914400" rtl="0" eaLnBrk="1" latinLnBrk="0" hangingPunct="1">
              <a:lnSpc>
                <a:spcPct val="90000"/>
              </a:lnSpc>
              <a:spcBef>
                <a:spcPts val="500"/>
              </a:spcBef>
              <a:buClr>
                <a:schemeClr val="bg2"/>
              </a:buClr>
              <a:buSzPct val="90000"/>
              <a:buFont typeface="Courier New" panose="02070309020205020404" pitchFamily="49" charset="0"/>
              <a:buChar char="o"/>
              <a:defRPr sz="1800" kern="1200">
                <a:solidFill>
                  <a:schemeClr val="tx1"/>
                </a:solidFill>
                <a:latin typeface="Camphor Std" panose="020B0504030404020204" pitchFamily="34" charset="0"/>
                <a:ea typeface="+mn-ea"/>
                <a:cs typeface="+mn-cs"/>
              </a:defRPr>
            </a:lvl4pPr>
            <a:lvl5pPr marL="1143000" indent="-228600" algn="l" defTabSz="914400" rtl="0" eaLnBrk="1" latinLnBrk="0" hangingPunct="1">
              <a:lnSpc>
                <a:spcPct val="90000"/>
              </a:lnSpc>
              <a:spcBef>
                <a:spcPts val="500"/>
              </a:spcBef>
              <a:buClr>
                <a:schemeClr val="bg2"/>
              </a:buClr>
              <a:buFont typeface="Calibri" panose="020F0502020204030204" pitchFamily="34" charset="0"/>
              <a:buChar char="›"/>
              <a:defRPr sz="1800" kern="1200">
                <a:solidFill>
                  <a:schemeClr val="tx1"/>
                </a:solidFill>
                <a:latin typeface="Camphor Std" panose="020B05040304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Font typeface="Arial" panose="020B0604020202020204" pitchFamily="34" charset="0"/>
              <a:buNone/>
            </a:pPr>
            <a:r>
              <a:rPr lang="en-US" sz="1000" b="1">
                <a:latin typeface="Camphor Std"/>
                <a:ea typeface="Calibri"/>
                <a:cs typeface="Calibri"/>
              </a:rPr>
              <a:t>Harvard Business Review*, Adi Ignatius.</a:t>
            </a:r>
            <a:r>
              <a:rPr lang="en-US" sz="1000">
                <a:latin typeface="Camphor Std"/>
                <a:ea typeface="Calibri"/>
                <a:cs typeface="Calibri"/>
              </a:rPr>
              <a:t> As the editor-in-chief, he is interested in an array of topics: fostering inclusive workplaces, how leaders navigate complex challenges, make data-driven decisions and manage change effectively while balancing profit and purpose. He's also interested in how business contributes to solving societal issues and influencers broader economic and social systems.</a:t>
            </a:r>
          </a:p>
          <a:p>
            <a:pPr marL="0" indent="0">
              <a:lnSpc>
                <a:spcPct val="120000"/>
              </a:lnSpc>
              <a:spcBef>
                <a:spcPts val="0"/>
              </a:spcBef>
              <a:buFont typeface="Arial" panose="020B0604020202020204" pitchFamily="34" charset="0"/>
              <a:buNone/>
            </a:pPr>
            <a:r>
              <a:rPr lang="en-US" sz="1000">
                <a:latin typeface="Camphor Std"/>
                <a:ea typeface="Calibri"/>
                <a:cs typeface="Calibri"/>
              </a:rPr>
              <a:t> </a:t>
            </a:r>
            <a:r>
              <a:rPr lang="en-US" sz="1000">
                <a:latin typeface="Camphor Std"/>
                <a:ea typeface="+mn-lt"/>
                <a:cs typeface="+mn-lt"/>
              </a:rPr>
              <a:t> </a:t>
            </a:r>
          </a:p>
          <a:p>
            <a:pPr marL="0" indent="0">
              <a:lnSpc>
                <a:spcPct val="120000"/>
              </a:lnSpc>
              <a:spcBef>
                <a:spcPts val="0"/>
              </a:spcBef>
              <a:buFont typeface="Arial" panose="020B0604020202020204" pitchFamily="34" charset="0"/>
              <a:buNone/>
            </a:pPr>
            <a:r>
              <a:rPr lang="en-US" sz="1000" b="1">
                <a:latin typeface="Camphor Std"/>
                <a:ea typeface="Calibri"/>
                <a:cs typeface="Calibri"/>
              </a:rPr>
              <a:t>New York Times*,</a:t>
            </a:r>
            <a:r>
              <a:rPr lang="en-US" sz="1000">
                <a:latin typeface="Camphor Std"/>
                <a:ea typeface="Calibri"/>
                <a:cs typeface="Calibri"/>
              </a:rPr>
              <a:t> </a:t>
            </a:r>
            <a:r>
              <a:rPr lang="en-US" sz="1000" b="1">
                <a:latin typeface="Camphor Std"/>
                <a:ea typeface="Calibri"/>
                <a:cs typeface="Calibri"/>
              </a:rPr>
              <a:t>Peter Coy</a:t>
            </a:r>
            <a:r>
              <a:rPr lang="en-US" sz="1000">
                <a:latin typeface="Camphor Std"/>
                <a:ea typeface="Calibri"/>
                <a:cs typeface="Calibri"/>
              </a:rPr>
              <a:t>. With a long history of covering economics, public policy and income inequality, he may be interested in BMP's work to address social inequities.  given his focus on systemic economic issues and ability to unpack the broader societal implications of policy decisions. </a:t>
            </a:r>
          </a:p>
          <a:p>
            <a:pPr marL="0" indent="0">
              <a:lnSpc>
                <a:spcPct val="120000"/>
              </a:lnSpc>
              <a:spcBef>
                <a:spcPts val="0"/>
              </a:spcBef>
              <a:buFont typeface="Arial" panose="020B0604020202020204" pitchFamily="34" charset="0"/>
              <a:buNone/>
            </a:pPr>
            <a:endParaRPr lang="en-US" sz="1000" b="1">
              <a:ea typeface="Calibri"/>
              <a:cs typeface="Calibri"/>
            </a:endParaRPr>
          </a:p>
          <a:p>
            <a:pPr marL="0" indent="0">
              <a:lnSpc>
                <a:spcPct val="120000"/>
              </a:lnSpc>
              <a:spcBef>
                <a:spcPts val="0"/>
              </a:spcBef>
              <a:buFont typeface="Arial" panose="020B0604020202020204" pitchFamily="34" charset="0"/>
              <a:buNone/>
            </a:pPr>
            <a:r>
              <a:rPr lang="en-US" sz="1000" b="1">
                <a:latin typeface="Camphor Std"/>
                <a:ea typeface="Calibri"/>
                <a:cs typeface="Calibri"/>
              </a:rPr>
              <a:t>Reuters*</a:t>
            </a:r>
            <a:r>
              <a:rPr lang="en-US" sz="1000">
                <a:latin typeface="Camphor Std"/>
                <a:ea typeface="Calibri"/>
                <a:cs typeface="Calibri"/>
              </a:rPr>
              <a:t>, </a:t>
            </a:r>
            <a:r>
              <a:rPr lang="en-US" sz="1000" b="1">
                <a:latin typeface="Camphor Std"/>
                <a:ea typeface="Calibri"/>
                <a:cs typeface="Calibri"/>
              </a:rPr>
              <a:t>Lauren Young</a:t>
            </a:r>
            <a:r>
              <a:rPr lang="en-US" sz="1000">
                <a:latin typeface="Camphor Std"/>
                <a:ea typeface="Calibri"/>
                <a:cs typeface="Calibri"/>
              </a:rPr>
              <a:t>. A workplace, personal finance and digital expert whose interest includes intersection of financial markets with social impact, she may have interest in BMP's work to scale social impact. Lauren also manages multimedia content and live events for Reuters, providing alternate avenues to reach BMP's target audiences. </a:t>
            </a:r>
          </a:p>
          <a:p>
            <a:pPr marL="0" indent="0">
              <a:lnSpc>
                <a:spcPct val="120000"/>
              </a:lnSpc>
              <a:spcBef>
                <a:spcPts val="0"/>
              </a:spcBef>
              <a:buFont typeface="Arial" panose="020B0604020202020204" pitchFamily="34" charset="0"/>
              <a:buNone/>
            </a:pPr>
            <a:endParaRPr lang="en-US" sz="1000" b="1">
              <a:ea typeface="Calibri"/>
              <a:cs typeface="Calibri"/>
            </a:endParaRPr>
          </a:p>
          <a:p>
            <a:pPr marL="0" indent="0">
              <a:lnSpc>
                <a:spcPct val="120000"/>
              </a:lnSpc>
              <a:spcBef>
                <a:spcPts val="0"/>
              </a:spcBef>
              <a:buFont typeface="Arial" panose="020B0604020202020204" pitchFamily="34" charset="0"/>
              <a:buNone/>
            </a:pPr>
            <a:r>
              <a:rPr lang="en-US" sz="1000" b="1">
                <a:latin typeface="Camphor Std"/>
                <a:ea typeface="Calibri"/>
                <a:cs typeface="Times New Roman"/>
              </a:rPr>
              <a:t>The Atlantic</a:t>
            </a:r>
            <a:r>
              <a:rPr lang="en-US" sz="1000">
                <a:latin typeface="Camphor Std"/>
                <a:ea typeface="Calibri"/>
                <a:cs typeface="Times New Roman"/>
              </a:rPr>
              <a:t>*, </a:t>
            </a:r>
            <a:r>
              <a:rPr lang="en-US" sz="1000" b="1">
                <a:latin typeface="Camphor Std"/>
                <a:ea typeface="Calibri"/>
                <a:cs typeface="Times New Roman"/>
              </a:rPr>
              <a:t>Annie Lowrey</a:t>
            </a:r>
            <a:r>
              <a:rPr lang="en-US" sz="1000">
                <a:latin typeface="Camphor Std"/>
                <a:ea typeface="Calibri"/>
                <a:cs typeface="Times New Roman"/>
              </a:rPr>
              <a:t>. A staff writer covering economic policy, inequality and social issues, her deep focus on how policy, economics and government action can address systemic problems aligns with BMP’s mission. </a:t>
            </a:r>
            <a:endParaRPr lang="en-US" sz="1000">
              <a:latin typeface="Camphor Std"/>
            </a:endParaRPr>
          </a:p>
          <a:p>
            <a:pPr marL="0" indent="0">
              <a:lnSpc>
                <a:spcPct val="120000"/>
              </a:lnSpc>
              <a:spcBef>
                <a:spcPts val="0"/>
              </a:spcBef>
              <a:buNone/>
            </a:pPr>
            <a:endParaRPr lang="en-US" sz="1000">
              <a:latin typeface="Camphor Std"/>
              <a:ea typeface="Calibri"/>
              <a:cs typeface="Times New Roman"/>
            </a:endParaRPr>
          </a:p>
          <a:p>
            <a:pPr marL="0" indent="0">
              <a:lnSpc>
                <a:spcPct val="120000"/>
              </a:lnSpc>
              <a:spcBef>
                <a:spcPts val="0"/>
              </a:spcBef>
              <a:buFont typeface="Arial" panose="020B0604020202020204" pitchFamily="34" charset="0"/>
              <a:buNone/>
            </a:pPr>
            <a:r>
              <a:rPr lang="en-US" sz="1000" b="1">
                <a:latin typeface="Camphor Std"/>
                <a:ea typeface="Calibri"/>
                <a:cs typeface="Calibri"/>
              </a:rPr>
              <a:t>Wall Street Journal*</a:t>
            </a:r>
            <a:r>
              <a:rPr lang="en-US" sz="1000">
                <a:latin typeface="Camphor Std"/>
                <a:ea typeface="Calibri"/>
                <a:cs typeface="Calibri"/>
              </a:rPr>
              <a:t>, </a:t>
            </a:r>
            <a:r>
              <a:rPr lang="en-US" sz="1000" b="1">
                <a:latin typeface="Camphor Std"/>
                <a:ea typeface="Calibri"/>
                <a:cs typeface="Calibri"/>
              </a:rPr>
              <a:t>Justin Lahart. </a:t>
            </a:r>
            <a:r>
              <a:rPr lang="en-US" sz="1000">
                <a:latin typeface="Camphor Std"/>
                <a:ea typeface="Calibri"/>
                <a:cs typeface="Calibri"/>
              </a:rPr>
              <a:t>An economics reporter, he is interested in how macroeconomic issues affect inequality and social mobility. </a:t>
            </a:r>
          </a:p>
          <a:p>
            <a:pPr marL="0" indent="0">
              <a:lnSpc>
                <a:spcPct val="120000"/>
              </a:lnSpc>
              <a:spcBef>
                <a:spcPts val="0"/>
              </a:spcBef>
              <a:buFont typeface="Arial" panose="020B0604020202020204" pitchFamily="34" charset="0"/>
              <a:buNone/>
            </a:pPr>
            <a:endParaRPr lang="en-US" sz="1000">
              <a:latin typeface="Camphor Std"/>
              <a:ea typeface="Calibri"/>
              <a:cs typeface="Calibri"/>
            </a:endParaRPr>
          </a:p>
          <a:p>
            <a:pPr marL="0" indent="0">
              <a:lnSpc>
                <a:spcPct val="120000"/>
              </a:lnSpc>
              <a:spcBef>
                <a:spcPts val="0"/>
              </a:spcBef>
              <a:buFont typeface="Arial" panose="020B0604020202020204" pitchFamily="34" charset="0"/>
              <a:buNone/>
            </a:pPr>
            <a:endParaRPr lang="en-US" sz="1000">
              <a:latin typeface="Camphor Std"/>
              <a:ea typeface="Calibri"/>
              <a:cs typeface="Calibri"/>
            </a:endParaRPr>
          </a:p>
          <a:p>
            <a:pPr marL="0" indent="0">
              <a:lnSpc>
                <a:spcPct val="120000"/>
              </a:lnSpc>
              <a:spcBef>
                <a:spcPts val="0"/>
              </a:spcBef>
              <a:buFont typeface="Arial" panose="020B0604020202020204" pitchFamily="34" charset="0"/>
              <a:buNone/>
            </a:pPr>
            <a:endParaRPr lang="en-US" sz="1000">
              <a:latin typeface="Camphor Std"/>
              <a:ea typeface="Calibri"/>
              <a:cs typeface="Calibri"/>
            </a:endParaRPr>
          </a:p>
          <a:p>
            <a:pPr marL="0" indent="0">
              <a:lnSpc>
                <a:spcPct val="120000"/>
              </a:lnSpc>
              <a:spcBef>
                <a:spcPts val="0"/>
              </a:spcBef>
              <a:buFont typeface="Arial" panose="020B0604020202020204" pitchFamily="34" charset="0"/>
              <a:buNone/>
            </a:pPr>
            <a:endParaRPr lang="en-US" sz="1000">
              <a:latin typeface="Camphor Std"/>
              <a:ea typeface="Calibri"/>
              <a:cs typeface="Calibri"/>
            </a:endParaRPr>
          </a:p>
          <a:p>
            <a:pPr marL="0" indent="0">
              <a:lnSpc>
                <a:spcPct val="120000"/>
              </a:lnSpc>
              <a:spcBef>
                <a:spcPts val="0"/>
              </a:spcBef>
              <a:buFont typeface="Arial" panose="020B0604020202020204" pitchFamily="34" charset="0"/>
              <a:buNone/>
            </a:pPr>
            <a:endParaRPr lang="en-US" sz="1000">
              <a:solidFill>
                <a:srgbClr val="000000"/>
              </a:solidFill>
              <a:ea typeface="Calibri"/>
              <a:cs typeface="Calibri"/>
            </a:endParaRPr>
          </a:p>
          <a:p>
            <a:endParaRPr lang="en-US"/>
          </a:p>
        </p:txBody>
      </p:sp>
    </p:spTree>
    <p:extLst>
      <p:ext uri="{BB962C8B-B14F-4D97-AF65-F5344CB8AC3E}">
        <p14:creationId xmlns:p14="http://schemas.microsoft.com/office/powerpoint/2010/main" val="6487675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D45A6-F0AE-24A3-781B-E9AE5764EAB7}"/>
              </a:ext>
            </a:extLst>
          </p:cNvPr>
          <p:cNvSpPr>
            <a:spLocks noGrp="1"/>
          </p:cNvSpPr>
          <p:nvPr>
            <p:ph type="title"/>
          </p:nvPr>
        </p:nvSpPr>
        <p:spPr/>
        <p:txBody>
          <a:bodyPr/>
          <a:lstStyle/>
          <a:p>
            <a:r>
              <a:rPr lang="en-US"/>
              <a:t>Fireside Chat Series</a:t>
            </a:r>
          </a:p>
        </p:txBody>
      </p:sp>
      <p:sp>
        <p:nvSpPr>
          <p:cNvPr id="4" name="Date Placeholder 3">
            <a:extLst>
              <a:ext uri="{FF2B5EF4-FFF2-40B4-BE49-F238E27FC236}">
                <a16:creationId xmlns:a16="http://schemas.microsoft.com/office/drawing/2014/main" id="{CB86929B-A764-93F7-DB17-7B4297910A1F}"/>
              </a:ext>
            </a:extLst>
          </p:cNvPr>
          <p:cNvSpPr>
            <a:spLocks noGrp="1"/>
          </p:cNvSpPr>
          <p:nvPr>
            <p:ph type="dt" sz="half" idx="10"/>
          </p:nvPr>
        </p:nvSpPr>
        <p:spPr/>
        <p:txBody>
          <a:bodyPr/>
          <a:lstStyle/>
          <a:p>
            <a:fld id="{43563910-97E9-4300-B16A-D07C834CA896}" type="datetime1">
              <a:rPr lang="en-US" smtClean="0"/>
              <a:t>5/30/2025</a:t>
            </a:fld>
            <a:endParaRPr lang="en-US"/>
          </a:p>
        </p:txBody>
      </p:sp>
      <p:sp>
        <p:nvSpPr>
          <p:cNvPr id="5" name="Rectangle 4">
            <a:extLst>
              <a:ext uri="{FF2B5EF4-FFF2-40B4-BE49-F238E27FC236}">
                <a16:creationId xmlns:a16="http://schemas.microsoft.com/office/drawing/2014/main" id="{F4D943A3-745B-7343-796F-CA841A979924}"/>
              </a:ext>
            </a:extLst>
          </p:cNvPr>
          <p:cNvSpPr/>
          <p:nvPr/>
        </p:nvSpPr>
        <p:spPr>
          <a:xfrm>
            <a:off x="8631936" y="1688"/>
            <a:ext cx="3560064" cy="565237"/>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CREATE &amp; ACTIVIATE</a:t>
            </a:r>
          </a:p>
        </p:txBody>
      </p:sp>
      <p:sp>
        <p:nvSpPr>
          <p:cNvPr id="6" name="Content Placeholder 1">
            <a:extLst>
              <a:ext uri="{FF2B5EF4-FFF2-40B4-BE49-F238E27FC236}">
                <a16:creationId xmlns:a16="http://schemas.microsoft.com/office/drawing/2014/main" id="{2C0E0599-83CF-7205-FA15-960CBE0C337E}"/>
              </a:ext>
            </a:extLst>
          </p:cNvPr>
          <p:cNvSpPr>
            <a:spLocks noGrp="1"/>
          </p:cNvSpPr>
          <p:nvPr>
            <p:ph idx="1"/>
          </p:nvPr>
        </p:nvSpPr>
        <p:spPr>
          <a:xfrm>
            <a:off x="838200" y="1097162"/>
            <a:ext cx="10541000" cy="4902200"/>
          </a:xfrm>
        </p:spPr>
        <p:txBody>
          <a:bodyPr vert="horz" lIns="91440" tIns="45720" rIns="91440" bIns="45720" rtlCol="0" anchor="t">
            <a:noAutofit/>
          </a:bodyPr>
          <a:lstStyle/>
          <a:p>
            <a:pPr marL="0" indent="0" fontAlgn="base">
              <a:lnSpc>
                <a:spcPct val="100000"/>
              </a:lnSpc>
              <a:spcBef>
                <a:spcPts val="0"/>
              </a:spcBef>
              <a:buNone/>
            </a:pPr>
            <a:r>
              <a:rPr lang="en-US" sz="1800" b="1" i="0">
                <a:solidFill>
                  <a:schemeClr val="accent3"/>
                </a:solidFill>
                <a:effectLst/>
                <a:latin typeface="+mn-lt"/>
              </a:rPr>
              <a:t>OVERVIEW: </a:t>
            </a:r>
            <a:r>
              <a:rPr lang="en-US" sz="1800" b="0" i="0">
                <a:solidFill>
                  <a:srgbClr val="000000"/>
                </a:solidFill>
                <a:effectLst/>
                <a:latin typeface="+mn-lt"/>
              </a:rPr>
              <a:t>BMP can establish a “fireside chat” conversation series as a platform to elevates trends, lessons learned, and insights about investment in social and economic mobility, position us as a thought leader among our </a:t>
            </a:r>
            <a:r>
              <a:rPr lang="en-US" sz="1800">
                <a:solidFill>
                  <a:srgbClr val="000000"/>
                </a:solidFill>
                <a:latin typeface="+mn-lt"/>
              </a:rPr>
              <a:t>priority</a:t>
            </a:r>
            <a:r>
              <a:rPr lang="en-US" sz="1800" b="0" i="0">
                <a:solidFill>
                  <a:srgbClr val="000000"/>
                </a:solidFill>
                <a:effectLst/>
                <a:latin typeface="+mn-lt"/>
              </a:rPr>
              <a:t> audiences. </a:t>
            </a:r>
          </a:p>
          <a:p>
            <a:pPr marL="0" indent="0" fontAlgn="base">
              <a:lnSpc>
                <a:spcPct val="100000"/>
              </a:lnSpc>
              <a:spcBef>
                <a:spcPts val="0"/>
              </a:spcBef>
              <a:buNone/>
            </a:pPr>
            <a:endParaRPr lang="en-US" sz="1800" b="1">
              <a:solidFill>
                <a:schemeClr val="accent3"/>
              </a:solidFill>
              <a:latin typeface="+mn-lt"/>
            </a:endParaRPr>
          </a:p>
          <a:p>
            <a:pPr marL="0" indent="0" fontAlgn="base">
              <a:lnSpc>
                <a:spcPct val="100000"/>
              </a:lnSpc>
              <a:spcBef>
                <a:spcPts val="0"/>
              </a:spcBef>
              <a:buNone/>
            </a:pPr>
            <a:r>
              <a:rPr lang="en-US" sz="1800" b="1">
                <a:solidFill>
                  <a:schemeClr val="accent3"/>
                </a:solidFill>
                <a:latin typeface="+mn-lt"/>
              </a:rPr>
              <a:t>APPROACH: </a:t>
            </a:r>
            <a:r>
              <a:rPr lang="en-US" sz="1800">
                <a:latin typeface="+mn-lt"/>
              </a:rPr>
              <a:t>These conversations – typically 1:1 chats featuring either Nancy or Jim and an influential guest – could be staged initially at existing forums – such as Concordia, the Clinton Global Initiative, Martha's Vineyard, NEXUS Global Summit, Sun Valley – that reach current and prospective partner audiences. </a:t>
            </a:r>
            <a:r>
              <a:rPr lang="en-US" sz="1800" i="1">
                <a:latin typeface="+mn-lt"/>
                <a:cs typeface="Arial"/>
              </a:rPr>
              <a:t>See the next slide for an execution example.​</a:t>
            </a:r>
            <a:endParaRPr lang="en-US" sz="1800" i="1">
              <a:latin typeface="+mn-lt"/>
            </a:endParaRPr>
          </a:p>
          <a:p>
            <a:pPr marL="0" indent="0">
              <a:lnSpc>
                <a:spcPct val="100000"/>
              </a:lnSpc>
              <a:spcBef>
                <a:spcPts val="0"/>
              </a:spcBef>
              <a:buNone/>
            </a:pPr>
            <a:endParaRPr lang="en-US" sz="1800" b="1">
              <a:solidFill>
                <a:schemeClr val="accent3"/>
              </a:solidFill>
              <a:latin typeface="+mn-lt"/>
            </a:endParaRPr>
          </a:p>
          <a:p>
            <a:pPr marL="0" indent="0">
              <a:lnSpc>
                <a:spcPct val="100000"/>
              </a:lnSpc>
              <a:spcBef>
                <a:spcPts val="0"/>
              </a:spcBef>
              <a:buNone/>
            </a:pPr>
            <a:r>
              <a:rPr lang="en-US" sz="1800" b="1">
                <a:solidFill>
                  <a:schemeClr val="accent3"/>
                </a:solidFill>
                <a:latin typeface="+mn-lt"/>
              </a:rPr>
              <a:t>ANTICIPATED RESULT: </a:t>
            </a:r>
            <a:r>
              <a:rPr lang="en-US" sz="1800">
                <a:solidFill>
                  <a:srgbClr val="000000"/>
                </a:solidFill>
                <a:latin typeface="+mn-lt"/>
                <a:ea typeface="+mn-lt"/>
                <a:cs typeface="Arial"/>
              </a:rPr>
              <a:t>The “fireside chat” conversations create an opportunity to highlight Blue Meridian and its work through informative and thought-provoking forums for partners and prospects. </a:t>
            </a:r>
          </a:p>
          <a:p>
            <a:pPr marL="0" indent="0">
              <a:lnSpc>
                <a:spcPct val="100000"/>
              </a:lnSpc>
              <a:spcBef>
                <a:spcPts val="0"/>
              </a:spcBef>
              <a:buNone/>
            </a:pPr>
            <a:endParaRPr lang="en-US" sz="1800">
              <a:solidFill>
                <a:srgbClr val="000000"/>
              </a:solidFill>
              <a:latin typeface="+mn-lt"/>
              <a:ea typeface="+mn-lt"/>
              <a:cs typeface="Arial"/>
            </a:endParaRPr>
          </a:p>
          <a:p>
            <a:pPr marL="0" indent="0">
              <a:lnSpc>
                <a:spcPct val="100000"/>
              </a:lnSpc>
              <a:spcBef>
                <a:spcPts val="0"/>
              </a:spcBef>
              <a:buNone/>
            </a:pPr>
            <a:r>
              <a:rPr lang="en-US" sz="1800">
                <a:latin typeface="+mn-lt"/>
              </a:rPr>
              <a:t>If a topic lends itself to a broader audience, a chat can be taped or livestreamed and content can be repurposed to extend research via other </a:t>
            </a:r>
            <a:r>
              <a:rPr lang="en-US" sz="1800">
                <a:solidFill>
                  <a:srgbClr val="000000"/>
                </a:solidFill>
                <a:latin typeface="+mn-lt"/>
                <a:ea typeface="+mn-lt"/>
                <a:cs typeface="Arial"/>
              </a:rPr>
              <a:t>external communications channels, such as Voices on our website, the corporate newsletter, or an op-ed.</a:t>
            </a:r>
            <a:r>
              <a:rPr lang="en-US" sz="1800" b="1">
                <a:solidFill>
                  <a:schemeClr val="accent3"/>
                </a:solidFill>
                <a:latin typeface="+mn-lt"/>
                <a:ea typeface="+mn-lt"/>
                <a:cs typeface="Arial"/>
              </a:rPr>
              <a:t> </a:t>
            </a:r>
            <a:r>
              <a:rPr lang="en-US" sz="1800">
                <a:latin typeface="+mn-lt"/>
              </a:rPr>
              <a:t>In the future, BMP may consider hosting a standalone ”fireside chat.” </a:t>
            </a:r>
            <a:endParaRPr lang="en-US" sz="1800">
              <a:latin typeface="+mn-lt"/>
              <a:ea typeface="+mn-lt"/>
              <a:cs typeface="Arial"/>
            </a:endParaRPr>
          </a:p>
          <a:p>
            <a:pPr marL="0" indent="0">
              <a:buNone/>
            </a:pPr>
            <a:endParaRPr lang="en-US" sz="1800">
              <a:latin typeface="Camphor Std"/>
            </a:endParaRPr>
          </a:p>
          <a:p>
            <a:pPr marL="285750" indent="-285750"/>
            <a:endParaRPr lang="en-US" sz="1600">
              <a:solidFill>
                <a:srgbClr val="000000"/>
              </a:solidFill>
              <a:latin typeface="+mn-lt"/>
            </a:endParaRPr>
          </a:p>
          <a:p>
            <a:pPr marL="0" indent="0">
              <a:buNone/>
            </a:pPr>
            <a:endParaRPr lang="en-US" sz="1600" b="0" i="0">
              <a:solidFill>
                <a:srgbClr val="000000"/>
              </a:solidFill>
              <a:effectLst/>
              <a:latin typeface="+mn-lt"/>
            </a:endParaRPr>
          </a:p>
          <a:p>
            <a:endParaRPr lang="en-US" sz="1600">
              <a:latin typeface="+mn-lt"/>
            </a:endParaRPr>
          </a:p>
          <a:p>
            <a:pPr marL="0" indent="0" fontAlgn="base">
              <a:buNone/>
            </a:pPr>
            <a:endParaRPr lang="en-US" sz="1600">
              <a:latin typeface="+mn-lt"/>
            </a:endParaRPr>
          </a:p>
          <a:p>
            <a:endParaRPr lang="en-US" sz="1600">
              <a:latin typeface="+mn-lt"/>
            </a:endParaRPr>
          </a:p>
        </p:txBody>
      </p:sp>
    </p:spTree>
    <p:extLst>
      <p:ext uri="{BB962C8B-B14F-4D97-AF65-F5344CB8AC3E}">
        <p14:creationId xmlns:p14="http://schemas.microsoft.com/office/powerpoint/2010/main" val="30369978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0B257-3BAC-078B-473D-2D07CF364DE8}"/>
              </a:ext>
            </a:extLst>
          </p:cNvPr>
          <p:cNvSpPr>
            <a:spLocks noGrp="1"/>
          </p:cNvSpPr>
          <p:nvPr>
            <p:ph type="title"/>
          </p:nvPr>
        </p:nvSpPr>
        <p:spPr/>
        <p:txBody>
          <a:bodyPr/>
          <a:lstStyle/>
          <a:p>
            <a:r>
              <a:rPr lang="en-US"/>
              <a:t>Fireside Chat: Example Execution</a:t>
            </a:r>
          </a:p>
        </p:txBody>
      </p:sp>
      <p:sp>
        <p:nvSpPr>
          <p:cNvPr id="3" name="Content Placeholder 2">
            <a:extLst>
              <a:ext uri="{FF2B5EF4-FFF2-40B4-BE49-F238E27FC236}">
                <a16:creationId xmlns:a16="http://schemas.microsoft.com/office/drawing/2014/main" id="{7F72A2C2-DFE3-16E8-CA14-A7A995D7A538}"/>
              </a:ext>
            </a:extLst>
          </p:cNvPr>
          <p:cNvSpPr>
            <a:spLocks noGrp="1"/>
          </p:cNvSpPr>
          <p:nvPr>
            <p:ph idx="1"/>
          </p:nvPr>
        </p:nvSpPr>
        <p:spPr>
          <a:xfrm>
            <a:off x="817879" y="2108879"/>
            <a:ext cx="5173017" cy="3872821"/>
          </a:xfrm>
        </p:spPr>
        <p:txBody>
          <a:bodyPr>
            <a:noAutofit/>
          </a:bodyPr>
          <a:lstStyle/>
          <a:p>
            <a:pPr marL="0" indent="0">
              <a:buNone/>
            </a:pPr>
            <a:r>
              <a:rPr lang="en-US" sz="2000">
                <a:latin typeface="Camphor Std"/>
                <a:ea typeface="Calibri"/>
                <a:cs typeface="Calibri"/>
              </a:rPr>
              <a:t>The NEXUS Global Summit in June 2025 presents an opportunity to launch our Fireside Chat series.  </a:t>
            </a:r>
            <a:endParaRPr lang="en-US" sz="2000">
              <a:ea typeface="Calibri"/>
              <a:cs typeface="Calibri"/>
            </a:endParaRPr>
          </a:p>
          <a:p>
            <a:pPr marL="0" indent="0">
              <a:buNone/>
            </a:pPr>
            <a:r>
              <a:rPr lang="en-US" sz="2000">
                <a:latin typeface="Camphor Std"/>
                <a:ea typeface="Calibri"/>
                <a:cs typeface="Calibri"/>
              </a:rPr>
              <a:t>With a mission to connect, inspire, and activate extraordinary social innovators and the next generation of influential families, the NEXUS Global Summit aims to accelerate solutions to global problems and foster a courageous community built on authentic connections and lasting friendships.</a:t>
            </a:r>
            <a:endParaRPr lang="en-US" sz="2000">
              <a:ea typeface="Calibri"/>
              <a:cs typeface="Calibri"/>
            </a:endParaRPr>
          </a:p>
        </p:txBody>
      </p:sp>
      <p:sp>
        <p:nvSpPr>
          <p:cNvPr id="4" name="Date Placeholder 3">
            <a:extLst>
              <a:ext uri="{FF2B5EF4-FFF2-40B4-BE49-F238E27FC236}">
                <a16:creationId xmlns:a16="http://schemas.microsoft.com/office/drawing/2014/main" id="{5B354B60-6B87-D0A7-E6AE-E88F1204A2D4}"/>
              </a:ext>
            </a:extLst>
          </p:cNvPr>
          <p:cNvSpPr>
            <a:spLocks noGrp="1"/>
          </p:cNvSpPr>
          <p:nvPr>
            <p:ph type="dt" sz="half" idx="10"/>
          </p:nvPr>
        </p:nvSpPr>
        <p:spPr/>
        <p:txBody>
          <a:bodyPr/>
          <a:lstStyle/>
          <a:p>
            <a:fld id="{00D89912-8008-4E42-A79A-72A507E01547}" type="datetime1">
              <a:rPr lang="en-US" smtClean="0"/>
              <a:t>5/30/2025</a:t>
            </a:fld>
            <a:endParaRPr lang="en-US"/>
          </a:p>
        </p:txBody>
      </p:sp>
      <p:sp>
        <p:nvSpPr>
          <p:cNvPr id="5" name="TextBox 4">
            <a:extLst>
              <a:ext uri="{FF2B5EF4-FFF2-40B4-BE49-F238E27FC236}">
                <a16:creationId xmlns:a16="http://schemas.microsoft.com/office/drawing/2014/main" id="{0A13EC63-F63A-4172-7B5C-C83F08BE9D70}"/>
              </a:ext>
            </a:extLst>
          </p:cNvPr>
          <p:cNvSpPr txBox="1"/>
          <p:nvPr/>
        </p:nvSpPr>
        <p:spPr>
          <a:xfrm>
            <a:off x="6075680" y="1271855"/>
            <a:ext cx="5763496" cy="4370427"/>
          </a:xfrm>
          <a:prstGeom prst="rect">
            <a:avLst/>
          </a:prstGeom>
          <a:solidFill>
            <a:srgbClr val="C3C3C8"/>
          </a:solidFill>
          <a:ln w="22225">
            <a:solidFill>
              <a:schemeClr val="accent1"/>
            </a:solidFill>
          </a:ln>
        </p:spPr>
        <p:txBody>
          <a:bodyPr rot="0" spcFirstLastPara="0" vertOverflow="overflow" horzOverflow="overflow" vert="horz" wrap="square" lIns="182880" tIns="91440" rIns="182880" bIns="91440" numCol="1" spcCol="0" rtlCol="0" fromWordArt="0" anchor="t" anchorCtr="0" forceAA="0" compatLnSpc="1">
            <a:prstTxWarp prst="textNoShape">
              <a:avLst/>
            </a:prstTxWarp>
            <a:spAutoFit/>
          </a:bodyPr>
          <a:lstStyle/>
          <a:p>
            <a:r>
              <a:rPr lang="en-US" sz="1700" b="1">
                <a:solidFill>
                  <a:schemeClr val="bg2"/>
                </a:solidFill>
                <a:latin typeface="Camphor Std"/>
                <a:ea typeface="Calibri"/>
                <a:cs typeface="Calibri"/>
              </a:rPr>
              <a:t>Fireside Chat @ NEXUS Global Summit</a:t>
            </a:r>
          </a:p>
          <a:p>
            <a:endParaRPr lang="en-US" sz="1700" b="1">
              <a:solidFill>
                <a:schemeClr val="bg2"/>
              </a:solidFill>
              <a:latin typeface="Camphor Std"/>
              <a:ea typeface="Calibri"/>
              <a:cs typeface="Calibri"/>
            </a:endParaRPr>
          </a:p>
          <a:p>
            <a:r>
              <a:rPr lang="en-US" sz="1700">
                <a:latin typeface="Camphor Std"/>
                <a:ea typeface="Calibri"/>
                <a:cs typeface="Calibri"/>
              </a:rPr>
              <a:t>The NEXUS Global Summit is an exclusive gathering of 350+ leading next gen philanthropists, impact investors, and social innovators from around the world – and an event of interest to BMP. </a:t>
            </a:r>
          </a:p>
          <a:p>
            <a:endParaRPr lang="en-US" sz="1700">
              <a:latin typeface="Camphor Std"/>
              <a:ea typeface="Calibri"/>
              <a:cs typeface="Calibri"/>
            </a:endParaRPr>
          </a:p>
          <a:p>
            <a:r>
              <a:rPr lang="en-US" sz="1700">
                <a:latin typeface="Camphor Std"/>
                <a:ea typeface="Calibri"/>
                <a:cs typeface="Calibri"/>
              </a:rPr>
              <a:t>In collaboration with Porter Novelli, we would develop a formal proposal suggesting a 1:1 conversation led by Jim Shelton (or Nancy) on a timely topic of mutual interest to BMP and summit attendees. </a:t>
            </a:r>
          </a:p>
          <a:p>
            <a:endParaRPr lang="en-US" sz="1700">
              <a:latin typeface="Camphor Std"/>
              <a:ea typeface="Calibri"/>
              <a:cs typeface="Calibri"/>
            </a:endParaRPr>
          </a:p>
          <a:p>
            <a:r>
              <a:rPr lang="en-US" sz="1700">
                <a:latin typeface="Camphor Std"/>
                <a:ea typeface="Calibri"/>
                <a:cs typeface="Calibri"/>
              </a:rPr>
              <a:t>To extend the reach of the chat, we might consider a related joint op-ed with a high-profile panelist, video content capture, or livestreaming the discussion.</a:t>
            </a:r>
          </a:p>
          <a:p>
            <a:endParaRPr lang="en-US" sz="1700">
              <a:latin typeface="Camphor Std"/>
              <a:ea typeface="Calibri"/>
              <a:cs typeface="Calibri"/>
            </a:endParaRPr>
          </a:p>
        </p:txBody>
      </p:sp>
      <p:sp>
        <p:nvSpPr>
          <p:cNvPr id="6" name="Rectangle 5">
            <a:extLst>
              <a:ext uri="{FF2B5EF4-FFF2-40B4-BE49-F238E27FC236}">
                <a16:creationId xmlns:a16="http://schemas.microsoft.com/office/drawing/2014/main" id="{211DD011-8C5D-D62A-BE85-7468E8E0ABD8}"/>
              </a:ext>
            </a:extLst>
          </p:cNvPr>
          <p:cNvSpPr/>
          <p:nvPr/>
        </p:nvSpPr>
        <p:spPr>
          <a:xfrm>
            <a:off x="8631936" y="1688"/>
            <a:ext cx="3560064" cy="565237"/>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CREATE &amp; ACTIVIATE</a:t>
            </a:r>
          </a:p>
        </p:txBody>
      </p:sp>
      <p:pic>
        <p:nvPicPr>
          <p:cNvPr id="7" name="Picture 6" descr="A white text on a black background&#10;&#10;Description automatically generated">
            <a:extLst>
              <a:ext uri="{FF2B5EF4-FFF2-40B4-BE49-F238E27FC236}">
                <a16:creationId xmlns:a16="http://schemas.microsoft.com/office/drawing/2014/main" id="{E1AFA301-021B-F53C-2F8F-2EF95EDE878E}"/>
              </a:ext>
            </a:extLst>
          </p:cNvPr>
          <p:cNvPicPr>
            <a:picLocks noChangeAspect="1"/>
          </p:cNvPicPr>
          <p:nvPr/>
        </p:nvPicPr>
        <p:blipFill>
          <a:blip r:embed="rId2"/>
          <a:stretch>
            <a:fillRect/>
          </a:stretch>
        </p:blipFill>
        <p:spPr>
          <a:xfrm>
            <a:off x="817880" y="1137029"/>
            <a:ext cx="3223768" cy="905383"/>
          </a:xfrm>
          <a:prstGeom prst="rect">
            <a:avLst/>
          </a:prstGeom>
        </p:spPr>
      </p:pic>
      <p:sp>
        <p:nvSpPr>
          <p:cNvPr id="8" name="TextBox 7">
            <a:extLst>
              <a:ext uri="{FF2B5EF4-FFF2-40B4-BE49-F238E27FC236}">
                <a16:creationId xmlns:a16="http://schemas.microsoft.com/office/drawing/2014/main" id="{07864024-A527-8B4D-B9CC-BB6F5617670B}"/>
              </a:ext>
            </a:extLst>
          </p:cNvPr>
          <p:cNvSpPr txBox="1"/>
          <p:nvPr/>
        </p:nvSpPr>
        <p:spPr>
          <a:xfrm>
            <a:off x="817879" y="5731328"/>
            <a:ext cx="11075727" cy="430887"/>
          </a:xfrm>
          <a:prstGeom prst="rect">
            <a:avLst/>
          </a:prstGeom>
          <a:noFill/>
        </p:spPr>
        <p:txBody>
          <a:bodyPr wrap="square" lIns="91440" tIns="45720" rIns="91440" bIns="45720" rtlCol="0" anchor="t">
            <a:spAutoFit/>
          </a:bodyPr>
          <a:lstStyle/>
          <a:p>
            <a:r>
              <a:rPr lang="en-US" sz="1100"/>
              <a:t>*Note – We are aware that IR is cultivating a relationship with NEXUS for prospecting. We believe they are supportive of ideas like this which will engage with their members and elevate BMP’s awareness. </a:t>
            </a:r>
          </a:p>
        </p:txBody>
      </p:sp>
    </p:spTree>
    <p:extLst>
      <p:ext uri="{BB962C8B-B14F-4D97-AF65-F5344CB8AC3E}">
        <p14:creationId xmlns:p14="http://schemas.microsoft.com/office/powerpoint/2010/main" val="8757434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32413-A5AD-B8ED-D88A-C5BEB714F220}"/>
              </a:ext>
            </a:extLst>
          </p:cNvPr>
          <p:cNvSpPr>
            <a:spLocks noGrp="1"/>
          </p:cNvSpPr>
          <p:nvPr>
            <p:ph type="title"/>
          </p:nvPr>
        </p:nvSpPr>
        <p:spPr/>
        <p:txBody>
          <a:bodyPr/>
          <a:lstStyle/>
          <a:p>
            <a:r>
              <a:rPr lang="en-US"/>
              <a:t>Executive LinkedIn Strategy</a:t>
            </a:r>
          </a:p>
        </p:txBody>
      </p:sp>
      <p:sp>
        <p:nvSpPr>
          <p:cNvPr id="3" name="Content Placeholder 2">
            <a:extLst>
              <a:ext uri="{FF2B5EF4-FFF2-40B4-BE49-F238E27FC236}">
                <a16:creationId xmlns:a16="http://schemas.microsoft.com/office/drawing/2014/main" id="{AB4C2E5C-8E0E-70E3-919C-064E14B993CA}"/>
              </a:ext>
            </a:extLst>
          </p:cNvPr>
          <p:cNvSpPr>
            <a:spLocks noGrp="1"/>
          </p:cNvSpPr>
          <p:nvPr>
            <p:ph idx="1"/>
          </p:nvPr>
        </p:nvSpPr>
        <p:spPr>
          <a:xfrm>
            <a:off x="825500" y="1104201"/>
            <a:ext cx="10541000" cy="4901883"/>
          </a:xfrm>
        </p:spPr>
        <p:txBody>
          <a:bodyPr>
            <a:noAutofit/>
          </a:bodyPr>
          <a:lstStyle/>
          <a:p>
            <a:pPr marL="0" indent="0">
              <a:lnSpc>
                <a:spcPct val="100000"/>
              </a:lnSpc>
              <a:spcBef>
                <a:spcPts val="0"/>
              </a:spcBef>
              <a:buFont typeface="Arial" panose="020B0604020202020204" pitchFamily="34" charset="0"/>
              <a:buNone/>
              <a:tabLst>
                <a:tab pos="1884363" algn="l"/>
              </a:tabLst>
            </a:pPr>
            <a:r>
              <a:rPr lang="en-US" sz="1600" b="1">
                <a:solidFill>
                  <a:schemeClr val="accent3"/>
                </a:solidFill>
                <a:latin typeface="+mn-lt"/>
                <a:ea typeface="Calibri"/>
                <a:cs typeface="Calibri"/>
              </a:rPr>
              <a:t>OVERVIEW: </a:t>
            </a:r>
            <a:r>
              <a:rPr lang="en-US" sz="1600">
                <a:latin typeface="+mn-lt"/>
                <a:ea typeface="Calibri"/>
                <a:cs typeface="Calibri"/>
              </a:rPr>
              <a:t>Growing Jim’s presence on social media through LinkedIn will help elevate both his profile and the organization's, in turn, laying a foundation for broader earned media and thought leadership opportunities. </a:t>
            </a:r>
          </a:p>
          <a:p>
            <a:pPr marL="0" indent="0">
              <a:lnSpc>
                <a:spcPct val="100000"/>
              </a:lnSpc>
              <a:spcBef>
                <a:spcPts val="0"/>
              </a:spcBef>
              <a:buFont typeface="Arial" panose="020B0604020202020204" pitchFamily="34" charset="0"/>
              <a:buNone/>
              <a:tabLst>
                <a:tab pos="1884363" algn="l"/>
              </a:tabLst>
            </a:pPr>
            <a:endParaRPr lang="en-US" sz="1600" b="1">
              <a:solidFill>
                <a:schemeClr val="accent1"/>
              </a:solidFill>
              <a:latin typeface="+mn-lt"/>
              <a:ea typeface="Calibri"/>
              <a:cs typeface="Calibri"/>
            </a:endParaRPr>
          </a:p>
          <a:p>
            <a:pPr marL="0" indent="0">
              <a:lnSpc>
                <a:spcPct val="100000"/>
              </a:lnSpc>
              <a:spcBef>
                <a:spcPts val="0"/>
              </a:spcBef>
              <a:buFont typeface="Arial" panose="020B0604020202020204" pitchFamily="34" charset="0"/>
              <a:buNone/>
            </a:pPr>
            <a:r>
              <a:rPr lang="en-US" sz="1600" b="1">
                <a:solidFill>
                  <a:schemeClr val="accent3"/>
                </a:solidFill>
                <a:latin typeface="+mn-lt"/>
                <a:ea typeface="Calibri"/>
                <a:cs typeface="Calibri"/>
              </a:rPr>
              <a:t>APPROACH: </a:t>
            </a:r>
            <a:r>
              <a:rPr lang="en-US" sz="1600">
                <a:latin typeface="+mn-lt"/>
                <a:ea typeface="Calibri"/>
                <a:cs typeface="Calibri"/>
              </a:rPr>
              <a:t>In 2025, we propose that Jim build his LinkedIn presence through more consistent engagement and shortform sharing. To refine the strategy and support Jim, we will conduct a channel audit to better understand Jim's current followers and determine opportunities for organic and paid strategies that reach priority audiences.</a:t>
            </a:r>
          </a:p>
          <a:p>
            <a:pPr marL="0" indent="0">
              <a:lnSpc>
                <a:spcPct val="100000"/>
              </a:lnSpc>
              <a:spcBef>
                <a:spcPts val="0"/>
              </a:spcBef>
              <a:buFont typeface="Arial" panose="020B0604020202020204" pitchFamily="34" charset="0"/>
              <a:buNone/>
            </a:pPr>
            <a:endParaRPr lang="en-US" sz="1600">
              <a:latin typeface="+mn-lt"/>
              <a:ea typeface="Calibri"/>
              <a:cs typeface="Calibri"/>
            </a:endParaRPr>
          </a:p>
          <a:p>
            <a:pPr>
              <a:lnSpc>
                <a:spcPct val="100000"/>
              </a:lnSpc>
              <a:spcBef>
                <a:spcPts val="0"/>
              </a:spcBef>
            </a:pPr>
            <a:r>
              <a:rPr lang="en-US" sz="1600" b="1">
                <a:latin typeface="+mn-lt"/>
                <a:ea typeface="Calibri"/>
                <a:cs typeface="Calibri"/>
              </a:rPr>
              <a:t>Engagement:</a:t>
            </a:r>
            <a:r>
              <a:rPr lang="en-US" sz="1600">
                <a:latin typeface="+mn-lt"/>
                <a:ea typeface="Calibri"/>
                <a:cs typeface="Calibri"/>
              </a:rPr>
              <a:t> Engage with LinkedIn content – using likes, comments, and shares – based on suggested themes and colleagues to drive visibility and grow connections and relationships over time.</a:t>
            </a:r>
          </a:p>
          <a:p>
            <a:pPr>
              <a:lnSpc>
                <a:spcPct val="100000"/>
              </a:lnSpc>
              <a:spcBef>
                <a:spcPts val="0"/>
              </a:spcBef>
            </a:pPr>
            <a:endParaRPr lang="en-US" sz="1600">
              <a:latin typeface="+mn-lt"/>
              <a:ea typeface="Calibri"/>
              <a:cs typeface="Calibri"/>
            </a:endParaRPr>
          </a:p>
          <a:p>
            <a:pPr>
              <a:lnSpc>
                <a:spcPct val="100000"/>
              </a:lnSpc>
              <a:spcBef>
                <a:spcPts val="0"/>
              </a:spcBef>
            </a:pPr>
            <a:r>
              <a:rPr lang="en-US" sz="1600" b="1">
                <a:latin typeface="+mn-lt"/>
                <a:ea typeface="Calibri"/>
                <a:cs typeface="Calibri"/>
              </a:rPr>
              <a:t>Shortform Sharing:</a:t>
            </a:r>
            <a:r>
              <a:rPr lang="en-US" sz="1600">
                <a:latin typeface="+mn-lt"/>
                <a:ea typeface="Calibri"/>
                <a:cs typeface="Calibri"/>
              </a:rPr>
              <a:t> Share brief perspectives on the sector, news, and trending conversations across a hyper-focused set of themes, topics and trends most relevant to BMP's priorities.</a:t>
            </a:r>
          </a:p>
          <a:p>
            <a:pPr>
              <a:lnSpc>
                <a:spcPct val="100000"/>
              </a:lnSpc>
              <a:spcBef>
                <a:spcPts val="0"/>
              </a:spcBef>
            </a:pPr>
            <a:endParaRPr lang="en-US" sz="1600">
              <a:latin typeface="+mn-lt"/>
              <a:ea typeface="Calibri"/>
              <a:cs typeface="Calibri"/>
            </a:endParaRPr>
          </a:p>
          <a:p>
            <a:pPr marL="0" indent="0">
              <a:lnSpc>
                <a:spcPct val="100000"/>
              </a:lnSpc>
              <a:spcBef>
                <a:spcPts val="0"/>
              </a:spcBef>
              <a:buNone/>
            </a:pPr>
            <a:r>
              <a:rPr lang="en-US" sz="1600" b="1">
                <a:solidFill>
                  <a:schemeClr val="accent3"/>
                </a:solidFill>
                <a:latin typeface="+mn-lt"/>
                <a:ea typeface="Calibri"/>
                <a:cs typeface="Calibri"/>
              </a:rPr>
              <a:t>ANTICIPATED OUTCOMES: </a:t>
            </a:r>
            <a:r>
              <a:rPr lang="en-US" sz="1600">
                <a:latin typeface="+mn-lt"/>
                <a:ea typeface="Calibri"/>
                <a:cs typeface="Calibri"/>
              </a:rPr>
              <a:t>Experimenting with LinkedIn as a vehicle to increase awareness and engagement will inform planning for executive visibility strategy. Success would include documented examples of Jim inserting his point of view effectively into the conversations that matter most among our key audience and seed the ground for qualified reach and engagement.</a:t>
            </a:r>
          </a:p>
        </p:txBody>
      </p:sp>
      <p:sp>
        <p:nvSpPr>
          <p:cNvPr id="6" name="Rectangle 5">
            <a:extLst>
              <a:ext uri="{FF2B5EF4-FFF2-40B4-BE49-F238E27FC236}">
                <a16:creationId xmlns:a16="http://schemas.microsoft.com/office/drawing/2014/main" id="{0BD4F5E4-99B1-5EE4-EE28-3AED437F4DF9}"/>
              </a:ext>
            </a:extLst>
          </p:cNvPr>
          <p:cNvSpPr/>
          <p:nvPr/>
        </p:nvSpPr>
        <p:spPr>
          <a:xfrm>
            <a:off x="8631936" y="1688"/>
            <a:ext cx="3560064" cy="565237"/>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CREATE &amp; ACTIVIATE</a:t>
            </a:r>
          </a:p>
        </p:txBody>
      </p:sp>
    </p:spTree>
    <p:extLst>
      <p:ext uri="{BB962C8B-B14F-4D97-AF65-F5344CB8AC3E}">
        <p14:creationId xmlns:p14="http://schemas.microsoft.com/office/powerpoint/2010/main" val="23253396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AD9CB-D170-C4C8-CCA8-02BA426F0F3D}"/>
              </a:ext>
            </a:extLst>
          </p:cNvPr>
          <p:cNvSpPr>
            <a:spLocks noGrp="1"/>
          </p:cNvSpPr>
          <p:nvPr>
            <p:ph type="title"/>
          </p:nvPr>
        </p:nvSpPr>
        <p:spPr/>
        <p:txBody>
          <a:bodyPr/>
          <a:lstStyle/>
          <a:p>
            <a:r>
              <a:rPr lang="en-US"/>
              <a:t>Live Events</a:t>
            </a:r>
          </a:p>
        </p:txBody>
      </p:sp>
      <p:sp>
        <p:nvSpPr>
          <p:cNvPr id="3" name="Content Placeholder 2">
            <a:extLst>
              <a:ext uri="{FF2B5EF4-FFF2-40B4-BE49-F238E27FC236}">
                <a16:creationId xmlns:a16="http://schemas.microsoft.com/office/drawing/2014/main" id="{6C7A4015-97B4-BB5F-16E9-2E060B782361}"/>
              </a:ext>
            </a:extLst>
          </p:cNvPr>
          <p:cNvSpPr>
            <a:spLocks noGrp="1"/>
          </p:cNvSpPr>
          <p:nvPr>
            <p:ph idx="1"/>
          </p:nvPr>
        </p:nvSpPr>
        <p:spPr>
          <a:xfrm>
            <a:off x="817880" y="1160892"/>
            <a:ext cx="10561320" cy="4901883"/>
          </a:xfrm>
        </p:spPr>
        <p:txBody>
          <a:bodyPr vert="horz" lIns="91440" tIns="45720" rIns="91440" bIns="45720" rtlCol="0" anchor="t">
            <a:noAutofit/>
          </a:bodyPr>
          <a:lstStyle/>
          <a:p>
            <a:pPr marL="0" indent="0">
              <a:lnSpc>
                <a:spcPct val="100000"/>
              </a:lnSpc>
              <a:spcBef>
                <a:spcPts val="0"/>
              </a:spcBef>
              <a:buNone/>
            </a:pPr>
            <a:r>
              <a:rPr lang="en-US" sz="1800" b="1">
                <a:solidFill>
                  <a:schemeClr val="accent3"/>
                </a:solidFill>
                <a:latin typeface="Camphor Std"/>
                <a:ea typeface="Calibri"/>
                <a:cs typeface="Calibri"/>
              </a:rPr>
              <a:t>OVERVIEW: </a:t>
            </a:r>
            <a:r>
              <a:rPr lang="en-US" sz="1800">
                <a:latin typeface="Camphor Std"/>
                <a:ea typeface="Calibri"/>
                <a:cs typeface="Calibri"/>
              </a:rPr>
              <a:t>Events – such as summits and conferences – provide various communications opportunities to advance thought leadership and reach our target audiences. </a:t>
            </a:r>
            <a:endParaRPr lang="en-US" sz="1800" b="1">
              <a:solidFill>
                <a:schemeClr val="accent3"/>
              </a:solidFill>
              <a:latin typeface="Camphor Std"/>
              <a:ea typeface="Calibri"/>
              <a:cs typeface="Calibri"/>
            </a:endParaRPr>
          </a:p>
          <a:p>
            <a:pPr marL="0" indent="0">
              <a:lnSpc>
                <a:spcPct val="100000"/>
              </a:lnSpc>
              <a:spcBef>
                <a:spcPts val="0"/>
              </a:spcBef>
              <a:buNone/>
            </a:pPr>
            <a:endParaRPr lang="en-US" sz="1800" b="1">
              <a:solidFill>
                <a:schemeClr val="accent3"/>
              </a:solidFill>
              <a:latin typeface="Camphor Std"/>
              <a:ea typeface="Calibri"/>
              <a:cs typeface="Calibri"/>
            </a:endParaRPr>
          </a:p>
          <a:p>
            <a:pPr marL="0" indent="0">
              <a:lnSpc>
                <a:spcPct val="100000"/>
              </a:lnSpc>
              <a:spcBef>
                <a:spcPts val="0"/>
              </a:spcBef>
              <a:buNone/>
            </a:pPr>
            <a:r>
              <a:rPr lang="en-US" sz="1800" b="1">
                <a:solidFill>
                  <a:schemeClr val="accent3"/>
                </a:solidFill>
                <a:latin typeface="Camphor Std"/>
                <a:ea typeface="Calibri"/>
                <a:cs typeface="Calibri"/>
              </a:rPr>
              <a:t>APPROACH: </a:t>
            </a:r>
            <a:r>
              <a:rPr lang="en-US" sz="1800">
                <a:latin typeface="Camphor Std"/>
                <a:ea typeface="Calibri"/>
                <a:cs typeface="Calibri"/>
              </a:rPr>
              <a:t>Porter Novelli has proposed a select list of events for 2025 </a:t>
            </a:r>
            <a:r>
              <a:rPr lang="en-US" sz="1800" i="1">
                <a:latin typeface="Camphor Std"/>
                <a:ea typeface="Calibri"/>
                <a:cs typeface="Calibri"/>
              </a:rPr>
              <a:t>(see next slide</a:t>
            </a:r>
            <a:r>
              <a:rPr lang="en-US" sz="1800">
                <a:latin typeface="Camphor Std"/>
                <a:ea typeface="Calibri"/>
                <a:cs typeface="Calibri"/>
              </a:rPr>
              <a:t>) to consider as we lay the groundwork for building a prioritized calendar for 2026 and 2027 for live event engagement. As BMP’s concierge for these events, Porter Novelli will identify opportunities – roundtables, receptions, strategic introductions, and potential speaking opportunities – to raise awareness of BMP and create moments for prospect engagement. While some high-profile speaking engagements (keynotes, panels) are “pay-to-play,” our priority will be to secure complimentary invitations. </a:t>
            </a:r>
          </a:p>
          <a:p>
            <a:pPr marL="0" indent="0">
              <a:lnSpc>
                <a:spcPct val="100000"/>
              </a:lnSpc>
              <a:spcBef>
                <a:spcPts val="0"/>
              </a:spcBef>
              <a:buNone/>
            </a:pPr>
            <a:endParaRPr lang="en-US" sz="1800" b="1">
              <a:solidFill>
                <a:schemeClr val="accent3"/>
              </a:solidFill>
              <a:latin typeface="Camphor Std"/>
              <a:ea typeface="Calibri"/>
              <a:cs typeface="Calibri"/>
            </a:endParaRPr>
          </a:p>
          <a:p>
            <a:pPr marL="0" indent="0">
              <a:lnSpc>
                <a:spcPct val="100000"/>
              </a:lnSpc>
              <a:spcBef>
                <a:spcPts val="0"/>
              </a:spcBef>
              <a:buNone/>
            </a:pPr>
            <a:r>
              <a:rPr lang="en-US" sz="1800" b="1">
                <a:solidFill>
                  <a:schemeClr val="accent3"/>
                </a:solidFill>
                <a:latin typeface="Camphor Std"/>
                <a:ea typeface="Calibri"/>
                <a:cs typeface="Calibri"/>
              </a:rPr>
              <a:t>ANTICIPATED RESULT: </a:t>
            </a:r>
            <a:r>
              <a:rPr lang="en-US" sz="1800">
                <a:latin typeface="Camphor Std"/>
                <a:ea typeface="Calibri"/>
                <a:cs typeface="Calibri"/>
              </a:rPr>
              <a:t>The aim for 2025 is to establish a process and assess what’s important to us by experiencing a couple of key live events. We will apply insights and lessons learned as we develop a more robust thought leadership and executive visibility calendar.</a:t>
            </a:r>
            <a:endParaRPr lang="en-US" sz="1800"/>
          </a:p>
          <a:p>
            <a:pPr marL="0" indent="0">
              <a:buNone/>
            </a:pPr>
            <a:endParaRPr lang="en-US" sz="1800" b="1">
              <a:solidFill>
                <a:schemeClr val="accent3"/>
              </a:solidFill>
              <a:ea typeface="Calibri"/>
              <a:cs typeface="Calibri"/>
            </a:endParaRPr>
          </a:p>
          <a:p>
            <a:endParaRPr lang="en-US" sz="2400"/>
          </a:p>
        </p:txBody>
      </p:sp>
      <p:sp>
        <p:nvSpPr>
          <p:cNvPr id="5" name="Rectangle 4">
            <a:extLst>
              <a:ext uri="{FF2B5EF4-FFF2-40B4-BE49-F238E27FC236}">
                <a16:creationId xmlns:a16="http://schemas.microsoft.com/office/drawing/2014/main" id="{DD485485-D8B7-B839-5DA1-99C9703DDFB3}"/>
              </a:ext>
            </a:extLst>
          </p:cNvPr>
          <p:cNvSpPr/>
          <p:nvPr/>
        </p:nvSpPr>
        <p:spPr>
          <a:xfrm>
            <a:off x="8631936" y="1688"/>
            <a:ext cx="3560064" cy="565237"/>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CREATE &amp; ACTIVIATE</a:t>
            </a:r>
          </a:p>
        </p:txBody>
      </p:sp>
    </p:spTree>
    <p:extLst>
      <p:ext uri="{BB962C8B-B14F-4D97-AF65-F5344CB8AC3E}">
        <p14:creationId xmlns:p14="http://schemas.microsoft.com/office/powerpoint/2010/main" val="28135829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C2931-E7F4-3FA6-779F-139054F27397}"/>
              </a:ext>
            </a:extLst>
          </p:cNvPr>
          <p:cNvSpPr>
            <a:spLocks noGrp="1"/>
          </p:cNvSpPr>
          <p:nvPr>
            <p:ph type="title"/>
          </p:nvPr>
        </p:nvSpPr>
        <p:spPr/>
        <p:txBody>
          <a:bodyPr/>
          <a:lstStyle/>
          <a:p>
            <a:r>
              <a:rPr lang="en-US"/>
              <a:t>Five</a:t>
            </a:r>
            <a:r>
              <a:rPr lang="en-US" sz="4000"/>
              <a:t> Events to Consider for 2025</a:t>
            </a:r>
            <a:endParaRPr lang="en-US"/>
          </a:p>
        </p:txBody>
      </p:sp>
      <p:sp>
        <p:nvSpPr>
          <p:cNvPr id="3" name="Content Placeholder 2">
            <a:extLst>
              <a:ext uri="{FF2B5EF4-FFF2-40B4-BE49-F238E27FC236}">
                <a16:creationId xmlns:a16="http://schemas.microsoft.com/office/drawing/2014/main" id="{89A55D6D-441C-510D-101F-F636C66AAE7F}"/>
              </a:ext>
            </a:extLst>
          </p:cNvPr>
          <p:cNvSpPr>
            <a:spLocks noGrp="1"/>
          </p:cNvSpPr>
          <p:nvPr>
            <p:ph idx="1"/>
          </p:nvPr>
        </p:nvSpPr>
        <p:spPr>
          <a:xfrm>
            <a:off x="2624328" y="1075690"/>
            <a:ext cx="8754872" cy="4706619"/>
          </a:xfrm>
        </p:spPr>
        <p:txBody>
          <a:bodyPr>
            <a:noAutofit/>
          </a:bodyPr>
          <a:lstStyle/>
          <a:p>
            <a:pPr marL="0" indent="0">
              <a:lnSpc>
                <a:spcPct val="100000"/>
              </a:lnSpc>
              <a:spcBef>
                <a:spcPts val="0"/>
              </a:spcBef>
              <a:buNone/>
            </a:pPr>
            <a:endParaRPr lang="en-US" sz="1400" b="1">
              <a:latin typeface="+mn-lt"/>
              <a:ea typeface="Calibri"/>
              <a:cs typeface="Calibri"/>
            </a:endParaRPr>
          </a:p>
          <a:p>
            <a:pPr marL="0" indent="0">
              <a:lnSpc>
                <a:spcPct val="100000"/>
              </a:lnSpc>
              <a:spcBef>
                <a:spcPts val="0"/>
              </a:spcBef>
              <a:buNone/>
            </a:pPr>
            <a:r>
              <a:rPr lang="en-US" sz="1400" b="1">
                <a:latin typeface="+mn-lt"/>
                <a:ea typeface="Calibri"/>
                <a:cs typeface="Calibri"/>
              </a:rPr>
              <a:t>Milken Institute Global Conference (May, Los Angeles)</a:t>
            </a:r>
            <a:r>
              <a:rPr lang="en-US" sz="1400">
                <a:latin typeface="+mn-lt"/>
                <a:ea typeface="Calibri"/>
                <a:cs typeface="Calibri"/>
              </a:rPr>
              <a:t> – convenes the best minds in the world to tackle its most urgent challenges and realize its most exciting solutions. </a:t>
            </a:r>
          </a:p>
          <a:p>
            <a:pPr marL="0" indent="0">
              <a:lnSpc>
                <a:spcPct val="100000"/>
              </a:lnSpc>
              <a:spcBef>
                <a:spcPts val="0"/>
              </a:spcBef>
              <a:buNone/>
            </a:pPr>
            <a:endParaRPr lang="en-US" sz="1400" b="1">
              <a:latin typeface="+mn-lt"/>
              <a:ea typeface="Calibri"/>
              <a:cs typeface="Arial"/>
            </a:endParaRPr>
          </a:p>
          <a:p>
            <a:pPr marL="0" indent="0">
              <a:lnSpc>
                <a:spcPct val="100000"/>
              </a:lnSpc>
              <a:spcBef>
                <a:spcPts val="0"/>
              </a:spcBef>
              <a:buNone/>
            </a:pPr>
            <a:r>
              <a:rPr lang="en-US" sz="1400" b="1">
                <a:latin typeface="+mn-lt"/>
                <a:ea typeface="Calibri"/>
                <a:cs typeface="Arial"/>
              </a:rPr>
              <a:t>NEXUS Global Summit (June, NYC) </a:t>
            </a:r>
            <a:r>
              <a:rPr lang="en-US" sz="1400">
                <a:latin typeface="+mn-lt"/>
                <a:ea typeface="Calibri"/>
                <a:cs typeface="Arial"/>
              </a:rPr>
              <a:t>–  an exclusive gathering of 350+ leading next gen philanthropists, impact investors, and social innovators from around the world. The NEXUS Global Summit aims to accelerate solutions to global problems and foster a courageous community built on authentic connections and lasting friendships. [</a:t>
            </a:r>
            <a:r>
              <a:rPr lang="en-US" sz="1400" i="1">
                <a:latin typeface="+mn-lt"/>
                <a:ea typeface="Calibri"/>
                <a:cs typeface="Arial"/>
              </a:rPr>
              <a:t>Note: Align with conversations underway led by Tia.</a:t>
            </a:r>
            <a:r>
              <a:rPr lang="en-US" sz="1400">
                <a:latin typeface="+mn-lt"/>
                <a:ea typeface="Calibri"/>
                <a:cs typeface="Arial"/>
              </a:rPr>
              <a:t>]</a:t>
            </a:r>
            <a:endParaRPr lang="en-US" sz="1400">
              <a:latin typeface="+mn-lt"/>
            </a:endParaRPr>
          </a:p>
          <a:p>
            <a:pPr marL="0" indent="0">
              <a:lnSpc>
                <a:spcPct val="100000"/>
              </a:lnSpc>
              <a:spcBef>
                <a:spcPts val="0"/>
              </a:spcBef>
              <a:buNone/>
            </a:pPr>
            <a:endParaRPr lang="en-US" sz="1400" b="1">
              <a:latin typeface="+mn-lt"/>
              <a:ea typeface="Calibri"/>
              <a:cs typeface="Calibri"/>
            </a:endParaRPr>
          </a:p>
          <a:p>
            <a:pPr marL="0" indent="0">
              <a:lnSpc>
                <a:spcPct val="100000"/>
              </a:lnSpc>
              <a:spcBef>
                <a:spcPts val="0"/>
              </a:spcBef>
              <a:buNone/>
            </a:pPr>
            <a:r>
              <a:rPr lang="en-US" sz="1400" b="1">
                <a:latin typeface="+mn-lt"/>
                <a:ea typeface="Calibri"/>
                <a:cs typeface="Calibri"/>
              </a:rPr>
              <a:t>Social Innovation Summit (June, San Francisco)</a:t>
            </a:r>
            <a:r>
              <a:rPr lang="en-US" sz="1400">
                <a:latin typeface="+mn-lt"/>
                <a:ea typeface="Calibri"/>
                <a:cs typeface="Calibri"/>
              </a:rPr>
              <a:t> - convenes the world’s most potent leaders, thinkers, and practitioners around one simple yet audacious goal: to catalyze inspired partnerships that are disrupting social impact. </a:t>
            </a:r>
          </a:p>
          <a:p>
            <a:pPr marL="0" indent="0">
              <a:lnSpc>
                <a:spcPct val="100000"/>
              </a:lnSpc>
              <a:spcBef>
                <a:spcPts val="0"/>
              </a:spcBef>
              <a:buNone/>
            </a:pPr>
            <a:endParaRPr lang="en-US" sz="1400" b="1">
              <a:solidFill>
                <a:srgbClr val="000000"/>
              </a:solidFill>
              <a:latin typeface="+mn-lt"/>
              <a:ea typeface="Calibri"/>
              <a:cs typeface="Calibri"/>
            </a:endParaRPr>
          </a:p>
          <a:p>
            <a:pPr marL="0" indent="0">
              <a:lnSpc>
                <a:spcPct val="100000"/>
              </a:lnSpc>
              <a:spcBef>
                <a:spcPts val="0"/>
              </a:spcBef>
              <a:buNone/>
            </a:pPr>
            <a:r>
              <a:rPr lang="en-US" sz="1400" b="1">
                <a:solidFill>
                  <a:srgbClr val="000000"/>
                </a:solidFill>
                <a:latin typeface="+mn-lt"/>
                <a:ea typeface="Calibri"/>
                <a:cs typeface="Calibri"/>
              </a:rPr>
              <a:t>Concordia Summit (September, NYC)</a:t>
            </a:r>
            <a:r>
              <a:rPr lang="en-US" sz="1400">
                <a:solidFill>
                  <a:srgbClr val="000000"/>
                </a:solidFill>
                <a:latin typeface="+mn-lt"/>
                <a:ea typeface="Calibri"/>
                <a:cs typeface="Calibri"/>
              </a:rPr>
              <a:t> – Held yearly in New York during UNGA, Concordia is the leading public-private sector convener, emphasizing nonpartisanship and market-led solutions to global challenges.</a:t>
            </a:r>
          </a:p>
          <a:p>
            <a:pPr marL="0" indent="0">
              <a:lnSpc>
                <a:spcPct val="100000"/>
              </a:lnSpc>
              <a:spcBef>
                <a:spcPts val="0"/>
              </a:spcBef>
              <a:buNone/>
            </a:pPr>
            <a:endParaRPr lang="en-US" sz="1400" b="1">
              <a:latin typeface="+mn-lt"/>
              <a:ea typeface="Calibri"/>
              <a:cs typeface="Calibri"/>
            </a:endParaRPr>
          </a:p>
          <a:p>
            <a:pPr marL="0" indent="0">
              <a:lnSpc>
                <a:spcPct val="100000"/>
              </a:lnSpc>
              <a:spcBef>
                <a:spcPts val="0"/>
              </a:spcBef>
              <a:buNone/>
            </a:pPr>
            <a:r>
              <a:rPr lang="en-US" sz="1400" b="1">
                <a:latin typeface="+mn-lt"/>
                <a:ea typeface="Calibri"/>
                <a:cs typeface="Calibri"/>
              </a:rPr>
              <a:t>Forbes Philanthropy Summit (September, NYC) –</a:t>
            </a:r>
            <a:r>
              <a:rPr lang="en-US" sz="1400">
                <a:latin typeface="+mn-lt"/>
                <a:ea typeface="Calibri"/>
                <a:cs typeface="Calibri"/>
              </a:rPr>
              <a:t> The invite-only Forbes Philanthropy Summit brings together the world’s leading philanthropists, social entrepreneurs, and business leaders for a critical discussion on how to apply wealth and resources to solve today’s most intractable problems</a:t>
            </a:r>
            <a:r>
              <a:rPr lang="en-US" sz="1500">
                <a:latin typeface="+mn-lt"/>
                <a:ea typeface="Calibri"/>
                <a:cs typeface="Calibri"/>
              </a:rPr>
              <a:t>. </a:t>
            </a:r>
          </a:p>
        </p:txBody>
      </p:sp>
      <p:pic>
        <p:nvPicPr>
          <p:cNvPr id="6" name="Picture 5" descr="Japan's Prime Minister Suga to Deliver Video Address at Milken ...">
            <a:extLst>
              <a:ext uri="{FF2B5EF4-FFF2-40B4-BE49-F238E27FC236}">
                <a16:creationId xmlns:a16="http://schemas.microsoft.com/office/drawing/2014/main" id="{B642E33E-B189-35DF-00A9-C98C0E852174}"/>
              </a:ext>
            </a:extLst>
          </p:cNvPr>
          <p:cNvPicPr>
            <a:picLocks noChangeAspect="1"/>
          </p:cNvPicPr>
          <p:nvPr/>
        </p:nvPicPr>
        <p:blipFill>
          <a:blip r:embed="rId2"/>
          <a:stretch>
            <a:fillRect/>
          </a:stretch>
        </p:blipFill>
        <p:spPr>
          <a:xfrm>
            <a:off x="1238639" y="1364367"/>
            <a:ext cx="977404" cy="413520"/>
          </a:xfrm>
          <a:prstGeom prst="rect">
            <a:avLst/>
          </a:prstGeom>
        </p:spPr>
      </p:pic>
      <p:pic>
        <p:nvPicPr>
          <p:cNvPr id="7" name="Picture 6" descr="A white text on a black background&#10;&#10;Description automatically generated">
            <a:extLst>
              <a:ext uri="{FF2B5EF4-FFF2-40B4-BE49-F238E27FC236}">
                <a16:creationId xmlns:a16="http://schemas.microsoft.com/office/drawing/2014/main" id="{E344BA11-0B89-75B1-C161-4B9D6BDCC008}"/>
              </a:ext>
            </a:extLst>
          </p:cNvPr>
          <p:cNvPicPr>
            <a:picLocks noChangeAspect="1"/>
          </p:cNvPicPr>
          <p:nvPr/>
        </p:nvPicPr>
        <p:blipFill>
          <a:blip r:embed="rId3"/>
          <a:stretch>
            <a:fillRect/>
          </a:stretch>
        </p:blipFill>
        <p:spPr>
          <a:xfrm>
            <a:off x="1058431" y="2155157"/>
            <a:ext cx="1337821" cy="375722"/>
          </a:xfrm>
          <a:prstGeom prst="rect">
            <a:avLst/>
          </a:prstGeom>
        </p:spPr>
      </p:pic>
      <p:pic>
        <p:nvPicPr>
          <p:cNvPr id="8" name="Picture 7" descr="Social Innovation Summit: Beneficios del valor compartido">
            <a:extLst>
              <a:ext uri="{FF2B5EF4-FFF2-40B4-BE49-F238E27FC236}">
                <a16:creationId xmlns:a16="http://schemas.microsoft.com/office/drawing/2014/main" id="{B971DA93-CA5B-1D79-BD92-8F02C5FF43DA}"/>
              </a:ext>
            </a:extLst>
          </p:cNvPr>
          <p:cNvPicPr>
            <a:picLocks noChangeAspect="1"/>
          </p:cNvPicPr>
          <p:nvPr/>
        </p:nvPicPr>
        <p:blipFill>
          <a:blip r:embed="rId4"/>
          <a:stretch>
            <a:fillRect/>
          </a:stretch>
        </p:blipFill>
        <p:spPr>
          <a:xfrm>
            <a:off x="971272" y="3072544"/>
            <a:ext cx="1512137" cy="479746"/>
          </a:xfrm>
          <a:prstGeom prst="rect">
            <a:avLst/>
          </a:prstGeom>
        </p:spPr>
      </p:pic>
      <p:pic>
        <p:nvPicPr>
          <p:cNvPr id="9" name="Picture 8" descr="2016 Concordia Summit Convenes More Than 200 World Leaders September 19 ...">
            <a:extLst>
              <a:ext uri="{FF2B5EF4-FFF2-40B4-BE49-F238E27FC236}">
                <a16:creationId xmlns:a16="http://schemas.microsoft.com/office/drawing/2014/main" id="{40B32D95-353E-BC1D-7747-0853B9C2E63F}"/>
              </a:ext>
            </a:extLst>
          </p:cNvPr>
          <p:cNvPicPr>
            <a:picLocks noChangeAspect="1"/>
          </p:cNvPicPr>
          <p:nvPr/>
        </p:nvPicPr>
        <p:blipFill>
          <a:blip r:embed="rId5"/>
          <a:stretch>
            <a:fillRect/>
          </a:stretch>
        </p:blipFill>
        <p:spPr>
          <a:xfrm>
            <a:off x="1081761" y="3825536"/>
            <a:ext cx="1026401" cy="508578"/>
          </a:xfrm>
          <a:prstGeom prst="rect">
            <a:avLst/>
          </a:prstGeom>
        </p:spPr>
      </p:pic>
      <p:pic>
        <p:nvPicPr>
          <p:cNvPr id="10" name="Picture 9" descr="Forbes 400 Summit on Philanthropy: Change The World">
            <a:extLst>
              <a:ext uri="{FF2B5EF4-FFF2-40B4-BE49-F238E27FC236}">
                <a16:creationId xmlns:a16="http://schemas.microsoft.com/office/drawing/2014/main" id="{481DE784-A1C1-B8B2-5075-6A5AD8E914BA}"/>
              </a:ext>
            </a:extLst>
          </p:cNvPr>
          <p:cNvPicPr>
            <a:picLocks noChangeAspect="1"/>
          </p:cNvPicPr>
          <p:nvPr/>
        </p:nvPicPr>
        <p:blipFill>
          <a:blip r:embed="rId6"/>
          <a:stretch>
            <a:fillRect/>
          </a:stretch>
        </p:blipFill>
        <p:spPr>
          <a:xfrm>
            <a:off x="1196700" y="4643168"/>
            <a:ext cx="796521" cy="813632"/>
          </a:xfrm>
          <a:prstGeom prst="rect">
            <a:avLst/>
          </a:prstGeom>
        </p:spPr>
      </p:pic>
      <p:sp>
        <p:nvSpPr>
          <p:cNvPr id="11" name="Rectangle 10">
            <a:extLst>
              <a:ext uri="{FF2B5EF4-FFF2-40B4-BE49-F238E27FC236}">
                <a16:creationId xmlns:a16="http://schemas.microsoft.com/office/drawing/2014/main" id="{8FE24B79-2990-208E-029A-CDA16AF870C4}"/>
              </a:ext>
            </a:extLst>
          </p:cNvPr>
          <p:cNvSpPr/>
          <p:nvPr/>
        </p:nvSpPr>
        <p:spPr>
          <a:xfrm>
            <a:off x="8631936" y="1688"/>
            <a:ext cx="3560064" cy="565237"/>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CREATE &amp; ACTIVIATE</a:t>
            </a:r>
          </a:p>
        </p:txBody>
      </p:sp>
    </p:spTree>
    <p:extLst>
      <p:ext uri="{BB962C8B-B14F-4D97-AF65-F5344CB8AC3E}">
        <p14:creationId xmlns:p14="http://schemas.microsoft.com/office/powerpoint/2010/main" val="10547769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F6781-D1D7-354C-9EA0-7A63C6B2B060}"/>
              </a:ext>
            </a:extLst>
          </p:cNvPr>
          <p:cNvSpPr>
            <a:spLocks noGrp="1"/>
          </p:cNvSpPr>
          <p:nvPr>
            <p:ph type="title"/>
          </p:nvPr>
        </p:nvSpPr>
        <p:spPr/>
        <p:txBody>
          <a:bodyPr/>
          <a:lstStyle/>
          <a:p>
            <a:r>
              <a:rPr lang="en-US">
                <a:latin typeface="LeMonde Livre"/>
              </a:rPr>
              <a:t>Awards</a:t>
            </a:r>
            <a:endParaRPr lang="en-US"/>
          </a:p>
        </p:txBody>
      </p:sp>
      <p:sp>
        <p:nvSpPr>
          <p:cNvPr id="3" name="Content Placeholder 2">
            <a:extLst>
              <a:ext uri="{FF2B5EF4-FFF2-40B4-BE49-F238E27FC236}">
                <a16:creationId xmlns:a16="http://schemas.microsoft.com/office/drawing/2014/main" id="{BB419C78-E871-26E8-5C4B-53A299D8F635}"/>
              </a:ext>
            </a:extLst>
          </p:cNvPr>
          <p:cNvSpPr>
            <a:spLocks noGrp="1"/>
          </p:cNvSpPr>
          <p:nvPr>
            <p:ph idx="1"/>
          </p:nvPr>
        </p:nvSpPr>
        <p:spPr>
          <a:xfrm>
            <a:off x="904110" y="1141602"/>
            <a:ext cx="10297281" cy="1436609"/>
          </a:xfrm>
        </p:spPr>
        <p:txBody>
          <a:bodyPr vert="horz" lIns="91440" tIns="45720" rIns="91440" bIns="45720" rtlCol="0" anchor="t">
            <a:noAutofit/>
          </a:bodyPr>
          <a:lstStyle/>
          <a:p>
            <a:pPr marL="0" indent="0">
              <a:buNone/>
            </a:pPr>
            <a:r>
              <a:rPr lang="en-US" sz="1400" b="1">
                <a:solidFill>
                  <a:schemeClr val="accent3"/>
                </a:solidFill>
                <a:latin typeface="Camphor Std"/>
              </a:rPr>
              <a:t>OVERVIEW: </a:t>
            </a:r>
            <a:r>
              <a:rPr lang="en-US" sz="1400">
                <a:latin typeface="Camphor Std"/>
              </a:rPr>
              <a:t>Award recognition is another way to elevate and validate BMP's mission and model. While some opportunities will be pursued on the organizational level, it is important to also target individual awards that position BMP's senior executives among their peer set and provide a foundation for future communications activities. </a:t>
            </a:r>
            <a:endParaRPr lang="en-US" sz="1400"/>
          </a:p>
          <a:p>
            <a:pPr marL="0" indent="0">
              <a:buNone/>
            </a:pPr>
            <a:r>
              <a:rPr lang="en-US" sz="1400" b="1">
                <a:solidFill>
                  <a:schemeClr val="accent3"/>
                </a:solidFill>
                <a:latin typeface="Camphor Std"/>
              </a:rPr>
              <a:t>PROCESS: </a:t>
            </a:r>
            <a:r>
              <a:rPr lang="en-US" sz="1400">
                <a:latin typeface="Camphor Std"/>
              </a:rPr>
              <a:t>Porter Novelli will research and identify opportunities for recognition, presenting a calendar of proposed opportunities that have the strongest likelihood of reaching partner and influencer audiences. In collaboration with B&amp;C, nominations would be drafted and submitted on a rolling basis. </a:t>
            </a:r>
            <a:endParaRPr lang="en-US" sz="1400"/>
          </a:p>
          <a:p>
            <a:pPr marL="0" indent="0">
              <a:buNone/>
            </a:pPr>
            <a:r>
              <a:rPr lang="en-US" sz="1400" b="1">
                <a:solidFill>
                  <a:schemeClr val="accent3"/>
                </a:solidFill>
                <a:latin typeface="Camphor Std"/>
              </a:rPr>
              <a:t>ANTICIPATED RESULTS: </a:t>
            </a:r>
            <a:r>
              <a:rPr lang="en-US" sz="1400">
                <a:latin typeface="Camphor Std"/>
              </a:rPr>
              <a:t>Recognition via third-party awards and inclusion on lists can drive awareness, convey credibility and generate interest in BMP, particularly among influencer audiences. Further, they can provide a hook  for Investor Relations and content for communications channels.  </a:t>
            </a:r>
          </a:p>
        </p:txBody>
      </p:sp>
      <p:sp>
        <p:nvSpPr>
          <p:cNvPr id="6" name="Rectangle 5">
            <a:extLst>
              <a:ext uri="{FF2B5EF4-FFF2-40B4-BE49-F238E27FC236}">
                <a16:creationId xmlns:a16="http://schemas.microsoft.com/office/drawing/2014/main" id="{B4B3BFD4-EB35-8D08-B34A-7FFCD79B67AC}"/>
              </a:ext>
            </a:extLst>
          </p:cNvPr>
          <p:cNvSpPr/>
          <p:nvPr/>
        </p:nvSpPr>
        <p:spPr>
          <a:xfrm>
            <a:off x="9521952" y="12787"/>
            <a:ext cx="2670048" cy="42392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1350" b="1">
                <a:solidFill>
                  <a:srgbClr val="FFFFFF"/>
                </a:solidFill>
                <a:latin typeface="Camphor Std"/>
              </a:rPr>
              <a:t>CREATE &amp; ACTIVIATE</a:t>
            </a:r>
          </a:p>
        </p:txBody>
      </p:sp>
      <p:sp>
        <p:nvSpPr>
          <p:cNvPr id="7" name="TextBox 6">
            <a:extLst>
              <a:ext uri="{FF2B5EF4-FFF2-40B4-BE49-F238E27FC236}">
                <a16:creationId xmlns:a16="http://schemas.microsoft.com/office/drawing/2014/main" id="{A6BCC061-E39C-EA63-94CF-8189AEE87AE9}"/>
              </a:ext>
            </a:extLst>
          </p:cNvPr>
          <p:cNvSpPr txBox="1"/>
          <p:nvPr/>
        </p:nvSpPr>
        <p:spPr>
          <a:xfrm>
            <a:off x="3212058" y="3978268"/>
            <a:ext cx="7840712" cy="2239074"/>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defTabSz="342900"/>
            <a:r>
              <a:rPr lang="en-US" sz="1100" b="1">
                <a:solidFill>
                  <a:srgbClr val="000000"/>
                </a:solidFill>
                <a:latin typeface="Camphor Std"/>
                <a:cs typeface="Arial"/>
              </a:rPr>
              <a:t>Fast Company’s Most Innovative Companies (Organizational)</a:t>
            </a:r>
            <a:endParaRPr lang="en-US" sz="1100">
              <a:solidFill>
                <a:srgbClr val="000000"/>
              </a:solidFill>
              <a:latin typeface="Camphor Std"/>
              <a:cs typeface="Arial"/>
            </a:endParaRPr>
          </a:p>
          <a:p>
            <a:pPr defTabSz="342900"/>
            <a:r>
              <a:rPr lang="en-US" sz="1100">
                <a:solidFill>
                  <a:srgbClr val="000000"/>
                </a:solidFill>
                <a:latin typeface="Camphor Std"/>
                <a:cs typeface="Arial"/>
              </a:rPr>
              <a:t>Since 2008, this list has been the definitive source for recognizing the organizations that are transforming industries and shaping society. With innovation more important than ever this year, Fast Company is looking forward to recognizing the organizations that are moving the world forward. Nomination timeline: Fall 2025</a:t>
            </a:r>
          </a:p>
          <a:p>
            <a:pPr defTabSz="342900"/>
            <a:endParaRPr lang="en-US" sz="1100">
              <a:solidFill>
                <a:srgbClr val="000000"/>
              </a:solidFill>
              <a:latin typeface="Camphor Std"/>
              <a:cs typeface="Arial"/>
            </a:endParaRPr>
          </a:p>
          <a:p>
            <a:pPr defTabSz="342900"/>
            <a:r>
              <a:rPr lang="en-US" sz="1100" b="1">
                <a:solidFill>
                  <a:srgbClr val="000000"/>
                </a:solidFill>
                <a:latin typeface="Camphor Std"/>
                <a:cs typeface="Arial"/>
              </a:rPr>
              <a:t>Nonprofit Times Power and Influence Top 50 (Nancy Roob)</a:t>
            </a:r>
          </a:p>
          <a:p>
            <a:pPr defTabSz="342900"/>
            <a:r>
              <a:rPr lang="en-US" sz="1100">
                <a:solidFill>
                  <a:srgbClr val="000000"/>
                </a:solidFill>
                <a:latin typeface="Camphor Std"/>
                <a:cs typeface="Arial"/>
              </a:rPr>
              <a:t>Recognizes individuals who have distinguished themselves as initiators, innovators and leaders who can redirect and rebuild vital nonprofits. List typically published in August.</a:t>
            </a:r>
          </a:p>
          <a:p>
            <a:pPr defTabSz="342900"/>
            <a:endParaRPr lang="en-US" sz="1100">
              <a:solidFill>
                <a:srgbClr val="000000"/>
              </a:solidFill>
              <a:latin typeface="Camphor Std"/>
              <a:cs typeface="Arial"/>
            </a:endParaRPr>
          </a:p>
          <a:p>
            <a:pPr defTabSz="342900"/>
            <a:r>
              <a:rPr lang="en-US" sz="1100" b="1">
                <a:solidFill>
                  <a:srgbClr val="000000"/>
                </a:solidFill>
                <a:latin typeface="Camphor Std"/>
                <a:cs typeface="Arial"/>
              </a:rPr>
              <a:t>Worthy 100 (Jim Shelton) </a:t>
            </a:r>
          </a:p>
          <a:p>
            <a:pPr defTabSz="342900"/>
            <a:r>
              <a:rPr lang="en-US" sz="1100">
                <a:solidFill>
                  <a:srgbClr val="000000"/>
                </a:solidFill>
                <a:latin typeface="Camphor Std"/>
                <a:cs typeface="Arial"/>
              </a:rPr>
              <a:t>Worth Magazine honors 100 people who made the most significant impact on the world this year, recognizing innovators across art, entertainment, business, government, non-profits, and philanthropy.​ Nomination timeline: Fall 2025</a:t>
            </a:r>
          </a:p>
          <a:p>
            <a:pPr defTabSz="342900"/>
            <a:endParaRPr lang="en-US" sz="900">
              <a:solidFill>
                <a:srgbClr val="000000"/>
              </a:solidFill>
              <a:latin typeface="Camphor Std"/>
              <a:cs typeface="Arial"/>
            </a:endParaRPr>
          </a:p>
        </p:txBody>
      </p:sp>
      <p:sp>
        <p:nvSpPr>
          <p:cNvPr id="10" name="Rounded Rectangle 17">
            <a:extLst>
              <a:ext uri="{FF2B5EF4-FFF2-40B4-BE49-F238E27FC236}">
                <a16:creationId xmlns:a16="http://schemas.microsoft.com/office/drawing/2014/main" id="{CF825EB4-F953-895F-047F-6E9BD969ADF0}"/>
              </a:ext>
            </a:extLst>
          </p:cNvPr>
          <p:cNvSpPr/>
          <p:nvPr/>
        </p:nvSpPr>
        <p:spPr>
          <a:xfrm>
            <a:off x="909084" y="3535654"/>
            <a:ext cx="10151787" cy="253304"/>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chemeClr val="bg1"/>
                </a:solidFill>
                <a:latin typeface="Calibri"/>
                <a:ea typeface="Calibri"/>
                <a:cs typeface="Calibri"/>
              </a:rPr>
              <a:t>PROPOSED FOR 2025 SUBMISSION</a:t>
            </a:r>
            <a:endParaRPr lang="en-US" sz="1400">
              <a:solidFill>
                <a:schemeClr val="bg1"/>
              </a:solidFill>
            </a:endParaRPr>
          </a:p>
        </p:txBody>
      </p:sp>
      <p:pic>
        <p:nvPicPr>
          <p:cNvPr id="5" name="Picture 4" descr="Subscribe to The NonProfit Times">
            <a:extLst>
              <a:ext uri="{FF2B5EF4-FFF2-40B4-BE49-F238E27FC236}">
                <a16:creationId xmlns:a16="http://schemas.microsoft.com/office/drawing/2014/main" id="{243C6429-E143-54D9-2640-70708D0F4323}"/>
              </a:ext>
            </a:extLst>
          </p:cNvPr>
          <p:cNvPicPr>
            <a:picLocks noChangeAspect="1"/>
          </p:cNvPicPr>
          <p:nvPr/>
        </p:nvPicPr>
        <p:blipFill>
          <a:blip r:embed="rId2"/>
          <a:stretch>
            <a:fillRect/>
          </a:stretch>
        </p:blipFill>
        <p:spPr>
          <a:xfrm>
            <a:off x="902446" y="4973534"/>
            <a:ext cx="2281990" cy="258178"/>
          </a:xfrm>
          <a:prstGeom prst="rect">
            <a:avLst/>
          </a:prstGeom>
        </p:spPr>
      </p:pic>
      <p:pic>
        <p:nvPicPr>
          <p:cNvPr id="11" name="Picture 10">
            <a:extLst>
              <a:ext uri="{FF2B5EF4-FFF2-40B4-BE49-F238E27FC236}">
                <a16:creationId xmlns:a16="http://schemas.microsoft.com/office/drawing/2014/main" id="{CB0C9D85-2142-2ADF-8AA0-519FCBA3FA45}"/>
              </a:ext>
            </a:extLst>
          </p:cNvPr>
          <p:cNvPicPr>
            <a:picLocks noChangeAspect="1"/>
          </p:cNvPicPr>
          <p:nvPr/>
        </p:nvPicPr>
        <p:blipFill>
          <a:blip r:embed="rId3"/>
          <a:stretch>
            <a:fillRect/>
          </a:stretch>
        </p:blipFill>
        <p:spPr>
          <a:xfrm>
            <a:off x="814581" y="3978442"/>
            <a:ext cx="1133475" cy="635669"/>
          </a:xfrm>
          <a:prstGeom prst="rect">
            <a:avLst/>
          </a:prstGeom>
        </p:spPr>
      </p:pic>
      <p:pic>
        <p:nvPicPr>
          <p:cNvPr id="13" name="Picture 12" descr="Evrnu® — Latest">
            <a:extLst>
              <a:ext uri="{FF2B5EF4-FFF2-40B4-BE49-F238E27FC236}">
                <a16:creationId xmlns:a16="http://schemas.microsoft.com/office/drawing/2014/main" id="{214124EE-FB0C-73EC-21D7-8C9392A6A204}"/>
              </a:ext>
            </a:extLst>
          </p:cNvPr>
          <p:cNvPicPr>
            <a:picLocks noChangeAspect="1"/>
          </p:cNvPicPr>
          <p:nvPr/>
        </p:nvPicPr>
        <p:blipFill>
          <a:blip r:embed="rId4"/>
          <a:srcRect t="26660" r="2928" b="27668"/>
          <a:stretch/>
        </p:blipFill>
        <p:spPr>
          <a:xfrm>
            <a:off x="903840" y="5433414"/>
            <a:ext cx="1617772" cy="543363"/>
          </a:xfrm>
          <a:prstGeom prst="rect">
            <a:avLst/>
          </a:prstGeom>
        </p:spPr>
      </p:pic>
    </p:spTree>
    <p:extLst>
      <p:ext uri="{BB962C8B-B14F-4D97-AF65-F5344CB8AC3E}">
        <p14:creationId xmlns:p14="http://schemas.microsoft.com/office/powerpoint/2010/main" val="31304900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BMP Color Palette">
      <a:dk1>
        <a:srgbClr val="000000"/>
      </a:dk1>
      <a:lt1>
        <a:srgbClr val="FFFFFF"/>
      </a:lt1>
      <a:dk2>
        <a:srgbClr val="1B3169"/>
      </a:dk2>
      <a:lt2>
        <a:srgbClr val="0091C8"/>
      </a:lt2>
      <a:accent1>
        <a:srgbClr val="0091C8"/>
      </a:accent1>
      <a:accent2>
        <a:srgbClr val="0033A4"/>
      </a:accent2>
      <a:accent3>
        <a:srgbClr val="783C96"/>
      </a:accent3>
      <a:accent4>
        <a:srgbClr val="009637"/>
      </a:accent4>
      <a:accent5>
        <a:srgbClr val="004B1B"/>
      </a:accent5>
      <a:accent6>
        <a:srgbClr val="545566"/>
      </a:accent6>
      <a:hlink>
        <a:srgbClr val="0563C1"/>
      </a:hlink>
      <a:folHlink>
        <a:srgbClr val="954F72"/>
      </a:folHlink>
    </a:clrScheme>
    <a:fontScheme name="Blue Meridian Fonts">
      <a:majorFont>
        <a:latin typeface="LeMonde Livre"/>
        <a:ea typeface=""/>
        <a:cs typeface=""/>
      </a:majorFont>
      <a:minorFont>
        <a:latin typeface="Camphor Std"/>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aecdd74c-1124-4fd4-bdd6-7b8331f46d0d" xsi:nil="true"/>
    <SharedWithUsers xmlns="aecdd74c-1124-4fd4-bdd6-7b8331f46d0d">
      <UserInfo>
        <DisplayName>Sonia Yoon (Porter Novelli)</DisplayName>
        <AccountId>70</AccountId>
        <AccountType/>
      </UserInfo>
      <UserInfo>
        <DisplayName>Gina Lindblad (Porter Novelli)</DisplayName>
        <AccountId>13</AccountId>
        <AccountType/>
      </UserInfo>
      <UserInfo>
        <DisplayName>Meme Ellis (Porter Novelli)</DisplayName>
        <AccountId>72</AccountId>
        <AccountType/>
      </UserInfo>
      <UserInfo>
        <DisplayName>Molly Finnegan (Porter Novelli)</DisplayName>
        <AccountId>42</AccountId>
        <AccountType/>
      </UserInfo>
    </SharedWithUsers>
    <lcf76f155ced4ddcb4097134ff3c332f xmlns="4d967369-dfa4-47f7-864b-fcabafab3419">
      <Terms xmlns="http://schemas.microsoft.com/office/infopath/2007/PartnerControls"/>
    </lcf76f155ced4ddcb4097134ff3c332f>
    <Project xmlns="4d967369-dfa4-47f7-864b-fcabafab3419" xsi:nil="true"/>
    <Document_x0020_Type xmlns="4d967369-dfa4-47f7-864b-fcabafab3419" xsi:nil="true"/>
    <Status xmlns="4d967369-dfa4-47f7-864b-fcabafab3419" xsi:nil="true"/>
    <Archive xmlns="4d967369-dfa4-47f7-864b-fcabafab3419">false</Archive>
    <pab5bec47b4f4e7ca882941a6121134c xmlns="4d967369-dfa4-47f7-864b-fcabafab3419">
      <Terms xmlns="http://schemas.microsoft.com/office/infopath/2007/PartnerControls"/>
    </pab5bec47b4f4e7ca882941a6121134c>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F2512030E0B904BBCD27AE38D42872C" ma:contentTypeVersion="23" ma:contentTypeDescription="Create a new document." ma:contentTypeScope="" ma:versionID="49a7cddf442c28fdfed8fb2b47a0ef5c">
  <xsd:schema xmlns:xsd="http://www.w3.org/2001/XMLSchema" xmlns:xs="http://www.w3.org/2001/XMLSchema" xmlns:p="http://schemas.microsoft.com/office/2006/metadata/properties" xmlns:ns2="4d967369-dfa4-47f7-864b-fcabafab3419" xmlns:ns3="aecdd74c-1124-4fd4-bdd6-7b8331f46d0d" targetNamespace="http://schemas.microsoft.com/office/2006/metadata/properties" ma:root="true" ma:fieldsID="a0e7e8f9b48e12d398596cfc02535431" ns2:_="" ns3:_="">
    <xsd:import namespace="4d967369-dfa4-47f7-864b-fcabafab3419"/>
    <xsd:import namespace="aecdd74c-1124-4fd4-bdd6-7b8331f46d0d"/>
    <xsd:element name="properties">
      <xsd:complexType>
        <xsd:sequence>
          <xsd:element name="documentManagement">
            <xsd:complexType>
              <xsd:all>
                <xsd:element ref="ns2:Project" minOccurs="0"/>
                <xsd:element ref="ns2:pab5bec47b4f4e7ca882941a6121134c" minOccurs="0"/>
                <xsd:element ref="ns3:TaxCatchAll" minOccurs="0"/>
                <xsd:element ref="ns2:Document_x0020_Type" minOccurs="0"/>
                <xsd:element ref="ns2:Archive" minOccurs="0"/>
                <xsd:element ref="ns2:Status" minOccurs="0"/>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967369-dfa4-47f7-864b-fcabafab3419" elementFormDefault="qualified">
    <xsd:import namespace="http://schemas.microsoft.com/office/2006/documentManagement/types"/>
    <xsd:import namespace="http://schemas.microsoft.com/office/infopath/2007/PartnerControls"/>
    <xsd:element name="Project" ma:index="8" nillable="true" ma:displayName="Project" ma:format="Dropdown" ma:internalName="Project">
      <xsd:simpleType>
        <xsd:union memberTypes="dms:Text">
          <xsd:simpleType>
            <xsd:restriction base="dms:Choice">
              <xsd:enumeration value="Workforce Transformation"/>
            </xsd:restriction>
          </xsd:simpleType>
        </xsd:union>
      </xsd:simpleType>
    </xsd:element>
    <xsd:element name="pab5bec47b4f4e7ca882941a6121134c" ma:index="10" nillable="true" ma:taxonomy="true" ma:internalName="pab5bec47b4f4e7ca882941a6121134c" ma:taxonomyFieldName="Fund" ma:displayName="Portfolio" ma:default="" ma:fieldId="{9ab5bec4-7b4f-4e7c-a882-941a6121134c}" ma:sspId="ca064255-7d90-4955-b3d1-6b1c7a50c2ca" ma:termSetId="c21bbf51-c2ff-41cd-95bc-e36f28d4c0d0" ma:anchorId="00000000-0000-0000-0000-000000000000" ma:open="false" ma:isKeyword="false">
      <xsd:complexType>
        <xsd:sequence>
          <xsd:element ref="pc:Terms" minOccurs="0" maxOccurs="1"/>
        </xsd:sequence>
      </xsd:complexType>
    </xsd:element>
    <xsd:element name="Document_x0020_Type" ma:index="12" nillable="true" ma:displayName="Document Type" ma:format="Dropdown" ma:internalName="Document_x0020_Type">
      <xsd:simpleType>
        <xsd:union memberTypes="dms:Text">
          <xsd:simpleType>
            <xsd:restriction base="dms:Choice">
              <xsd:enumeration value="Investment Reference Sheet"/>
            </xsd:restriction>
          </xsd:simpleType>
        </xsd:union>
      </xsd:simpleType>
    </xsd:element>
    <xsd:element name="Archive" ma:index="13" nillable="true" ma:displayName="Archive" ma:default="0" ma:internalName="Archive">
      <xsd:simpleType>
        <xsd:restriction base="dms:Boolean"/>
      </xsd:simpleType>
    </xsd:element>
    <xsd:element name="Status" ma:index="14" nillable="true" ma:displayName="Status" ma:format="Dropdown" ma:internalName="Status">
      <xsd:simpleType>
        <xsd:union memberTypes="dms:Text">
          <xsd:simpleType>
            <xsd:restriction base="dms:Choice">
              <xsd:enumeration value="Final"/>
            </xsd:restriction>
          </xsd:simpleType>
        </xsd:union>
      </xsd:simpleType>
    </xsd:element>
    <xsd:element name="MediaServiceMetadata" ma:index="15" nillable="true" ma:displayName="MediaServiceMetadata" ma:hidden="true" ma:internalName="MediaServiceMetadata" ma:readOnly="true">
      <xsd:simpleType>
        <xsd:restriction base="dms:Note"/>
      </xsd:simpleType>
    </xsd:element>
    <xsd:element name="MediaServiceFastMetadata" ma:index="16" nillable="true" ma:displayName="MediaServiceFastMetadata" ma:hidden="true" ma:internalName="MediaServiceFastMetadata" ma:readOnly="true">
      <xsd:simpleType>
        <xsd:restriction base="dms:Note"/>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AutoTags" ma:index="21" nillable="true" ma:displayName="Tags" ma:internalName="MediaServiceAutoTags"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MediaServiceDateTaken" ma:index="25" nillable="true" ma:displayName="MediaServiceDateTaken" ma:hidden="true" ma:internalName="MediaServiceDateTaken" ma:readOnly="true">
      <xsd:simpleType>
        <xsd:restriction base="dms:Text"/>
      </xsd:simpleType>
    </xsd:element>
    <xsd:element name="MediaLengthInSeconds" ma:index="26" nillable="true" ma:displayName="MediaLengthInSeconds" ma:hidden="true" ma:internalName="MediaLengthInSeconds" ma:readOnly="true">
      <xsd:simpleType>
        <xsd:restriction base="dms:Unknown"/>
      </xsd:simpleType>
    </xsd:element>
    <xsd:element name="lcf76f155ced4ddcb4097134ff3c332f" ma:index="28" nillable="true" ma:taxonomy="true" ma:internalName="lcf76f155ced4ddcb4097134ff3c332f" ma:taxonomyFieldName="MediaServiceImageTags" ma:displayName="Image Tags" ma:readOnly="false" ma:fieldId="{5cf76f15-5ced-4ddc-b409-7134ff3c332f}" ma:taxonomyMulti="true" ma:sspId="ca064255-7d90-4955-b3d1-6b1c7a50c2c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SearchProperties" ma:index="3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ecdd74c-1124-4fd4-bdd6-7b8331f46d0d" elementFormDefault="qualified">
    <xsd:import namespace="http://schemas.microsoft.com/office/2006/documentManagement/types"/>
    <xsd:import namespace="http://schemas.microsoft.com/office/infopath/2007/PartnerControls"/>
    <xsd:element name="TaxCatchAll" ma:index="11" nillable="true" ma:displayName="Taxonomy Catch All Column" ma:hidden="true" ma:list="{66260018-33e1-449a-9141-95d14af812d9}" ma:internalName="TaxCatchAll" ma:showField="CatchAllData" ma:web="aecdd74c-1124-4fd4-bdd6-7b8331f46d0d">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B47E9DD-A37F-49F2-BE93-B12425100CC0}">
  <ds:schemaRefs>
    <ds:schemaRef ds:uri="4d967369-dfa4-47f7-864b-fcabafab3419"/>
    <ds:schemaRef ds:uri="aecdd74c-1124-4fd4-bdd6-7b8331f46d0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EC91D6C3-B66A-43AA-BC40-22AFE245D3F0}">
  <ds:schemaRefs>
    <ds:schemaRef ds:uri="4d967369-dfa4-47f7-864b-fcabafab3419"/>
    <ds:schemaRef ds:uri="aecdd74c-1124-4fd4-bdd6-7b8331f46d0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A5165C0-638F-4A36-ABA1-C19AB57132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7518</Words>
  <Application>Microsoft Office PowerPoint</Application>
  <PresentationFormat>Widescreen</PresentationFormat>
  <Paragraphs>789</Paragraphs>
  <Slides>43</Slides>
  <Notes>10</Notes>
  <HiddenSlides>0</HiddenSlides>
  <MMClips>0</MMClips>
  <ScaleCrop>false</ScaleCrop>
  <HeadingPairs>
    <vt:vector size="8" baseType="variant">
      <vt:variant>
        <vt:lpstr>Fonts Used</vt:lpstr>
      </vt:variant>
      <vt:variant>
        <vt:i4>15</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60" baseType="lpstr">
      <vt:lpstr>Arial</vt:lpstr>
      <vt:lpstr>Arial,Sans-Serif</vt:lpstr>
      <vt:lpstr>Bahnschrift Light Condensed</vt:lpstr>
      <vt:lpstr>Calibri</vt:lpstr>
      <vt:lpstr>Calibri Light</vt:lpstr>
      <vt:lpstr>campho</vt:lpstr>
      <vt:lpstr>Camphor Std</vt:lpstr>
      <vt:lpstr>Courier New</vt:lpstr>
      <vt:lpstr>Courier New,monospace</vt:lpstr>
      <vt:lpstr>Helvetica</vt:lpstr>
      <vt:lpstr>LeMonde Livre</vt:lpstr>
      <vt:lpstr>Segoe UI</vt:lpstr>
      <vt:lpstr>Wingdings</vt:lpstr>
      <vt:lpstr>Wingdings,Sans-Serif</vt:lpstr>
      <vt:lpstr>Zilla Slab</vt:lpstr>
      <vt:lpstr>Office Theme</vt:lpstr>
      <vt:lpstr>think-cell Slide</vt:lpstr>
      <vt:lpstr>2025 External Communications  Planning </vt:lpstr>
      <vt:lpstr>About This Plan</vt:lpstr>
      <vt:lpstr>Current Context</vt:lpstr>
      <vt:lpstr>Three Potential Paths for 2025</vt:lpstr>
      <vt:lpstr> </vt:lpstr>
      <vt:lpstr>2025: What Careful Engagement Looks Like</vt:lpstr>
      <vt:lpstr>How We'll Evaluate Comms Opportunities</vt:lpstr>
      <vt:lpstr>Big Picture Message &amp; Storytelling</vt:lpstr>
      <vt:lpstr>Communications Ambition &amp; 2025 Focus</vt:lpstr>
      <vt:lpstr>Priority Audiences for 2025</vt:lpstr>
      <vt:lpstr>Driving a ‘New Normal’ for Philanthropy </vt:lpstr>
      <vt:lpstr>A “New Normal” &amp; Philanthropy’s Relevance</vt:lpstr>
      <vt:lpstr>Storytelling Framework</vt:lpstr>
      <vt:lpstr>BMP Differentiators</vt:lpstr>
      <vt:lpstr>  Communications Channels &amp; Activations</vt:lpstr>
      <vt:lpstr>Proposed Activities for 2025</vt:lpstr>
      <vt:lpstr>PowerPoint Presentation</vt:lpstr>
      <vt:lpstr>PowerPoint Presentation</vt:lpstr>
      <vt:lpstr>PowerPoint Presentation</vt:lpstr>
      <vt:lpstr>  CONTINUE &amp; ENHANCE  </vt:lpstr>
      <vt:lpstr>Earned Media: Proactive Outreach</vt:lpstr>
      <vt:lpstr>Corporate Newsletter + Amplify</vt:lpstr>
      <vt:lpstr>Corporate Newsletter Outlook </vt:lpstr>
      <vt:lpstr>Corporate Newsletter: 2025 Outlook </vt:lpstr>
      <vt:lpstr>Corporate Newsletter: May</vt:lpstr>
      <vt:lpstr>Corporate Newsletter: June</vt:lpstr>
      <vt:lpstr>Corporate Newsletter: Second Half of 2025</vt:lpstr>
      <vt:lpstr>Voices </vt:lpstr>
      <vt:lpstr>Website </vt:lpstr>
      <vt:lpstr>Social Media</vt:lpstr>
      <vt:lpstr>Social: LinkedIn Users include HNWIs</vt:lpstr>
      <vt:lpstr>Authored Article</vt:lpstr>
      <vt:lpstr>  CREATE &amp; ACTIVATE  </vt:lpstr>
      <vt:lpstr>Leveraging Leadership for External Comms</vt:lpstr>
      <vt:lpstr>Living Into the Leadership Transition</vt:lpstr>
      <vt:lpstr>“30 for 2030” Media Briefings</vt:lpstr>
      <vt:lpstr>Proposed Targets for 2025</vt:lpstr>
      <vt:lpstr>Fireside Chat Series</vt:lpstr>
      <vt:lpstr>Fireside Chat: Example Execution</vt:lpstr>
      <vt:lpstr>Executive LinkedIn Strategy</vt:lpstr>
      <vt:lpstr>Live Events</vt:lpstr>
      <vt:lpstr>Five Events to Consider for 2025</vt:lpstr>
      <vt:lpstr>Awards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Wiafe Mensah-Bonsu (Communications Temp)</dc:creator>
  <cp:lastModifiedBy>Shari Arroyo Brown</cp:lastModifiedBy>
  <cp:revision>17</cp:revision>
  <dcterms:created xsi:type="dcterms:W3CDTF">2019-04-30T20:12:00Z</dcterms:created>
  <dcterms:modified xsi:type="dcterms:W3CDTF">2025-05-30T18:16:32Z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0x0101005F2512030E0B904BBCD27AE38D42872C</vt:lpwstr>
  </property>
  <property fmtid="{D5CDD505-2E9C-101B-9397-08002B2CF9AE}" pid="3" name="Year">
    <vt:lpwstr/>
  </property>
  <property fmtid="{D5CDD505-2E9C-101B-9397-08002B2CF9AE}" pid="4" name="MediaServiceImageTags">
    <vt:lpwstr/>
  </property>
  <property fmtid="{D5CDD505-2E9C-101B-9397-08002B2CF9AE}" pid="5" name="MSIP_Label_8e19d756-792e-42a1-bcad-4cb9051ddd2d_Enabled">
    <vt:lpwstr>true</vt:lpwstr>
  </property>
  <property fmtid="{D5CDD505-2E9C-101B-9397-08002B2CF9AE}" pid="6" name="MSIP_Label_8e19d756-792e-42a1-bcad-4cb9051ddd2d_SetDate">
    <vt:lpwstr>2024-09-18T01:16:21Z</vt:lpwstr>
  </property>
  <property fmtid="{D5CDD505-2E9C-101B-9397-08002B2CF9AE}" pid="7" name="MSIP_Label_8e19d756-792e-42a1-bcad-4cb9051ddd2d_Method">
    <vt:lpwstr>Standard</vt:lpwstr>
  </property>
  <property fmtid="{D5CDD505-2E9C-101B-9397-08002B2CF9AE}" pid="8" name="MSIP_Label_8e19d756-792e-42a1-bcad-4cb9051ddd2d_Name">
    <vt:lpwstr>Confidential</vt:lpwstr>
  </property>
  <property fmtid="{D5CDD505-2E9C-101B-9397-08002B2CF9AE}" pid="9" name="MSIP_Label_8e19d756-792e-42a1-bcad-4cb9051ddd2d_SiteId">
    <vt:lpwstr>41eb501a-f671-4ce0-a5bf-b64168c3705f</vt:lpwstr>
  </property>
  <property fmtid="{D5CDD505-2E9C-101B-9397-08002B2CF9AE}" pid="10" name="MSIP_Label_8e19d756-792e-42a1-bcad-4cb9051ddd2d_ActionId">
    <vt:lpwstr>58a952b5-d2e6-4f7b-98a5-d0798ee56e13</vt:lpwstr>
  </property>
  <property fmtid="{D5CDD505-2E9C-101B-9397-08002B2CF9AE}" pid="11" name="MSIP_Label_8e19d756-792e-42a1-bcad-4cb9051ddd2d_ContentBits">
    <vt:lpwstr>2</vt:lpwstr>
  </property>
  <property fmtid="{D5CDD505-2E9C-101B-9397-08002B2CF9AE}" pid="12" name="ClassificationContentMarkingFooterLocations">
    <vt:lpwstr>Office Theme:7</vt:lpwstr>
  </property>
  <property fmtid="{D5CDD505-2E9C-101B-9397-08002B2CF9AE}" pid="13" name="ClassificationContentMarkingFooterText">
    <vt:lpwstr>Confidential - Not for Public Consumption or Distribution</vt:lpwstr>
  </property>
  <property fmtid="{D5CDD505-2E9C-101B-9397-08002B2CF9AE}" pid="14" name="Fund">
    <vt:lpwstr/>
  </property>
</Properties>
</file>